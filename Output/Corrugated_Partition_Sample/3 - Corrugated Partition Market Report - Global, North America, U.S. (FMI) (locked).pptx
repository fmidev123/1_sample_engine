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582" r:id="rId334"/>
    <p:sldId id="575" r:id="rId327"/>
    <p:sldId id="576" r:id="rId328"/>
    <p:sldId id="577" r:id="rId329"/>
    <p:sldId id="578" r:id="rId330"/>
    <p:sldId id="579" r:id="rId331"/>
    <p:sldId id="580" r:id="rId332"/>
    <p:sldId id="581" r:id="rId333"/>
    <p:sldId id="591" r:id="rId343"/>
    <p:sldId id="583" r:id="rId335"/>
    <p:sldId id="584" r:id="rId336"/>
    <p:sldId id="585" r:id="rId337"/>
    <p:sldId id="586" r:id="rId338"/>
    <p:sldId id="587" r:id="rId339"/>
    <p:sldId id="588" r:id="rId340"/>
    <p:sldId id="589" r:id="rId341"/>
    <p:sldId id="590" r:id="rId342"/>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27.xml"/><Relationship Id="rId18" Type="http://schemas.openxmlformats.org/officeDocument/2006/relationships/slide" Target="slides/slide28.xml"/><Relationship Id="rId19" Type="http://schemas.openxmlformats.org/officeDocument/2006/relationships/slide" Target="slides/slide29.xml"/><Relationship Id="rId20" Type="http://schemas.openxmlformats.org/officeDocument/2006/relationships/slide" Target="slides/slide30.xml"/><Relationship Id="rId21" Type="http://schemas.openxmlformats.org/officeDocument/2006/relationships/slide" Target="slides/slide31.xml"/><Relationship Id="rId22" Type="http://schemas.openxmlformats.org/officeDocument/2006/relationships/slide" Target="slides/slide32.xml"/><Relationship Id="rId23" Type="http://schemas.openxmlformats.org/officeDocument/2006/relationships/slide" Target="slides/slide33.xml"/><Relationship Id="rId24" Type="http://schemas.openxmlformats.org/officeDocument/2006/relationships/slide" Target="slides/slide34.xml"/><Relationship Id="rId25" Type="http://schemas.openxmlformats.org/officeDocument/2006/relationships/slide" Target="slides/slide35.xml"/><Relationship Id="rId26" Type="http://schemas.openxmlformats.org/officeDocument/2006/relationships/slide" Target="slides/slide36.xml"/><Relationship Id="rId27" Type="http://schemas.openxmlformats.org/officeDocument/2006/relationships/slide" Target="slides/slide37.xml"/><Relationship Id="rId28" Type="http://schemas.openxmlformats.org/officeDocument/2006/relationships/slide" Target="slides/slide38.xml"/><Relationship Id="rId29" Type="http://schemas.openxmlformats.org/officeDocument/2006/relationships/slide" Target="slides/slide39.xml"/><Relationship Id="rId30" Type="http://schemas.openxmlformats.org/officeDocument/2006/relationships/slide" Target="slides/slide40.xml"/><Relationship Id="rId31" Type="http://schemas.openxmlformats.org/officeDocument/2006/relationships/slide" Target="slides/slide41.xml"/><Relationship Id="rId32" Type="http://schemas.openxmlformats.org/officeDocument/2006/relationships/slide" Target="slides/slide42.xml"/><Relationship Id="rId33" Type="http://schemas.openxmlformats.org/officeDocument/2006/relationships/slide" Target="slides/slide43.xml"/><Relationship Id="rId34" Type="http://schemas.openxmlformats.org/officeDocument/2006/relationships/slide" Target="slides/slide44.xml"/><Relationship Id="rId35" Type="http://schemas.openxmlformats.org/officeDocument/2006/relationships/slide" Target="slides/slide45.xml"/><Relationship Id="rId36" Type="http://schemas.openxmlformats.org/officeDocument/2006/relationships/slide" Target="slides/slide46.xml"/><Relationship Id="rId37" Type="http://schemas.openxmlformats.org/officeDocument/2006/relationships/slide" Target="slides/slide47.xml"/><Relationship Id="rId38" Type="http://schemas.openxmlformats.org/officeDocument/2006/relationships/slide" Target="slides/slide48.xml"/><Relationship Id="rId39" Type="http://schemas.openxmlformats.org/officeDocument/2006/relationships/slide" Target="slides/slide49.xml"/><Relationship Id="rId40" Type="http://schemas.openxmlformats.org/officeDocument/2006/relationships/slide" Target="slides/slide50.xml"/><Relationship Id="rId41" Type="http://schemas.openxmlformats.org/officeDocument/2006/relationships/slide" Target="slides/slide51.xml"/><Relationship Id="rId42" Type="http://schemas.openxmlformats.org/officeDocument/2006/relationships/slide" Target="slides/slide52.xml"/><Relationship Id="rId43" Type="http://schemas.openxmlformats.org/officeDocument/2006/relationships/slide" Target="slides/slide53.xml"/><Relationship Id="rId44" Type="http://schemas.openxmlformats.org/officeDocument/2006/relationships/slide" Target="slides/slide54.xml"/><Relationship Id="rId45" Type="http://schemas.openxmlformats.org/officeDocument/2006/relationships/slide" Target="slides/slide55.xml"/><Relationship Id="rId46" Type="http://schemas.openxmlformats.org/officeDocument/2006/relationships/slide" Target="slides/slide56.xml"/><Relationship Id="rId47" Type="http://schemas.openxmlformats.org/officeDocument/2006/relationships/slide" Target="slides/slide57.xml"/><Relationship Id="rId48" Type="http://schemas.openxmlformats.org/officeDocument/2006/relationships/slide" Target="slides/slide58.xml"/><Relationship Id="rId49" Type="http://schemas.openxmlformats.org/officeDocument/2006/relationships/slide" Target="slides/slide59.xml"/><Relationship Id="rId50" Type="http://schemas.openxmlformats.org/officeDocument/2006/relationships/slide" Target="slides/slide60.xml"/><Relationship Id="rId51" Type="http://schemas.openxmlformats.org/officeDocument/2006/relationships/slide" Target="slides/slide61.xml"/><Relationship Id="rId52" Type="http://schemas.openxmlformats.org/officeDocument/2006/relationships/slide" Target="slides/slide62.xml"/><Relationship Id="rId53" Type="http://schemas.openxmlformats.org/officeDocument/2006/relationships/slide" Target="slides/slide63.xml"/><Relationship Id="rId54" Type="http://schemas.openxmlformats.org/officeDocument/2006/relationships/slide" Target="slides/slide64.xml"/><Relationship Id="rId55" Type="http://schemas.openxmlformats.org/officeDocument/2006/relationships/slide" Target="slides/slide65.xml"/><Relationship Id="rId56" Type="http://schemas.openxmlformats.org/officeDocument/2006/relationships/slide" Target="slides/slide66.xml"/><Relationship Id="rId57" Type="http://schemas.openxmlformats.org/officeDocument/2006/relationships/slide" Target="slides/slide67.xml"/><Relationship Id="rId58" Type="http://schemas.openxmlformats.org/officeDocument/2006/relationships/slide" Target="slides/slide68.xml"/><Relationship Id="rId59" Type="http://schemas.openxmlformats.org/officeDocument/2006/relationships/slide" Target="slides/slide69.xml"/><Relationship Id="rId60" Type="http://schemas.openxmlformats.org/officeDocument/2006/relationships/slide" Target="slides/slide70.xml"/><Relationship Id="rId61" Type="http://schemas.openxmlformats.org/officeDocument/2006/relationships/slide" Target="slides/slide71.xml"/><Relationship Id="rId62" Type="http://schemas.openxmlformats.org/officeDocument/2006/relationships/slide" Target="slides/slide72.xml"/><Relationship Id="rId63" Type="http://schemas.openxmlformats.org/officeDocument/2006/relationships/slide" Target="slides/slide73.xml"/><Relationship Id="rId64" Type="http://schemas.openxmlformats.org/officeDocument/2006/relationships/slide" Target="slides/slide74.xml"/><Relationship Id="rId65" Type="http://schemas.openxmlformats.org/officeDocument/2006/relationships/slide" Target="slides/slide75.xml"/><Relationship Id="rId66" Type="http://schemas.openxmlformats.org/officeDocument/2006/relationships/slide" Target="slides/slide76.xml"/><Relationship Id="rId67" Type="http://schemas.openxmlformats.org/officeDocument/2006/relationships/slide" Target="slides/slide77.xml"/><Relationship Id="rId68" Type="http://schemas.openxmlformats.org/officeDocument/2006/relationships/slide" Target="slides/slide78.xml"/><Relationship Id="rId69" Type="http://schemas.openxmlformats.org/officeDocument/2006/relationships/slide" Target="slides/slide79.xml"/><Relationship Id="rId70" Type="http://schemas.openxmlformats.org/officeDocument/2006/relationships/slide" Target="slides/slide80.xml"/><Relationship Id="rId71" Type="http://schemas.openxmlformats.org/officeDocument/2006/relationships/slide" Target="slides/slide81.xml"/><Relationship Id="rId72" Type="http://schemas.openxmlformats.org/officeDocument/2006/relationships/slide" Target="slides/slide82.xml"/><Relationship Id="rId73" Type="http://schemas.openxmlformats.org/officeDocument/2006/relationships/slide" Target="slides/slide83.xml"/><Relationship Id="rId74" Type="http://schemas.openxmlformats.org/officeDocument/2006/relationships/slide" Target="slides/slide84.xml"/><Relationship Id="rId75" Type="http://schemas.openxmlformats.org/officeDocument/2006/relationships/slide" Target="slides/slide85.xml"/><Relationship Id="rId76" Type="http://schemas.openxmlformats.org/officeDocument/2006/relationships/slide" Target="slides/slide86.xml"/><Relationship Id="rId77" Type="http://schemas.openxmlformats.org/officeDocument/2006/relationships/slide" Target="slides/slide87.xml"/><Relationship Id="rId78" Type="http://schemas.openxmlformats.org/officeDocument/2006/relationships/slide" Target="slides/slide88.xml"/><Relationship Id="rId79" Type="http://schemas.openxmlformats.org/officeDocument/2006/relationships/slide" Target="slides/slide89.xml"/><Relationship Id="rId80" Type="http://schemas.openxmlformats.org/officeDocument/2006/relationships/slide" Target="slides/slide90.xml"/><Relationship Id="rId81" Type="http://schemas.openxmlformats.org/officeDocument/2006/relationships/slide" Target="slides/slide91.xml"/><Relationship Id="rId82" Type="http://schemas.openxmlformats.org/officeDocument/2006/relationships/slide" Target="slides/slide92.xml"/><Relationship Id="rId83" Type="http://schemas.openxmlformats.org/officeDocument/2006/relationships/slide" Target="slides/slide93.xml"/><Relationship Id="rId84" Type="http://schemas.openxmlformats.org/officeDocument/2006/relationships/slide" Target="slides/slide94.xml"/><Relationship Id="rId85" Type="http://schemas.openxmlformats.org/officeDocument/2006/relationships/slide" Target="slides/slide95.xml"/><Relationship Id="rId86" Type="http://schemas.openxmlformats.org/officeDocument/2006/relationships/slide" Target="slides/slide96.xml"/><Relationship Id="rId87" Type="http://schemas.openxmlformats.org/officeDocument/2006/relationships/slide" Target="slides/slide97.xml"/><Relationship Id="rId88" Type="http://schemas.openxmlformats.org/officeDocument/2006/relationships/slide" Target="slides/slide98.xml"/><Relationship Id="rId89" Type="http://schemas.openxmlformats.org/officeDocument/2006/relationships/slide" Target="slides/slide99.xml"/><Relationship Id="rId90" Type="http://schemas.openxmlformats.org/officeDocument/2006/relationships/slide" Target="slides/slide100.xml"/><Relationship Id="rId91" Type="http://schemas.openxmlformats.org/officeDocument/2006/relationships/slide" Target="slides/slide101.xml"/><Relationship Id="rId92" Type="http://schemas.openxmlformats.org/officeDocument/2006/relationships/slide" Target="slides/slide102.xml"/><Relationship Id="rId93" Type="http://schemas.openxmlformats.org/officeDocument/2006/relationships/slide" Target="slides/slide103.xml"/><Relationship Id="rId94" Type="http://schemas.openxmlformats.org/officeDocument/2006/relationships/slide" Target="slides/slide104.xml"/><Relationship Id="rId95" Type="http://schemas.openxmlformats.org/officeDocument/2006/relationships/slide" Target="slides/slide105.xml"/><Relationship Id="rId96" Type="http://schemas.openxmlformats.org/officeDocument/2006/relationships/slide" Target="slides/slide106.xml"/><Relationship Id="rId97" Type="http://schemas.openxmlformats.org/officeDocument/2006/relationships/slide" Target="slides/slide107.xml"/><Relationship Id="rId98" Type="http://schemas.openxmlformats.org/officeDocument/2006/relationships/slide" Target="slides/slide108.xml"/><Relationship Id="rId99" Type="http://schemas.openxmlformats.org/officeDocument/2006/relationships/slide" Target="slides/slide109.xml"/><Relationship Id="rId100" Type="http://schemas.openxmlformats.org/officeDocument/2006/relationships/slide" Target="slides/slide110.xml"/><Relationship Id="rId101" Type="http://schemas.openxmlformats.org/officeDocument/2006/relationships/slide" Target="slides/slide111.xml"/><Relationship Id="rId102" Type="http://schemas.openxmlformats.org/officeDocument/2006/relationships/slide" Target="slides/slide112.xml"/><Relationship Id="rId103" Type="http://schemas.openxmlformats.org/officeDocument/2006/relationships/slide" Target="slides/slide113.xml"/><Relationship Id="rId104" Type="http://schemas.openxmlformats.org/officeDocument/2006/relationships/slide" Target="slides/slide114.xml"/><Relationship Id="rId105" Type="http://schemas.openxmlformats.org/officeDocument/2006/relationships/slide" Target="slides/slide115.xml"/><Relationship Id="rId106" Type="http://schemas.openxmlformats.org/officeDocument/2006/relationships/slide" Target="slides/slide116.xml"/><Relationship Id="rId107" Type="http://schemas.openxmlformats.org/officeDocument/2006/relationships/slide" Target="slides/slide117.xml"/><Relationship Id="rId108" Type="http://schemas.openxmlformats.org/officeDocument/2006/relationships/slide" Target="slides/slide118.xml"/><Relationship Id="rId109" Type="http://schemas.openxmlformats.org/officeDocument/2006/relationships/slide" Target="slides/slide119.xml"/><Relationship Id="rId110" Type="http://schemas.openxmlformats.org/officeDocument/2006/relationships/slide" Target="slides/slide120.xml"/><Relationship Id="rId111" Type="http://schemas.openxmlformats.org/officeDocument/2006/relationships/slide" Target="slides/slide121.xml"/><Relationship Id="rId112" Type="http://schemas.openxmlformats.org/officeDocument/2006/relationships/slide" Target="slides/slide122.xml"/><Relationship Id="rId113" Type="http://schemas.openxmlformats.org/officeDocument/2006/relationships/slide" Target="slides/slide123.xml"/><Relationship Id="rId114" Type="http://schemas.openxmlformats.org/officeDocument/2006/relationships/slide" Target="slides/slide124.xml"/><Relationship Id="rId115" Type="http://schemas.openxmlformats.org/officeDocument/2006/relationships/slide" Target="slides/slide125.xml"/><Relationship Id="rId116" Type="http://schemas.openxmlformats.org/officeDocument/2006/relationships/slide" Target="slides/slide126.xml"/><Relationship Id="rId117" Type="http://schemas.openxmlformats.org/officeDocument/2006/relationships/slide" Target="slides/slide127.xml"/><Relationship Id="rId118" Type="http://schemas.openxmlformats.org/officeDocument/2006/relationships/slide" Target="slides/slide128.xml"/><Relationship Id="rId119" Type="http://schemas.openxmlformats.org/officeDocument/2006/relationships/slide" Target="slides/slide129.xml"/><Relationship Id="rId120" Type="http://schemas.openxmlformats.org/officeDocument/2006/relationships/slide" Target="slides/slide130.xml"/><Relationship Id="rId121" Type="http://schemas.openxmlformats.org/officeDocument/2006/relationships/slide" Target="slides/slide131.xml"/><Relationship Id="rId122" Type="http://schemas.openxmlformats.org/officeDocument/2006/relationships/slide" Target="slides/slide132.xml"/><Relationship Id="rId123" Type="http://schemas.openxmlformats.org/officeDocument/2006/relationships/slide" Target="slides/slide133.xml"/><Relationship Id="rId124" Type="http://schemas.openxmlformats.org/officeDocument/2006/relationships/slide" Target="slides/slide134.xml"/><Relationship Id="rId125" Type="http://schemas.openxmlformats.org/officeDocument/2006/relationships/slide" Target="slides/slide135.xml"/><Relationship Id="rId126" Type="http://schemas.openxmlformats.org/officeDocument/2006/relationships/slide" Target="slides/slide136.xml"/><Relationship Id="rId127" Type="http://schemas.openxmlformats.org/officeDocument/2006/relationships/slide" Target="slides/slide137.xml"/><Relationship Id="rId128" Type="http://schemas.openxmlformats.org/officeDocument/2006/relationships/slide" Target="slides/slide138.xml"/><Relationship Id="rId129" Type="http://schemas.openxmlformats.org/officeDocument/2006/relationships/slide" Target="slides/slide139.xml"/><Relationship Id="rId130" Type="http://schemas.openxmlformats.org/officeDocument/2006/relationships/slide" Target="slides/slide140.xml"/><Relationship Id="rId131" Type="http://schemas.openxmlformats.org/officeDocument/2006/relationships/slide" Target="slides/slide141.xml"/><Relationship Id="rId132" Type="http://schemas.openxmlformats.org/officeDocument/2006/relationships/slide" Target="slides/slide142.xml"/><Relationship Id="rId133" Type="http://schemas.openxmlformats.org/officeDocument/2006/relationships/slide" Target="slides/slide143.xml"/><Relationship Id="rId134" Type="http://schemas.openxmlformats.org/officeDocument/2006/relationships/slide" Target="slides/slide144.xml"/><Relationship Id="rId135" Type="http://schemas.openxmlformats.org/officeDocument/2006/relationships/slide" Target="slides/slide145.xml"/><Relationship Id="rId136" Type="http://schemas.openxmlformats.org/officeDocument/2006/relationships/slide" Target="slides/slide146.xml"/><Relationship Id="rId137" Type="http://schemas.openxmlformats.org/officeDocument/2006/relationships/slide" Target="slides/slide147.xml"/><Relationship Id="rId138" Type="http://schemas.openxmlformats.org/officeDocument/2006/relationships/slide" Target="slides/slide148.xml"/><Relationship Id="rId139" Type="http://schemas.openxmlformats.org/officeDocument/2006/relationships/slide" Target="slides/slide149.xml"/><Relationship Id="rId140" Type="http://schemas.openxmlformats.org/officeDocument/2006/relationships/slide" Target="slides/slide150.xml"/><Relationship Id="rId141" Type="http://schemas.openxmlformats.org/officeDocument/2006/relationships/slide" Target="slides/slide151.xml"/><Relationship Id="rId142" Type="http://schemas.openxmlformats.org/officeDocument/2006/relationships/slide" Target="slides/slide152.xml"/><Relationship Id="rId143" Type="http://schemas.openxmlformats.org/officeDocument/2006/relationships/slide" Target="slides/slide153.xml"/><Relationship Id="rId144" Type="http://schemas.openxmlformats.org/officeDocument/2006/relationships/slide" Target="slides/slide154.xml"/><Relationship Id="rId145" Type="http://schemas.openxmlformats.org/officeDocument/2006/relationships/slide" Target="slides/slide155.xml"/><Relationship Id="rId146" Type="http://schemas.openxmlformats.org/officeDocument/2006/relationships/slide" Target="slides/slide156.xml"/><Relationship Id="rId147" Type="http://schemas.openxmlformats.org/officeDocument/2006/relationships/slide" Target="slides/slide157.xml"/><Relationship Id="rId148" Type="http://schemas.openxmlformats.org/officeDocument/2006/relationships/slide" Target="slides/slide158.xml"/><Relationship Id="rId149" Type="http://schemas.openxmlformats.org/officeDocument/2006/relationships/slide" Target="slides/slide159.xml"/><Relationship Id="rId150" Type="http://schemas.openxmlformats.org/officeDocument/2006/relationships/slide" Target="slides/slide160.xml"/><Relationship Id="rId151" Type="http://schemas.openxmlformats.org/officeDocument/2006/relationships/slide" Target="slides/slide161.xml"/><Relationship Id="rId152" Type="http://schemas.openxmlformats.org/officeDocument/2006/relationships/slide" Target="slides/slide162.xml"/><Relationship Id="rId153" Type="http://schemas.openxmlformats.org/officeDocument/2006/relationships/slide" Target="slides/slide163.xml"/><Relationship Id="rId154" Type="http://schemas.openxmlformats.org/officeDocument/2006/relationships/slide" Target="slides/slide164.xml"/><Relationship Id="rId155" Type="http://schemas.openxmlformats.org/officeDocument/2006/relationships/slide" Target="slides/slide165.xml"/><Relationship Id="rId156" Type="http://schemas.openxmlformats.org/officeDocument/2006/relationships/slide" Target="slides/slide166.xml"/><Relationship Id="rId157" Type="http://schemas.openxmlformats.org/officeDocument/2006/relationships/slide" Target="slides/slide167.xml"/><Relationship Id="rId158" Type="http://schemas.openxmlformats.org/officeDocument/2006/relationships/slide" Target="slides/slide168.xml"/><Relationship Id="rId159" Type="http://schemas.openxmlformats.org/officeDocument/2006/relationships/slide" Target="slides/slide169.xml"/><Relationship Id="rId160" Type="http://schemas.openxmlformats.org/officeDocument/2006/relationships/slide" Target="slides/slide170.xml"/><Relationship Id="rId161" Type="http://schemas.openxmlformats.org/officeDocument/2006/relationships/slide" Target="slides/slide171.xml"/><Relationship Id="rId162" Type="http://schemas.openxmlformats.org/officeDocument/2006/relationships/slide" Target="slides/slide172.xml"/><Relationship Id="rId163" Type="http://schemas.openxmlformats.org/officeDocument/2006/relationships/slide" Target="slides/slide173.xml"/><Relationship Id="rId164" Type="http://schemas.openxmlformats.org/officeDocument/2006/relationships/slide" Target="slides/slide174.xml"/><Relationship Id="rId165" Type="http://schemas.openxmlformats.org/officeDocument/2006/relationships/slide" Target="slides/slide175.xml"/><Relationship Id="rId166" Type="http://schemas.openxmlformats.org/officeDocument/2006/relationships/slide" Target="slides/slide176.xml"/><Relationship Id="rId167" Type="http://schemas.openxmlformats.org/officeDocument/2006/relationships/slide" Target="slides/slide177.xml"/><Relationship Id="rId168" Type="http://schemas.openxmlformats.org/officeDocument/2006/relationships/slide" Target="slides/slide178.xml"/><Relationship Id="rId169" Type="http://schemas.openxmlformats.org/officeDocument/2006/relationships/slide" Target="slides/slide179.xml"/><Relationship Id="rId170" Type="http://schemas.openxmlformats.org/officeDocument/2006/relationships/slide" Target="slides/slide180.xml"/><Relationship Id="rId171" Type="http://schemas.openxmlformats.org/officeDocument/2006/relationships/slide" Target="slides/slide181.xml"/><Relationship Id="rId172" Type="http://schemas.openxmlformats.org/officeDocument/2006/relationships/slide" Target="slides/slide182.xml"/><Relationship Id="rId173" Type="http://schemas.openxmlformats.org/officeDocument/2006/relationships/slide" Target="slides/slide183.xml"/><Relationship Id="rId174" Type="http://schemas.openxmlformats.org/officeDocument/2006/relationships/slide" Target="slides/slide184.xml"/><Relationship Id="rId175" Type="http://schemas.openxmlformats.org/officeDocument/2006/relationships/slide" Target="slides/slide185.xml"/><Relationship Id="rId176" Type="http://schemas.openxmlformats.org/officeDocument/2006/relationships/slide" Target="slides/slide186.xml"/><Relationship Id="rId177" Type="http://schemas.openxmlformats.org/officeDocument/2006/relationships/slide" Target="slides/slide187.xml"/><Relationship Id="rId178" Type="http://schemas.openxmlformats.org/officeDocument/2006/relationships/slide" Target="slides/slide188.xml"/><Relationship Id="rId179" Type="http://schemas.openxmlformats.org/officeDocument/2006/relationships/slide" Target="slides/slide189.xml"/><Relationship Id="rId180" Type="http://schemas.openxmlformats.org/officeDocument/2006/relationships/slide" Target="slides/slide190.xml"/><Relationship Id="rId181" Type="http://schemas.openxmlformats.org/officeDocument/2006/relationships/slide" Target="slides/slide191.xml"/><Relationship Id="rId182" Type="http://schemas.openxmlformats.org/officeDocument/2006/relationships/slide" Target="slides/slide192.xml"/><Relationship Id="rId183" Type="http://schemas.openxmlformats.org/officeDocument/2006/relationships/slide" Target="slides/slide193.xml"/><Relationship Id="rId184" Type="http://schemas.openxmlformats.org/officeDocument/2006/relationships/slide" Target="slides/slide194.xml"/><Relationship Id="rId185" Type="http://schemas.openxmlformats.org/officeDocument/2006/relationships/slide" Target="slides/slide195.xml"/><Relationship Id="rId186" Type="http://schemas.openxmlformats.org/officeDocument/2006/relationships/slide" Target="slides/slide196.xml"/><Relationship Id="rId187" Type="http://schemas.openxmlformats.org/officeDocument/2006/relationships/slide" Target="slides/slide197.xml"/><Relationship Id="rId188" Type="http://schemas.openxmlformats.org/officeDocument/2006/relationships/slide" Target="slides/slide198.xml"/><Relationship Id="rId189" Type="http://schemas.openxmlformats.org/officeDocument/2006/relationships/slide" Target="slides/slide199.xml"/><Relationship Id="rId190" Type="http://schemas.openxmlformats.org/officeDocument/2006/relationships/slide" Target="slides/slide200.xml"/><Relationship Id="rId191" Type="http://schemas.openxmlformats.org/officeDocument/2006/relationships/slide" Target="slides/slide201.xml"/><Relationship Id="rId192" Type="http://schemas.openxmlformats.org/officeDocument/2006/relationships/slide" Target="slides/slide202.xml"/><Relationship Id="rId193" Type="http://schemas.openxmlformats.org/officeDocument/2006/relationships/slide" Target="slides/slide203.xml"/><Relationship Id="rId194" Type="http://schemas.openxmlformats.org/officeDocument/2006/relationships/slide" Target="slides/slide204.xml"/><Relationship Id="rId195" Type="http://schemas.openxmlformats.org/officeDocument/2006/relationships/slide" Target="slides/slide205.xml"/><Relationship Id="rId196" Type="http://schemas.openxmlformats.org/officeDocument/2006/relationships/slide" Target="slides/slide206.xml"/><Relationship Id="rId197" Type="http://schemas.openxmlformats.org/officeDocument/2006/relationships/slide" Target="slides/slide207.xml"/><Relationship Id="rId198" Type="http://schemas.openxmlformats.org/officeDocument/2006/relationships/slide" Target="slides/slide208.xml"/><Relationship Id="rId199" Type="http://schemas.openxmlformats.org/officeDocument/2006/relationships/slide" Target="slides/slide209.xml"/><Relationship Id="rId200" Type="http://schemas.openxmlformats.org/officeDocument/2006/relationships/slide" Target="slides/slide210.xml"/><Relationship Id="rId201" Type="http://schemas.openxmlformats.org/officeDocument/2006/relationships/slide" Target="slides/slide211.xml"/><Relationship Id="rId202" Type="http://schemas.openxmlformats.org/officeDocument/2006/relationships/slide" Target="slides/slide212.xml"/><Relationship Id="rId203" Type="http://schemas.openxmlformats.org/officeDocument/2006/relationships/slide" Target="slides/slide213.xml"/><Relationship Id="rId204" Type="http://schemas.openxmlformats.org/officeDocument/2006/relationships/slide" Target="slides/slide214.xml"/><Relationship Id="rId205" Type="http://schemas.openxmlformats.org/officeDocument/2006/relationships/slide" Target="slides/slide215.xml"/><Relationship Id="rId206" Type="http://schemas.openxmlformats.org/officeDocument/2006/relationships/slide" Target="slides/slide216.xml"/><Relationship Id="rId207" Type="http://schemas.openxmlformats.org/officeDocument/2006/relationships/slide" Target="slides/slide217.xml"/><Relationship Id="rId208" Type="http://schemas.openxmlformats.org/officeDocument/2006/relationships/slide" Target="slides/slide218.xml"/><Relationship Id="rId209" Type="http://schemas.openxmlformats.org/officeDocument/2006/relationships/slide" Target="slides/slide219.xml"/><Relationship Id="rId210" Type="http://schemas.openxmlformats.org/officeDocument/2006/relationships/slide" Target="slides/slide220.xml"/><Relationship Id="rId211" Type="http://schemas.openxmlformats.org/officeDocument/2006/relationships/slide" Target="slides/slide221.xml"/><Relationship Id="rId212" Type="http://schemas.openxmlformats.org/officeDocument/2006/relationships/slide" Target="slides/slide222.xml"/><Relationship Id="rId213" Type="http://schemas.openxmlformats.org/officeDocument/2006/relationships/slide" Target="slides/slide223.xml"/><Relationship Id="rId214" Type="http://schemas.openxmlformats.org/officeDocument/2006/relationships/slide" Target="slides/slide224.xml"/><Relationship Id="rId215" Type="http://schemas.openxmlformats.org/officeDocument/2006/relationships/slide" Target="slides/slide225.xml"/><Relationship Id="rId216" Type="http://schemas.openxmlformats.org/officeDocument/2006/relationships/slide" Target="slides/slide226.xml"/><Relationship Id="rId217" Type="http://schemas.openxmlformats.org/officeDocument/2006/relationships/slide" Target="slides/slide227.xml"/><Relationship Id="rId218" Type="http://schemas.openxmlformats.org/officeDocument/2006/relationships/slide" Target="slides/slide228.xml"/><Relationship Id="rId219" Type="http://schemas.openxmlformats.org/officeDocument/2006/relationships/slide" Target="slides/slide229.xml"/><Relationship Id="rId220" Type="http://schemas.openxmlformats.org/officeDocument/2006/relationships/slide" Target="slides/slide230.xml"/><Relationship Id="rId221" Type="http://schemas.openxmlformats.org/officeDocument/2006/relationships/slide" Target="slides/slide231.xml"/><Relationship Id="rId222" Type="http://schemas.openxmlformats.org/officeDocument/2006/relationships/slide" Target="slides/slide232.xml"/><Relationship Id="rId223" Type="http://schemas.openxmlformats.org/officeDocument/2006/relationships/slide" Target="slides/slide233.xml"/><Relationship Id="rId224" Type="http://schemas.openxmlformats.org/officeDocument/2006/relationships/slide" Target="slides/slide234.xml"/><Relationship Id="rId225" Type="http://schemas.openxmlformats.org/officeDocument/2006/relationships/slide" Target="slides/slide235.xml"/><Relationship Id="rId226" Type="http://schemas.openxmlformats.org/officeDocument/2006/relationships/slide" Target="slides/slide236.xml"/><Relationship Id="rId227" Type="http://schemas.openxmlformats.org/officeDocument/2006/relationships/slide" Target="slides/slide237.xml"/><Relationship Id="rId228" Type="http://schemas.openxmlformats.org/officeDocument/2006/relationships/slide" Target="slides/slide238.xml"/><Relationship Id="rId229" Type="http://schemas.openxmlformats.org/officeDocument/2006/relationships/slide" Target="slides/slide239.xml"/><Relationship Id="rId230" Type="http://schemas.openxmlformats.org/officeDocument/2006/relationships/slide" Target="slides/slide240.xml"/><Relationship Id="rId231" Type="http://schemas.openxmlformats.org/officeDocument/2006/relationships/slide" Target="slides/slide241.xml"/><Relationship Id="rId232" Type="http://schemas.openxmlformats.org/officeDocument/2006/relationships/slide" Target="slides/slide242.xml"/><Relationship Id="rId233" Type="http://schemas.openxmlformats.org/officeDocument/2006/relationships/slide" Target="slides/slide243.xml"/><Relationship Id="rId234" Type="http://schemas.openxmlformats.org/officeDocument/2006/relationships/slide" Target="slides/slide244.xml"/><Relationship Id="rId235" Type="http://schemas.openxmlformats.org/officeDocument/2006/relationships/slide" Target="slides/slide245.xml"/><Relationship Id="rId236" Type="http://schemas.openxmlformats.org/officeDocument/2006/relationships/slide" Target="slides/slide246.xml"/><Relationship Id="rId237" Type="http://schemas.openxmlformats.org/officeDocument/2006/relationships/slide" Target="slides/slide247.xml"/><Relationship Id="rId238" Type="http://schemas.openxmlformats.org/officeDocument/2006/relationships/slide" Target="slides/slide248.xml"/><Relationship Id="rId239" Type="http://schemas.openxmlformats.org/officeDocument/2006/relationships/slide" Target="slides/slide249.xml"/><Relationship Id="rId240" Type="http://schemas.openxmlformats.org/officeDocument/2006/relationships/slide" Target="slides/slide250.xml"/><Relationship Id="rId241" Type="http://schemas.openxmlformats.org/officeDocument/2006/relationships/slide" Target="slides/slide251.xml"/><Relationship Id="rId242" Type="http://schemas.openxmlformats.org/officeDocument/2006/relationships/slide" Target="slides/slide252.xml"/><Relationship Id="rId243" Type="http://schemas.openxmlformats.org/officeDocument/2006/relationships/slide" Target="slides/slide253.xml"/><Relationship Id="rId244" Type="http://schemas.openxmlformats.org/officeDocument/2006/relationships/slide" Target="slides/slide254.xml"/><Relationship Id="rId245" Type="http://schemas.openxmlformats.org/officeDocument/2006/relationships/slide" Target="slides/slide255.xml"/><Relationship Id="rId246" Type="http://schemas.openxmlformats.org/officeDocument/2006/relationships/slide" Target="slides/slide256.xml"/><Relationship Id="rId247" Type="http://schemas.openxmlformats.org/officeDocument/2006/relationships/slide" Target="slides/slide257.xml"/><Relationship Id="rId248" Type="http://schemas.openxmlformats.org/officeDocument/2006/relationships/slide" Target="slides/slide258.xml"/><Relationship Id="rId249" Type="http://schemas.openxmlformats.org/officeDocument/2006/relationships/slide" Target="slides/slide259.xml"/><Relationship Id="rId250" Type="http://schemas.openxmlformats.org/officeDocument/2006/relationships/slide" Target="slides/slide260.xml"/><Relationship Id="rId251" Type="http://schemas.openxmlformats.org/officeDocument/2006/relationships/slide" Target="slides/slide261.xml"/><Relationship Id="rId252" Type="http://schemas.openxmlformats.org/officeDocument/2006/relationships/slide" Target="slides/slide262.xml"/><Relationship Id="rId253" Type="http://schemas.openxmlformats.org/officeDocument/2006/relationships/slide" Target="slides/slide263.xml"/><Relationship Id="rId254" Type="http://schemas.openxmlformats.org/officeDocument/2006/relationships/slide" Target="slides/slide264.xml"/><Relationship Id="rId255" Type="http://schemas.openxmlformats.org/officeDocument/2006/relationships/slide" Target="slides/slide265.xml"/><Relationship Id="rId256" Type="http://schemas.openxmlformats.org/officeDocument/2006/relationships/slide" Target="slides/slide266.xml"/><Relationship Id="rId257" Type="http://schemas.openxmlformats.org/officeDocument/2006/relationships/slide" Target="slides/slide267.xml"/><Relationship Id="rId258" Type="http://schemas.openxmlformats.org/officeDocument/2006/relationships/slide" Target="slides/slide268.xml"/><Relationship Id="rId259" Type="http://schemas.openxmlformats.org/officeDocument/2006/relationships/slide" Target="slides/slide269.xml"/><Relationship Id="rId260" Type="http://schemas.openxmlformats.org/officeDocument/2006/relationships/slide" Target="slides/slide270.xml"/><Relationship Id="rId261" Type="http://schemas.openxmlformats.org/officeDocument/2006/relationships/slide" Target="slides/slide271.xml"/><Relationship Id="rId262" Type="http://schemas.openxmlformats.org/officeDocument/2006/relationships/slide" Target="slides/slide272.xml"/><Relationship Id="rId263" Type="http://schemas.openxmlformats.org/officeDocument/2006/relationships/slide" Target="slides/slide273.xml"/><Relationship Id="rId264" Type="http://schemas.openxmlformats.org/officeDocument/2006/relationships/slide" Target="slides/slide274.xml"/><Relationship Id="rId265" Type="http://schemas.openxmlformats.org/officeDocument/2006/relationships/slide" Target="slides/slide275.xml"/><Relationship Id="rId266" Type="http://schemas.openxmlformats.org/officeDocument/2006/relationships/slide" Target="slides/slide276.xml"/><Relationship Id="rId267" Type="http://schemas.openxmlformats.org/officeDocument/2006/relationships/slide" Target="slides/slide277.xml"/><Relationship Id="rId268" Type="http://schemas.openxmlformats.org/officeDocument/2006/relationships/slide" Target="slides/slide278.xml"/><Relationship Id="rId269" Type="http://schemas.openxmlformats.org/officeDocument/2006/relationships/slide" Target="slides/slide279.xml"/><Relationship Id="rId270" Type="http://schemas.openxmlformats.org/officeDocument/2006/relationships/slide" Target="slides/slide280.xml"/><Relationship Id="rId271" Type="http://schemas.openxmlformats.org/officeDocument/2006/relationships/slide" Target="slides/slide281.xml"/><Relationship Id="rId272" Type="http://schemas.openxmlformats.org/officeDocument/2006/relationships/slide" Target="slides/slide282.xml"/><Relationship Id="rId273" Type="http://schemas.openxmlformats.org/officeDocument/2006/relationships/slide" Target="slides/slide283.xml"/><Relationship Id="rId274" Type="http://schemas.openxmlformats.org/officeDocument/2006/relationships/slide" Target="slides/slide284.xml"/><Relationship Id="rId275" Type="http://schemas.openxmlformats.org/officeDocument/2006/relationships/slide" Target="slides/slide285.xml"/><Relationship Id="rId276" Type="http://schemas.openxmlformats.org/officeDocument/2006/relationships/slide" Target="slides/slide286.xml"/><Relationship Id="rId277" Type="http://schemas.openxmlformats.org/officeDocument/2006/relationships/slide" Target="slides/slide287.xml"/><Relationship Id="rId278" Type="http://schemas.openxmlformats.org/officeDocument/2006/relationships/slide" Target="slides/slide288.xml"/><Relationship Id="rId279" Type="http://schemas.openxmlformats.org/officeDocument/2006/relationships/slide" Target="slides/slide289.xml"/><Relationship Id="rId280" Type="http://schemas.openxmlformats.org/officeDocument/2006/relationships/slide" Target="slides/slide290.xml"/><Relationship Id="rId281" Type="http://schemas.openxmlformats.org/officeDocument/2006/relationships/slide" Target="slides/slide291.xml"/><Relationship Id="rId282" Type="http://schemas.openxmlformats.org/officeDocument/2006/relationships/slide" Target="slides/slide292.xml"/><Relationship Id="rId283" Type="http://schemas.openxmlformats.org/officeDocument/2006/relationships/slide" Target="slides/slide293.xml"/><Relationship Id="rId284" Type="http://schemas.openxmlformats.org/officeDocument/2006/relationships/slide" Target="slides/slide294.xml"/><Relationship Id="rId285" Type="http://schemas.openxmlformats.org/officeDocument/2006/relationships/slide" Target="slides/slide295.xml"/><Relationship Id="rId286" Type="http://schemas.openxmlformats.org/officeDocument/2006/relationships/slide" Target="slides/slide296.xml"/><Relationship Id="rId287" Type="http://schemas.openxmlformats.org/officeDocument/2006/relationships/slide" Target="slides/slide297.xml"/><Relationship Id="rId288" Type="http://schemas.openxmlformats.org/officeDocument/2006/relationships/slide" Target="slides/slide298.xml"/><Relationship Id="rId289" Type="http://schemas.openxmlformats.org/officeDocument/2006/relationships/slide" Target="slides/slide299.xml"/><Relationship Id="rId290" Type="http://schemas.openxmlformats.org/officeDocument/2006/relationships/slide" Target="slides/slide300.xml"/><Relationship Id="rId291" Type="http://schemas.openxmlformats.org/officeDocument/2006/relationships/slide" Target="slides/slide301.xml"/><Relationship Id="rId292" Type="http://schemas.openxmlformats.org/officeDocument/2006/relationships/slide" Target="slides/slide302.xml"/><Relationship Id="rId293" Type="http://schemas.openxmlformats.org/officeDocument/2006/relationships/slide" Target="slides/slide303.xml"/><Relationship Id="rId294" Type="http://schemas.openxmlformats.org/officeDocument/2006/relationships/slide" Target="slides/slide304.xml"/><Relationship Id="rId295" Type="http://schemas.openxmlformats.org/officeDocument/2006/relationships/slide" Target="slides/slide305.xml"/><Relationship Id="rId296" Type="http://schemas.openxmlformats.org/officeDocument/2006/relationships/slide" Target="slides/slide306.xml"/><Relationship Id="rId297" Type="http://schemas.openxmlformats.org/officeDocument/2006/relationships/slide" Target="slides/slide307.xml"/><Relationship Id="rId298" Type="http://schemas.openxmlformats.org/officeDocument/2006/relationships/slide" Target="slides/slide308.xml"/><Relationship Id="rId299" Type="http://schemas.openxmlformats.org/officeDocument/2006/relationships/slide" Target="slides/slide309.xml"/><Relationship Id="rId300" Type="http://schemas.openxmlformats.org/officeDocument/2006/relationships/slide" Target="slides/slide310.xml"/><Relationship Id="rId301" Type="http://schemas.openxmlformats.org/officeDocument/2006/relationships/slide" Target="slides/slide311.xml"/><Relationship Id="rId302" Type="http://schemas.openxmlformats.org/officeDocument/2006/relationships/slide" Target="slides/slide312.xml"/><Relationship Id="rId303" Type="http://schemas.openxmlformats.org/officeDocument/2006/relationships/slide" Target="slides/slide313.xml"/><Relationship Id="rId304" Type="http://schemas.openxmlformats.org/officeDocument/2006/relationships/slide" Target="slides/slide314.xml"/><Relationship Id="rId305" Type="http://schemas.openxmlformats.org/officeDocument/2006/relationships/slide" Target="slides/slide315.xml"/><Relationship Id="rId306" Type="http://schemas.openxmlformats.org/officeDocument/2006/relationships/slide" Target="slides/slide316.xml"/><Relationship Id="rId307" Type="http://schemas.openxmlformats.org/officeDocument/2006/relationships/slide" Target="slides/slide317.xml"/><Relationship Id="rId308" Type="http://schemas.openxmlformats.org/officeDocument/2006/relationships/slide" Target="slides/slide318.xml"/><Relationship Id="rId309" Type="http://schemas.openxmlformats.org/officeDocument/2006/relationships/slide" Target="slides/slide319.xml"/><Relationship Id="rId310" Type="http://schemas.openxmlformats.org/officeDocument/2006/relationships/slide" Target="slides/slide320.xml"/><Relationship Id="rId311" Type="http://schemas.openxmlformats.org/officeDocument/2006/relationships/slide" Target="slides/slide321.xml"/><Relationship Id="rId312" Type="http://schemas.openxmlformats.org/officeDocument/2006/relationships/slide" Target="slides/slide322.xml"/><Relationship Id="rId313" Type="http://schemas.openxmlformats.org/officeDocument/2006/relationships/slide" Target="slides/slide323.xml"/><Relationship Id="rId314" Type="http://schemas.openxmlformats.org/officeDocument/2006/relationships/slide" Target="slides/slide324.xml"/><Relationship Id="rId315" Type="http://schemas.openxmlformats.org/officeDocument/2006/relationships/slide" Target="slides/slide325.xml"/><Relationship Id="rId316" Type="http://schemas.openxmlformats.org/officeDocument/2006/relationships/slide" Target="slides/slide326.xml"/><Relationship Id="rId317" Type="http://schemas.openxmlformats.org/officeDocument/2006/relationships/slide" Target="slides/slide327.xml"/><Relationship Id="rId318" Type="http://schemas.openxmlformats.org/officeDocument/2006/relationships/slide" Target="slides/slide328.xml"/><Relationship Id="rId319" Type="http://schemas.openxmlformats.org/officeDocument/2006/relationships/slide" Target="slides/slide329.xml"/><Relationship Id="rId320" Type="http://schemas.openxmlformats.org/officeDocument/2006/relationships/slide" Target="slides/slide330.xml"/><Relationship Id="rId321" Type="http://schemas.openxmlformats.org/officeDocument/2006/relationships/slide" Target="slides/slide331.xml"/><Relationship Id="rId322" Type="http://schemas.openxmlformats.org/officeDocument/2006/relationships/slide" Target="slides/slide332.xml"/><Relationship Id="rId323" Type="http://schemas.openxmlformats.org/officeDocument/2006/relationships/slide" Target="slides/slide333.xml"/><Relationship Id="rId324" Type="http://schemas.openxmlformats.org/officeDocument/2006/relationships/slide" Target="slides/slide334.xml"/><Relationship Id="rId325" Type="http://schemas.openxmlformats.org/officeDocument/2006/relationships/slide" Target="slides/slide335.xml"/><Relationship Id="rId326" Type="http://schemas.openxmlformats.org/officeDocument/2006/relationships/slide" Target="slides/slide336.xml"/><Relationship Id="rId327" Type="http://schemas.openxmlformats.org/officeDocument/2006/relationships/slide" Target="slides/slide11.xml"/><Relationship Id="rId328" Type="http://schemas.openxmlformats.org/officeDocument/2006/relationships/slide" Target="slides/slide12.xml"/><Relationship Id="rId329" Type="http://schemas.openxmlformats.org/officeDocument/2006/relationships/slide" Target="slides/slide13.xml"/><Relationship Id="rId330" Type="http://schemas.openxmlformats.org/officeDocument/2006/relationships/slide" Target="slides/slide14.xml"/><Relationship Id="rId331" Type="http://schemas.openxmlformats.org/officeDocument/2006/relationships/slide" Target="slides/slide15.xml"/><Relationship Id="rId332" Type="http://schemas.openxmlformats.org/officeDocument/2006/relationships/slide" Target="slides/slide16.xml"/><Relationship Id="rId333" Type="http://schemas.openxmlformats.org/officeDocument/2006/relationships/slide" Target="slides/slide17.xml"/><Relationship Id="rId334" Type="http://schemas.openxmlformats.org/officeDocument/2006/relationships/slide" Target="slides/slide10.xml"/><Relationship Id="rId335" Type="http://schemas.openxmlformats.org/officeDocument/2006/relationships/slide" Target="slides/slide19.xml"/><Relationship Id="rId336" Type="http://schemas.openxmlformats.org/officeDocument/2006/relationships/slide" Target="slides/slide20.xml"/><Relationship Id="rId337" Type="http://schemas.openxmlformats.org/officeDocument/2006/relationships/slide" Target="slides/slide21.xml"/><Relationship Id="rId338" Type="http://schemas.openxmlformats.org/officeDocument/2006/relationships/slide" Target="slides/slide22.xml"/><Relationship Id="rId339" Type="http://schemas.openxmlformats.org/officeDocument/2006/relationships/slide" Target="slides/slide23.xml"/><Relationship Id="rId340" Type="http://schemas.openxmlformats.org/officeDocument/2006/relationships/slide" Target="slides/slide24.xml"/><Relationship Id="rId341" Type="http://schemas.openxmlformats.org/officeDocument/2006/relationships/slide" Target="slides/slide25.xml"/><Relationship Id="rId342" Type="http://schemas.openxmlformats.org/officeDocument/2006/relationships/slide" Target="slides/slide26.xml"/><Relationship Id="rId343" Type="http://schemas.openxmlformats.org/officeDocument/2006/relationships/slide" Target="slides/slide18.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 Id="rId22" Type="http://schemas.openxmlformats.org/officeDocument/2006/relationships/image" Target="../media/image35.png"/><Relationship Id="rId23" Type="http://schemas.openxmlformats.org/officeDocument/2006/relationships/image" Target="../media/image36.png"/></Relationships>
</file>

<file path=ppt/charts/_rels/chart7.xml.rels><?xml version='1.0' encoding='UTF-8' standalone='yes'?>
<Relationships xmlns="http://schemas.openxmlformats.org/package/2006/relationships"><Relationship Id="rId2" Type="http://schemas.openxmlformats.org/officeDocument/2006/relationships/image" Target="../media/image37.png"/><Relationship Id="rId3" Type="http://schemas.openxmlformats.org/officeDocument/2006/relationships/image" Target="../media/image38.png"/><Relationship Id="rId4" Type="http://schemas.openxmlformats.org/officeDocument/2006/relationships/image" Target="../media/image39.png"/><Relationship Id="rId5" Type="http://schemas.openxmlformats.org/officeDocument/2006/relationships/image" Target="../media/image40.png"/><Relationship Id="rId6" Type="http://schemas.openxmlformats.org/officeDocument/2006/relationships/image" Target="../media/image41.png"/><Relationship Id="rId7" Type="http://schemas.openxmlformats.org/officeDocument/2006/relationships/image" Target="../media/image42.png"/><Relationship Id="rId8" Type="http://schemas.openxmlformats.org/officeDocument/2006/relationships/image" Target="../media/image43.png"/><Relationship Id="rId9" Type="http://schemas.openxmlformats.org/officeDocument/2006/relationships/image" Target="../media/image44.png"/><Relationship Id="rId10" Type="http://schemas.openxmlformats.org/officeDocument/2006/relationships/image" Target="../media/image45.png"/><Relationship Id="rId11" Type="http://schemas.openxmlformats.org/officeDocument/2006/relationships/image" Target="../media/image46.png"/></Relationships>
</file>

<file path=ppt/charts/_rels/chart8.xml.rels><?xml version='1.0' encoding='UTF-8' standalone='yes'?>
<Relationships xmlns="http://schemas.openxmlformats.org/package/2006/relationships"><Relationship Id="rId2" Type="http://schemas.openxmlformats.org/officeDocument/2006/relationships/image" Target="../media/image47.png"/><Relationship Id="rId3" Type="http://schemas.openxmlformats.org/officeDocument/2006/relationships/image" Target="../media/image48.png"/><Relationship Id="rId4" Type="http://schemas.openxmlformats.org/officeDocument/2006/relationships/image" Target="../media/image49.png"/><Relationship Id="rId5" Type="http://schemas.openxmlformats.org/officeDocument/2006/relationships/image" Target="../media/image50.png"/><Relationship Id="rId6" Type="http://schemas.openxmlformats.org/officeDocument/2006/relationships/image" Target="../media/image51.png"/><Relationship Id="rId7" Type="http://schemas.openxmlformats.org/officeDocument/2006/relationships/image" Target="../media/image52.png"/><Relationship Id="rId8" Type="http://schemas.openxmlformats.org/officeDocument/2006/relationships/image" Target="../media/image53.png"/><Relationship Id="rId9" Type="http://schemas.openxmlformats.org/officeDocument/2006/relationships/image" Target="../media/image54.png"/><Relationship Id="rId10" Type="http://schemas.openxmlformats.org/officeDocument/2006/relationships/image" Target="../media/image55.png"/><Relationship Id="rId11" Type="http://schemas.openxmlformats.org/officeDocument/2006/relationships/image" Target="../media/image56.png"/></Relationships>
</file>

<file path=ppt/charts/_rels/chart9.xml.rels><?xml version='1.0' encoding='UTF-8' standalone='yes'?>
<Relationships xmlns="http://schemas.openxmlformats.org/package/2006/relationships"><Relationship Id="rId2" Type="http://schemas.openxmlformats.org/officeDocument/2006/relationships/image" Target="../media/image57.png"/><Relationship Id="rId3" Type="http://schemas.openxmlformats.org/officeDocument/2006/relationships/image" Target="../media/image58.png"/><Relationship Id="rId4" Type="http://schemas.openxmlformats.org/officeDocument/2006/relationships/image" Target="../media/image59.png"/></Relationships>
</file>

<file path=ppt/charts/_rels/chart11.xml.rels><?xml version='1.0' encoding='UTF-8' standalone='yes'?>
<Relationships xmlns="http://schemas.openxmlformats.org/package/2006/relationships"><Relationship Id="rId2" Type="http://schemas.openxmlformats.org/officeDocument/2006/relationships/image" Target="../media/image78.png"/><Relationship Id="rId3" Type="http://schemas.openxmlformats.org/officeDocument/2006/relationships/image" Target="../media/image79.png"/><Relationship Id="rId4" Type="http://schemas.openxmlformats.org/officeDocument/2006/relationships/image" Target="../media/image80.png"/><Relationship Id="rId5" Type="http://schemas.openxmlformats.org/officeDocument/2006/relationships/image" Target="../media/image81.png"/><Relationship Id="rId6" Type="http://schemas.openxmlformats.org/officeDocument/2006/relationships/image" Target="../media/image82.png"/><Relationship Id="rId7" Type="http://schemas.openxmlformats.org/officeDocument/2006/relationships/image" Target="../media/image83.png"/><Relationship Id="rId8" Type="http://schemas.openxmlformats.org/officeDocument/2006/relationships/image" Target="../media/image84.png"/><Relationship Id="rId9" Type="http://schemas.openxmlformats.org/officeDocument/2006/relationships/image" Target="../media/image85.png"/><Relationship Id="rId10" Type="http://schemas.openxmlformats.org/officeDocument/2006/relationships/image" Target="../media/image86.png"/><Relationship Id="rId11" Type="http://schemas.openxmlformats.org/officeDocument/2006/relationships/image" Target="../media/image87.png"/></Relationships>
</file>

<file path=ppt/charts/_rels/chart12.xml.rels><?xml version='1.0' encoding='UTF-8' standalone='yes'?>
<Relationships xmlns="http://schemas.openxmlformats.org/package/2006/relationships"><Relationship Id="rId2" Type="http://schemas.openxmlformats.org/officeDocument/2006/relationships/image" Target="../media/image89.png"/><Relationship Id="rId3" Type="http://schemas.openxmlformats.org/officeDocument/2006/relationships/image" Target="../media/image90.png"/><Relationship Id="rId4" Type="http://schemas.openxmlformats.org/officeDocument/2006/relationships/image" Target="../media/image91.png"/><Relationship Id="rId5" Type="http://schemas.openxmlformats.org/officeDocument/2006/relationships/image" Target="../media/image92.png"/><Relationship Id="rId6" Type="http://schemas.openxmlformats.org/officeDocument/2006/relationships/image" Target="../media/image93.png"/><Relationship Id="rId7" Type="http://schemas.openxmlformats.org/officeDocument/2006/relationships/image" Target="../media/image94.png"/><Relationship Id="rId8" Type="http://schemas.openxmlformats.org/officeDocument/2006/relationships/image" Target="../media/image95.png"/><Relationship Id="rId9" Type="http://schemas.openxmlformats.org/officeDocument/2006/relationships/image" Target="../media/image96.png"/><Relationship Id="rId10" Type="http://schemas.openxmlformats.org/officeDocument/2006/relationships/image" Target="../media/image97.png"/><Relationship Id="rId11" Type="http://schemas.openxmlformats.org/officeDocument/2006/relationships/image" Target="../media/image98.png"/><Relationship Id="rId12" Type="http://schemas.openxmlformats.org/officeDocument/2006/relationships/image" Target="../media/image99.png"/></Relationships>
</file>

<file path=ppt/charts/_rels/chart13.xml.rels><?xml version='1.0' encoding='UTF-8' standalone='yes'?>
<Relationships xmlns="http://schemas.openxmlformats.org/package/2006/relationships"><Relationship Id="rId2" Type="http://schemas.openxmlformats.org/officeDocument/2006/relationships/image" Target="../media/image103.png"/></Relationships>
</file>

<file path=ppt/charts/_rels/chart14.xml.rels><?xml version='1.0' encoding='UTF-8' standalone='yes'?>
<Relationships xmlns="http://schemas.openxmlformats.org/package/2006/relationships"><Relationship Id="rId2" Type="http://schemas.openxmlformats.org/officeDocument/2006/relationships/image" Target="../media/image104.png"/></Relationships>
</file>

<file path=ppt/charts/_rels/chart15.xml.rels><?xml version='1.0' encoding='UTF-8' standalone='yes'?>
<Relationships xmlns="http://schemas.openxmlformats.org/package/2006/relationships"><Relationship Id="rId2" Type="http://schemas.openxmlformats.org/officeDocument/2006/relationships/image" Target="../media/image112.png"/><Relationship Id="rId3" Type="http://schemas.openxmlformats.org/officeDocument/2006/relationships/image" Target="../media/image113.png"/><Relationship Id="rId4" Type="http://schemas.openxmlformats.org/officeDocument/2006/relationships/image" Target="../media/image114.png"/><Relationship Id="rId5" Type="http://schemas.openxmlformats.org/officeDocument/2006/relationships/image" Target="../media/image115.png"/><Relationship Id="rId6" Type="http://schemas.openxmlformats.org/officeDocument/2006/relationships/image" Target="../media/image116.png"/><Relationship Id="rId7" Type="http://schemas.openxmlformats.org/officeDocument/2006/relationships/image" Target="../media/image117.png"/><Relationship Id="rId8" Type="http://schemas.openxmlformats.org/officeDocument/2006/relationships/image" Target="../media/image118.png"/><Relationship Id="rId9" Type="http://schemas.openxmlformats.org/officeDocument/2006/relationships/image" Target="../media/image119.png"/><Relationship Id="rId10" Type="http://schemas.openxmlformats.org/officeDocument/2006/relationships/image" Target="../media/image120.png"/><Relationship Id="rId11" Type="http://schemas.openxmlformats.org/officeDocument/2006/relationships/image" Target="../media/image121.png"/><Relationship Id="rId12" Type="http://schemas.openxmlformats.org/officeDocument/2006/relationships/image" Target="../media/image122.png"/><Relationship Id="rId13" Type="http://schemas.openxmlformats.org/officeDocument/2006/relationships/image" Target="../media/image123.png"/><Relationship Id="rId14" Type="http://schemas.openxmlformats.org/officeDocument/2006/relationships/image" Target="../media/image124.png"/><Relationship Id="rId15" Type="http://schemas.openxmlformats.org/officeDocument/2006/relationships/image" Target="../media/image125.png"/><Relationship Id="rId16" Type="http://schemas.openxmlformats.org/officeDocument/2006/relationships/image" Target="../media/image126.png"/><Relationship Id="rId17" Type="http://schemas.openxmlformats.org/officeDocument/2006/relationships/image" Target="../media/image127.png"/><Relationship Id="rId18" Type="http://schemas.openxmlformats.org/officeDocument/2006/relationships/image" Target="../media/image128.png"/><Relationship Id="rId19" Type="http://schemas.openxmlformats.org/officeDocument/2006/relationships/image" Target="../media/image129.png"/></Relationships>
</file>

<file path=ppt/charts/_rels/chart20.xml.rels><?xml version='1.0' encoding='UTF-8' standalone='yes'?>
<Relationships xmlns="http://schemas.openxmlformats.org/package/2006/relationships"><Relationship Id="rId2" Type="http://schemas.openxmlformats.org/officeDocument/2006/relationships/image" Target="../media/image130.png"/><Relationship Id="rId3" Type="http://schemas.openxmlformats.org/officeDocument/2006/relationships/image" Target="../media/image131.png"/><Relationship Id="rId4" Type="http://schemas.openxmlformats.org/officeDocument/2006/relationships/image" Target="../media/image132.png"/><Relationship Id="rId5" Type="http://schemas.openxmlformats.org/officeDocument/2006/relationships/image" Target="../media/image133.png"/><Relationship Id="rId6" Type="http://schemas.openxmlformats.org/officeDocument/2006/relationships/image" Target="../media/image134.png"/><Relationship Id="rId7" Type="http://schemas.openxmlformats.org/officeDocument/2006/relationships/image" Target="../media/image135.png"/><Relationship Id="rId8" Type="http://schemas.openxmlformats.org/officeDocument/2006/relationships/image" Target="../media/image136.png"/><Relationship Id="rId9" Type="http://schemas.openxmlformats.org/officeDocument/2006/relationships/image" Target="../media/image137.png"/><Relationship Id="rId10" Type="http://schemas.openxmlformats.org/officeDocument/2006/relationships/image" Target="../media/image138.png"/></Relationships>
</file>

<file path=ppt/charts/_rels/chart21.xml.rels><?xml version='1.0' encoding='UTF-8' standalone='yes'?>
<Relationships xmlns="http://schemas.openxmlformats.org/package/2006/relationships"><Relationship Id="rId2" Type="http://schemas.openxmlformats.org/officeDocument/2006/relationships/image" Target="../media/image147.png"/><Relationship Id="rId3" Type="http://schemas.openxmlformats.org/officeDocument/2006/relationships/image" Target="../media/image148.png"/><Relationship Id="rId4" Type="http://schemas.openxmlformats.org/officeDocument/2006/relationships/image" Target="../media/image149.png"/><Relationship Id="rId5" Type="http://schemas.openxmlformats.org/officeDocument/2006/relationships/image" Target="../media/image150.png"/><Relationship Id="rId6" Type="http://schemas.openxmlformats.org/officeDocument/2006/relationships/image" Target="../media/image151.png"/><Relationship Id="rId7" Type="http://schemas.openxmlformats.org/officeDocument/2006/relationships/image" Target="../media/image152.png"/><Relationship Id="rId8" Type="http://schemas.openxmlformats.org/officeDocument/2006/relationships/image" Target="../media/image153.png"/><Relationship Id="rId9" Type="http://schemas.openxmlformats.org/officeDocument/2006/relationships/image" Target="../media/image154.png"/><Relationship Id="rId10" Type="http://schemas.openxmlformats.org/officeDocument/2006/relationships/image" Target="../media/image155.png"/><Relationship Id="rId11" Type="http://schemas.openxmlformats.org/officeDocument/2006/relationships/image" Target="../media/image156.png"/><Relationship Id="rId12" Type="http://schemas.openxmlformats.org/officeDocument/2006/relationships/image" Target="../media/image157.png"/><Relationship Id="rId13" Type="http://schemas.openxmlformats.org/officeDocument/2006/relationships/image" Target="../media/image158.png"/><Relationship Id="rId14" Type="http://schemas.openxmlformats.org/officeDocument/2006/relationships/image" Target="../media/image159.png"/><Relationship Id="rId15" Type="http://schemas.openxmlformats.org/officeDocument/2006/relationships/image" Target="../media/image160.png"/><Relationship Id="rId16" Type="http://schemas.openxmlformats.org/officeDocument/2006/relationships/image" Target="../media/image161.png"/><Relationship Id="rId17" Type="http://schemas.openxmlformats.org/officeDocument/2006/relationships/image" Target="../media/image162.png"/><Relationship Id="rId18" Type="http://schemas.openxmlformats.org/officeDocument/2006/relationships/image" Target="../media/image163.png"/></Relationships>
</file>

<file path=ppt/charts/_rels/chart26.xml.rels><?xml version='1.0' encoding='UTF-8' standalone='yes'?>
<Relationships xmlns="http://schemas.openxmlformats.org/package/2006/relationships"><Relationship Id="rId2" Type="http://schemas.openxmlformats.org/officeDocument/2006/relationships/image" Target="../media/image164.png"/><Relationship Id="rId3" Type="http://schemas.openxmlformats.org/officeDocument/2006/relationships/image" Target="../media/image165.png"/><Relationship Id="rId4" Type="http://schemas.openxmlformats.org/officeDocument/2006/relationships/image" Target="../media/image166.png"/><Relationship Id="rId5" Type="http://schemas.openxmlformats.org/officeDocument/2006/relationships/image" Target="../media/image167.png"/><Relationship Id="rId6" Type="http://schemas.openxmlformats.org/officeDocument/2006/relationships/image" Target="../media/image168.png"/><Relationship Id="rId7" Type="http://schemas.openxmlformats.org/officeDocument/2006/relationships/image" Target="../media/image169.png"/><Relationship Id="rId8" Type="http://schemas.openxmlformats.org/officeDocument/2006/relationships/image" Target="../media/image170.png"/><Relationship Id="rId9" Type="http://schemas.openxmlformats.org/officeDocument/2006/relationships/image" Target="../media/image171.png"/><Relationship Id="rId10" Type="http://schemas.openxmlformats.org/officeDocument/2006/relationships/image" Target="../media/image172.png"/></Relationships>
</file>

<file path=ppt/charts/_rels/chart27.xml.rels><?xml version='1.0' encoding='UTF-8' standalone='yes'?>
<Relationships xmlns="http://schemas.openxmlformats.org/package/2006/relationships"><Relationship Id="rId2" Type="http://schemas.openxmlformats.org/officeDocument/2006/relationships/image" Target="../media/image178.png"/><Relationship Id="rId3" Type="http://schemas.openxmlformats.org/officeDocument/2006/relationships/image" Target="../media/image179.png"/><Relationship Id="rId4" Type="http://schemas.openxmlformats.org/officeDocument/2006/relationships/image" Target="../media/image180.png"/><Relationship Id="rId5" Type="http://schemas.openxmlformats.org/officeDocument/2006/relationships/image" Target="../media/image181.png"/><Relationship Id="rId6" Type="http://schemas.openxmlformats.org/officeDocument/2006/relationships/image" Target="../media/image182.png"/><Relationship Id="rId7" Type="http://schemas.openxmlformats.org/officeDocument/2006/relationships/image" Target="../media/image183.png"/><Relationship Id="rId8" Type="http://schemas.openxmlformats.org/officeDocument/2006/relationships/image" Target="../media/image184.png"/><Relationship Id="rId9" Type="http://schemas.openxmlformats.org/officeDocument/2006/relationships/image" Target="../media/image185.png"/><Relationship Id="rId10" Type="http://schemas.openxmlformats.org/officeDocument/2006/relationships/image" Target="../media/image186.png"/><Relationship Id="rId11" Type="http://schemas.openxmlformats.org/officeDocument/2006/relationships/image" Target="../media/image187.png"/></Relationships>
</file>

<file path=ppt/charts/_rels/chart31.xml.rels><?xml version='1.0' encoding='UTF-8' standalone='yes'?>
<Relationships xmlns="http://schemas.openxmlformats.org/package/2006/relationships"><Relationship Id="rId2" Type="http://schemas.openxmlformats.org/officeDocument/2006/relationships/image" Target="../media/image188.png"/><Relationship Id="rId3" Type="http://schemas.openxmlformats.org/officeDocument/2006/relationships/image" Target="../media/image189.png"/><Relationship Id="rId4" Type="http://schemas.openxmlformats.org/officeDocument/2006/relationships/image" Target="../media/image190.png"/><Relationship Id="rId5" Type="http://schemas.openxmlformats.org/officeDocument/2006/relationships/image" Target="../media/image191.png"/><Relationship Id="rId6" Type="http://schemas.openxmlformats.org/officeDocument/2006/relationships/image" Target="../media/image192.png"/><Relationship Id="rId7" Type="http://schemas.openxmlformats.org/officeDocument/2006/relationships/image" Target="../media/image193.png"/></Relationships>
</file>

<file path=ppt/charts/_rels/chart32.xml.rels><?xml version='1.0' encoding='UTF-8' standalone='yes'?>
<Relationships xmlns="http://schemas.openxmlformats.org/package/2006/relationships"><Relationship Id="rId2" Type="http://schemas.openxmlformats.org/officeDocument/2006/relationships/image" Target="../media/image204.png"/><Relationship Id="rId3" Type="http://schemas.openxmlformats.org/officeDocument/2006/relationships/image" Target="../media/image205.png"/><Relationship Id="rId4" Type="http://schemas.openxmlformats.org/officeDocument/2006/relationships/image" Target="../media/image206.png"/><Relationship Id="rId5" Type="http://schemas.openxmlformats.org/officeDocument/2006/relationships/image" Target="../media/image207.png"/><Relationship Id="rId6" Type="http://schemas.openxmlformats.org/officeDocument/2006/relationships/image" Target="../media/image208.png"/><Relationship Id="rId7" Type="http://schemas.openxmlformats.org/officeDocument/2006/relationships/image" Target="../media/image209.png"/><Relationship Id="rId8" Type="http://schemas.openxmlformats.org/officeDocument/2006/relationships/image" Target="../media/image210.png"/><Relationship Id="rId9" Type="http://schemas.openxmlformats.org/officeDocument/2006/relationships/image" Target="../media/image211.png"/><Relationship Id="rId10" Type="http://schemas.openxmlformats.org/officeDocument/2006/relationships/image" Target="../media/image212.png"/><Relationship Id="rId11" Type="http://schemas.openxmlformats.org/officeDocument/2006/relationships/image" Target="../media/image213.png"/><Relationship Id="rId12" Type="http://schemas.openxmlformats.org/officeDocument/2006/relationships/image" Target="../media/image214.png"/><Relationship Id="rId13" Type="http://schemas.openxmlformats.org/officeDocument/2006/relationships/image" Target="../media/image215.png"/><Relationship Id="rId14" Type="http://schemas.openxmlformats.org/officeDocument/2006/relationships/image" Target="../media/image216.png"/><Relationship Id="rId15" Type="http://schemas.openxmlformats.org/officeDocument/2006/relationships/image" Target="../media/image217.png"/><Relationship Id="rId16" Type="http://schemas.openxmlformats.org/officeDocument/2006/relationships/image" Target="../media/image218.png"/><Relationship Id="rId17" Type="http://schemas.openxmlformats.org/officeDocument/2006/relationships/image" Target="../media/image219.png"/><Relationship Id="rId18" Type="http://schemas.openxmlformats.org/officeDocument/2006/relationships/image" Target="../media/image220.png"/><Relationship Id="rId19" Type="http://schemas.openxmlformats.org/officeDocument/2006/relationships/image" Target="../media/image221.png"/><Relationship Id="rId20" Type="http://schemas.openxmlformats.org/officeDocument/2006/relationships/image" Target="../media/image222.png"/><Relationship Id="rId21" Type="http://schemas.openxmlformats.org/officeDocument/2006/relationships/image" Target="../media/image223.png"/><Relationship Id="rId22" Type="http://schemas.openxmlformats.org/officeDocument/2006/relationships/image" Target="../media/image224.png"/><Relationship Id="rId23" Type="http://schemas.openxmlformats.org/officeDocument/2006/relationships/image" Target="../media/image225.png"/></Relationships>
</file>

<file path=ppt/charts/_rels/chart38.xml.rels><?xml version='1.0' encoding='UTF-8' standalone='yes'?>
<Relationships xmlns="http://schemas.openxmlformats.org/package/2006/relationships"><Relationship Id="rId2" Type="http://schemas.openxmlformats.org/officeDocument/2006/relationships/image" Target="../media/image226.png"/><Relationship Id="rId3" Type="http://schemas.openxmlformats.org/officeDocument/2006/relationships/image" Target="../media/image227.png"/><Relationship Id="rId4" Type="http://schemas.openxmlformats.org/officeDocument/2006/relationships/image" Target="../media/image228.png"/><Relationship Id="rId5" Type="http://schemas.openxmlformats.org/officeDocument/2006/relationships/image" Target="../media/image229.png"/><Relationship Id="rId6" Type="http://schemas.openxmlformats.org/officeDocument/2006/relationships/image" Target="../media/image230.png"/><Relationship Id="rId7" Type="http://schemas.openxmlformats.org/officeDocument/2006/relationships/image" Target="../media/image231.png"/><Relationship Id="rId8" Type="http://schemas.openxmlformats.org/officeDocument/2006/relationships/image" Target="../media/image232.png"/><Relationship Id="rId9" Type="http://schemas.openxmlformats.org/officeDocument/2006/relationships/image" Target="../media/image233.png"/><Relationship Id="rId10" Type="http://schemas.openxmlformats.org/officeDocument/2006/relationships/image" Target="../media/image234.png"/><Relationship Id="rId11" Type="http://schemas.openxmlformats.org/officeDocument/2006/relationships/image" Target="../media/image235.png"/><Relationship Id="rId12" Type="http://schemas.openxmlformats.org/officeDocument/2006/relationships/image" Target="../media/image236.png"/><Relationship Id="rId13" Type="http://schemas.openxmlformats.org/officeDocument/2006/relationships/image" Target="../media/image237.png"/></Relationships>
</file>

<file path=ppt/charts/_rels/chart39.xml.rels><?xml version='1.0' encoding='UTF-8' standalone='yes'?>
<Relationships xmlns="http://schemas.openxmlformats.org/package/2006/relationships"><Relationship Id="rId2" Type="http://schemas.openxmlformats.org/officeDocument/2006/relationships/image" Target="../media/image243.png"/><Relationship Id="rId3" Type="http://schemas.openxmlformats.org/officeDocument/2006/relationships/image" Target="../media/image244.png"/><Relationship Id="rId4" Type="http://schemas.openxmlformats.org/officeDocument/2006/relationships/image" Target="../media/image245.png"/><Relationship Id="rId5" Type="http://schemas.openxmlformats.org/officeDocument/2006/relationships/image" Target="../media/image246.png"/><Relationship Id="rId6" Type="http://schemas.openxmlformats.org/officeDocument/2006/relationships/image" Target="../media/image247.png"/><Relationship Id="rId7" Type="http://schemas.openxmlformats.org/officeDocument/2006/relationships/image" Target="../media/image248.png"/><Relationship Id="rId8" Type="http://schemas.openxmlformats.org/officeDocument/2006/relationships/image" Target="../media/image249.png"/><Relationship Id="rId9" Type="http://schemas.openxmlformats.org/officeDocument/2006/relationships/image" Target="../media/image250.png"/><Relationship Id="rId10" Type="http://schemas.openxmlformats.org/officeDocument/2006/relationships/image" Target="../media/image251.png"/><Relationship Id="rId11" Type="http://schemas.openxmlformats.org/officeDocument/2006/relationships/image" Target="../media/image252.png"/><Relationship Id="rId12" Type="http://schemas.openxmlformats.org/officeDocument/2006/relationships/image" Target="../media/image253.png"/><Relationship Id="rId13" Type="http://schemas.openxmlformats.org/officeDocument/2006/relationships/image" Target="../media/image254.png"/></Relationships>
</file>

<file path=ppt/charts/_rels/chart43.xml.rels><?xml version='1.0' encoding='UTF-8' standalone='yes'?>
<Relationships xmlns="http://schemas.openxmlformats.org/package/2006/relationships"><Relationship Id="rId2" Type="http://schemas.openxmlformats.org/officeDocument/2006/relationships/image" Target="../media/image255.png"/><Relationship Id="rId3" Type="http://schemas.openxmlformats.org/officeDocument/2006/relationships/image" Target="../media/image256.png"/><Relationship Id="rId4" Type="http://schemas.openxmlformats.org/officeDocument/2006/relationships/image" Target="../media/image257.png"/><Relationship Id="rId5" Type="http://schemas.openxmlformats.org/officeDocument/2006/relationships/image" Target="../media/image258.png"/><Relationship Id="rId6" Type="http://schemas.openxmlformats.org/officeDocument/2006/relationships/image" Target="../media/image259.png"/><Relationship Id="rId7" Type="http://schemas.openxmlformats.org/officeDocument/2006/relationships/image" Target="../media/image260.png"/></Relationships>
</file>

<file path=ppt/charts/_rels/chart44.xml.rels><?xml version='1.0' encoding='UTF-8' standalone='yes'?>
<Relationships xmlns="http://schemas.openxmlformats.org/package/2006/relationships"><Relationship Id="rId2" Type="http://schemas.openxmlformats.org/officeDocument/2006/relationships/image" Target="../media/image281.png"/><Relationship Id="rId3" Type="http://schemas.openxmlformats.org/officeDocument/2006/relationships/image" Target="../media/image282.png"/><Relationship Id="rId4" Type="http://schemas.openxmlformats.org/officeDocument/2006/relationships/image" Target="../media/image283.png"/><Relationship Id="rId5" Type="http://schemas.openxmlformats.org/officeDocument/2006/relationships/image" Target="../media/image284.png"/><Relationship Id="rId6" Type="http://schemas.openxmlformats.org/officeDocument/2006/relationships/image" Target="../media/image285.png"/><Relationship Id="rId7" Type="http://schemas.openxmlformats.org/officeDocument/2006/relationships/image" Target="../media/image286.png"/><Relationship Id="rId8" Type="http://schemas.openxmlformats.org/officeDocument/2006/relationships/image" Target="../media/image287.png"/><Relationship Id="rId9" Type="http://schemas.openxmlformats.org/officeDocument/2006/relationships/image" Target="../media/image288.png"/><Relationship Id="rId10" Type="http://schemas.openxmlformats.org/officeDocument/2006/relationships/image" Target="../media/image289.png"/><Relationship Id="rId11" Type="http://schemas.openxmlformats.org/officeDocument/2006/relationships/image" Target="../media/image290.png"/><Relationship Id="rId12" Type="http://schemas.openxmlformats.org/officeDocument/2006/relationships/image" Target="../media/image291.png"/><Relationship Id="rId13" Type="http://schemas.openxmlformats.org/officeDocument/2006/relationships/image" Target="../media/image292.png"/><Relationship Id="rId14" Type="http://schemas.openxmlformats.org/officeDocument/2006/relationships/image" Target="../media/image293.png"/><Relationship Id="rId15" Type="http://schemas.openxmlformats.org/officeDocument/2006/relationships/image" Target="../media/image294.png"/><Relationship Id="rId16" Type="http://schemas.openxmlformats.org/officeDocument/2006/relationships/image" Target="../media/image295.png"/><Relationship Id="rId17" Type="http://schemas.openxmlformats.org/officeDocument/2006/relationships/image" Target="../media/image296.png"/><Relationship Id="rId18" Type="http://schemas.openxmlformats.org/officeDocument/2006/relationships/image" Target="../media/image297.png"/><Relationship Id="rId19" Type="http://schemas.openxmlformats.org/officeDocument/2006/relationships/image" Target="../media/image298.png"/><Relationship Id="rId20" Type="http://schemas.openxmlformats.org/officeDocument/2006/relationships/image" Target="../media/image299.png"/><Relationship Id="rId21" Type="http://schemas.openxmlformats.org/officeDocument/2006/relationships/image" Target="../media/image300.png"/><Relationship Id="rId22" Type="http://schemas.openxmlformats.org/officeDocument/2006/relationships/image" Target="../media/image301.png"/><Relationship Id="rId23" Type="http://schemas.openxmlformats.org/officeDocument/2006/relationships/image" Target="../media/image302.png"/><Relationship Id="rId24" Type="http://schemas.openxmlformats.org/officeDocument/2006/relationships/image" Target="../media/image303.png"/><Relationship Id="rId25" Type="http://schemas.openxmlformats.org/officeDocument/2006/relationships/image" Target="../media/image304.png"/><Relationship Id="rId26" Type="http://schemas.openxmlformats.org/officeDocument/2006/relationships/image" Target="../media/image305.png"/><Relationship Id="rId27" Type="http://schemas.openxmlformats.org/officeDocument/2006/relationships/image" Target="../media/image306.png"/><Relationship Id="rId28" Type="http://schemas.openxmlformats.org/officeDocument/2006/relationships/image" Target="../media/image307.png"/><Relationship Id="rId29" Type="http://schemas.openxmlformats.org/officeDocument/2006/relationships/image" Target="../media/image308.png"/><Relationship Id="rId30" Type="http://schemas.openxmlformats.org/officeDocument/2006/relationships/image" Target="../media/image309.png"/><Relationship Id="rId31" Type="http://schemas.openxmlformats.org/officeDocument/2006/relationships/image" Target="../media/image310.png"/><Relationship Id="rId32" Type="http://schemas.openxmlformats.org/officeDocument/2006/relationships/image" Target="../media/image311.png"/><Relationship Id="rId33" Type="http://schemas.openxmlformats.org/officeDocument/2006/relationships/image" Target="../media/image312.png"/><Relationship Id="rId34" Type="http://schemas.openxmlformats.org/officeDocument/2006/relationships/image" Target="../media/image313.png"/><Relationship Id="rId35" Type="http://schemas.openxmlformats.org/officeDocument/2006/relationships/image" Target="../media/image314.png"/><Relationship Id="rId36" Type="http://schemas.openxmlformats.org/officeDocument/2006/relationships/image" Target="../media/image315.png"/><Relationship Id="rId37" Type="http://schemas.openxmlformats.org/officeDocument/2006/relationships/image" Target="../media/image316.png"/><Relationship Id="rId38" Type="http://schemas.openxmlformats.org/officeDocument/2006/relationships/image" Target="../media/image317.png"/></Relationships>
</file>

<file path=ppt/charts/_rels/chart53.xml.rels><?xml version='1.0' encoding='UTF-8' standalone='yes'?>
<Relationships xmlns="http://schemas.openxmlformats.org/package/2006/relationships"><Relationship Id="rId2" Type="http://schemas.openxmlformats.org/officeDocument/2006/relationships/image" Target="../media/image318.png"/><Relationship Id="rId3" Type="http://schemas.openxmlformats.org/officeDocument/2006/relationships/image" Target="../media/image319.png"/><Relationship Id="rId4" Type="http://schemas.openxmlformats.org/officeDocument/2006/relationships/image" Target="../media/image320.png"/><Relationship Id="rId5" Type="http://schemas.openxmlformats.org/officeDocument/2006/relationships/image" Target="../media/image321.png"/><Relationship Id="rId6" Type="http://schemas.openxmlformats.org/officeDocument/2006/relationships/image" Target="../media/image322.png"/><Relationship Id="rId7" Type="http://schemas.openxmlformats.org/officeDocument/2006/relationships/image" Target="../media/image323.png"/><Relationship Id="rId8" Type="http://schemas.openxmlformats.org/officeDocument/2006/relationships/image" Target="../media/image324.png"/><Relationship Id="rId9" Type="http://schemas.openxmlformats.org/officeDocument/2006/relationships/image" Target="../media/image325.png"/><Relationship Id="rId10" Type="http://schemas.openxmlformats.org/officeDocument/2006/relationships/image" Target="../media/image326.png"/><Relationship Id="rId11" Type="http://schemas.openxmlformats.org/officeDocument/2006/relationships/image" Target="../media/image327.png"/><Relationship Id="rId12" Type="http://schemas.openxmlformats.org/officeDocument/2006/relationships/image" Target="../media/image328.png"/><Relationship Id="rId13" Type="http://schemas.openxmlformats.org/officeDocument/2006/relationships/image" Target="../media/image329.png"/><Relationship Id="rId14" Type="http://schemas.openxmlformats.org/officeDocument/2006/relationships/image" Target="../media/image330.png"/><Relationship Id="rId15" Type="http://schemas.openxmlformats.org/officeDocument/2006/relationships/image" Target="../media/image331.png"/><Relationship Id="rId16" Type="http://schemas.openxmlformats.org/officeDocument/2006/relationships/image" Target="../media/image332.png"/><Relationship Id="rId17" Type="http://schemas.openxmlformats.org/officeDocument/2006/relationships/image" Target="../media/image333.png"/><Relationship Id="rId18" Type="http://schemas.openxmlformats.org/officeDocument/2006/relationships/image" Target="../media/image334.png"/><Relationship Id="rId19" Type="http://schemas.openxmlformats.org/officeDocument/2006/relationships/image" Target="../media/image335.png"/><Relationship Id="rId20" Type="http://schemas.openxmlformats.org/officeDocument/2006/relationships/image" Target="../media/image336.png"/><Relationship Id="rId21" Type="http://schemas.openxmlformats.org/officeDocument/2006/relationships/image" Target="../media/image337.png"/><Relationship Id="rId22" Type="http://schemas.openxmlformats.org/officeDocument/2006/relationships/image" Target="../media/image338.png"/></Relationships>
</file>

<file path=ppt/charts/_rels/chart54.xml.rels><?xml version='1.0' encoding='UTF-8' standalone='yes'?>
<Relationships xmlns="http://schemas.openxmlformats.org/package/2006/relationships"><Relationship Id="rId2" Type="http://schemas.openxmlformats.org/officeDocument/2006/relationships/image" Target="../media/image343.png"/><Relationship Id="rId3" Type="http://schemas.openxmlformats.org/officeDocument/2006/relationships/image" Target="../media/image344.png"/><Relationship Id="rId4" Type="http://schemas.openxmlformats.org/officeDocument/2006/relationships/image" Target="../media/image345.png"/><Relationship Id="rId5" Type="http://schemas.openxmlformats.org/officeDocument/2006/relationships/image" Target="../media/image346.png"/><Relationship Id="rId6" Type="http://schemas.openxmlformats.org/officeDocument/2006/relationships/image" Target="../media/image347.png"/><Relationship Id="rId7" Type="http://schemas.openxmlformats.org/officeDocument/2006/relationships/image" Target="../media/image348.png"/><Relationship Id="rId8" Type="http://schemas.openxmlformats.org/officeDocument/2006/relationships/image" Target="../media/image349.png"/><Relationship Id="rId9" Type="http://schemas.openxmlformats.org/officeDocument/2006/relationships/image" Target="../media/image350.png"/><Relationship Id="rId10" Type="http://schemas.openxmlformats.org/officeDocument/2006/relationships/image" Target="../media/image351.png"/><Relationship Id="rId11" Type="http://schemas.openxmlformats.org/officeDocument/2006/relationships/image" Target="../media/image352.png"/><Relationship Id="rId12" Type="http://schemas.openxmlformats.org/officeDocument/2006/relationships/image" Target="../media/image353.png"/><Relationship Id="rId13" Type="http://schemas.openxmlformats.org/officeDocument/2006/relationships/image" Target="../media/image354.png"/></Relationships>
</file>

<file path=ppt/charts/_rels/chart58.xml.rels><?xml version='1.0' encoding='UTF-8' standalone='yes'?>
<Relationships xmlns="http://schemas.openxmlformats.org/package/2006/relationships"><Relationship Id="rId2" Type="http://schemas.openxmlformats.org/officeDocument/2006/relationships/image" Target="../media/image355.png"/><Relationship Id="rId3" Type="http://schemas.openxmlformats.org/officeDocument/2006/relationships/image" Target="../media/image356.png"/><Relationship Id="rId4" Type="http://schemas.openxmlformats.org/officeDocument/2006/relationships/image" Target="../media/image357.png"/><Relationship Id="rId5" Type="http://schemas.openxmlformats.org/officeDocument/2006/relationships/image" Target="../media/image358.png"/><Relationship Id="rId6" Type="http://schemas.openxmlformats.org/officeDocument/2006/relationships/image" Target="../media/image359.png"/><Relationship Id="rId7" Type="http://schemas.openxmlformats.org/officeDocument/2006/relationships/image" Target="../media/image360.png"/></Relationships>
</file>

<file path=ppt/charts/_rels/chart62.xml.rels><?xml version='1.0' encoding='UTF-8' standalone='yes'?>
<Relationships xmlns="http://schemas.openxmlformats.org/package/2006/relationships"><Relationship Id="rId2" Type="http://schemas.openxmlformats.org/officeDocument/2006/relationships/image" Target="../media/image361.png"/></Relationships>
</file>

<file path=ppt/charts/_rels/chart64.xml.rels><?xml version='1.0' encoding='UTF-8' standalone='yes'?>
<Relationships xmlns="http://schemas.openxmlformats.org/package/2006/relationships"><Relationship Id="rId2" Type="http://schemas.openxmlformats.org/officeDocument/2006/relationships/image" Target="../media/image362.png"/></Relationships>
</file>

<file path=ppt/charts/_rels/chart66.xml.rels><?xml version='1.0' encoding='UTF-8' standalone='yes'?>
<Relationships xmlns="http://schemas.openxmlformats.org/package/2006/relationships"><Relationship Id="rId2" Type="http://schemas.openxmlformats.org/officeDocument/2006/relationships/image" Target="../media/image363.png"/><Relationship Id="rId3" Type="http://schemas.openxmlformats.org/officeDocument/2006/relationships/image" Target="../media/image364.png"/><Relationship Id="rId4" Type="http://schemas.openxmlformats.org/officeDocument/2006/relationships/image" Target="../media/image365.png"/><Relationship Id="rId5" Type="http://schemas.openxmlformats.org/officeDocument/2006/relationships/image" Target="../media/image366.png"/><Relationship Id="rId6" Type="http://schemas.openxmlformats.org/officeDocument/2006/relationships/image" Target="../media/image367.png"/><Relationship Id="rId7" Type="http://schemas.openxmlformats.org/officeDocument/2006/relationships/image" Target="../media/image368.png"/><Relationship Id="rId8" Type="http://schemas.openxmlformats.org/officeDocument/2006/relationships/image" Target="../media/image369.png"/><Relationship Id="rId9" Type="http://schemas.openxmlformats.org/officeDocument/2006/relationships/image" Target="../media/image370.png"/><Relationship Id="rId10" Type="http://schemas.openxmlformats.org/officeDocument/2006/relationships/image" Target="../media/image371.png"/><Relationship Id="rId11" Type="http://schemas.openxmlformats.org/officeDocument/2006/relationships/image" Target="../media/image372.png"/></Relationships>
</file>

<file path=ppt/charts/_rels/chart67.xml.rels><?xml version='1.0' encoding='UTF-8' standalone='yes'?>
<Relationships xmlns="http://schemas.openxmlformats.org/package/2006/relationships"><Relationship Id="rId2" Type="http://schemas.openxmlformats.org/officeDocument/2006/relationships/image" Target="../media/image373.png"/><Relationship Id="rId3" Type="http://schemas.openxmlformats.org/officeDocument/2006/relationships/image" Target="../media/image374.png"/><Relationship Id="rId4" Type="http://schemas.openxmlformats.org/officeDocument/2006/relationships/image" Target="../media/image375.png"/><Relationship Id="rId5" Type="http://schemas.openxmlformats.org/officeDocument/2006/relationships/image" Target="../media/image376.png"/><Relationship Id="rId6" Type="http://schemas.openxmlformats.org/officeDocument/2006/relationships/image" Target="../media/image377.png"/><Relationship Id="rId7" Type="http://schemas.openxmlformats.org/officeDocument/2006/relationships/image" Target="../media/image378.png"/><Relationship Id="rId8" Type="http://schemas.openxmlformats.org/officeDocument/2006/relationships/image" Target="../media/image379.png"/><Relationship Id="rId9" Type="http://schemas.openxmlformats.org/officeDocument/2006/relationships/image" Target="../media/image380.png"/><Relationship Id="rId10" Type="http://schemas.openxmlformats.org/officeDocument/2006/relationships/image" Target="../media/image381.png"/><Relationship Id="rId11" Type="http://schemas.openxmlformats.org/officeDocument/2006/relationships/image" Target="../media/image382.png"/><Relationship Id="rId12" Type="http://schemas.openxmlformats.org/officeDocument/2006/relationships/image" Target="../media/image383.png"/><Relationship Id="rId13" Type="http://schemas.openxmlformats.org/officeDocument/2006/relationships/image" Target="../media/image384.png"/><Relationship Id="rId14" Type="http://schemas.openxmlformats.org/officeDocument/2006/relationships/image" Target="../media/image385.png"/><Relationship Id="rId15" Type="http://schemas.openxmlformats.org/officeDocument/2006/relationships/image" Target="../media/image386.png"/><Relationship Id="rId16" Type="http://schemas.openxmlformats.org/officeDocument/2006/relationships/image" Target="../media/image387.png"/><Relationship Id="rId17" Type="http://schemas.openxmlformats.org/officeDocument/2006/relationships/image" Target="../media/image388.png"/><Relationship Id="rId18" Type="http://schemas.openxmlformats.org/officeDocument/2006/relationships/image" Target="../media/image389.png"/><Relationship Id="rId19" Type="http://schemas.openxmlformats.org/officeDocument/2006/relationships/image" Target="../media/image390.png"/><Relationship Id="rId20" Type="http://schemas.openxmlformats.org/officeDocument/2006/relationships/image" Target="../media/image391.png"/><Relationship Id="rId21" Type="http://schemas.openxmlformats.org/officeDocument/2006/relationships/image" Target="../media/image392.png"/><Relationship Id="rId22" Type="http://schemas.openxmlformats.org/officeDocument/2006/relationships/image" Target="../media/image393.png"/><Relationship Id="rId23" Type="http://schemas.openxmlformats.org/officeDocument/2006/relationships/image" Target="../media/image394.png"/></Relationships>
</file>

<file path=ppt/charts/_rels/chart68.xml.rels><?xml version='1.0' encoding='UTF-8' standalone='yes'?>
<Relationships xmlns="http://schemas.openxmlformats.org/package/2006/relationships"><Relationship Id="rId2" Type="http://schemas.openxmlformats.org/officeDocument/2006/relationships/image" Target="../media/image395.png"/><Relationship Id="rId3" Type="http://schemas.openxmlformats.org/officeDocument/2006/relationships/image" Target="../media/image396.png"/></Relationships>
</file>

<file path=ppt/charts/_rels/chart69.xml.rels><?xml version='1.0' encoding='UTF-8' standalone='yes'?>
<Relationships xmlns="http://schemas.openxmlformats.org/package/2006/relationships"><Relationship Id="rId2" Type="http://schemas.openxmlformats.org/officeDocument/2006/relationships/image" Target="../media/image397.png"/><Relationship Id="rId3" Type="http://schemas.openxmlformats.org/officeDocument/2006/relationships/image" Target="../media/image398.png"/></Relationships>
</file>

<file path=ppt/charts/_rels/chart70.xml.rels><?xml version='1.0' encoding='UTF-8' standalone='yes'?>
<Relationships xmlns="http://schemas.openxmlformats.org/package/2006/relationships"><Relationship Id="rId2" Type="http://schemas.openxmlformats.org/officeDocument/2006/relationships/image" Target="../media/image399.png"/><Relationship Id="rId3" Type="http://schemas.openxmlformats.org/officeDocument/2006/relationships/image" Target="../media/image400.png"/><Relationship Id="rId4" Type="http://schemas.openxmlformats.org/officeDocument/2006/relationships/image" Target="../media/image401.png"/></Relationships>
</file>

<file path=ppt/charts/_rels/chart72.xml.rels><?xml version='1.0' encoding='UTF-8' standalone='yes'?>
<Relationships xmlns="http://schemas.openxmlformats.org/package/2006/relationships"><Relationship Id="rId2" Type="http://schemas.openxmlformats.org/officeDocument/2006/relationships/image" Target="../media/image402.png"/><Relationship Id="rId3" Type="http://schemas.openxmlformats.org/officeDocument/2006/relationships/image" Target="../media/image403.png"/><Relationship Id="rId4" Type="http://schemas.openxmlformats.org/officeDocument/2006/relationships/image" Target="../media/image404.png"/><Relationship Id="rId5" Type="http://schemas.openxmlformats.org/officeDocument/2006/relationships/image" Target="../media/image405.png"/></Relationships>
</file>

<file path=ppt/charts/_rels/chart73.xml.rels><?xml version='1.0' encoding='UTF-8' standalone='yes'?>
<Relationships xmlns="http://schemas.openxmlformats.org/package/2006/relationships"><Relationship Id="rId2" Type="http://schemas.openxmlformats.org/officeDocument/2006/relationships/image" Target="../media/image406.png"/><Relationship Id="rId3" Type="http://schemas.openxmlformats.org/officeDocument/2006/relationships/image" Target="../media/image407.png"/><Relationship Id="rId4" Type="http://schemas.openxmlformats.org/officeDocument/2006/relationships/image" Target="../media/image408.png"/><Relationship Id="rId5" Type="http://schemas.openxmlformats.org/officeDocument/2006/relationships/image" Target="../media/image409.png"/></Relationships>
</file>

<file path=ppt/charts/_rels/chart74.xml.rels><?xml version='1.0' encoding='UTF-8' standalone='yes'?>
<Relationships xmlns="http://schemas.openxmlformats.org/package/2006/relationships"><Relationship Id="rId2" Type="http://schemas.openxmlformats.org/officeDocument/2006/relationships/image" Target="../media/image410.png"/><Relationship Id="rId3" Type="http://schemas.openxmlformats.org/officeDocument/2006/relationships/image" Target="../media/image411.png"/><Relationship Id="rId4" Type="http://schemas.openxmlformats.org/officeDocument/2006/relationships/image" Target="../media/image412.png"/><Relationship Id="rId5" Type="http://schemas.openxmlformats.org/officeDocument/2006/relationships/image" Target="../media/image413.png"/><Relationship Id="rId6" Type="http://schemas.openxmlformats.org/officeDocument/2006/relationships/image" Target="../media/image414.png"/><Relationship Id="rId7" Type="http://schemas.openxmlformats.org/officeDocument/2006/relationships/image" Target="../media/image415.png"/><Relationship Id="rId8" Type="http://schemas.openxmlformats.org/officeDocument/2006/relationships/image" Target="../media/image416.png"/><Relationship Id="rId9" Type="http://schemas.openxmlformats.org/officeDocument/2006/relationships/image" Target="../media/image417.png"/><Relationship Id="rId10" Type="http://schemas.openxmlformats.org/officeDocument/2006/relationships/image" Target="../media/image418.png"/><Relationship Id="rId11" Type="http://schemas.openxmlformats.org/officeDocument/2006/relationships/image" Target="../media/image419.png"/><Relationship Id="rId12" Type="http://schemas.openxmlformats.org/officeDocument/2006/relationships/image" Target="../media/image420.png"/><Relationship Id="rId13" Type="http://schemas.openxmlformats.org/officeDocument/2006/relationships/image" Target="../media/image421.png"/><Relationship Id="rId14" Type="http://schemas.openxmlformats.org/officeDocument/2006/relationships/image" Target="../media/image422.png"/><Relationship Id="rId15" Type="http://schemas.openxmlformats.org/officeDocument/2006/relationships/image" Target="../media/image423.png"/><Relationship Id="rId16" Type="http://schemas.openxmlformats.org/officeDocument/2006/relationships/image" Target="../media/image424.png"/><Relationship Id="rId17" Type="http://schemas.openxmlformats.org/officeDocument/2006/relationships/image" Target="../media/image425.png"/><Relationship Id="rId18" Type="http://schemas.openxmlformats.org/officeDocument/2006/relationships/image" Target="../media/image426.png"/><Relationship Id="rId19" Type="http://schemas.openxmlformats.org/officeDocument/2006/relationships/image" Target="../media/image427.png"/><Relationship Id="rId20" Type="http://schemas.openxmlformats.org/officeDocument/2006/relationships/image" Target="../media/image428.png"/><Relationship Id="rId21" Type="http://schemas.openxmlformats.org/officeDocument/2006/relationships/image" Target="../media/image429.png"/><Relationship Id="rId22" Type="http://schemas.openxmlformats.org/officeDocument/2006/relationships/image" Target="../media/image430.png"/><Relationship Id="rId23" Type="http://schemas.openxmlformats.org/officeDocument/2006/relationships/image" Target="../media/image431.png"/><Relationship Id="rId24" Type="http://schemas.openxmlformats.org/officeDocument/2006/relationships/image" Target="../media/image432.png"/><Relationship Id="rId25" Type="http://schemas.openxmlformats.org/officeDocument/2006/relationships/image" Target="../media/image433.png"/><Relationship Id="rId26" Type="http://schemas.openxmlformats.org/officeDocument/2006/relationships/image" Target="../media/image434.png"/><Relationship Id="rId27" Type="http://schemas.openxmlformats.org/officeDocument/2006/relationships/image" Target="../media/image435.png"/><Relationship Id="rId28" Type="http://schemas.openxmlformats.org/officeDocument/2006/relationships/image" Target="../media/image436.png"/><Relationship Id="rId29" Type="http://schemas.openxmlformats.org/officeDocument/2006/relationships/image" Target="../media/image437.png"/><Relationship Id="rId30" Type="http://schemas.openxmlformats.org/officeDocument/2006/relationships/image" Target="../media/image438.png"/><Relationship Id="rId31" Type="http://schemas.openxmlformats.org/officeDocument/2006/relationships/image" Target="../media/image439.png"/><Relationship Id="rId32" Type="http://schemas.openxmlformats.org/officeDocument/2006/relationships/image" Target="../media/image440.png"/><Relationship Id="rId33" Type="http://schemas.openxmlformats.org/officeDocument/2006/relationships/image" Target="../media/image441.png"/></Relationships>
</file>

<file path=ppt/charts/_rels/chart75.xml.rels><?xml version='1.0' encoding='UTF-8' standalone='yes'?>
<Relationships xmlns="http://schemas.openxmlformats.org/package/2006/relationships"><Relationship Id="rId2" Type="http://schemas.openxmlformats.org/officeDocument/2006/relationships/image" Target="../media/image442.png"/><Relationship Id="rId3" Type="http://schemas.openxmlformats.org/officeDocument/2006/relationships/image" Target="../media/image443.png"/><Relationship Id="rId4" Type="http://schemas.openxmlformats.org/officeDocument/2006/relationships/image" Target="../media/image444.png"/><Relationship Id="rId5" Type="http://schemas.openxmlformats.org/officeDocument/2006/relationships/image" Target="../media/image445.png"/><Relationship Id="rId6" Type="http://schemas.openxmlformats.org/officeDocument/2006/relationships/image" Target="../media/image446.png"/><Relationship Id="rId7" Type="http://schemas.openxmlformats.org/officeDocument/2006/relationships/image" Target="../media/image447.png"/><Relationship Id="rId8" Type="http://schemas.openxmlformats.org/officeDocument/2006/relationships/image" Target="../media/image448.png"/><Relationship Id="rId9" Type="http://schemas.openxmlformats.org/officeDocument/2006/relationships/image" Target="../media/image449.png"/><Relationship Id="rId10" Type="http://schemas.openxmlformats.org/officeDocument/2006/relationships/image" Target="../media/image450.png"/><Relationship Id="rId11" Type="http://schemas.openxmlformats.org/officeDocument/2006/relationships/image" Target="../media/image451.png"/><Relationship Id="rId12" Type="http://schemas.openxmlformats.org/officeDocument/2006/relationships/image" Target="../media/image452.png"/><Relationship Id="rId13" Type="http://schemas.openxmlformats.org/officeDocument/2006/relationships/image" Target="../media/image453.png"/><Relationship Id="rId14" Type="http://schemas.openxmlformats.org/officeDocument/2006/relationships/image" Target="../media/image454.png"/><Relationship Id="rId15" Type="http://schemas.openxmlformats.org/officeDocument/2006/relationships/image" Target="../media/image455.png"/><Relationship Id="rId16" Type="http://schemas.openxmlformats.org/officeDocument/2006/relationships/image" Target="../media/image456.png"/><Relationship Id="rId17" Type="http://schemas.openxmlformats.org/officeDocument/2006/relationships/image" Target="../media/image457.png"/><Relationship Id="rId18" Type="http://schemas.openxmlformats.org/officeDocument/2006/relationships/image" Target="../media/image458.png"/><Relationship Id="rId19" Type="http://schemas.openxmlformats.org/officeDocument/2006/relationships/image" Target="../media/image459.png"/><Relationship Id="rId20" Type="http://schemas.openxmlformats.org/officeDocument/2006/relationships/image" Target="../media/image460.png"/><Relationship Id="rId21" Type="http://schemas.openxmlformats.org/officeDocument/2006/relationships/image" Target="../media/image461.png"/><Relationship Id="rId22" Type="http://schemas.openxmlformats.org/officeDocument/2006/relationships/image" Target="../media/image462.png"/><Relationship Id="rId23" Type="http://schemas.openxmlformats.org/officeDocument/2006/relationships/image" Target="../media/image463.png"/><Relationship Id="rId24" Type="http://schemas.openxmlformats.org/officeDocument/2006/relationships/image" Target="../media/image464.png"/><Relationship Id="rId25" Type="http://schemas.openxmlformats.org/officeDocument/2006/relationships/image" Target="../media/image465.png"/><Relationship Id="rId26" Type="http://schemas.openxmlformats.org/officeDocument/2006/relationships/image" Target="../media/image466.png"/><Relationship Id="rId27" Type="http://schemas.openxmlformats.org/officeDocument/2006/relationships/image" Target="../media/image467.png"/><Relationship Id="rId28" Type="http://schemas.openxmlformats.org/officeDocument/2006/relationships/image" Target="../media/image468.png"/><Relationship Id="rId29" Type="http://schemas.openxmlformats.org/officeDocument/2006/relationships/image" Target="../media/image469.png"/><Relationship Id="rId30" Type="http://schemas.openxmlformats.org/officeDocument/2006/relationships/image" Target="../media/image470.png"/><Relationship Id="rId31" Type="http://schemas.openxmlformats.org/officeDocument/2006/relationships/image" Target="../media/image471.png"/><Relationship Id="rId32" Type="http://schemas.openxmlformats.org/officeDocument/2006/relationships/image" Target="../media/image472.png"/><Relationship Id="rId33" Type="http://schemas.openxmlformats.org/officeDocument/2006/relationships/image" Target="../media/image473.png"/></Relationships>
</file>

<file path=ppt/charts/_rels/chart76.xml.rels><?xml version='1.0' encoding='UTF-8' standalone='yes'?>
<Relationships xmlns="http://schemas.openxmlformats.org/package/2006/relationships"><Relationship Id="rId2" Type="http://schemas.openxmlformats.org/officeDocument/2006/relationships/image" Target="../media/image478.png"/><Relationship Id="rId3" Type="http://schemas.openxmlformats.org/officeDocument/2006/relationships/image" Target="../media/image479.png"/><Relationship Id="rId4" Type="http://schemas.openxmlformats.org/officeDocument/2006/relationships/image" Target="../media/image480.png"/><Relationship Id="rId5" Type="http://schemas.openxmlformats.org/officeDocument/2006/relationships/image" Target="../media/image481.png"/><Relationship Id="rId6" Type="http://schemas.openxmlformats.org/officeDocument/2006/relationships/image" Target="../media/image482.png"/><Relationship Id="rId7" Type="http://schemas.openxmlformats.org/officeDocument/2006/relationships/image" Target="../media/image483.png"/></Relationships>
</file>

<file path=ppt/charts/_rels/chart81.xml.rels><?xml version='1.0' encoding='UTF-8' standalone='yes'?>
<Relationships xmlns="http://schemas.openxmlformats.org/package/2006/relationships"><Relationship Id="rId2" Type="http://schemas.openxmlformats.org/officeDocument/2006/relationships/image" Target="../media/image484.png"/><Relationship Id="rId3" Type="http://schemas.openxmlformats.org/officeDocument/2006/relationships/image" Target="../media/image485.png"/><Relationship Id="rId4" Type="http://schemas.openxmlformats.org/officeDocument/2006/relationships/image" Target="../media/image486.png"/><Relationship Id="rId5" Type="http://schemas.openxmlformats.org/officeDocument/2006/relationships/image" Target="../media/image487.png"/><Relationship Id="rId6" Type="http://schemas.openxmlformats.org/officeDocument/2006/relationships/image" Target="../media/image488.png"/><Relationship Id="rId7" Type="http://schemas.openxmlformats.org/officeDocument/2006/relationships/image" Target="../media/image489.png"/><Relationship Id="rId8" Type="http://schemas.openxmlformats.org/officeDocument/2006/relationships/image" Target="../media/image490.png"/><Relationship Id="rId9" Type="http://schemas.openxmlformats.org/officeDocument/2006/relationships/image" Target="../media/image491.png"/><Relationship Id="rId10" Type="http://schemas.openxmlformats.org/officeDocument/2006/relationships/image" Target="../media/image492.png"/></Relationships>
</file>

<file path=ppt/charts/_rels/chart82.xml.rels><?xml version='1.0' encoding='UTF-8' standalone='yes'?>
<Relationships xmlns="http://schemas.openxmlformats.org/package/2006/relationships"><Relationship Id="rId2" Type="http://schemas.openxmlformats.org/officeDocument/2006/relationships/image" Target="../media/image500.png"/><Relationship Id="rId3" Type="http://schemas.openxmlformats.org/officeDocument/2006/relationships/image" Target="../media/image501.png"/><Relationship Id="rId4" Type="http://schemas.openxmlformats.org/officeDocument/2006/relationships/image" Target="../media/image502.png"/><Relationship Id="rId5" Type="http://schemas.openxmlformats.org/officeDocument/2006/relationships/image" Target="../media/image503.png"/><Relationship Id="rId6" Type="http://schemas.openxmlformats.org/officeDocument/2006/relationships/image" Target="../media/image504.png"/><Relationship Id="rId7" Type="http://schemas.openxmlformats.org/officeDocument/2006/relationships/image" Target="../media/image505.png"/></Relationships>
</file>

<file path=ppt/charts/_rels/chart87.xml.rels><?xml version='1.0' encoding='UTF-8' standalone='yes'?>
<Relationships xmlns="http://schemas.openxmlformats.org/package/2006/relationships"><Relationship Id="rId2" Type="http://schemas.openxmlformats.org/officeDocument/2006/relationships/image" Target="../media/image506.png"/><Relationship Id="rId3" Type="http://schemas.openxmlformats.org/officeDocument/2006/relationships/image" Target="../media/image507.png"/><Relationship Id="rId4" Type="http://schemas.openxmlformats.org/officeDocument/2006/relationships/image" Target="../media/image508.png"/><Relationship Id="rId5" Type="http://schemas.openxmlformats.org/officeDocument/2006/relationships/image" Target="../media/image509.png"/><Relationship Id="rId6" Type="http://schemas.openxmlformats.org/officeDocument/2006/relationships/image" Target="../media/image510.png"/><Relationship Id="rId7" Type="http://schemas.openxmlformats.org/officeDocument/2006/relationships/image" Target="../media/image511.png"/><Relationship Id="rId8" Type="http://schemas.openxmlformats.org/officeDocument/2006/relationships/image" Target="../media/image512.png"/><Relationship Id="rId9" Type="http://schemas.openxmlformats.org/officeDocument/2006/relationships/image" Target="../media/image513.png"/><Relationship Id="rId10" Type="http://schemas.openxmlformats.org/officeDocument/2006/relationships/image" Target="../media/image514.png"/></Relationships>
</file>

<file path=ppt/charts/_rels/chart88.xml.rels><?xml version='1.0' encoding='UTF-8' standalone='yes'?>
<Relationships xmlns="http://schemas.openxmlformats.org/package/2006/relationships"><Relationship Id="rId2" Type="http://schemas.openxmlformats.org/officeDocument/2006/relationships/image" Target="../media/image518.png"/><Relationship Id="rId3" Type="http://schemas.openxmlformats.org/officeDocument/2006/relationships/image" Target="../media/image519.png"/><Relationship Id="rId4" Type="http://schemas.openxmlformats.org/officeDocument/2006/relationships/image" Target="../media/image520.png"/><Relationship Id="rId5" Type="http://schemas.openxmlformats.org/officeDocument/2006/relationships/image" Target="../media/image521.png"/></Relationships>
</file>

<file path=ppt/charts/_rels/chart92.xml.rels><?xml version='1.0' encoding='UTF-8' standalone='yes'?>
<Relationships xmlns="http://schemas.openxmlformats.org/package/2006/relationships"><Relationship Id="rId2" Type="http://schemas.openxmlformats.org/officeDocument/2006/relationships/image" Target="../media/image522.png"/><Relationship Id="rId3" Type="http://schemas.openxmlformats.org/officeDocument/2006/relationships/image" Target="../media/image523.png"/><Relationship Id="rId4" Type="http://schemas.openxmlformats.org/officeDocument/2006/relationships/image" Target="../media/image524.png"/><Relationship Id="rId5" Type="http://schemas.openxmlformats.org/officeDocument/2006/relationships/image" Target="../media/image525.png"/><Relationship Id="rId6" Type="http://schemas.openxmlformats.org/officeDocument/2006/relationships/image" Target="../media/image526.png"/><Relationship Id="rId7" Type="http://schemas.openxmlformats.org/officeDocument/2006/relationships/image" Target="../media/image527.png"/></Relationships>
</file>

<file path=ppt/charts/_rels/chart93.xml.rels><?xml version='1.0' encoding='UTF-8' standalone='yes'?>
<Relationships xmlns="http://schemas.openxmlformats.org/package/2006/relationships"><Relationship Id="rId2" Type="http://schemas.openxmlformats.org/officeDocument/2006/relationships/image" Target="../media/image538.png"/><Relationship Id="rId3" Type="http://schemas.openxmlformats.org/officeDocument/2006/relationships/image" Target="../media/image539.png"/><Relationship Id="rId4" Type="http://schemas.openxmlformats.org/officeDocument/2006/relationships/image" Target="../media/image540.png"/><Relationship Id="rId5" Type="http://schemas.openxmlformats.org/officeDocument/2006/relationships/image" Target="../media/image541.png"/><Relationship Id="rId6" Type="http://schemas.openxmlformats.org/officeDocument/2006/relationships/image" Target="../media/image542.png"/><Relationship Id="rId7" Type="http://schemas.openxmlformats.org/officeDocument/2006/relationships/image" Target="../media/image543.png"/><Relationship Id="rId8" Type="http://schemas.openxmlformats.org/officeDocument/2006/relationships/image" Target="../media/image544.png"/><Relationship Id="rId9" Type="http://schemas.openxmlformats.org/officeDocument/2006/relationships/image" Target="../media/image545.png"/></Relationships>
</file>

<file path=ppt/charts/_rels/chart99.xml.rels><?xml version='1.0' encoding='UTF-8' standalone='yes'?>
<Relationships xmlns="http://schemas.openxmlformats.org/package/2006/relationships"><Relationship Id="rId2" Type="http://schemas.openxmlformats.org/officeDocument/2006/relationships/image" Target="../media/image546.png"/><Relationship Id="rId3" Type="http://schemas.openxmlformats.org/officeDocument/2006/relationships/image" Target="../media/image547.png"/><Relationship Id="rId4" Type="http://schemas.openxmlformats.org/officeDocument/2006/relationships/image" Target="../media/image548.png"/><Relationship Id="rId5" Type="http://schemas.openxmlformats.org/officeDocument/2006/relationships/image" Target="../media/image549.png"/><Relationship Id="rId6" Type="http://schemas.openxmlformats.org/officeDocument/2006/relationships/image" Target="../media/image550.png"/><Relationship Id="rId7" Type="http://schemas.openxmlformats.org/officeDocument/2006/relationships/image" Target="../media/image551.png"/><Relationship Id="rId8" Type="http://schemas.openxmlformats.org/officeDocument/2006/relationships/image" Target="../media/image552.png"/><Relationship Id="rId9" Type="http://schemas.openxmlformats.org/officeDocument/2006/relationships/image" Target="../media/image553.png"/><Relationship Id="rId10" Type="http://schemas.openxmlformats.org/officeDocument/2006/relationships/image" Target="../media/image554.png"/><Relationship Id="rId11" Type="http://schemas.openxmlformats.org/officeDocument/2006/relationships/image" Target="../media/image555.png"/><Relationship Id="rId12" Type="http://schemas.openxmlformats.org/officeDocument/2006/relationships/image" Target="../media/image556.png"/><Relationship Id="rId13" Type="http://schemas.openxmlformats.org/officeDocument/2006/relationships/image" Target="../media/image557.png"/></Relationships>
</file>

<file path=ppt/charts/_rels/chart100.xml.rels><?xml version='1.0' encoding='UTF-8' standalone='yes'?>
<Relationships xmlns="http://schemas.openxmlformats.org/package/2006/relationships"><Relationship Id="rId2" Type="http://schemas.openxmlformats.org/officeDocument/2006/relationships/image" Target="../media/image563.png"/><Relationship Id="rId3" Type="http://schemas.openxmlformats.org/officeDocument/2006/relationships/image" Target="../media/image564.png"/><Relationship Id="rId4" Type="http://schemas.openxmlformats.org/officeDocument/2006/relationships/image" Target="../media/image565.png"/><Relationship Id="rId5" Type="http://schemas.openxmlformats.org/officeDocument/2006/relationships/image" Target="../media/image566.png"/></Relationships>
</file>

<file path=ppt/charts/_rels/chart104.xml.rels><?xml version='1.0' encoding='UTF-8' standalone='yes'?>
<Relationships xmlns="http://schemas.openxmlformats.org/package/2006/relationships"><Relationship Id="rId2" Type="http://schemas.openxmlformats.org/officeDocument/2006/relationships/image" Target="../media/image567.png"/><Relationship Id="rId3" Type="http://schemas.openxmlformats.org/officeDocument/2006/relationships/image" Target="../media/image568.png"/><Relationship Id="rId4" Type="http://schemas.openxmlformats.org/officeDocument/2006/relationships/image" Target="../media/image569.png"/><Relationship Id="rId5" Type="http://schemas.openxmlformats.org/officeDocument/2006/relationships/image" Target="../media/image570.png"/><Relationship Id="rId6" Type="http://schemas.openxmlformats.org/officeDocument/2006/relationships/image" Target="../media/image571.png"/><Relationship Id="rId7" Type="http://schemas.openxmlformats.org/officeDocument/2006/relationships/image" Target="../media/image572.png"/></Relationships>
</file>

<file path=ppt/charts/_rels/chart105.xml.rels><?xml version='1.0' encoding='UTF-8' standalone='yes'?>
<Relationships xmlns="http://schemas.openxmlformats.org/package/2006/relationships"><Relationship Id="rId2" Type="http://schemas.openxmlformats.org/officeDocument/2006/relationships/image" Target="../media/image590.png"/><Relationship Id="rId3" Type="http://schemas.openxmlformats.org/officeDocument/2006/relationships/image" Target="../media/image591.png"/><Relationship Id="rId4" Type="http://schemas.openxmlformats.org/officeDocument/2006/relationships/image" Target="../media/image592.png"/><Relationship Id="rId5" Type="http://schemas.openxmlformats.org/officeDocument/2006/relationships/image" Target="../media/image593.png"/><Relationship Id="rId6" Type="http://schemas.openxmlformats.org/officeDocument/2006/relationships/image" Target="../media/image594.png"/><Relationship Id="rId7" Type="http://schemas.openxmlformats.org/officeDocument/2006/relationships/image" Target="../media/image595.png"/><Relationship Id="rId8" Type="http://schemas.openxmlformats.org/officeDocument/2006/relationships/image" Target="../media/image596.png"/><Relationship Id="rId9" Type="http://schemas.openxmlformats.org/officeDocument/2006/relationships/image" Target="../media/image597.png"/><Relationship Id="rId10" Type="http://schemas.openxmlformats.org/officeDocument/2006/relationships/image" Target="../media/image598.png"/><Relationship Id="rId11" Type="http://schemas.openxmlformats.org/officeDocument/2006/relationships/image" Target="../media/image599.png"/><Relationship Id="rId12" Type="http://schemas.openxmlformats.org/officeDocument/2006/relationships/image" Target="../media/image600.png"/><Relationship Id="rId13" Type="http://schemas.openxmlformats.org/officeDocument/2006/relationships/image" Target="../media/image601.png"/><Relationship Id="rId14" Type="http://schemas.openxmlformats.org/officeDocument/2006/relationships/image" Target="../media/image602.png"/><Relationship Id="rId15" Type="http://schemas.openxmlformats.org/officeDocument/2006/relationships/image" Target="../media/image603.png"/></Relationships>
</file>

<file path=ppt/charts/_rels/chart114.xml.rels><?xml version='1.0' encoding='UTF-8' standalone='yes'?>
<Relationships xmlns="http://schemas.openxmlformats.org/package/2006/relationships"><Relationship Id="rId2" Type="http://schemas.openxmlformats.org/officeDocument/2006/relationships/image" Target="../media/image604.png"/><Relationship Id="rId3" Type="http://schemas.openxmlformats.org/officeDocument/2006/relationships/image" Target="../media/image605.png"/><Relationship Id="rId4" Type="http://schemas.openxmlformats.org/officeDocument/2006/relationships/image" Target="../media/image606.png"/><Relationship Id="rId5" Type="http://schemas.openxmlformats.org/officeDocument/2006/relationships/image" Target="../media/image607.png"/><Relationship Id="rId6" Type="http://schemas.openxmlformats.org/officeDocument/2006/relationships/image" Target="../media/image608.png"/><Relationship Id="rId7" Type="http://schemas.openxmlformats.org/officeDocument/2006/relationships/image" Target="../media/image609.png"/><Relationship Id="rId8" Type="http://schemas.openxmlformats.org/officeDocument/2006/relationships/image" Target="../media/image610.png"/><Relationship Id="rId9" Type="http://schemas.openxmlformats.org/officeDocument/2006/relationships/image" Target="../media/image611.png"/><Relationship Id="rId10" Type="http://schemas.openxmlformats.org/officeDocument/2006/relationships/image" Target="../media/image612.png"/><Relationship Id="rId11" Type="http://schemas.openxmlformats.org/officeDocument/2006/relationships/image" Target="../media/image613.png"/><Relationship Id="rId12" Type="http://schemas.openxmlformats.org/officeDocument/2006/relationships/image" Target="../media/image614.png"/><Relationship Id="rId13" Type="http://schemas.openxmlformats.org/officeDocument/2006/relationships/image" Target="../media/image615.png"/><Relationship Id="rId14" Type="http://schemas.openxmlformats.org/officeDocument/2006/relationships/image" Target="../media/image616.png"/><Relationship Id="rId15" Type="http://schemas.openxmlformats.org/officeDocument/2006/relationships/image" Target="../media/image617.png"/><Relationship Id="rId16" Type="http://schemas.openxmlformats.org/officeDocument/2006/relationships/image" Target="../media/image618.png"/><Relationship Id="rId17" Type="http://schemas.openxmlformats.org/officeDocument/2006/relationships/image" Target="../media/image619.png"/><Relationship Id="rId18" Type="http://schemas.openxmlformats.org/officeDocument/2006/relationships/image" Target="../media/image620.png"/><Relationship Id="rId19" Type="http://schemas.openxmlformats.org/officeDocument/2006/relationships/image" Target="../media/image621.png"/><Relationship Id="rId20" Type="http://schemas.openxmlformats.org/officeDocument/2006/relationships/image" Target="../media/image622.png"/><Relationship Id="rId21" Type="http://schemas.openxmlformats.org/officeDocument/2006/relationships/image" Target="../media/image623.png"/><Relationship Id="rId22" Type="http://schemas.openxmlformats.org/officeDocument/2006/relationships/image" Target="../media/image624.png"/></Relationships>
</file>

<file path=ppt/charts/_rels/chart115.xml.rels><?xml version='1.0' encoding='UTF-8' standalone='yes'?>
<Relationships xmlns="http://schemas.openxmlformats.org/package/2006/relationships"><Relationship Id="rId2" Type="http://schemas.openxmlformats.org/officeDocument/2006/relationships/image" Target="../media/image630.png"/><Relationship Id="rId3" Type="http://schemas.openxmlformats.org/officeDocument/2006/relationships/image" Target="../media/image631.png"/><Relationship Id="rId4" Type="http://schemas.openxmlformats.org/officeDocument/2006/relationships/image" Target="../media/image632.png"/><Relationship Id="rId5" Type="http://schemas.openxmlformats.org/officeDocument/2006/relationships/image" Target="../media/image633.png"/></Relationships>
</file>

<file path=ppt/charts/_rels/chart119.xml.rels><?xml version='1.0' encoding='UTF-8' standalone='yes'?>
<Relationships xmlns="http://schemas.openxmlformats.org/package/2006/relationships"><Relationship Id="rId2" Type="http://schemas.openxmlformats.org/officeDocument/2006/relationships/image" Target="../media/image634.png"/><Relationship Id="rId3" Type="http://schemas.openxmlformats.org/officeDocument/2006/relationships/image" Target="../media/image635.png"/><Relationship Id="rId4" Type="http://schemas.openxmlformats.org/officeDocument/2006/relationships/image" Target="../media/image636.png"/><Relationship Id="rId5" Type="http://schemas.openxmlformats.org/officeDocument/2006/relationships/image" Target="../media/image637.png"/><Relationship Id="rId6" Type="http://schemas.openxmlformats.org/officeDocument/2006/relationships/image" Target="../media/image638.png"/><Relationship Id="rId7" Type="http://schemas.openxmlformats.org/officeDocument/2006/relationships/image" Target="../media/image639.png"/></Relationships>
</file>

<file path=ppt/charts/_rels/chart159.xml.rels><?xml version='1.0' encoding='UTF-8' standalone='yes'?>
<Relationships xmlns="http://schemas.openxmlformats.org/package/2006/relationships"><Relationship Id="rId2" Type="http://schemas.openxmlformats.org/officeDocument/2006/relationships/image" Target="../media/image640.png"/><Relationship Id="rId3" Type="http://schemas.openxmlformats.org/officeDocument/2006/relationships/image" Target="../media/image641.png"/><Relationship Id="rId4" Type="http://schemas.openxmlformats.org/officeDocument/2006/relationships/image" Target="../media/image642.png"/><Relationship Id="rId5" Type="http://schemas.openxmlformats.org/officeDocument/2006/relationships/image" Target="../media/image643.png"/><Relationship Id="rId6" Type="http://schemas.openxmlformats.org/officeDocument/2006/relationships/image" Target="../media/image644.png"/><Relationship Id="rId7" Type="http://schemas.openxmlformats.org/officeDocument/2006/relationships/image" Target="../media/image645.png"/><Relationship Id="rId8" Type="http://schemas.openxmlformats.org/officeDocument/2006/relationships/image" Target="../media/image646.png"/><Relationship Id="rId9" Type="http://schemas.openxmlformats.org/officeDocument/2006/relationships/image" Target="../media/image647.png"/><Relationship Id="rId10" Type="http://schemas.openxmlformats.org/officeDocument/2006/relationships/image" Target="../media/image648.png"/><Relationship Id="rId11" Type="http://schemas.openxmlformats.org/officeDocument/2006/relationships/image" Target="../media/image649.png"/></Relationships>
</file>

<file path=ppt/charts/_rels/chart160.xml.rels><?xml version='1.0' encoding='UTF-8' standalone='yes'?>
<Relationships xmlns="http://schemas.openxmlformats.org/package/2006/relationships"><Relationship Id="rId2" Type="http://schemas.openxmlformats.org/officeDocument/2006/relationships/image" Target="../media/image650.png"/><Relationship Id="rId3" Type="http://schemas.openxmlformats.org/officeDocument/2006/relationships/image" Target="../media/image651.png"/><Relationship Id="rId4" Type="http://schemas.openxmlformats.org/officeDocument/2006/relationships/image" Target="../media/image652.png"/><Relationship Id="rId5" Type="http://schemas.openxmlformats.org/officeDocument/2006/relationships/image" Target="../media/image653.png"/><Relationship Id="rId6" Type="http://schemas.openxmlformats.org/officeDocument/2006/relationships/image" Target="../media/image654.png"/><Relationship Id="rId7" Type="http://schemas.openxmlformats.org/officeDocument/2006/relationships/image" Target="../media/image655.png"/><Relationship Id="rId8" Type="http://schemas.openxmlformats.org/officeDocument/2006/relationships/image" Target="../media/image656.png"/><Relationship Id="rId9" Type="http://schemas.openxmlformats.org/officeDocument/2006/relationships/image" Target="../media/image657.png"/><Relationship Id="rId10" Type="http://schemas.openxmlformats.org/officeDocument/2006/relationships/image" Target="../media/image658.png"/><Relationship Id="rId11" Type="http://schemas.openxmlformats.org/officeDocument/2006/relationships/image" Target="../media/image659.png"/><Relationship Id="rId12" Type="http://schemas.openxmlformats.org/officeDocument/2006/relationships/image" Target="../media/image660.png"/></Relationships>
</file>

<file path=ppt/charts/_rels/chart161.xml.rels><?xml version='1.0' encoding='UTF-8' standalone='yes'?>
<Relationships xmlns="http://schemas.openxmlformats.org/package/2006/relationships"><Relationship Id="rId2" Type="http://schemas.openxmlformats.org/officeDocument/2006/relationships/image" Target="../media/image661.png"/><Relationship Id="rId3" Type="http://schemas.openxmlformats.org/officeDocument/2006/relationships/image" Target="../media/image662.png"/><Relationship Id="rId4" Type="http://schemas.openxmlformats.org/officeDocument/2006/relationships/image" Target="../media/image663.png"/><Relationship Id="rId5" Type="http://schemas.openxmlformats.org/officeDocument/2006/relationships/image" Target="../media/image664.png"/><Relationship Id="rId6" Type="http://schemas.openxmlformats.org/officeDocument/2006/relationships/image" Target="../media/image665.png"/><Relationship Id="rId7" Type="http://schemas.openxmlformats.org/officeDocument/2006/relationships/image" Target="../media/image666.png"/><Relationship Id="rId8" Type="http://schemas.openxmlformats.org/officeDocument/2006/relationships/image" Target="../media/image667.png"/><Relationship Id="rId9" Type="http://schemas.openxmlformats.org/officeDocument/2006/relationships/image" Target="../media/image668.png"/><Relationship Id="rId10" Type="http://schemas.openxmlformats.org/officeDocument/2006/relationships/image" Target="../media/image669.png"/><Relationship Id="rId11" Type="http://schemas.openxmlformats.org/officeDocument/2006/relationships/image" Target="../media/image670.png"/></Relationships>
</file>

<file path=ppt/charts/_rels/chart162.xml.rels><?xml version='1.0' encoding='UTF-8' standalone='yes'?>
<Relationships xmlns="http://schemas.openxmlformats.org/package/2006/relationships"><Relationship Id="rId2" Type="http://schemas.openxmlformats.org/officeDocument/2006/relationships/image" Target="../media/image671.png"/><Relationship Id="rId3" Type="http://schemas.openxmlformats.org/officeDocument/2006/relationships/image" Target="../media/image672.png"/><Relationship Id="rId4" Type="http://schemas.openxmlformats.org/officeDocument/2006/relationships/image" Target="../media/image673.png"/><Relationship Id="rId5" Type="http://schemas.openxmlformats.org/officeDocument/2006/relationships/image" Target="../media/image674.png"/><Relationship Id="rId6" Type="http://schemas.openxmlformats.org/officeDocument/2006/relationships/image" Target="../media/image675.png"/><Relationship Id="rId7" Type="http://schemas.openxmlformats.org/officeDocument/2006/relationships/image" Target="../media/image676.png"/><Relationship Id="rId8" Type="http://schemas.openxmlformats.org/officeDocument/2006/relationships/image" Target="../media/image677.png"/><Relationship Id="rId9" Type="http://schemas.openxmlformats.org/officeDocument/2006/relationships/image" Target="../media/image678.png"/><Relationship Id="rId10" Type="http://schemas.openxmlformats.org/officeDocument/2006/relationships/image" Target="../media/image679.png"/><Relationship Id="rId11" Type="http://schemas.openxmlformats.org/officeDocument/2006/relationships/image" Target="../media/image680.png"/><Relationship Id="rId12" Type="http://schemas.openxmlformats.org/officeDocument/2006/relationships/image" Target="../media/image681.png"/></Relationships>
</file>

<file path=ppt/charts/_rels/chart163.xml.rels><?xml version='1.0' encoding='UTF-8' standalone='yes'?>
<Relationships xmlns="http://schemas.openxmlformats.org/package/2006/relationships"><Relationship Id="rId2" Type="http://schemas.openxmlformats.org/officeDocument/2006/relationships/image" Target="../media/image682.png"/><Relationship Id="rId3" Type="http://schemas.openxmlformats.org/officeDocument/2006/relationships/image" Target="../media/image683.png"/><Relationship Id="rId4" Type="http://schemas.openxmlformats.org/officeDocument/2006/relationships/image" Target="../media/image684.png"/><Relationship Id="rId5" Type="http://schemas.openxmlformats.org/officeDocument/2006/relationships/image" Target="../media/image685.png"/><Relationship Id="rId6" Type="http://schemas.openxmlformats.org/officeDocument/2006/relationships/image" Target="../media/image686.png"/><Relationship Id="rId7" Type="http://schemas.openxmlformats.org/officeDocument/2006/relationships/image" Target="../media/image687.png"/><Relationship Id="rId8" Type="http://schemas.openxmlformats.org/officeDocument/2006/relationships/image" Target="../media/image688.png"/><Relationship Id="rId9" Type="http://schemas.openxmlformats.org/officeDocument/2006/relationships/image" Target="../media/image689.png"/><Relationship Id="rId10" Type="http://schemas.openxmlformats.org/officeDocument/2006/relationships/image" Target="../media/image690.png"/><Relationship Id="rId11" Type="http://schemas.openxmlformats.org/officeDocument/2006/relationships/image" Target="../media/image691.png"/></Relationships>
</file>

<file path=ppt/charts/_rels/chart164.xml.rels><?xml version='1.0' encoding='UTF-8' standalone='yes'?>
<Relationships xmlns="http://schemas.openxmlformats.org/package/2006/relationships"><Relationship Id="rId2" Type="http://schemas.openxmlformats.org/officeDocument/2006/relationships/image" Target="../media/image692.png"/><Relationship Id="rId3" Type="http://schemas.openxmlformats.org/officeDocument/2006/relationships/image" Target="../media/image693.png"/><Relationship Id="rId4" Type="http://schemas.openxmlformats.org/officeDocument/2006/relationships/image" Target="../media/image694.png"/><Relationship Id="rId5" Type="http://schemas.openxmlformats.org/officeDocument/2006/relationships/image" Target="../media/image695.png"/><Relationship Id="rId6" Type="http://schemas.openxmlformats.org/officeDocument/2006/relationships/image" Target="../media/image696.png"/><Relationship Id="rId7" Type="http://schemas.openxmlformats.org/officeDocument/2006/relationships/image" Target="../media/image697.png"/><Relationship Id="rId8" Type="http://schemas.openxmlformats.org/officeDocument/2006/relationships/image" Target="../media/image698.png"/><Relationship Id="rId9" Type="http://schemas.openxmlformats.org/officeDocument/2006/relationships/image" Target="../media/image699.png"/><Relationship Id="rId10" Type="http://schemas.openxmlformats.org/officeDocument/2006/relationships/image" Target="../media/image700.png"/></Relationships>
</file>

<file path=ppt/charts/_rels/chart165.xml.rels><?xml version='1.0' encoding='UTF-8' standalone='yes'?>
<Relationships xmlns="http://schemas.openxmlformats.org/package/2006/relationships"><Relationship Id="rId2" Type="http://schemas.openxmlformats.org/officeDocument/2006/relationships/image" Target="../media/image701.png"/><Relationship Id="rId3" Type="http://schemas.openxmlformats.org/officeDocument/2006/relationships/image" Target="../media/image702.png"/><Relationship Id="rId4" Type="http://schemas.openxmlformats.org/officeDocument/2006/relationships/image" Target="../media/image703.png"/><Relationship Id="rId5" Type="http://schemas.openxmlformats.org/officeDocument/2006/relationships/image" Target="../media/image704.png"/><Relationship Id="rId6" Type="http://schemas.openxmlformats.org/officeDocument/2006/relationships/image" Target="../media/image705.png"/><Relationship Id="rId7" Type="http://schemas.openxmlformats.org/officeDocument/2006/relationships/image" Target="../media/image706.png"/><Relationship Id="rId8" Type="http://schemas.openxmlformats.org/officeDocument/2006/relationships/image" Target="../media/image707.png"/><Relationship Id="rId9" Type="http://schemas.openxmlformats.org/officeDocument/2006/relationships/image" Target="../media/image708.png"/><Relationship Id="rId10" Type="http://schemas.openxmlformats.org/officeDocument/2006/relationships/image" Target="../media/image709.png"/><Relationship Id="rId11" Type="http://schemas.openxmlformats.org/officeDocument/2006/relationships/image" Target="../media/image710.png"/><Relationship Id="rId12" Type="http://schemas.openxmlformats.org/officeDocument/2006/relationships/image" Target="../media/image711.png"/></Relationships>
</file>

<file path=ppt/charts/_rels/chart166.xml.rels><?xml version='1.0' encoding='UTF-8' standalone='yes'?>
<Relationships xmlns="http://schemas.openxmlformats.org/package/2006/relationships"><Relationship Id="rId2" Type="http://schemas.openxmlformats.org/officeDocument/2006/relationships/image" Target="../media/image712.png"/><Relationship Id="rId3" Type="http://schemas.openxmlformats.org/officeDocument/2006/relationships/image" Target="../media/image713.png"/><Relationship Id="rId4" Type="http://schemas.openxmlformats.org/officeDocument/2006/relationships/image" Target="../media/image714.png"/><Relationship Id="rId5" Type="http://schemas.openxmlformats.org/officeDocument/2006/relationships/image" Target="../media/image715.png"/></Relationships>
</file>

<file path=ppt/charts/_rels/chart167.xml.rels><?xml version='1.0' encoding='UTF-8' standalone='yes'?>
<Relationships xmlns="http://schemas.openxmlformats.org/package/2006/relationships"><Relationship Id="rId2" Type="http://schemas.openxmlformats.org/officeDocument/2006/relationships/image" Target="../media/image716.png"/><Relationship Id="rId3" Type="http://schemas.openxmlformats.org/officeDocument/2006/relationships/image" Target="../media/image717.png"/><Relationship Id="rId4" Type="http://schemas.openxmlformats.org/officeDocument/2006/relationships/image" Target="../media/image718.png"/><Relationship Id="rId5" Type="http://schemas.openxmlformats.org/officeDocument/2006/relationships/image" Target="../media/image719.png"/><Relationship Id="rId6" Type="http://schemas.openxmlformats.org/officeDocument/2006/relationships/image" Target="../media/image720.png"/></Relationships>
</file>

<file path=ppt/charts/_rels/chart168.xml.rels><?xml version='1.0' encoding='UTF-8' standalone='yes'?>
<Relationships xmlns="http://schemas.openxmlformats.org/package/2006/relationships"><Relationship Id="rId2" Type="http://schemas.openxmlformats.org/officeDocument/2006/relationships/image" Target="../media/image721.png"/><Relationship Id="rId3" Type="http://schemas.openxmlformats.org/officeDocument/2006/relationships/image" Target="../media/image722.png"/><Relationship Id="rId4" Type="http://schemas.openxmlformats.org/officeDocument/2006/relationships/image" Target="../media/image723.png"/></Relationships>
</file>

<file path=ppt/charts/_rels/chart169.xml.rels><?xml version='1.0' encoding='UTF-8' standalone='yes'?>
<Relationships xmlns="http://schemas.openxmlformats.org/package/2006/relationships"><Relationship Id="rId2" Type="http://schemas.openxmlformats.org/officeDocument/2006/relationships/image" Target="../media/image724.png"/><Relationship Id="rId3" Type="http://schemas.openxmlformats.org/officeDocument/2006/relationships/image" Target="../media/image725.png"/><Relationship Id="rId4" Type="http://schemas.openxmlformats.org/officeDocument/2006/relationships/image" Target="../media/image726.png"/><Relationship Id="rId5" Type="http://schemas.openxmlformats.org/officeDocument/2006/relationships/image" Target="../media/image727.png"/><Relationship Id="rId6" Type="http://schemas.openxmlformats.org/officeDocument/2006/relationships/image" Target="../media/image728.png"/><Relationship Id="rId7" Type="http://schemas.openxmlformats.org/officeDocument/2006/relationships/image" Target="../media/image729.png"/><Relationship Id="rId8" Type="http://schemas.openxmlformats.org/officeDocument/2006/relationships/image" Target="../media/image730.png"/><Relationship Id="rId9" Type="http://schemas.openxmlformats.org/officeDocument/2006/relationships/image" Target="../media/image731.png"/><Relationship Id="rId10" Type="http://schemas.openxmlformats.org/officeDocument/2006/relationships/image" Target="../media/image732.png"/><Relationship Id="rId11" Type="http://schemas.openxmlformats.org/officeDocument/2006/relationships/image" Target="../media/image733.png"/></Relationships>
</file>

<file path=ppt/charts/_rels/chart170.xml.rels><?xml version='1.0' encoding='UTF-8' standalone='yes'?>
<Relationships xmlns="http://schemas.openxmlformats.org/package/2006/relationships"><Relationship Id="rId2" Type="http://schemas.openxmlformats.org/officeDocument/2006/relationships/image" Target="../media/image734.png"/><Relationship Id="rId3" Type="http://schemas.openxmlformats.org/officeDocument/2006/relationships/image" Target="../media/image735.png"/><Relationship Id="rId4" Type="http://schemas.openxmlformats.org/officeDocument/2006/relationships/image" Target="../media/image736.png"/><Relationship Id="rId5" Type="http://schemas.openxmlformats.org/officeDocument/2006/relationships/image" Target="../media/image737.png"/></Relationships>
</file>

<file path=ppt/charts/_rels/chart171.xml.rels><?xml version='1.0' encoding='UTF-8' standalone='yes'?>
<Relationships xmlns="http://schemas.openxmlformats.org/package/2006/relationships"><Relationship Id="rId2" Type="http://schemas.openxmlformats.org/officeDocument/2006/relationships/image" Target="../media/image738.png"/><Relationship Id="rId3" Type="http://schemas.openxmlformats.org/officeDocument/2006/relationships/image" Target="../media/image739.png"/><Relationship Id="rId4" Type="http://schemas.openxmlformats.org/officeDocument/2006/relationships/image" Target="../media/image740.png"/><Relationship Id="rId5" Type="http://schemas.openxmlformats.org/officeDocument/2006/relationships/image" Target="../media/image741.png"/><Relationship Id="rId6" Type="http://schemas.openxmlformats.org/officeDocument/2006/relationships/image" Target="../media/image742.png"/></Relationships>
</file>

<file path=ppt/charts/_rels/chart172.xml.rels><?xml version='1.0' encoding='UTF-8' standalone='yes'?>
<Relationships xmlns="http://schemas.openxmlformats.org/package/2006/relationships"><Relationship Id="rId2" Type="http://schemas.openxmlformats.org/officeDocument/2006/relationships/image" Target="../media/image743.png"/><Relationship Id="rId3" Type="http://schemas.openxmlformats.org/officeDocument/2006/relationships/image" Target="../media/image744.png"/><Relationship Id="rId4" Type="http://schemas.openxmlformats.org/officeDocument/2006/relationships/image" Target="../media/image745.png"/></Relationships>
</file>

<file path=ppt/charts/_rels/chart173.xml.rels><?xml version='1.0' encoding='UTF-8' standalone='yes'?>
<Relationships xmlns="http://schemas.openxmlformats.org/package/2006/relationships"><Relationship Id="rId2" Type="http://schemas.openxmlformats.org/officeDocument/2006/relationships/image" Target="../media/image746.png"/><Relationship Id="rId3" Type="http://schemas.openxmlformats.org/officeDocument/2006/relationships/image" Target="../media/image747.png"/><Relationship Id="rId4" Type="http://schemas.openxmlformats.org/officeDocument/2006/relationships/image" Target="../media/image748.png"/><Relationship Id="rId5" Type="http://schemas.openxmlformats.org/officeDocument/2006/relationships/image" Target="../media/image749.png"/><Relationship Id="rId6" Type="http://schemas.openxmlformats.org/officeDocument/2006/relationships/image" Target="../media/image750.png"/><Relationship Id="rId7" Type="http://schemas.openxmlformats.org/officeDocument/2006/relationships/image" Target="../media/image751.png"/><Relationship Id="rId8" Type="http://schemas.openxmlformats.org/officeDocument/2006/relationships/image" Target="../media/image752.png"/><Relationship Id="rId9" Type="http://schemas.openxmlformats.org/officeDocument/2006/relationships/image" Target="../media/image753.png"/><Relationship Id="rId10" Type="http://schemas.openxmlformats.org/officeDocument/2006/relationships/image" Target="../media/image754.png"/><Relationship Id="rId11" Type="http://schemas.openxmlformats.org/officeDocument/2006/relationships/image" Target="../media/image755.png"/></Relationships>
</file>

<file path=ppt/charts/_rels/chart174.xml.rels><?xml version='1.0' encoding='UTF-8' standalone='yes'?>
<Relationships xmlns="http://schemas.openxmlformats.org/package/2006/relationships"><Relationship Id="rId2" Type="http://schemas.openxmlformats.org/officeDocument/2006/relationships/image" Target="../media/image756.png"/><Relationship Id="rId3" Type="http://schemas.openxmlformats.org/officeDocument/2006/relationships/image" Target="../media/image757.png"/><Relationship Id="rId4" Type="http://schemas.openxmlformats.org/officeDocument/2006/relationships/image" Target="../media/image758.png"/><Relationship Id="rId5" Type="http://schemas.openxmlformats.org/officeDocument/2006/relationships/image" Target="../media/image759.png"/></Relationships>
</file>

<file path=ppt/charts/_rels/chart175.xml.rels><?xml version='1.0' encoding='UTF-8' standalone='yes'?>
<Relationships xmlns="http://schemas.openxmlformats.org/package/2006/relationships"><Relationship Id="rId2" Type="http://schemas.openxmlformats.org/officeDocument/2006/relationships/image" Target="../media/image760.png"/><Relationship Id="rId3" Type="http://schemas.openxmlformats.org/officeDocument/2006/relationships/image" Target="../media/image761.png"/><Relationship Id="rId4" Type="http://schemas.openxmlformats.org/officeDocument/2006/relationships/image" Target="../media/image762.png"/><Relationship Id="rId5" Type="http://schemas.openxmlformats.org/officeDocument/2006/relationships/image" Target="../media/image763.png"/><Relationship Id="rId6" Type="http://schemas.openxmlformats.org/officeDocument/2006/relationships/image" Target="../media/image764.png"/></Relationships>
</file>

<file path=ppt/charts/_rels/chart176.xml.rels><?xml version='1.0' encoding='UTF-8' standalone='yes'?>
<Relationships xmlns="http://schemas.openxmlformats.org/package/2006/relationships"><Relationship Id="rId2" Type="http://schemas.openxmlformats.org/officeDocument/2006/relationships/image" Target="../media/image765.png"/><Relationship Id="rId3" Type="http://schemas.openxmlformats.org/officeDocument/2006/relationships/image" Target="../media/image766.png"/><Relationship Id="rId4" Type="http://schemas.openxmlformats.org/officeDocument/2006/relationships/image" Target="../media/image767.png"/></Relationships>
</file>

<file path=ppt/charts/_rels/chart177.xml.rels><?xml version='1.0' encoding='UTF-8' standalone='yes'?>
<Relationships xmlns="http://schemas.openxmlformats.org/package/2006/relationships"><Relationship Id="rId2" Type="http://schemas.openxmlformats.org/officeDocument/2006/relationships/image" Target="../media/image768.png"/><Relationship Id="rId3" Type="http://schemas.openxmlformats.org/officeDocument/2006/relationships/image" Target="../media/image769.png"/><Relationship Id="rId4" Type="http://schemas.openxmlformats.org/officeDocument/2006/relationships/image" Target="../media/image770.png"/><Relationship Id="rId5" Type="http://schemas.openxmlformats.org/officeDocument/2006/relationships/image" Target="../media/image771.png"/><Relationship Id="rId6" Type="http://schemas.openxmlformats.org/officeDocument/2006/relationships/image" Target="../media/image772.png"/><Relationship Id="rId7" Type="http://schemas.openxmlformats.org/officeDocument/2006/relationships/image" Target="../media/image773.png"/><Relationship Id="rId8" Type="http://schemas.openxmlformats.org/officeDocument/2006/relationships/image" Target="../media/image774.png"/><Relationship Id="rId9" Type="http://schemas.openxmlformats.org/officeDocument/2006/relationships/image" Target="../media/image775.png"/><Relationship Id="rId10" Type="http://schemas.openxmlformats.org/officeDocument/2006/relationships/image" Target="../media/image776.png"/><Relationship Id="rId11" Type="http://schemas.openxmlformats.org/officeDocument/2006/relationships/image" Target="../media/image777.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3.287801314481187</c:v>
                </c:pt>
                <c:pt idx="1">
                  <c:v>4.157370387569381</c:v>
                </c:pt>
                <c:pt idx="2">
                  <c:v>3.866703635282809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487728911591583"/>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2847777.1040000003</c:v>
                </c:pt>
                <c:pt idx="2">
                  <c:v>0.0</c:v>
                </c:pt>
                <c:pt idx="3">
                  <c:v>3347735.653</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2847777.1040000003</c:v>
                </c:pt>
                <c:pt idx="1">
                  <c:v>499958.54899999965</c:v>
                </c:pt>
                <c:pt idx="2">
                  <c:v>3347735.653</c:v>
                </c:pt>
                <c:pt idx="3">
                  <c:v>1683228.546</c:v>
                </c:pt>
                <c:pt idx="4">
                  <c:v>5030964.199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4.073249806904333</c:v>
                </c:pt>
                <c:pt idx="1">
                  <c:v>4.950683664083688</c:v>
                </c:pt>
                <c:pt idx="2">
                  <c:v>4.657386823236775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534902436590468"/>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2620.923</c:v>
                </c:pt>
                <c:pt idx="2">
                  <c:v>0.0</c:v>
                </c:pt>
                <c:pt idx="3">
                  <c:v>3199.999</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2620.923</c:v>
                </c:pt>
                <c:pt idx="1">
                  <c:v>579.076</c:v>
                </c:pt>
                <c:pt idx="2">
                  <c:v>3199.999</c:v>
                </c:pt>
                <c:pt idx="3">
                  <c:v>1988.0320000000002</c:v>
                </c:pt>
                <c:pt idx="4">
                  <c:v>5188.031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2620.923</c:v>
                </c:pt>
                <c:pt idx="1">
                  <c:v>2727.1459999999997</c:v>
                </c:pt>
                <c:pt idx="2">
                  <c:v>2837.955</c:v>
                </c:pt>
                <c:pt idx="3">
                  <c:v>2953.5519999999997</c:v>
                </c:pt>
                <c:pt idx="4">
                  <c:v>3074.154</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2847777.1040000003</c:v>
                </c:pt>
                <c:pt idx="1">
                  <c:v>2940848.195</c:v>
                </c:pt>
                <c:pt idx="2">
                  <c:v>3037247.489</c:v>
                </c:pt>
                <c:pt idx="3">
                  <c:v>3137104.3720000004</c:v>
                </c:pt>
                <c:pt idx="4">
                  <c:v>3240553.623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628"/>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4478955"/>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3199.999</c:v>
                </c:pt>
                <c:pt idx="1">
                  <c:v>3356.925</c:v>
                </c:pt>
                <c:pt idx="2">
                  <c:v>3521.893</c:v>
                </c:pt>
                <c:pt idx="3">
                  <c:v>3695.328</c:v>
                </c:pt>
                <c:pt idx="4">
                  <c:v>3877.686</c:v>
                </c:pt>
                <c:pt idx="5">
                  <c:v>4069.45</c:v>
                </c:pt>
                <c:pt idx="6">
                  <c:v>4271.123</c:v>
                </c:pt>
                <c:pt idx="7">
                  <c:v>4483.236</c:v>
                </c:pt>
                <c:pt idx="8">
                  <c:v>4706.358</c:v>
                </c:pt>
                <c:pt idx="9">
                  <c:v>4941.082</c:v>
                </c:pt>
                <c:pt idx="10">
                  <c:v>5188.031</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3347735.653</c:v>
                </c:pt>
                <c:pt idx="1">
                  <c:v>3485392.46</c:v>
                </c:pt>
                <c:pt idx="2">
                  <c:v>3629056.654</c:v>
                </c:pt>
                <c:pt idx="3">
                  <c:v>3779005.852</c:v>
                </c:pt>
                <c:pt idx="4">
                  <c:v>3935531.153</c:v>
                </c:pt>
                <c:pt idx="5">
                  <c:v>4098937.852</c:v>
                </c:pt>
                <c:pt idx="6">
                  <c:v>4269546.146</c:v>
                </c:pt>
                <c:pt idx="7">
                  <c:v>4447691.881</c:v>
                </c:pt>
                <c:pt idx="8">
                  <c:v>4633727.365</c:v>
                </c:pt>
                <c:pt idx="9">
                  <c:v>4828022.207</c:v>
                </c:pt>
                <c:pt idx="10">
                  <c:v>5030964.199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12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277852"/>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China</c:v>
                </c:pt>
                <c:pt idx="1">
                  <c:v>Malaysia</c:v>
                </c:pt>
                <c:pt idx="2">
                  <c:v>Spain</c:v>
                </c:pt>
                <c:pt idx="3">
                  <c:v>Thailand</c:v>
                </c:pt>
                <c:pt idx="4">
                  <c:v>Brazil</c:v>
                </c:pt>
                <c:pt idx="5">
                  <c:v>France</c:v>
                </c:pt>
                <c:pt idx="6">
                  <c:v>Netherlands</c:v>
                </c:pt>
                <c:pt idx="7">
                  <c:v>Germany</c:v>
                </c:pt>
                <c:pt idx="8">
                  <c:v>Saudi Arabia</c:v>
                </c:pt>
                <c:pt idx="9">
                  <c:v>India</c:v>
                </c:pt>
              </c:strCache>
            </c:strRef>
          </c:cat>
          <c:val>
            <c:numRef>
              <c:numCache>
                <c:formatCode>General</c:formatCode>
                <c:ptCount val="10"/>
                <c:pt idx="0">
                  <c:v>102.49633747709512</c:v>
                </c:pt>
                <c:pt idx="1">
                  <c:v>106.8853370956522</c:v>
                </c:pt>
                <c:pt idx="2">
                  <c:v>115.41155246845342</c:v>
                </c:pt>
                <c:pt idx="3">
                  <c:v>119.07722618527362</c:v>
                </c:pt>
                <c:pt idx="4">
                  <c:v>119.6093856923525</c:v>
                </c:pt>
                <c:pt idx="5">
                  <c:v>124.05964944576138</c:v>
                </c:pt>
                <c:pt idx="6">
                  <c:v>128.81806047549412</c:v>
                </c:pt>
                <c:pt idx="7">
                  <c:v>132.19971737444752</c:v>
                </c:pt>
                <c:pt idx="8">
                  <c:v>132.58333186188432</c:v>
                </c:pt>
                <c:pt idx="9">
                  <c:v>136.61363527117697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Turkey</c:v>
                </c:pt>
                <c:pt idx="1">
                  <c:v>Japan</c:v>
                </c:pt>
                <c:pt idx="2">
                  <c:v>U.K.</c:v>
                </c:pt>
                <c:pt idx="3">
                  <c:v>France</c:v>
                </c:pt>
                <c:pt idx="4">
                  <c:v>Brazil</c:v>
                </c:pt>
                <c:pt idx="5">
                  <c:v>India</c:v>
                </c:pt>
                <c:pt idx="6">
                  <c:v>China</c:v>
                </c:pt>
                <c:pt idx="7">
                  <c:v>Canada</c:v>
                </c:pt>
                <c:pt idx="8">
                  <c:v>Germany</c:v>
                </c:pt>
                <c:pt idx="9">
                  <c:v>U.S.</c:v>
                </c:pt>
              </c:strCache>
            </c:strRef>
          </c:cat>
          <c:val>
            <c:numRef>
              <c:numCache>
                <c:formatCode>General</c:formatCode>
                <c:ptCount val="10"/>
                <c:pt idx="0">
                  <c:v>2.7967356662267013</c:v>
                </c:pt>
                <c:pt idx="1">
                  <c:v>3.0759565238386495</c:v>
                </c:pt>
                <c:pt idx="2">
                  <c:v>3.4006997875285694</c:v>
                </c:pt>
                <c:pt idx="3">
                  <c:v>3.757233283971283</c:v>
                </c:pt>
                <c:pt idx="4">
                  <c:v>5.427377426520296</c:v>
                </c:pt>
                <c:pt idx="5">
                  <c:v>7.0328847825387095</c:v>
                </c:pt>
                <c:pt idx="6">
                  <c:v>7.7317668930882375</c:v>
                </c:pt>
                <c:pt idx="7">
                  <c:v>9.250454721050769</c:v>
                </c:pt>
                <c:pt idx="8">
                  <c:v>14.434224398802428</c:v>
                </c:pt>
                <c:pt idx="9">
                  <c:v>16.68428878408396</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Slotted (Interlocking Grid) Partitions</c:v>
                </c:pt>
                <c:pt idx="1">
                  <c:v>Die-Cut &amp; Folded Partitions (H-dividers, tube/cell inserts)</c:v>
                </c:pt>
                <c:pt idx="2">
                  <c:v>Flat Dividers &amp; Layer Pads</c:v>
                </c:pt>
              </c:strCache>
            </c:strRef>
          </c:cat>
          <c:val>
            <c:numRef>
              <c:numCache>
                <c:formatCode>General</c:formatCode>
                <c:ptCount val="3"/>
                <c:pt idx="0">
                  <c:v>755.106</c:v>
                </c:pt>
                <c:pt idx="1">
                  <c:v>1408.182</c:v>
                </c:pt>
                <c:pt idx="2">
                  <c:v>3024.743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0.055341755311889326</c:v>
                </c:pt>
                <c:pt idx="1">
                  <c:v>0.05638107557442694</c:v>
                </c:pt>
                <c:pt idx="2">
                  <c:v>0.05747558098364797</c:v>
                </c:pt>
                <c:pt idx="3">
                  <c:v>0.05799064235269315</c:v>
                </c:pt>
                <c:pt idx="4">
                  <c:v>0.059572616557617655</c:v>
                </c:pt>
                <c:pt idx="5">
                  <c:v>0.0610856093291879</c:v>
                </c:pt>
                <c:pt idx="6">
                  <c:v>0.06259860210075814</c:v>
                </c:pt>
                <c:pt idx="7">
                  <c:v>0.06371150255887363</c:v>
                </c:pt>
                <c:pt idx="8">
                  <c:v>0.06436912555685097</c:v>
                </c:pt>
                <c:pt idx="9">
                  <c:v>0.06546822972829561</c:v>
                </c:pt>
                <c:pt idx="10">
                  <c:v>0.06602927871957698</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0.04640545125638555</c:v>
                </c:pt>
                <c:pt idx="1">
                  <c:v>0.04857778560719438</c:v>
                </c:pt>
                <c:pt idx="2">
                  <c:v>0.0504734931118328</c:v>
                </c:pt>
                <c:pt idx="3">
                  <c:v>0.052100709854011704</c:v>
                </c:pt>
                <c:pt idx="4">
                  <c:v>0.05237733670018211</c:v>
                </c:pt>
                <c:pt idx="5">
                  <c:v>0.05183221909155219</c:v>
                </c:pt>
                <c:pt idx="6">
                  <c:v>0.050205002349373286</c:v>
                </c:pt>
                <c:pt idx="7">
                  <c:v>0.04830929484473487</c:v>
                </c:pt>
                <c:pt idx="8">
                  <c:v>0.04703192970212443</c:v>
                </c:pt>
                <c:pt idx="9">
                  <c:v>0.045543026383030726</c:v>
                </c:pt>
                <c:pt idx="10">
                  <c:v>0.04315915385573864</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0.031432343199088046</c:v>
                </c:pt>
                <c:pt idx="1">
                  <c:v>0.03569129363718118</c:v>
                </c:pt>
                <c:pt idx="2">
                  <c:v>0.03949517813805341</c:v>
                </c:pt>
                <c:pt idx="3">
                  <c:v>0.04212055854509712</c:v>
                </c:pt>
                <c:pt idx="4">
                  <c:v>0.041805512896251874</c:v>
                </c:pt>
                <c:pt idx="5">
                  <c:v>0.04023611883070797</c:v>
                </c:pt>
                <c:pt idx="6">
                  <c:v>0.03783243721359239</c:v>
                </c:pt>
                <c:pt idx="7">
                  <c:v>0.035259564414689554</c:v>
                </c:pt>
                <c:pt idx="8">
                  <c:v>0.03358515513286389</c:v>
                </c:pt>
                <c:pt idx="9">
                  <c:v>0.03313008919564298</c:v>
                </c:pt>
                <c:pt idx="10">
                  <c:v>0.03147318244986429</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35.530938051637136</c:v>
                </c:pt>
                <c:pt idx="1">
                  <c:v>32.733023489360754</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25.037400197619487</c:v>
                </c:pt>
                <c:pt idx="1">
                  <c:v>26.62694563134179</c:v>
                </c:pt>
              </c:numCache>
            </c:numRef>
          </c:val>
        </c:ser>
        <c:ser>
          <c:idx val="2"/>
          <c:order val="2"/>
          <c:tx>
            <c:strRef>
              <c:strCache>
                <c:ptCount val="1"/>
                <c:pt idx="0">
                  <c:v>East Asia</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12.939092446317474</c:v>
                </c:pt>
                <c:pt idx="1">
                  <c:v>12.83602314499396</c:v>
                </c:pt>
              </c:numCache>
            </c:numRef>
          </c:val>
        </c:ser>
        <c:ser>
          <c:idx val="3"/>
          <c:order val="3"/>
          <c:tx>
            <c:strRef>
              <c:strCache>
                <c:ptCount val="1"/>
                <c:pt idx="0">
                  <c:v>South Asia &amp; Pacific</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11.827238290012023</c:v>
                </c:pt>
                <c:pt idx="1">
                  <c:v>12.83226088407313</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7.948499988687726</c:v>
                </c:pt>
                <c:pt idx="1">
                  <c:v>8.283301063498584</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6.716831025726153</c:v>
                </c:pt>
                <c:pt idx="1">
                  <c:v>6.688445786731785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33.00001031250323</c:v>
                </c:pt>
                <c:pt idx="1">
                  <c:v>30.292629323147835</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27.000039687512405</c:v>
                </c:pt>
                <c:pt idx="1">
                  <c:v>28.59765101634898</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11.999909999971877</c:v>
                </c:pt>
                <c:pt idx="1">
                  <c:v>13.041884290976672</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12.999972812491507</c:v>
                </c:pt>
                <c:pt idx="1">
                  <c:v>12.808732253141894</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8.000002500000782</c:v>
                </c:pt>
                <c:pt idx="1">
                  <c:v>8.320844651853468</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7.000064687520216</c:v>
                </c:pt>
                <c:pt idx="1">
                  <c:v>6.938258464531148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1051093.469</c:v>
                </c:pt>
                <c:pt idx="1">
                  <c:v>1077398.077</c:v>
                </c:pt>
                <c:pt idx="2">
                  <c:v>1104371.678</c:v>
                </c:pt>
                <c:pt idx="3">
                  <c:v>1132031.589</c:v>
                </c:pt>
                <c:pt idx="4">
                  <c:v>1160395.577</c:v>
                </c:pt>
                <c:pt idx="5">
                  <c:v>1189481.881</c:v>
                </c:pt>
                <c:pt idx="6">
                  <c:v>1228758.928</c:v>
                </c:pt>
                <c:pt idx="7">
                  <c:v>1269345.218</c:v>
                </c:pt>
                <c:pt idx="8">
                  <c:v>1311284.832</c:v>
                </c:pt>
                <c:pt idx="9">
                  <c:v>1354623.354</c:v>
                </c:pt>
                <c:pt idx="10">
                  <c:v>1399407.923</c:v>
                </c:pt>
                <c:pt idx="11">
                  <c:v>1445687.277</c:v>
                </c:pt>
                <c:pt idx="12">
                  <c:v>1493511.818</c:v>
                </c:pt>
                <c:pt idx="13">
                  <c:v>1542933.665</c:v>
                </c:pt>
                <c:pt idx="14">
                  <c:v>1594006.712</c:v>
                </c:pt>
                <c:pt idx="15">
                  <c:v>1646786.693</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691868.277</c:v>
                </c:pt>
                <c:pt idx="1">
                  <c:v>718750.165</c:v>
                </c:pt>
                <c:pt idx="2">
                  <c:v>746770.608</c:v>
                </c:pt>
                <c:pt idx="3">
                  <c:v>775980.677</c:v>
                </c:pt>
                <c:pt idx="4">
                  <c:v>806433.822</c:v>
                </c:pt>
                <c:pt idx="5">
                  <c:v>838185.973</c:v>
                </c:pt>
                <c:pt idx="6">
                  <c:v>877954.546</c:v>
                </c:pt>
                <c:pt idx="7">
                  <c:v>919720.892</c:v>
                </c:pt>
                <c:pt idx="8">
                  <c:v>963589.644</c:v>
                </c:pt>
                <c:pt idx="9">
                  <c:v>1009671.056</c:v>
                </c:pt>
                <c:pt idx="10">
                  <c:v>1058081.34</c:v>
                </c:pt>
                <c:pt idx="11">
                  <c:v>1108942.977</c:v>
                </c:pt>
                <c:pt idx="12">
                  <c:v>1162385.064</c:v>
                </c:pt>
                <c:pt idx="13">
                  <c:v>1218543.686</c:v>
                </c:pt>
                <c:pt idx="14">
                  <c:v>1277562.292</c:v>
                </c:pt>
                <c:pt idx="15">
                  <c:v>1339592.102</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368784.419</c:v>
                </c:pt>
                <c:pt idx="1">
                  <c:v>380836.561</c:v>
                </c:pt>
                <c:pt idx="2">
                  <c:v>393287.304</c:v>
                </c:pt>
                <c:pt idx="3">
                  <c:v>406149.968</c:v>
                </c:pt>
                <c:pt idx="4">
                  <c:v>419438.325</c:v>
                </c:pt>
                <c:pt idx="5">
                  <c:v>433166.611</c:v>
                </c:pt>
                <c:pt idx="6">
                  <c:v>450790.785</c:v>
                </c:pt>
                <c:pt idx="7">
                  <c:v>469137.502</c:v>
                </c:pt>
                <c:pt idx="8">
                  <c:v>488236.593</c:v>
                </c:pt>
                <c:pt idx="9">
                  <c:v>508119.119</c:v>
                </c:pt>
                <c:pt idx="10">
                  <c:v>528817.438</c:v>
                </c:pt>
                <c:pt idx="11">
                  <c:v>550365.251</c:v>
                </c:pt>
                <c:pt idx="12">
                  <c:v>572797.66</c:v>
                </c:pt>
                <c:pt idx="13">
                  <c:v>596151.225</c:v>
                </c:pt>
                <c:pt idx="14">
                  <c:v>620464.026</c:v>
                </c:pt>
                <c:pt idx="15">
                  <c:v>645775.729</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323313.038</c:v>
                </c:pt>
                <c:pt idx="1">
                  <c:v>336615.185</c:v>
                </c:pt>
                <c:pt idx="2">
                  <c:v>350501.901</c:v>
                </c:pt>
                <c:pt idx="3">
                  <c:v>365000.067</c:v>
                </c:pt>
                <c:pt idx="4">
                  <c:v>380137.828</c:v>
                </c:pt>
                <c:pt idx="5">
                  <c:v>395944.673</c:v>
                </c:pt>
                <c:pt idx="6">
                  <c:v>415597.03</c:v>
                </c:pt>
                <c:pt idx="7">
                  <c:v>436268.983</c:v>
                </c:pt>
                <c:pt idx="8">
                  <c:v>458015.203</c:v>
                </c:pt>
                <c:pt idx="9">
                  <c:v>480893.373</c:v>
                </c:pt>
                <c:pt idx="10">
                  <c:v>504964.346</c:v>
                </c:pt>
                <c:pt idx="11">
                  <c:v>530292.327</c:v>
                </c:pt>
                <c:pt idx="12">
                  <c:v>556945.054</c:v>
                </c:pt>
                <c:pt idx="13">
                  <c:v>584994.004</c:v>
                </c:pt>
                <c:pt idx="14">
                  <c:v>614514.605</c:v>
                </c:pt>
                <c:pt idx="15">
                  <c:v>645586.451</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221263.104</c:v>
                </c:pt>
                <c:pt idx="1">
                  <c:v>229559.353</c:v>
                </c:pt>
                <c:pt idx="2">
                  <c:v>238177.531</c:v>
                </c:pt>
                <c:pt idx="3">
                  <c:v>247130.485</c:v>
                </c:pt>
                <c:pt idx="4">
                  <c:v>256431.591</c:v>
                </c:pt>
                <c:pt idx="5">
                  <c:v>266094.768</c:v>
                </c:pt>
                <c:pt idx="6">
                  <c:v>278248.465</c:v>
                </c:pt>
                <c:pt idx="7">
                  <c:v>290970.116</c:v>
                </c:pt>
                <c:pt idx="8">
                  <c:v>304286.787</c:v>
                </c:pt>
                <c:pt idx="9">
                  <c:v>318226.856</c:v>
                </c:pt>
                <c:pt idx="10">
                  <c:v>332820.076</c:v>
                </c:pt>
                <c:pt idx="11">
                  <c:v>348097.645</c:v>
                </c:pt>
                <c:pt idx="12">
                  <c:v>364092.274</c:v>
                </c:pt>
                <c:pt idx="13">
                  <c:v>380838.258</c:v>
                </c:pt>
                <c:pt idx="14">
                  <c:v>398371.566</c:v>
                </c:pt>
                <c:pt idx="15">
                  <c:v>416729.911</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191454.797</c:v>
                </c:pt>
                <c:pt idx="1">
                  <c:v>197688.854</c:v>
                </c:pt>
                <c:pt idx="2">
                  <c:v>204138.467</c:v>
                </c:pt>
                <c:pt idx="3">
                  <c:v>210811.586</c:v>
                </c:pt>
                <c:pt idx="4">
                  <c:v>217716.48</c:v>
                </c:pt>
                <c:pt idx="5">
                  <c:v>224861.747</c:v>
                </c:pt>
                <c:pt idx="6">
                  <c:v>234042.706</c:v>
                </c:pt>
                <c:pt idx="7">
                  <c:v>243613.943</c:v>
                </c:pt>
                <c:pt idx="8">
                  <c:v>253592.793</c:v>
                </c:pt>
                <c:pt idx="9">
                  <c:v>263997.395</c:v>
                </c:pt>
                <c:pt idx="10">
                  <c:v>274846.729</c:v>
                </c:pt>
                <c:pt idx="11">
                  <c:v>286160.669</c:v>
                </c:pt>
                <c:pt idx="12">
                  <c:v>297960.011</c:v>
                </c:pt>
                <c:pt idx="13">
                  <c:v>310266.527</c:v>
                </c:pt>
                <c:pt idx="14">
                  <c:v>323103.006</c:v>
                </c:pt>
                <c:pt idx="15">
                  <c:v>336493.313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900.029</c:v>
                </c:pt>
                <c:pt idx="1">
                  <c:v>929.242</c:v>
                </c:pt>
                <c:pt idx="2">
                  <c:v>959.414</c:v>
                </c:pt>
                <c:pt idx="3">
                  <c:v>990.575</c:v>
                </c:pt>
                <c:pt idx="4">
                  <c:v>1022.759</c:v>
                </c:pt>
                <c:pt idx="5">
                  <c:v>1056.0</c:v>
                </c:pt>
                <c:pt idx="6">
                  <c:v>1098.781</c:v>
                </c:pt>
                <c:pt idx="7">
                  <c:v>1143.307</c:v>
                </c:pt>
                <c:pt idx="8">
                  <c:v>1189.649</c:v>
                </c:pt>
                <c:pt idx="9">
                  <c:v>1237.882</c:v>
                </c:pt>
                <c:pt idx="10">
                  <c:v>1288.086</c:v>
                </c:pt>
                <c:pt idx="11">
                  <c:v>1340.339</c:v>
                </c:pt>
                <c:pt idx="12">
                  <c:v>1394.726</c:v>
                </c:pt>
                <c:pt idx="13">
                  <c:v>1451.336</c:v>
                </c:pt>
                <c:pt idx="14">
                  <c:v>1510.26</c:v>
                </c:pt>
                <c:pt idx="15">
                  <c:v>1571.591</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687.995</c:v>
                </c:pt>
                <c:pt idx="1">
                  <c:v>719.884</c:v>
                </c:pt>
                <c:pt idx="2">
                  <c:v>753.347</c:v>
                </c:pt>
                <c:pt idx="3">
                  <c:v>788.463</c:v>
                </c:pt>
                <c:pt idx="4">
                  <c:v>825.315</c:v>
                </c:pt>
                <c:pt idx="5">
                  <c:v>864.001</c:v>
                </c:pt>
                <c:pt idx="6">
                  <c:v>911.52</c:v>
                </c:pt>
                <c:pt idx="7">
                  <c:v>961.768</c:v>
                </c:pt>
                <c:pt idx="8">
                  <c:v>1014.907</c:v>
                </c:pt>
                <c:pt idx="9">
                  <c:v>1071.108</c:v>
                </c:pt>
                <c:pt idx="10">
                  <c:v>1130.553</c:v>
                </c:pt>
                <c:pt idx="11">
                  <c:v>1193.438</c:v>
                </c:pt>
                <c:pt idx="12">
                  <c:v>1259.966</c:v>
                </c:pt>
                <c:pt idx="13">
                  <c:v>1330.356</c:v>
                </c:pt>
                <c:pt idx="14">
                  <c:v>1404.839</c:v>
                </c:pt>
                <c:pt idx="15">
                  <c:v>1483.655</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342.157</c:v>
                </c:pt>
                <c:pt idx="1">
                  <c:v>355.785</c:v>
                </c:pt>
                <c:pt idx="2">
                  <c:v>369.961</c:v>
                </c:pt>
                <c:pt idx="3">
                  <c:v>384.707</c:v>
                </c:pt>
                <c:pt idx="4">
                  <c:v>400.046</c:v>
                </c:pt>
                <c:pt idx="5">
                  <c:v>415.999</c:v>
                </c:pt>
                <c:pt idx="6">
                  <c:v>435.925</c:v>
                </c:pt>
                <c:pt idx="7">
                  <c:v>456.808</c:v>
                </c:pt>
                <c:pt idx="8">
                  <c:v>478.7</c:v>
                </c:pt>
                <c:pt idx="9">
                  <c:v>501.646</c:v>
                </c:pt>
                <c:pt idx="10">
                  <c:v>525.697</c:v>
                </c:pt>
                <c:pt idx="11">
                  <c:v>550.909</c:v>
                </c:pt>
                <c:pt idx="12">
                  <c:v>577.338</c:v>
                </c:pt>
                <c:pt idx="13">
                  <c:v>605.04</c:v>
                </c:pt>
                <c:pt idx="14">
                  <c:v>634.08</c:v>
                </c:pt>
                <c:pt idx="15">
                  <c:v>664.521</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301.553</c:v>
                </c:pt>
                <c:pt idx="1">
                  <c:v>316.425</c:v>
                </c:pt>
                <c:pt idx="2">
                  <c:v>332.063</c:v>
                </c:pt>
                <c:pt idx="3">
                  <c:v>348.51</c:v>
                </c:pt>
                <c:pt idx="4">
                  <c:v>365.806</c:v>
                </c:pt>
                <c:pt idx="5">
                  <c:v>383.997</c:v>
                </c:pt>
                <c:pt idx="6">
                  <c:v>406.209</c:v>
                </c:pt>
                <c:pt idx="7">
                  <c:v>429.746</c:v>
                </c:pt>
                <c:pt idx="8">
                  <c:v>454.687</c:v>
                </c:pt>
                <c:pt idx="9">
                  <c:v>481.12</c:v>
                </c:pt>
                <c:pt idx="10">
                  <c:v>509.139</c:v>
                </c:pt>
                <c:pt idx="11">
                  <c:v>538.84</c:v>
                </c:pt>
                <c:pt idx="12">
                  <c:v>570.324</c:v>
                </c:pt>
                <c:pt idx="13">
                  <c:v>603.704</c:v>
                </c:pt>
                <c:pt idx="14">
                  <c:v>639.093</c:v>
                </c:pt>
                <c:pt idx="15">
                  <c:v>676.617</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205.129</c:v>
                </c:pt>
                <c:pt idx="1">
                  <c:v>214.403</c:v>
                </c:pt>
                <c:pt idx="2">
                  <c:v>224.106</c:v>
                </c:pt>
                <c:pt idx="3">
                  <c:v>234.26</c:v>
                </c:pt>
                <c:pt idx="4">
                  <c:v>244.883</c:v>
                </c:pt>
                <c:pt idx="5">
                  <c:v>256.0</c:v>
                </c:pt>
                <c:pt idx="6">
                  <c:v>269.681</c:v>
                </c:pt>
                <c:pt idx="7">
                  <c:v>284.105</c:v>
                </c:pt>
                <c:pt idx="8">
                  <c:v>299.313</c:v>
                </c:pt>
                <c:pt idx="9">
                  <c:v>315.349</c:v>
                </c:pt>
                <c:pt idx="10">
                  <c:v>332.259</c:v>
                </c:pt>
                <c:pt idx="11">
                  <c:v>350.09</c:v>
                </c:pt>
                <c:pt idx="12">
                  <c:v>368.892</c:v>
                </c:pt>
                <c:pt idx="13">
                  <c:v>388.721</c:v>
                </c:pt>
                <c:pt idx="14">
                  <c:v>409.633</c:v>
                </c:pt>
                <c:pt idx="15">
                  <c:v>431.688</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184.06</c:v>
                </c:pt>
                <c:pt idx="1">
                  <c:v>191.407</c:v>
                </c:pt>
                <c:pt idx="2">
                  <c:v>199.064</c:v>
                </c:pt>
                <c:pt idx="3">
                  <c:v>207.037</c:v>
                </c:pt>
                <c:pt idx="4">
                  <c:v>215.345</c:v>
                </c:pt>
                <c:pt idx="5">
                  <c:v>224.002</c:v>
                </c:pt>
                <c:pt idx="6">
                  <c:v>234.809</c:v>
                </c:pt>
                <c:pt idx="7">
                  <c:v>246.159</c:v>
                </c:pt>
                <c:pt idx="8">
                  <c:v>258.072</c:v>
                </c:pt>
                <c:pt idx="9">
                  <c:v>270.581</c:v>
                </c:pt>
                <c:pt idx="10">
                  <c:v>283.716</c:v>
                </c:pt>
                <c:pt idx="11">
                  <c:v>297.507</c:v>
                </c:pt>
                <c:pt idx="12">
                  <c:v>311.99</c:v>
                </c:pt>
                <c:pt idx="13">
                  <c:v>327.201</c:v>
                </c:pt>
                <c:pt idx="14">
                  <c:v>343.177</c:v>
                </c:pt>
                <c:pt idx="15">
                  <c:v>359.959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Slotted (Interlocking Grid) Partitions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13.495148058528889</c:v>
                </c:pt>
                <c:pt idx="1">
                  <c:v>15.385417245788627</c:v>
                </c:pt>
                <c:pt idx="2">
                  <c:v>13.33622263254284</c:v>
                </c:pt>
                <c:pt idx="3">
                  <c:v>13.712927697648745</c:v>
                </c:pt>
                <c:pt idx="4">
                  <c:v>15.864065433001606</c:v>
                </c:pt>
                <c:pt idx="5">
                  <c:v>14.210949286423757</c:v>
                </c:pt>
              </c:numCache>
            </c:numRef>
          </c:val>
        </c:ser>
        <c:ser>
          <c:idx val="1"/>
          <c:order val="1"/>
          <c:tx>
            <c:strRef>
              <c:strCache>
                <c:ptCount val="1"/>
                <c:pt idx="0">
                  <c:v>Die-Cut &amp; Folded Partitions (H-dividers, tube/cell inserts)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25.144530349289777</c:v>
                </c:pt>
                <c:pt idx="1">
                  <c:v>24.575619428846764</c:v>
                </c:pt>
                <c:pt idx="2">
                  <c:v>29.182523953343843</c:v>
                </c:pt>
                <c:pt idx="3">
                  <c:v>25.759920309421723</c:v>
                </c:pt>
                <c:pt idx="4">
                  <c:v>26.808590946008337</c:v>
                </c:pt>
                <c:pt idx="5">
                  <c:v>28.354387369232835</c:v>
                </c:pt>
              </c:numCache>
            </c:numRef>
          </c:val>
        </c:ser>
        <c:ser>
          <c:idx val="2"/>
          <c:order val="2"/>
          <c:tx>
            <c:strRef>
              <c:strCache>
                <c:ptCount val="1"/>
                <c:pt idx="0">
                  <c:v>Flat Dividers &amp; Layer Pads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61.360321592181336</c:v>
                </c:pt>
                <c:pt idx="1">
                  <c:v>60.03896332536461</c:v>
                </c:pt>
                <c:pt idx="2">
                  <c:v>57.48125341411333</c:v>
                </c:pt>
                <c:pt idx="3">
                  <c:v>60.52715199292953</c:v>
                </c:pt>
                <c:pt idx="4">
                  <c:v>57.32734362099006</c:v>
                </c:pt>
                <c:pt idx="5">
                  <c:v>57.43466334434342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Slotted (Interlocking Grid) Partitions</c:v>
                </c:pt>
              </c:strCache>
            </c:strRef>
          </c:tx>
          <c:spPr>
            <a:solidFill>
              <a:srgbClr val="3D85C6"/>
            </a:solidFill>
          </c:spPr>
          <c:invertIfNegative val="0"/>
          <c:xVal>
            <c:numRef>
              <c:numCache>
                <c:formatCode>General</c:formatCode>
                <c:ptCount val="1"/>
                <c:pt idx="0">
                  <c:v>90.82997935824856</c:v>
                </c:pt>
              </c:numCache>
            </c:numRef>
          </c:xVal>
          <c:yVal>
            <c:numRef>
              <c:numCache>
                <c:formatCode>General</c:formatCode>
                <c:ptCount val="1"/>
                <c:pt idx="0">
                  <c:v>45.5987954996236</c:v>
                </c:pt>
              </c:numCache>
            </c:numRef>
          </c:yVal>
          <c:bubbleSize>
            <c:numRef>
              <c:numCache>
                <c:formatCode>General</c:formatCode>
                <c:ptCount val="1"/>
                <c:pt idx="0">
                  <c:v>755.106</c:v>
                </c:pt>
              </c:numCache>
            </c:numRef>
          </c:bubbleSize>
          <c:bubble3D val="0"/>
        </c:ser>
        <c:ser>
          <c:idx val="1"/>
          <c:order val="1"/>
          <c:tx>
            <c:strRef>
              <c:strCache>
                <c:ptCount val="1"/>
                <c:pt idx="0">
                  <c:v>Die-Cut &amp; Folded Partitions (H-dividers, tube/cell inserts)</c:v>
                </c:pt>
              </c:strCache>
            </c:strRef>
          </c:tx>
          <c:spPr>
            <a:solidFill>
              <a:srgbClr val="9E7E0A"/>
            </a:solidFill>
          </c:spPr>
          <c:invertIfNegative val="0"/>
          <c:xVal>
            <c:numRef>
              <c:numCache>
                <c:formatCode>General</c:formatCode>
                <c:ptCount val="1"/>
                <c:pt idx="0">
                  <c:v>71.4293233264406</c:v>
                </c:pt>
              </c:numCache>
            </c:numRef>
          </c:xVal>
          <c:yVal>
            <c:numRef>
              <c:numCache>
                <c:formatCode>General</c:formatCode>
                <c:ptCount val="1"/>
                <c:pt idx="0">
                  <c:v>93.26234164448178</c:v>
                </c:pt>
              </c:numCache>
            </c:numRef>
          </c:yVal>
          <c:bubbleSize>
            <c:numRef>
              <c:numCache>
                <c:formatCode>General</c:formatCode>
                <c:ptCount val="1"/>
                <c:pt idx="0">
                  <c:v>1408.182</c:v>
                </c:pt>
              </c:numCache>
            </c:numRef>
          </c:bubbleSize>
          <c:bubble3D val="0"/>
        </c:ser>
        <c:ser>
          <c:idx val="2"/>
          <c:order val="2"/>
          <c:tx>
            <c:strRef>
              <c:strCache>
                <c:ptCount val="1"/>
                <c:pt idx="0">
                  <c:v>Flat Dividers &amp; Layer Pads</c:v>
                </c:pt>
              </c:strCache>
            </c:strRef>
          </c:tx>
          <c:spPr>
            <a:solidFill>
              <a:srgbClr val="008189"/>
            </a:solidFill>
          </c:spPr>
          <c:invertIfNegative val="0"/>
          <c:xVal>
            <c:numRef>
              <c:numCache>
                <c:formatCode>General</c:formatCode>
                <c:ptCount val="1"/>
                <c:pt idx="0">
                  <c:v>117.45224259836175</c:v>
                </c:pt>
              </c:numCache>
            </c:numRef>
          </c:xVal>
          <c:yVal>
            <c:numRef>
              <c:numCache>
                <c:formatCode>General</c:formatCode>
                <c:ptCount val="1"/>
                <c:pt idx="0">
                  <c:v>161.13886285589467</c:v>
                </c:pt>
              </c:numCache>
            </c:numRef>
          </c:yVal>
          <c:bubbleSize>
            <c:numRef>
              <c:numCache>
                <c:formatCode>General</c:formatCode>
                <c:ptCount val="1"/>
                <c:pt idx="0">
                  <c:v>3024.743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486.387</c:v>
                </c:pt>
                <c:pt idx="2">
                  <c:v>530.082</c:v>
                </c:pt>
                <c:pt idx="3">
                  <c:v>578.296</c:v>
                </c:pt>
                <c:pt idx="4">
                  <c:v>631.502</c:v>
                </c:pt>
                <c:pt idx="5">
                  <c:v>690.239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486.387</c:v>
                </c:pt>
                <c:pt idx="1">
                  <c:v>43.69499999999999</c:v>
                </c:pt>
                <c:pt idx="2">
                  <c:v>48.214000000000055</c:v>
                </c:pt>
                <c:pt idx="3">
                  <c:v>53.205999999999904</c:v>
                </c:pt>
                <c:pt idx="4">
                  <c:v>58.73700000000008</c:v>
                </c:pt>
                <c:pt idx="5">
                  <c:v>64.86699999999996</c:v>
                </c:pt>
                <c:pt idx="6">
                  <c:v>755.106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994.798</c:v>
                </c:pt>
                <c:pt idx="2">
                  <c:v>1063.023</c:v>
                </c:pt>
                <c:pt idx="3">
                  <c:v>1137.836</c:v>
                </c:pt>
                <c:pt idx="4">
                  <c:v>1219.838</c:v>
                </c:pt>
                <c:pt idx="5">
                  <c:v>1309.698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994.798</c:v>
                </c:pt>
                <c:pt idx="1">
                  <c:v>68.22499999999991</c:v>
                </c:pt>
                <c:pt idx="2">
                  <c:v>74.8130000000001</c:v>
                </c:pt>
                <c:pt idx="3">
                  <c:v>82.00199999999995</c:v>
                </c:pt>
                <c:pt idx="4">
                  <c:v>89.86000000000013</c:v>
                </c:pt>
                <c:pt idx="5">
                  <c:v>98.48399999999992</c:v>
                </c:pt>
                <c:pt idx="6">
                  <c:v>1408.182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1718.814</c:v>
                </c:pt>
                <c:pt idx="2">
                  <c:v>1928.788</c:v>
                </c:pt>
                <c:pt idx="3">
                  <c:v>2161.554</c:v>
                </c:pt>
                <c:pt idx="4">
                  <c:v>2419.783</c:v>
                </c:pt>
                <c:pt idx="5">
                  <c:v>2706.421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1718.814</c:v>
                </c:pt>
                <c:pt idx="1">
                  <c:v>209.97399999999993</c:v>
                </c:pt>
                <c:pt idx="2">
                  <c:v>232.76600000000008</c:v>
                </c:pt>
                <c:pt idx="3">
                  <c:v>258.2289999999998</c:v>
                </c:pt>
                <c:pt idx="4">
                  <c:v>286.6379999999999</c:v>
                </c:pt>
                <c:pt idx="5">
                  <c:v>318.3220000000001</c:v>
                </c:pt>
                <c:pt idx="6">
                  <c:v>3024.743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Flat Dividers &amp; Layer Pads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50.69198904355451</c:v>
                </c:pt>
                <c:pt idx="1">
                  <c:v>53.71295428529821</c:v>
                </c:pt>
                <c:pt idx="2">
                  <c:v>58.30233088429888</c:v>
                </c:pt>
              </c:numCache>
            </c:numRef>
          </c:val>
        </c:ser>
        <c:ser>
          <c:idx val="1"/>
          <c:order val="1"/>
          <c:tx>
            <c:strRef>
              <c:strCache>
                <c:ptCount val="1"/>
                <c:pt idx="0">
                  <c:v>Die-Cut &amp; Folded Partitions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33.68057741490308</c:v>
                </c:pt>
                <c:pt idx="1">
                  <c:v>31.08744721482725</c:v>
                </c:pt>
                <c:pt idx="2">
                  <c:v>27.142898722077796</c:v>
                </c:pt>
              </c:numCache>
            </c:numRef>
          </c:val>
        </c:ser>
        <c:ser>
          <c:idx val="2"/>
          <c:order val="2"/>
          <c:tx>
            <c:strRef>
              <c:strCache>
                <c:ptCount val="1"/>
                <c:pt idx="0">
                  <c:v>Slotted (Interlocking Grid) Partitions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15.627433541542429</c:v>
                </c:pt>
                <c:pt idx="1">
                  <c:v>15.199598499874531</c:v>
                </c:pt>
                <c:pt idx="2">
                  <c:v>14.554770393623324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Single Wall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12.920915993210338</c:v>
                </c:pt>
                <c:pt idx="1">
                  <c:v>16.82117640518152</c:v>
                </c:pt>
                <c:pt idx="2">
                  <c:v>13.20981579212696</c:v>
                </c:pt>
                <c:pt idx="3">
                  <c:v>16.750835406145576</c:v>
                </c:pt>
                <c:pt idx="4">
                  <c:v>15.291290765036347</c:v>
                </c:pt>
                <c:pt idx="5">
                  <c:v>17.827793618059662</c:v>
                </c:pt>
              </c:numCache>
            </c:numRef>
          </c:val>
        </c:ser>
        <c:ser>
          <c:idx val="1"/>
          <c:order val="1"/>
          <c:tx>
            <c:strRef>
              <c:strCache>
                <c:ptCount val="1"/>
                <c:pt idx="0">
                  <c:v>Double Wall</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39.343369661544784</c:v>
                </c:pt>
                <c:pt idx="1">
                  <c:v>36.62297770612109</c:v>
                </c:pt>
                <c:pt idx="2">
                  <c:v>43.82269333851</c:v>
                </c:pt>
                <c:pt idx="3">
                  <c:v>37.29081592688331</c:v>
                </c:pt>
                <c:pt idx="4">
                  <c:v>43.40240824180824</c:v>
                </c:pt>
                <c:pt idx="5">
                  <c:v>42.81635616391288</c:v>
                </c:pt>
              </c:numCache>
            </c:numRef>
          </c:val>
        </c:ser>
        <c:ser>
          <c:idx val="2"/>
          <c:order val="2"/>
          <c:tx>
            <c:strRef>
              <c:strCache>
                <c:ptCount val="1"/>
                <c:pt idx="0">
                  <c:v>Triple Wall</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47.73571434524488</c:v>
                </c:pt>
                <c:pt idx="1">
                  <c:v>46.5558458886974</c:v>
                </c:pt>
                <c:pt idx="2">
                  <c:v>42.967490869363054</c:v>
                </c:pt>
                <c:pt idx="3">
                  <c:v>45.95834866697112</c:v>
                </c:pt>
                <c:pt idx="4">
                  <c:v>41.30630099315542</c:v>
                </c:pt>
                <c:pt idx="5">
                  <c:v>39.35585021802746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Single Wall</c:v>
                </c:pt>
              </c:strCache>
            </c:strRef>
          </c:tx>
          <c:spPr>
            <a:solidFill>
              <a:srgbClr val="3D85C6"/>
            </a:solidFill>
          </c:spPr>
          <c:invertIfNegative val="0"/>
          <c:xVal>
            <c:numRef>
              <c:numCache>
                <c:formatCode>General</c:formatCode>
                <c:ptCount val="1"/>
                <c:pt idx="0">
                  <c:v>71.90158218709908</c:v>
                </c:pt>
              </c:numCache>
            </c:numRef>
          </c:xVal>
          <c:yVal>
            <c:numRef>
              <c:numCache>
                <c:formatCode>General</c:formatCode>
                <c:ptCount val="1"/>
                <c:pt idx="0">
                  <c:v>54.667329583540514</c:v>
                </c:pt>
              </c:numCache>
            </c:numRef>
          </c:yVal>
          <c:bubbleSize>
            <c:numRef>
              <c:numCache>
                <c:formatCode>General</c:formatCode>
                <c:ptCount val="1"/>
                <c:pt idx="0">
                  <c:v>827.296</c:v>
                </c:pt>
              </c:numCache>
            </c:numRef>
          </c:bubbleSize>
          <c:bubble3D val="0"/>
        </c:ser>
        <c:ser>
          <c:idx val="1"/>
          <c:order val="1"/>
          <c:tx>
            <c:strRef>
              <c:strCache>
                <c:ptCount val="1"/>
                <c:pt idx="0">
                  <c:v>Double Wall</c:v>
                </c:pt>
              </c:strCache>
            </c:strRef>
          </c:tx>
          <c:spPr>
            <a:solidFill>
              <a:srgbClr val="9E7E0A"/>
            </a:solidFill>
          </c:spPr>
          <c:invertIfNegative val="0"/>
          <c:xVal>
            <c:numRef>
              <c:numCache>
                <c:formatCode>General</c:formatCode>
                <c:ptCount val="1"/>
                <c:pt idx="0">
                  <c:v>103.31458063776505</c:v>
                </c:pt>
              </c:numCache>
            </c:numRef>
          </c:xVal>
          <c:yVal>
            <c:numRef>
              <c:numCache>
                <c:formatCode>General</c:formatCode>
                <c:ptCount val="1"/>
                <c:pt idx="0">
                  <c:v>122.97144467857647</c:v>
                </c:pt>
              </c:numCache>
            </c:numRef>
          </c:yVal>
          <c:bubbleSize>
            <c:numRef>
              <c:numCache>
                <c:formatCode>General</c:formatCode>
                <c:ptCount val="1"/>
                <c:pt idx="0">
                  <c:v>2160.084</c:v>
                </c:pt>
              </c:numCache>
            </c:numRef>
          </c:bubbleSize>
          <c:bubble3D val="0"/>
        </c:ser>
        <c:ser>
          <c:idx val="2"/>
          <c:order val="2"/>
          <c:tx>
            <c:strRef>
              <c:strCache>
                <c:ptCount val="1"/>
                <c:pt idx="0">
                  <c:v>Triple Wall</c:v>
                </c:pt>
              </c:strCache>
            </c:strRef>
          </c:tx>
          <c:spPr>
            <a:solidFill>
              <a:srgbClr val="008189"/>
            </a:solidFill>
          </c:spPr>
          <c:invertIfNegative val="0"/>
          <c:xVal>
            <c:numRef>
              <c:numCache>
                <c:formatCode>General</c:formatCode>
                <c:ptCount val="1"/>
                <c:pt idx="0">
                  <c:v>108.32724208759414</c:v>
                </c:pt>
              </c:numCache>
            </c:numRef>
          </c:xVal>
          <c:yVal>
            <c:numRef>
              <c:numCache>
                <c:formatCode>General</c:formatCode>
                <c:ptCount val="1"/>
                <c:pt idx="0">
                  <c:v>122.36122573788305</c:v>
                </c:pt>
              </c:numCache>
            </c:numRef>
          </c:yVal>
          <c:bubbleSize>
            <c:numRef>
              <c:numCache>
                <c:formatCode>General</c:formatCode>
                <c:ptCount val="1"/>
                <c:pt idx="0">
                  <c:v>2200.651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583.118</c:v>
                </c:pt>
                <c:pt idx="2">
                  <c:v>624.523</c:v>
                </c:pt>
                <c:pt idx="3">
                  <c:v>669.33</c:v>
                </c:pt>
                <c:pt idx="4">
                  <c:v>717.838</c:v>
                </c:pt>
                <c:pt idx="5">
                  <c:v>770.367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583.118</c:v>
                </c:pt>
                <c:pt idx="1">
                  <c:v>41.40499999999997</c:v>
                </c:pt>
                <c:pt idx="2">
                  <c:v>44.807000000000016</c:v>
                </c:pt>
                <c:pt idx="3">
                  <c:v>48.507999999999925</c:v>
                </c:pt>
                <c:pt idx="4">
                  <c:v>52.528999999999996</c:v>
                </c:pt>
                <c:pt idx="5">
                  <c:v>56.92900000000009</c:v>
                </c:pt>
                <c:pt idx="6">
                  <c:v>827.296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1311.695</c:v>
                </c:pt>
                <c:pt idx="2">
                  <c:v>1448.566</c:v>
                </c:pt>
                <c:pt idx="3">
                  <c:v>1600.109</c:v>
                </c:pt>
                <c:pt idx="4">
                  <c:v>1767.961</c:v>
                </c:pt>
                <c:pt idx="5">
                  <c:v>1953.942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1311.695</c:v>
                </c:pt>
                <c:pt idx="1">
                  <c:v>136.8710000000001</c:v>
                </c:pt>
                <c:pt idx="2">
                  <c:v>151.5429999999999</c:v>
                </c:pt>
                <c:pt idx="3">
                  <c:v>167.8520000000001</c:v>
                </c:pt>
                <c:pt idx="4">
                  <c:v>185.981</c:v>
                </c:pt>
                <c:pt idx="5">
                  <c:v>206.14199999999983</c:v>
                </c:pt>
                <c:pt idx="6">
                  <c:v>2160.084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1305.186</c:v>
                </c:pt>
                <c:pt idx="2">
                  <c:v>1448.804</c:v>
                </c:pt>
                <c:pt idx="3">
                  <c:v>1608.247</c:v>
                </c:pt>
                <c:pt idx="4">
                  <c:v>1785.324</c:v>
                </c:pt>
                <c:pt idx="5">
                  <c:v>1982.049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1305.186</c:v>
                </c:pt>
                <c:pt idx="1">
                  <c:v>143.61800000000017</c:v>
                </c:pt>
                <c:pt idx="2">
                  <c:v>159.44299999999998</c:v>
                </c:pt>
                <c:pt idx="3">
                  <c:v>177.077</c:v>
                </c:pt>
                <c:pt idx="4">
                  <c:v>196.7249999999999</c:v>
                </c:pt>
                <c:pt idx="5">
                  <c:v>218.60199999999986</c:v>
                </c:pt>
                <c:pt idx="6">
                  <c:v>2200.651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Triple Wall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39.85222000035865</c:v>
                </c:pt>
                <c:pt idx="1">
                  <c:v>40.78707524596101</c:v>
                </c:pt>
                <c:pt idx="2">
                  <c:v>42.417845999763685</c:v>
                </c:pt>
              </c:numCache>
            </c:numRef>
          </c:val>
        </c:ser>
        <c:ser>
          <c:idx val="1"/>
          <c:order val="1"/>
          <c:tx>
            <c:strRef>
              <c:strCache>
                <c:ptCount val="1"/>
                <c:pt idx="0">
                  <c:v>Double Wall</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40.61351668858643</c:v>
                </c:pt>
                <c:pt idx="1">
                  <c:v>40.990481559525485</c:v>
                </c:pt>
                <c:pt idx="2">
                  <c:v>41.635911581869884</c:v>
                </c:pt>
              </c:numCache>
            </c:numRef>
          </c:val>
        </c:ser>
        <c:ser>
          <c:idx val="2"/>
          <c:order val="2"/>
          <c:tx>
            <c:strRef>
              <c:strCache>
                <c:ptCount val="1"/>
                <c:pt idx="0">
                  <c:v>Single Wall</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19.534263311054918</c:v>
                </c:pt>
                <c:pt idx="1">
                  <c:v>18.222443194513502</c:v>
                </c:pt>
                <c:pt idx="2">
                  <c:v>15.94624241836643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Virgin Kraft Fibre-based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81.58568059140069</c:v>
                </c:pt>
                <c:pt idx="1">
                  <c:v>77.92224940234614</c:v>
                </c:pt>
                <c:pt idx="2">
                  <c:v>79.85360884005172</c:v>
                </c:pt>
                <c:pt idx="3">
                  <c:v>82.58660364726278</c:v>
                </c:pt>
                <c:pt idx="4">
                  <c:v>82.59898696125447</c:v>
                </c:pt>
                <c:pt idx="5">
                  <c:v>79.1314661384546</c:v>
                </c:pt>
              </c:numCache>
            </c:numRef>
          </c:val>
        </c:ser>
        <c:ser>
          <c:idx val="1"/>
          <c:order val="1"/>
          <c:tx>
            <c:strRef>
              <c:strCache>
                <c:ptCount val="1"/>
                <c:pt idx="0">
                  <c:v>Recycled Fibre-based (testliner/recycled medium)</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18.414319408599315</c:v>
                </c:pt>
                <c:pt idx="1">
                  <c:v>22.07775059765386</c:v>
                </c:pt>
                <c:pt idx="2">
                  <c:v>20.146391159948294</c:v>
                </c:pt>
                <c:pt idx="3">
                  <c:v>17.413396352737223</c:v>
                </c:pt>
                <c:pt idx="4">
                  <c:v>17.401013038745532</c:v>
                </c:pt>
                <c:pt idx="5">
                  <c:v>20.8685338615454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Virgin Kraft Fibre-based</c:v>
                </c:pt>
              </c:strCache>
            </c:strRef>
          </c:tx>
          <c:spPr>
            <a:solidFill>
              <a:srgbClr val="3D85C6"/>
            </a:solidFill>
          </c:spPr>
          <c:invertIfNegative val="0"/>
          <c:xVal>
            <c:numRef>
              <c:numCache>
                <c:formatCode>General</c:formatCode>
                <c:ptCount val="1"/>
                <c:pt idx="0">
                  <c:v>98.96553223022553</c:v>
                </c:pt>
              </c:numCache>
            </c:numRef>
          </c:xVal>
          <c:yVal>
            <c:numRef>
              <c:numCache>
                <c:formatCode>General</c:formatCode>
                <c:ptCount val="1"/>
                <c:pt idx="0">
                  <c:v>162.26180070681272</c:v>
                </c:pt>
              </c:numCache>
            </c:numRef>
          </c:yVal>
          <c:bubbleSize>
            <c:numRef>
              <c:numCache>
                <c:formatCode>General</c:formatCode>
                <c:ptCount val="1"/>
                <c:pt idx="0">
                  <c:v>4188.602</c:v>
                </c:pt>
              </c:numCache>
            </c:numRef>
          </c:bubbleSize>
          <c:bubble3D val="0"/>
        </c:ser>
        <c:ser>
          <c:idx val="1"/>
          <c:order val="1"/>
          <c:tx>
            <c:strRef>
              <c:strCache>
                <c:ptCount val="1"/>
                <c:pt idx="0">
                  <c:v>Recycled Fibre-based (testliner/recycled medium)</c:v>
                </c:pt>
              </c:strCache>
            </c:strRef>
          </c:tx>
          <c:spPr>
            <a:solidFill>
              <a:srgbClr val="9E7E0A"/>
            </a:solidFill>
          </c:spPr>
          <c:invertIfNegative val="0"/>
          <c:xVal>
            <c:numRef>
              <c:numCache>
                <c:formatCode>General</c:formatCode>
                <c:ptCount val="1"/>
                <c:pt idx="0">
                  <c:v>104.39685083440354</c:v>
                </c:pt>
              </c:numCache>
            </c:numRef>
          </c:xVal>
          <c:yVal>
            <c:numRef>
              <c:numCache>
                <c:formatCode>General</c:formatCode>
                <c:ptCount val="1"/>
                <c:pt idx="0">
                  <c:v>37.73819929318728</c:v>
                </c:pt>
              </c:numCache>
            </c:numRef>
          </c:yVal>
          <c:bubbleSize>
            <c:numRef>
              <c:numCache>
                <c:formatCode>General</c:formatCode>
                <c:ptCount val="1"/>
                <c:pt idx="0">
                  <c:v>999.429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2596.188</c:v>
                </c:pt>
                <c:pt idx="2">
                  <c:v>2855.207</c:v>
                </c:pt>
                <c:pt idx="3">
                  <c:v>3140.998</c:v>
                </c:pt>
                <c:pt idx="4">
                  <c:v>3456.391</c:v>
                </c:pt>
                <c:pt idx="5">
                  <c:v>3804.456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2596.188</c:v>
                </c:pt>
                <c:pt idx="1">
                  <c:v>259.0189999999998</c:v>
                </c:pt>
                <c:pt idx="2">
                  <c:v>285.79100000000017</c:v>
                </c:pt>
                <c:pt idx="3">
                  <c:v>315.39300000000003</c:v>
                </c:pt>
                <c:pt idx="4">
                  <c:v>348.06500000000005</c:v>
                </c:pt>
                <c:pt idx="5">
                  <c:v>384.14599999999973</c:v>
                </c:pt>
                <c:pt idx="6">
                  <c:v>4188.602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603.811</c:v>
                </c:pt>
                <c:pt idx="2">
                  <c:v>666.686</c:v>
                </c:pt>
                <c:pt idx="3">
                  <c:v>736.688</c:v>
                </c:pt>
                <c:pt idx="4">
                  <c:v>814.732</c:v>
                </c:pt>
                <c:pt idx="5">
                  <c:v>901.902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603.811</c:v>
                </c:pt>
                <c:pt idx="1">
                  <c:v>62.875</c:v>
                </c:pt>
                <c:pt idx="2">
                  <c:v>70.00199999999995</c:v>
                </c:pt>
                <c:pt idx="3">
                  <c:v>78.04399999999998</c:v>
                </c:pt>
                <c:pt idx="4">
                  <c:v>87.17000000000007</c:v>
                </c:pt>
                <c:pt idx="5">
                  <c:v>97.52699999999993</c:v>
                </c:pt>
                <c:pt idx="6">
                  <c:v>999.429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Virgin Kraft Fibre-based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81.25500062382604</c:v>
                </c:pt>
                <c:pt idx="1">
                  <c:v>81.13090035340636</c:v>
                </c:pt>
                <c:pt idx="2">
                  <c:v>80.73587069930768</c:v>
                </c:pt>
              </c:numCache>
            </c:numRef>
          </c:val>
        </c:ser>
        <c:ser>
          <c:idx val="1"/>
          <c:order val="1"/>
          <c:tx>
            <c:strRef>
              <c:strCache>
                <c:ptCount val="1"/>
                <c:pt idx="0">
                  <c:v>Recycled Fibre-based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18.74499937617397</c:v>
                </c:pt>
                <c:pt idx="1">
                  <c:v>18.86909964659364</c:v>
                </c:pt>
                <c:pt idx="2">
                  <c:v>19.264129300692304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Up to 4 Cells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36.017157509605255</c:v>
                </c:pt>
                <c:pt idx="1">
                  <c:v>36.45387409425326</c:v>
                </c:pt>
                <c:pt idx="2">
                  <c:v>31.455740300156048</c:v>
                </c:pt>
                <c:pt idx="3">
                  <c:v>37.77232910198827</c:v>
                </c:pt>
                <c:pt idx="4">
                  <c:v>37.81215983500207</c:v>
                </c:pt>
                <c:pt idx="5">
                  <c:v>39.04062825506127</c:v>
                </c:pt>
              </c:numCache>
            </c:numRef>
          </c:val>
        </c:ser>
        <c:ser>
          <c:idx val="1"/>
          <c:order val="1"/>
          <c:tx>
            <c:strRef>
              <c:strCache>
                <c:ptCount val="1"/>
                <c:pt idx="0">
                  <c:v>6 to 12 Cells</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40.33737175622779</c:v>
                </c:pt>
                <c:pt idx="1">
                  <c:v>41.17394970441615</c:v>
                </c:pt>
                <c:pt idx="2">
                  <c:v>41.56256912874085</c:v>
                </c:pt>
                <c:pt idx="3">
                  <c:v>40.014808968737114</c:v>
                </c:pt>
                <c:pt idx="4">
                  <c:v>38.33991055872154</c:v>
                </c:pt>
                <c:pt idx="5">
                  <c:v>34.03372760470123</c:v>
                </c:pt>
              </c:numCache>
            </c:numRef>
          </c:val>
        </c:ser>
        <c:ser>
          <c:idx val="2"/>
          <c:order val="2"/>
          <c:tx>
            <c:strRef>
              <c:strCache>
                <c:ptCount val="1"/>
                <c:pt idx="0">
                  <c:v>13 to 24 Cells</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13.749899294086267</c:v>
                </c:pt>
                <c:pt idx="1">
                  <c:v>13.567669242601138</c:v>
                </c:pt>
                <c:pt idx="2">
                  <c:v>16.81767769566349</c:v>
                </c:pt>
                <c:pt idx="3">
                  <c:v>13.478230668162341</c:v>
                </c:pt>
                <c:pt idx="4">
                  <c:v>13.736212259588655</c:v>
                </c:pt>
                <c:pt idx="5">
                  <c:v>15.75269901647439</c:v>
                </c:pt>
              </c:numCache>
            </c:numRef>
          </c:val>
        </c:ser>
        <c:ser>
          <c:idx val="3"/>
          <c:order val="3"/>
          <c:tx>
            <c:strRef>
              <c:strCache>
                <c:ptCount val="1"/>
                <c:pt idx="0">
                  <c:v>Above 24 Cells</c:v>
                </c:pt>
              </c:strCache>
            </c:strRef>
          </c:tx>
          <c:spPr>
            <a:solidFill>
              <a:srgbClr val="40315E"/>
            </a:solidFill>
            <a:ln>
              <a:noFill/>
            </a:ln>
          </c:spPr>
          <c:dLbls>
            <c:dLbl>
              <c:idx val="0"/>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9.895571440080673</c:v>
                </c:pt>
                <c:pt idx="1">
                  <c:v>8.804506958729453</c:v>
                </c:pt>
                <c:pt idx="2">
                  <c:v>10.164012875439601</c:v>
                </c:pt>
                <c:pt idx="3">
                  <c:v>8.734631261112268</c:v>
                </c:pt>
                <c:pt idx="4">
                  <c:v>10.111717346687742</c:v>
                </c:pt>
                <c:pt idx="5">
                  <c:v>11.172945123763117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Up to 4 Cells</c:v>
                </c:pt>
              </c:strCache>
            </c:strRef>
          </c:tx>
          <c:spPr>
            <a:solidFill>
              <a:srgbClr val="3D85C6"/>
            </a:solidFill>
          </c:spPr>
          <c:invertIfNegative val="0"/>
          <c:xVal>
            <c:numRef>
              <c:numCache>
                <c:formatCode>General</c:formatCode>
                <c:ptCount val="1"/>
                <c:pt idx="0">
                  <c:v>98.15850664052144</c:v>
                </c:pt>
              </c:numCache>
            </c:numRef>
          </c:xVal>
          <c:yVal>
            <c:numRef>
              <c:numCache>
                <c:formatCode>General</c:formatCode>
                <c:ptCount val="1"/>
                <c:pt idx="0">
                  <c:v>149.80567181427244</c:v>
                </c:pt>
              </c:numCache>
            </c:numRef>
          </c:yVal>
          <c:bubbleSize>
            <c:numRef>
              <c:numCache>
                <c:formatCode>General</c:formatCode>
                <c:ptCount val="1"/>
                <c:pt idx="0">
                  <c:v>1926.179</c:v>
                </c:pt>
              </c:numCache>
            </c:numRef>
          </c:bubbleSize>
          <c:bubble3D val="0"/>
        </c:ser>
        <c:ser>
          <c:idx val="1"/>
          <c:order val="1"/>
          <c:tx>
            <c:strRef>
              <c:strCache>
                <c:ptCount val="1"/>
                <c:pt idx="0">
                  <c:v>6 to 12 Cells</c:v>
                </c:pt>
              </c:strCache>
            </c:strRef>
          </c:tx>
          <c:spPr>
            <a:solidFill>
              <a:srgbClr val="9E7E0A"/>
            </a:solidFill>
          </c:spPr>
          <c:invertIfNegative val="0"/>
          <c:xVal>
            <c:numRef>
              <c:numCache>
                <c:formatCode>General</c:formatCode>
                <c:ptCount val="1"/>
                <c:pt idx="0">
                  <c:v>120.25622216563023</c:v>
                </c:pt>
              </c:numCache>
            </c:numRef>
          </c:xVal>
          <c:yVal>
            <c:numRef>
              <c:numCache>
                <c:formatCode>General</c:formatCode>
                <c:ptCount val="1"/>
                <c:pt idx="0">
                  <c:v>138.3605432376698</c:v>
                </c:pt>
              </c:numCache>
            </c:numRef>
          </c:yVal>
          <c:bubbleSize>
            <c:numRef>
              <c:numCache>
                <c:formatCode>General</c:formatCode>
                <c:ptCount val="1"/>
                <c:pt idx="0">
                  <c:v>1973.583</c:v>
                </c:pt>
              </c:numCache>
            </c:numRef>
          </c:bubbleSize>
          <c:bubble3D val="0"/>
        </c:ser>
        <c:ser>
          <c:idx val="2"/>
          <c:order val="2"/>
          <c:tx>
            <c:strRef>
              <c:strCache>
                <c:ptCount val="1"/>
                <c:pt idx="0">
                  <c:v>13 to 24 Cells</c:v>
                </c:pt>
              </c:strCache>
            </c:strRef>
          </c:tx>
          <c:spPr>
            <a:solidFill>
              <a:srgbClr val="008189"/>
            </a:solidFill>
          </c:spPr>
          <c:invertIfNegative val="0"/>
          <c:xVal>
            <c:numRef>
              <c:numCache>
                <c:formatCode>General</c:formatCode>
                <c:ptCount val="1"/>
                <c:pt idx="0">
                  <c:v>70.8953251751319</c:v>
                </c:pt>
              </c:numCache>
            </c:numRef>
          </c:xVal>
          <c:yVal>
            <c:numRef>
              <c:numCache>
                <c:formatCode>General</c:formatCode>
                <c:ptCount val="1"/>
                <c:pt idx="0">
                  <c:v>67.49452109203786</c:v>
                </c:pt>
              </c:numCache>
            </c:numRef>
          </c:yVal>
          <c:bubbleSize>
            <c:numRef>
              <c:numCache>
                <c:formatCode>General</c:formatCode>
                <c:ptCount val="1"/>
                <c:pt idx="0">
                  <c:v>762.383</c:v>
                </c:pt>
              </c:numCache>
            </c:numRef>
          </c:bubbleSize>
          <c:bubble3D val="0"/>
        </c:ser>
        <c:ser>
          <c:idx val="3"/>
          <c:order val="3"/>
          <c:tx>
            <c:strRef>
              <c:strCache>
                <c:ptCount val="1"/>
                <c:pt idx="0">
                  <c:v>Above 24 Cells</c:v>
                </c:pt>
              </c:strCache>
            </c:strRef>
          </c:tx>
          <c:spPr>
            <a:solidFill>
              <a:srgbClr val="40315E"/>
            </a:solidFill>
          </c:spPr>
          <c:invertIfNegative val="0"/>
          <c:xVal>
            <c:numRef>
              <c:numCache>
                <c:formatCode>General</c:formatCode>
                <c:ptCount val="1"/>
                <c:pt idx="0">
                  <c:v>81.12581438625898</c:v>
                </c:pt>
              </c:numCache>
            </c:numRef>
          </c:xVal>
          <c:yVal>
            <c:numRef>
              <c:numCache>
                <c:formatCode>General</c:formatCode>
                <c:ptCount val="1"/>
                <c:pt idx="0">
                  <c:v>44.339263856019954</c:v>
                </c:pt>
              </c:numCache>
            </c:numRef>
          </c:yVal>
          <c:bubbleSize>
            <c:numRef>
              <c:numCache>
                <c:formatCode>General</c:formatCode>
                <c:ptCount val="1"/>
                <c:pt idx="0">
                  <c:v>525.886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1198.445</c:v>
                </c:pt>
                <c:pt idx="2">
                  <c:v>1316.675</c:v>
                </c:pt>
                <c:pt idx="3">
                  <c:v>1447.152</c:v>
                </c:pt>
                <c:pt idx="4">
                  <c:v>1591.211</c:v>
                </c:pt>
                <c:pt idx="5">
                  <c:v>1750.337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1198.445</c:v>
                </c:pt>
                <c:pt idx="1">
                  <c:v>118.23000000000002</c:v>
                </c:pt>
                <c:pt idx="2">
                  <c:v>130.4770000000001</c:v>
                </c:pt>
                <c:pt idx="3">
                  <c:v>144.05899999999997</c:v>
                </c:pt>
                <c:pt idx="4">
                  <c:v>159.12599999999998</c:v>
                </c:pt>
                <c:pt idx="5">
                  <c:v>175.8420000000001</c:v>
                </c:pt>
                <c:pt idx="6">
                  <c:v>1926.179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1106.884</c:v>
                </c:pt>
                <c:pt idx="2">
                  <c:v>1243.186</c:v>
                </c:pt>
                <c:pt idx="3">
                  <c:v>1395.896</c:v>
                </c:pt>
                <c:pt idx="4">
                  <c:v>1567.0</c:v>
                </c:pt>
                <c:pt idx="5">
                  <c:v>1758.731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1106.884</c:v>
                </c:pt>
                <c:pt idx="1">
                  <c:v>136.3019999999999</c:v>
                </c:pt>
                <c:pt idx="2">
                  <c:v>152.71000000000004</c:v>
                </c:pt>
                <c:pt idx="3">
                  <c:v>171.10400000000004</c:v>
                </c:pt>
                <c:pt idx="4">
                  <c:v>191.731</c:v>
                </c:pt>
                <c:pt idx="5">
                  <c:v>214.8520000000001</c:v>
                </c:pt>
                <c:pt idx="6">
                  <c:v>1973.583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539.956</c:v>
                </c:pt>
                <c:pt idx="2">
                  <c:v>578.494</c:v>
                </c:pt>
                <c:pt idx="3">
                  <c:v>619.804</c:v>
                </c:pt>
                <c:pt idx="4">
                  <c:v>664.09</c:v>
                </c:pt>
                <c:pt idx="5">
                  <c:v>711.538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539.956</c:v>
                </c:pt>
                <c:pt idx="1">
                  <c:v>38.53800000000001</c:v>
                </c:pt>
                <c:pt idx="2">
                  <c:v>41.309999999999945</c:v>
                </c:pt>
                <c:pt idx="3">
                  <c:v>44.28600000000006</c:v>
                </c:pt>
                <c:pt idx="4">
                  <c:v>47.44799999999998</c:v>
                </c:pt>
                <c:pt idx="5">
                  <c:v>50.84500000000003</c:v>
                </c:pt>
                <c:pt idx="6">
                  <c:v>762.383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354.714</c:v>
                </c:pt>
                <c:pt idx="2">
                  <c:v>383.538</c:v>
                </c:pt>
                <c:pt idx="3">
                  <c:v>414.834</c:v>
                </c:pt>
                <c:pt idx="4">
                  <c:v>448.822</c:v>
                </c:pt>
                <c:pt idx="5">
                  <c:v>485.752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354.714</c:v>
                </c:pt>
                <c:pt idx="1">
                  <c:v>28.824000000000012</c:v>
                </c:pt>
                <c:pt idx="2">
                  <c:v>31.295999999999992</c:v>
                </c:pt>
                <c:pt idx="3">
                  <c:v>33.988</c:v>
                </c:pt>
                <c:pt idx="4">
                  <c:v>36.93000000000001</c:v>
                </c:pt>
                <c:pt idx="5">
                  <c:v>40.13399999999996</c:v>
                </c:pt>
                <c:pt idx="6">
                  <c:v>525.886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6 to 12 Cells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32.77639213361095</c:v>
                </c:pt>
                <c:pt idx="1">
                  <c:v>34.59013580941745</c:v>
                </c:pt>
                <c:pt idx="2">
                  <c:v>38.0410795540736</c:v>
                </c:pt>
              </c:numCache>
            </c:numRef>
          </c:val>
        </c:ser>
        <c:ser>
          <c:idx val="1"/>
          <c:order val="1"/>
          <c:tx>
            <c:strRef>
              <c:strCache>
                <c:ptCount val="1"/>
                <c:pt idx="0">
                  <c:v>Up to 4 Cells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37.61934249880672</c:v>
                </c:pt>
                <c:pt idx="1">
                  <c:v>37.45141795356811</c:v>
                </c:pt>
                <c:pt idx="2">
                  <c:v>37.12736103542944</c:v>
                </c:pt>
              </c:numCache>
            </c:numRef>
          </c:val>
        </c:ser>
        <c:ser>
          <c:idx val="2"/>
          <c:order val="2"/>
          <c:tx>
            <c:strRef>
              <c:strCache>
                <c:ptCount val="1"/>
                <c:pt idx="0">
                  <c:v>13 to 24 Cells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18.021323022461935</c:v>
                </c:pt>
                <c:pt idx="1">
                  <c:v>16.873630273009464</c:v>
                </c:pt>
                <c:pt idx="2">
                  <c:v>14.695035553951008</c:v>
                </c:pt>
              </c:numCache>
            </c:numRef>
          </c:val>
        </c:ser>
        <c:ser>
          <c:idx val="3"/>
          <c:order val="3"/>
          <c:tx>
            <c:strRef>
              <c:strCache>
                <c:ptCount val="1"/>
                <c:pt idx="0">
                  <c:v>Above 24 Cells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11.582942345120403</c:v>
                </c:pt>
                <c:pt idx="1">
                  <c:v>11.084815964004989</c:v>
                </c:pt>
                <c:pt idx="2">
                  <c:v>10.13652385654596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Standard / Stock Sizes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40.9513305682036</c:v>
                </c:pt>
                <c:pt idx="1">
                  <c:v>39.679583402827966</c:v>
                </c:pt>
                <c:pt idx="2">
                  <c:v>39.181004061572175</c:v>
                </c:pt>
                <c:pt idx="3">
                  <c:v>41.197309556218656</c:v>
                </c:pt>
                <c:pt idx="4">
                  <c:v>44.66853817093597</c:v>
                </c:pt>
                <c:pt idx="5">
                  <c:v>42.21696357385605</c:v>
                </c:pt>
              </c:numCache>
            </c:numRef>
          </c:val>
        </c:ser>
        <c:ser>
          <c:idx val="1"/>
          <c:order val="1"/>
          <c:tx>
            <c:strRef>
              <c:strCache>
                <c:ptCount val="1"/>
                <c:pt idx="0">
                  <c:v>Custom-Engineered</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59.048669431796405</c:v>
                </c:pt>
                <c:pt idx="1">
                  <c:v>60.320416597172034</c:v>
                </c:pt>
                <c:pt idx="2">
                  <c:v>60.81899593842783</c:v>
                </c:pt>
                <c:pt idx="3">
                  <c:v>58.802690443781344</c:v>
                </c:pt>
                <c:pt idx="4">
                  <c:v>55.33146182906403</c:v>
                </c:pt>
                <c:pt idx="5">
                  <c:v>57.783036426143966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Standard / Stock Sizes</c:v>
                </c:pt>
              </c:strCache>
            </c:strRef>
          </c:tx>
          <c:spPr>
            <a:solidFill>
              <a:srgbClr val="3D85C6"/>
            </a:solidFill>
          </c:spPr>
          <c:invertIfNegative val="0"/>
          <c:xVal>
            <c:numRef>
              <c:numCache>
                <c:formatCode>General</c:formatCode>
                <c:ptCount val="1"/>
                <c:pt idx="0">
                  <c:v>129.51753528242958</c:v>
                </c:pt>
              </c:numCache>
            </c:numRef>
          </c:xVal>
          <c:yVal>
            <c:numRef>
              <c:numCache>
                <c:formatCode>General</c:formatCode>
                <c:ptCount val="1"/>
                <c:pt idx="0">
                  <c:v>73.32133541291732</c:v>
                </c:pt>
              </c:numCache>
            </c:numRef>
          </c:yVal>
          <c:bubbleSize>
            <c:numRef>
              <c:numCache>
                <c:formatCode>General</c:formatCode>
                <c:ptCount val="1"/>
                <c:pt idx="0">
                  <c:v>2184.019</c:v>
                </c:pt>
              </c:numCache>
            </c:numRef>
          </c:bubbleSize>
          <c:bubble3D val="0"/>
        </c:ser>
        <c:ser>
          <c:idx val="1"/>
          <c:order val="1"/>
          <c:tx>
            <c:strRef>
              <c:strCache>
                <c:ptCount val="1"/>
                <c:pt idx="0">
                  <c:v>Custom-Engineered</c:v>
                </c:pt>
              </c:strCache>
            </c:strRef>
          </c:tx>
          <c:spPr>
            <a:solidFill>
              <a:srgbClr val="9E7E0A"/>
            </a:solidFill>
          </c:spPr>
          <c:invertIfNegative val="0"/>
          <c:xVal>
            <c:numRef>
              <c:numCache>
                <c:formatCode>General</c:formatCode>
                <c:ptCount val="1"/>
                <c:pt idx="0">
                  <c:v>81.06053362407037</c:v>
                </c:pt>
              </c:numCache>
            </c:numRef>
          </c:xVal>
          <c:yVal>
            <c:numRef>
              <c:numCache>
                <c:formatCode>General</c:formatCode>
                <c:ptCount val="1"/>
                <c:pt idx="0">
                  <c:v>126.67866458708268</c:v>
                </c:pt>
              </c:numCache>
            </c:numRef>
          </c:yVal>
          <c:bubbleSize>
            <c:numRef>
              <c:numCache>
                <c:formatCode>General</c:formatCode>
                <c:ptCount val="1"/>
                <c:pt idx="0">
                  <c:v>3004.012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1173.141</c:v>
                </c:pt>
                <c:pt idx="2">
                  <c:v>1328.713</c:v>
                </c:pt>
                <c:pt idx="3">
                  <c:v>1504.699</c:v>
                </c:pt>
                <c:pt idx="4">
                  <c:v>1703.802</c:v>
                </c:pt>
                <c:pt idx="5">
                  <c:v>1929.079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1173.141</c:v>
                </c:pt>
                <c:pt idx="1">
                  <c:v>155.5719999999999</c:v>
                </c:pt>
                <c:pt idx="2">
                  <c:v>175.9860000000001</c:v>
                </c:pt>
                <c:pt idx="3">
                  <c:v>199.10299999999984</c:v>
                </c:pt>
                <c:pt idx="4">
                  <c:v>225.27700000000004</c:v>
                </c:pt>
                <c:pt idx="5">
                  <c:v>254.93999999999983</c:v>
                </c:pt>
                <c:pt idx="6">
                  <c:v>2184.019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2026.858</c:v>
                </c:pt>
                <c:pt idx="2">
                  <c:v>2193.18</c:v>
                </c:pt>
                <c:pt idx="3">
                  <c:v>2372.987</c:v>
                </c:pt>
                <c:pt idx="4">
                  <c:v>2567.321</c:v>
                </c:pt>
                <c:pt idx="5">
                  <c:v>2777.279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2026.858</c:v>
                </c:pt>
                <c:pt idx="1">
                  <c:v>166.3219999999999</c:v>
                </c:pt>
                <c:pt idx="2">
                  <c:v>179.80700000000024</c:v>
                </c:pt>
                <c:pt idx="3">
                  <c:v>194.33399999999983</c:v>
                </c:pt>
                <c:pt idx="4">
                  <c:v>209.95800000000008</c:v>
                </c:pt>
                <c:pt idx="5">
                  <c:v>226.73300000000017</c:v>
                </c:pt>
                <c:pt idx="6">
                  <c:v>3004.012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Custom-Engineered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65.9631740421218</c:v>
                </c:pt>
                <c:pt idx="1">
                  <c:v>63.33933229354134</c:v>
                </c:pt>
                <c:pt idx="2">
                  <c:v>57.90273805225914</c:v>
                </c:pt>
              </c:numCache>
            </c:numRef>
          </c:val>
        </c:ser>
        <c:ser>
          <c:idx val="1"/>
          <c:order val="1"/>
          <c:tx>
            <c:strRef>
              <c:strCache>
                <c:ptCount val="1"/>
                <c:pt idx="0">
                  <c:v>Standard / Stock Sizes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34.0368259578782</c:v>
                </c:pt>
                <c:pt idx="1">
                  <c:v>36.66066770645866</c:v>
                </c:pt>
                <c:pt idx="2">
                  <c:v>42.09726194774087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Food &amp; Beverage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18.889373511983308</c:v>
                </c:pt>
                <c:pt idx="1">
                  <c:v>16.44057745408721</c:v>
                </c:pt>
                <c:pt idx="2">
                  <c:v>15.067093440237404</c:v>
                </c:pt>
                <c:pt idx="3">
                  <c:v>17.765737485165165</c:v>
                </c:pt>
                <c:pt idx="4">
                  <c:v>18.26145566186209</c:v>
                </c:pt>
                <c:pt idx="5">
                  <c:v>18.203782027257727</c:v>
                </c:pt>
              </c:numCache>
            </c:numRef>
          </c:val>
        </c:ser>
        <c:ser>
          <c:idx val="1"/>
          <c:order val="1"/>
          <c:tx>
            <c:strRef>
              <c:strCache>
                <c:ptCount val="1"/>
                <c:pt idx="0">
                  <c:v>Pharmaceuticals &amp; Healthcare</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10.902074958536945</c:v>
                </c:pt>
                <c:pt idx="1">
                  <c:v>13.416170938270234</c:v>
                </c:pt>
                <c:pt idx="2">
                  <c:v>12.254390756650281</c:v>
                </c:pt>
                <c:pt idx="3">
                  <c:v>11.488035328701466</c:v>
                </c:pt>
                <c:pt idx="4">
                  <c:v>11.236978947261996</c:v>
                </c:pt>
                <c:pt idx="5">
                  <c:v>9.917911212268333</c:v>
                </c:pt>
              </c:numCache>
            </c:numRef>
          </c:val>
        </c:ser>
        <c:ser>
          <c:idx val="2"/>
          <c:order val="2"/>
          <c:tx>
            <c:strRef>
              <c:strCache>
                <c:ptCount val="1"/>
                <c:pt idx="0">
                  <c:v>Personal Care &amp; Cosmetics</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4.626638033776069</c:v>
                </c:pt>
                <c:pt idx="1">
                  <c:v>4.613517169807825</c:v>
                </c:pt>
                <c:pt idx="2">
                  <c:v>5.274927353687844</c:v>
                </c:pt>
                <c:pt idx="3">
                  <c:v>4.286915640606133</c:v>
                </c:pt>
                <c:pt idx="4">
                  <c:v>4.462897371693553</c:v>
                </c:pt>
                <c:pt idx="5">
                  <c:v>4.168832730653204</c:v>
                </c:pt>
              </c:numCache>
            </c:numRef>
          </c:val>
        </c:ser>
        <c:ser>
          <c:idx val="3"/>
          <c:order val="3"/>
          <c:tx>
            <c:strRef>
              <c:strCache>
                <c:ptCount val="1"/>
                <c:pt idx="0">
                  <c:v>Electronics &amp; Electrical</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17.967601865768046</c:v>
                </c:pt>
                <c:pt idx="1">
                  <c:v>16.987731880432165</c:v>
                </c:pt>
                <c:pt idx="2">
                  <c:v>15.560230602193158</c:v>
                </c:pt>
                <c:pt idx="3">
                  <c:v>17.44059046698501</c:v>
                </c:pt>
                <c:pt idx="4">
                  <c:v>15.947777616764004</c:v>
                </c:pt>
                <c:pt idx="5">
                  <c:v>15.44059491305308</c:v>
                </c:pt>
              </c:numCache>
            </c:numRef>
          </c:val>
        </c:ser>
        <c:ser>
          <c:idx val="4"/>
          <c:order val="4"/>
          <c:tx>
            <c:strRef>
              <c:strCache>
                <c:ptCount val="1"/>
                <c:pt idx="0">
                  <c:v>Automotive &amp; Industrial Components</c:v>
                </c:pt>
              </c:strCache>
            </c:strRef>
          </c:tx>
          <c:spPr>
            <a:solidFill>
              <a:srgbClr val="A35313"/>
            </a:solidFill>
            <a:ln>
              <a:noFill/>
            </a:ln>
          </c:spPr>
          <c:dLbls>
            <c:dLbl>
              <c:idx val="0"/>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12.013034817854255</c:v>
                </c:pt>
                <c:pt idx="1">
                  <c:v>11.831693259946999</c:v>
                </c:pt>
                <c:pt idx="2">
                  <c:v>14.58464066598347</c:v>
                </c:pt>
                <c:pt idx="3">
                  <c:v>14.554910680636162</c:v>
                </c:pt>
                <c:pt idx="4">
                  <c:v>13.308147783682864</c:v>
                </c:pt>
                <c:pt idx="5">
                  <c:v>14.674683171384922</c:v>
                </c:pt>
              </c:numCache>
            </c:numRef>
          </c:val>
        </c:ser>
        <c:ser>
          <c:idx val="5"/>
          <c:order val="5"/>
          <c:tx>
            <c:strRef>
              <c:strCache>
                <c:ptCount val="1"/>
                <c:pt idx="0">
                  <c:v>Glassware, Ceramics &amp; Home Goods</c:v>
                </c:pt>
              </c:strCache>
            </c:strRef>
          </c:tx>
          <c:spPr>
            <a:solidFill>
              <a:srgbClr val="808080"/>
            </a:solidFill>
            <a:ln>
              <a:noFill/>
            </a:ln>
          </c:spPr>
          <c:dLbls>
            <c:dLbl>
              <c:idx val="0"/>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17.879536280520835</c:v>
                </c:pt>
                <c:pt idx="1">
                  <c:v>19.72767369025778</c:v>
                </c:pt>
                <c:pt idx="2">
                  <c:v>20.61409646948705</c:v>
                </c:pt>
                <c:pt idx="3">
                  <c:v>17.810962479512042</c:v>
                </c:pt>
                <c:pt idx="4">
                  <c:v>18.011060522830437</c:v>
                </c:pt>
                <c:pt idx="5">
                  <c:v>21.745479580883323</c:v>
                </c:pt>
              </c:numCache>
            </c:numRef>
          </c:val>
        </c:ser>
        <c:ser>
          <c:idx val="6"/>
          <c:order val="6"/>
          <c:tx>
            <c:strRef>
              <c:strCache>
                <c:ptCount val="1"/>
                <c:pt idx="0">
                  <c:v>Others</c:v>
                </c:pt>
              </c:strCache>
            </c:strRef>
          </c:tx>
          <c:spPr>
            <a:solidFill>
              <a:srgbClr val="0E72AE"/>
            </a:solidFill>
            <a:ln>
              <a:noFill/>
            </a:ln>
          </c:spPr>
          <c:dLbls>
            <c:dLbl>
              <c:idx val="0"/>
              <c:numFmt formatCode="&quot;MMMM&quot;;&quot;MMMM&quot;;&quot;MMMM&quot;" sourceLinked="0"/>
              <c:spPr>
                <a:blipFill>
                  <a:blip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17.72174053156054</c:v>
                </c:pt>
                <c:pt idx="1">
                  <c:v>16.98263560719779</c:v>
                </c:pt>
                <c:pt idx="2">
                  <c:v>16.6446207117608</c:v>
                </c:pt>
                <c:pt idx="3">
                  <c:v>16.65284791839401</c:v>
                </c:pt>
                <c:pt idx="4">
                  <c:v>18.771682095905042</c:v>
                </c:pt>
                <c:pt idx="5">
                  <c:v>15.848716364499415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Food &amp; Beverage</c:v>
                </c:pt>
              </c:strCache>
            </c:strRef>
          </c:tx>
          <c:spPr>
            <a:solidFill>
              <a:srgbClr val="3D85C6"/>
            </a:solidFill>
          </c:spPr>
          <c:invertIfNegative val="0"/>
          <c:xVal>
            <c:numRef>
              <c:numCache>
                <c:formatCode>General</c:formatCode>
                <c:ptCount val="1"/>
                <c:pt idx="0">
                  <c:v>138.86031588383526</c:v>
                </c:pt>
              </c:numCache>
            </c:numRef>
          </c:xVal>
          <c:yVal>
            <c:numRef>
              <c:numCache>
                <c:formatCode>General</c:formatCode>
                <c:ptCount val="1"/>
                <c:pt idx="0">
                  <c:v>103.09887596839874</c:v>
                </c:pt>
              </c:numCache>
            </c:numRef>
          </c:yVal>
          <c:bubbleSize>
            <c:numRef>
              <c:numCache>
                <c:formatCode>General</c:formatCode>
                <c:ptCount val="1"/>
                <c:pt idx="0">
                  <c:v>916.322</c:v>
                </c:pt>
              </c:numCache>
            </c:numRef>
          </c:bubbleSize>
          <c:bubble3D val="0"/>
        </c:ser>
        <c:ser>
          <c:idx val="1"/>
          <c:order val="1"/>
          <c:tx>
            <c:strRef>
              <c:strCache>
                <c:ptCount val="1"/>
                <c:pt idx="0">
                  <c:v>Pharmaceuticals &amp; Healthcare</c:v>
                </c:pt>
              </c:strCache>
            </c:strRef>
          </c:tx>
          <c:spPr>
            <a:solidFill>
              <a:srgbClr val="9E7E0A"/>
            </a:solidFill>
          </c:spPr>
          <c:invertIfNegative val="0"/>
          <c:xVal>
            <c:numRef>
              <c:numCache>
                <c:formatCode>General</c:formatCode>
                <c:ptCount val="1"/>
                <c:pt idx="0">
                  <c:v>45.40616553787465</c:v>
                </c:pt>
              </c:numCache>
            </c:numRef>
          </c:xVal>
          <c:yVal>
            <c:numRef>
              <c:numCache>
                <c:formatCode>General</c:formatCode>
                <c:ptCount val="1"/>
                <c:pt idx="0">
                  <c:v>101.39437543574232</c:v>
                </c:pt>
              </c:numCache>
            </c:numRef>
          </c:yVal>
          <c:bubbleSize>
            <c:numRef>
              <c:numCache>
                <c:formatCode>General</c:formatCode>
                <c:ptCount val="1"/>
                <c:pt idx="0">
                  <c:v>578.909</c:v>
                </c:pt>
              </c:numCache>
            </c:numRef>
          </c:bubbleSize>
          <c:bubble3D val="0"/>
        </c:ser>
        <c:ser>
          <c:idx val="2"/>
          <c:order val="2"/>
          <c:tx>
            <c:strRef>
              <c:strCache>
                <c:ptCount val="1"/>
                <c:pt idx="0">
                  <c:v>Personal Care &amp; Cosmetics</c:v>
                </c:pt>
              </c:strCache>
            </c:strRef>
          </c:tx>
          <c:spPr>
            <a:solidFill>
              <a:srgbClr val="008189"/>
            </a:solidFill>
          </c:spPr>
          <c:invertIfNegative val="0"/>
          <c:xVal>
            <c:numRef>
              <c:numCache>
                <c:formatCode>General</c:formatCode>
                <c:ptCount val="1"/>
                <c:pt idx="0">
                  <c:v>163.67959482098348</c:v>
                </c:pt>
              </c:numCache>
            </c:numRef>
          </c:xVal>
          <c:yVal>
            <c:numRef>
              <c:numCache>
                <c:formatCode>General</c:formatCode>
                <c:ptCount val="1"/>
                <c:pt idx="0">
                  <c:v>23.319632287385094</c:v>
                </c:pt>
              </c:numCache>
            </c:numRef>
          </c:yVal>
          <c:bubbleSize>
            <c:numRef>
              <c:numCache>
                <c:formatCode>General</c:formatCode>
                <c:ptCount val="1"/>
                <c:pt idx="0">
                  <c:v>232.36</c:v>
                </c:pt>
              </c:numCache>
            </c:numRef>
          </c:bubbleSize>
          <c:bubble3D val="0"/>
        </c:ser>
        <c:ser>
          <c:idx val="3"/>
          <c:order val="3"/>
          <c:tx>
            <c:strRef>
              <c:strCache>
                <c:ptCount val="1"/>
                <c:pt idx="0">
                  <c:v>Electronics &amp; Electrical</c:v>
                </c:pt>
              </c:strCache>
            </c:strRef>
          </c:tx>
          <c:spPr>
            <a:solidFill>
              <a:srgbClr val="40315E"/>
            </a:solidFill>
          </c:spPr>
          <c:invertIfNegative val="0"/>
          <c:xVal>
            <c:numRef>
              <c:numCache>
                <c:formatCode>General</c:formatCode>
                <c:ptCount val="1"/>
                <c:pt idx="0">
                  <c:v>168.6075864733303</c:v>
                </c:pt>
              </c:numCache>
            </c:numRef>
          </c:xVal>
          <c:yVal>
            <c:numRef>
              <c:numCache>
                <c:formatCode>General</c:formatCode>
                <c:ptCount val="1"/>
                <c:pt idx="0">
                  <c:v>82.29465071707837</c:v>
                </c:pt>
              </c:numCache>
            </c:numRef>
          </c:yVal>
          <c:bubbleSize>
            <c:numRef>
              <c:numCache>
                <c:formatCode>General</c:formatCode>
                <c:ptCount val="1"/>
                <c:pt idx="0">
                  <c:v>838.69</c:v>
                </c:pt>
              </c:numCache>
            </c:numRef>
          </c:bubbleSize>
          <c:bubble3D val="0"/>
        </c:ser>
        <c:ser>
          <c:idx val="4"/>
          <c:order val="4"/>
          <c:tx>
            <c:strRef>
              <c:strCache>
                <c:ptCount val="1"/>
                <c:pt idx="0">
                  <c:v>Automotive &amp; Industrial Components</c:v>
                </c:pt>
              </c:strCache>
            </c:strRef>
          </c:tx>
          <c:spPr>
            <a:solidFill>
              <a:srgbClr val="A35313"/>
            </a:solidFill>
          </c:spPr>
          <c:invertIfNegative val="0"/>
          <c:xVal>
            <c:numRef>
              <c:numCache>
                <c:formatCode>General</c:formatCode>
                <c:ptCount val="1"/>
                <c:pt idx="0">
                  <c:v>80.26835298886866</c:v>
                </c:pt>
              </c:numCache>
            </c:numRef>
          </c:xVal>
          <c:yVal>
            <c:numRef>
              <c:numCache>
                <c:formatCode>General</c:formatCode>
                <c:ptCount val="1"/>
                <c:pt idx="0">
                  <c:v>106.34206448189516</c:v>
                </c:pt>
              </c:numCache>
            </c:numRef>
          </c:yVal>
          <c:bubbleSize>
            <c:numRef>
              <c:numCache>
                <c:formatCode>General</c:formatCode>
                <c:ptCount val="1"/>
                <c:pt idx="0">
                  <c:v>717.79</c:v>
                </c:pt>
              </c:numCache>
            </c:numRef>
          </c:bubbleSize>
          <c:bubble3D val="0"/>
        </c:ser>
        <c:ser>
          <c:idx val="5"/>
          <c:order val="5"/>
          <c:tx>
            <c:strRef>
              <c:strCache>
                <c:ptCount val="1"/>
                <c:pt idx="0">
                  <c:v>Glassware, Ceramics &amp; Home Goods</c:v>
                </c:pt>
              </c:strCache>
            </c:strRef>
          </c:tx>
          <c:spPr>
            <a:solidFill>
              <a:srgbClr val="808080"/>
            </a:solidFill>
          </c:spPr>
          <c:invertIfNegative val="0"/>
          <c:xVal>
            <c:numRef>
              <c:numCache>
                <c:formatCode>General</c:formatCode>
                <c:ptCount val="1"/>
                <c:pt idx="0">
                  <c:v>95.5842367339321</c:v>
                </c:pt>
              </c:numCache>
            </c:numRef>
          </c:xVal>
          <c:yVal>
            <c:numRef>
              <c:numCache>
                <c:formatCode>General</c:formatCode>
                <c:ptCount val="1"/>
                <c:pt idx="0">
                  <c:v>139.97182499119535</c:v>
                </c:pt>
              </c:numCache>
            </c:numRef>
          </c:yVal>
          <c:bubbleSize>
            <c:numRef>
              <c:numCache>
                <c:formatCode>General</c:formatCode>
                <c:ptCount val="1"/>
                <c:pt idx="0">
                  <c:v>1015.99</c:v>
                </c:pt>
              </c:numCache>
            </c:numRef>
          </c:bubbleSize>
          <c:bubble3D val="0"/>
        </c:ser>
        <c:ser>
          <c:idx val="6"/>
          <c:order val="6"/>
          <c:tx>
            <c:strRef>
              <c:strCache>
                <c:ptCount val="1"/>
                <c:pt idx="0">
                  <c:v>Others</c:v>
                </c:pt>
              </c:strCache>
            </c:strRef>
          </c:tx>
          <c:spPr>
            <a:solidFill>
              <a:srgbClr val="0E72AE"/>
            </a:solidFill>
          </c:spPr>
          <c:invertIfNegative val="0"/>
          <c:xVal>
            <c:numRef>
              <c:numCache>
                <c:formatCode>General</c:formatCode>
                <c:ptCount val="1"/>
                <c:pt idx="0">
                  <c:v>61.980040622741875</c:v>
                </c:pt>
              </c:numCache>
            </c:numRef>
          </c:xVal>
          <c:yVal>
            <c:numRef>
              <c:numCache>
                <c:formatCode>General</c:formatCode>
                <c:ptCount val="1"/>
                <c:pt idx="0">
                  <c:v>143.57857611830508</c:v>
                </c:pt>
              </c:numCache>
            </c:numRef>
          </c:yVal>
          <c:bubbleSize>
            <c:numRef>
              <c:numCache>
                <c:formatCode>General</c:formatCode>
                <c:ptCount val="1"/>
                <c:pt idx="0">
                  <c:v>887.97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00.0"/>
          <c:min val="1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471.309</c:v>
                </c:pt>
                <c:pt idx="2">
                  <c:v>538.417</c:v>
                </c:pt>
                <c:pt idx="3">
                  <c:v>615.009</c:v>
                </c:pt>
                <c:pt idx="4">
                  <c:v>702.45</c:v>
                </c:pt>
                <c:pt idx="5">
                  <c:v>802.291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471.309</c:v>
                </c:pt>
                <c:pt idx="1">
                  <c:v>67.108</c:v>
                </c:pt>
                <c:pt idx="2">
                  <c:v>76.59199999999998</c:v>
                </c:pt>
                <c:pt idx="3">
                  <c:v>87.44100000000003</c:v>
                </c:pt>
                <c:pt idx="4">
                  <c:v>99.84100000000001</c:v>
                </c:pt>
                <c:pt idx="5">
                  <c:v>114.03099999999995</c:v>
                </c:pt>
                <c:pt idx="6">
                  <c:v>916.322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463.517</c:v>
                </c:pt>
                <c:pt idx="2">
                  <c:v>487.936</c:v>
                </c:pt>
                <c:pt idx="3">
                  <c:v>512.137</c:v>
                </c:pt>
                <c:pt idx="4">
                  <c:v>535.716</c:v>
                </c:pt>
                <c:pt idx="5">
                  <c:v>558.182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463.517</c:v>
                </c:pt>
                <c:pt idx="1">
                  <c:v>24.418999999999983</c:v>
                </c:pt>
                <c:pt idx="2">
                  <c:v>24.200999999999965</c:v>
                </c:pt>
                <c:pt idx="3">
                  <c:v>23.579000000000065</c:v>
                </c:pt>
                <c:pt idx="4">
                  <c:v>22.466000000000008</c:v>
                </c:pt>
                <c:pt idx="5">
                  <c:v>20.726999999999975</c:v>
                </c:pt>
                <c:pt idx="6">
                  <c:v>578.909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106.604</c:v>
                </c:pt>
                <c:pt idx="2">
                  <c:v>125.05</c:v>
                </c:pt>
                <c:pt idx="3">
                  <c:v>146.37</c:v>
                </c:pt>
                <c:pt idx="4">
                  <c:v>171.021</c:v>
                </c:pt>
                <c:pt idx="5">
                  <c:v>199.487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106.604</c:v>
                </c:pt>
                <c:pt idx="1">
                  <c:v>18.445999999999998</c:v>
                </c:pt>
                <c:pt idx="2">
                  <c:v>21.320000000000007</c:v>
                </c:pt>
                <c:pt idx="3">
                  <c:v>24.650999999999982</c:v>
                </c:pt>
                <c:pt idx="4">
                  <c:v>28.466000000000008</c:v>
                </c:pt>
                <c:pt idx="5">
                  <c:v>32.87300000000002</c:v>
                </c:pt>
                <c:pt idx="6">
                  <c:v>232.36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376.204</c:v>
                </c:pt>
                <c:pt idx="2">
                  <c:v>443.679</c:v>
                </c:pt>
                <c:pt idx="3">
                  <c:v>521.879</c:v>
                </c:pt>
                <c:pt idx="4">
                  <c:v>612.462</c:v>
                </c:pt>
                <c:pt idx="5">
                  <c:v>717.33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376.204</c:v>
                </c:pt>
                <c:pt idx="1">
                  <c:v>67.47499999999997</c:v>
                </c:pt>
                <c:pt idx="2">
                  <c:v>78.20000000000005</c:v>
                </c:pt>
                <c:pt idx="3">
                  <c:v>90.58299999999997</c:v>
                </c:pt>
                <c:pt idx="4">
                  <c:v>104.86800000000005</c:v>
                </c:pt>
                <c:pt idx="5">
                  <c:v>121.36000000000001</c:v>
                </c:pt>
                <c:pt idx="6">
                  <c:v>838.69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486.135</c:v>
                </c:pt>
                <c:pt idx="2">
                  <c:v>525.811</c:v>
                </c:pt>
                <c:pt idx="3">
                  <c:v>568.597</c:v>
                </c:pt>
                <c:pt idx="4">
                  <c:v>614.714</c:v>
                </c:pt>
                <c:pt idx="5">
                  <c:v>664.373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486.135</c:v>
                </c:pt>
                <c:pt idx="1">
                  <c:v>39.676000000000045</c:v>
                </c:pt>
                <c:pt idx="2">
                  <c:v>42.785999999999945</c:v>
                </c:pt>
                <c:pt idx="3">
                  <c:v>46.117000000000075</c:v>
                </c:pt>
                <c:pt idx="4">
                  <c:v>49.65899999999999</c:v>
                </c:pt>
                <c:pt idx="5">
                  <c:v>53.416999999999916</c:v>
                </c:pt>
                <c:pt idx="6">
                  <c:v>717.79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639.871</c:v>
                </c:pt>
                <c:pt idx="2">
                  <c:v>701.387</c:v>
                </c:pt>
                <c:pt idx="3">
                  <c:v>769.07</c:v>
                </c:pt>
                <c:pt idx="4">
                  <c:v>843.569</c:v>
                </c:pt>
                <c:pt idx="5">
                  <c:v>925.613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639.871</c:v>
                </c:pt>
                <c:pt idx="1">
                  <c:v>61.51599999999996</c:v>
                </c:pt>
                <c:pt idx="2">
                  <c:v>67.6830000000001</c:v>
                </c:pt>
                <c:pt idx="3">
                  <c:v>74.49899999999991</c:v>
                </c:pt>
                <c:pt idx="4">
                  <c:v>82.0440000000001</c:v>
                </c:pt>
                <c:pt idx="5">
                  <c:v>90.37699999999995</c:v>
                </c:pt>
                <c:pt idx="6">
                  <c:v>1015.99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656.359</c:v>
                </c:pt>
                <c:pt idx="2">
                  <c:v>699.613</c:v>
                </c:pt>
                <c:pt idx="3">
                  <c:v>744.624</c:v>
                </c:pt>
                <c:pt idx="4">
                  <c:v>791.191</c:v>
                </c:pt>
                <c:pt idx="5">
                  <c:v>839.082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656.359</c:v>
                </c:pt>
                <c:pt idx="1">
                  <c:v>43.25400000000002</c:v>
                </c:pt>
                <c:pt idx="2">
                  <c:v>45.01099999999997</c:v>
                </c:pt>
                <c:pt idx="3">
                  <c:v>46.56700000000001</c:v>
                </c:pt>
                <c:pt idx="4">
                  <c:v>47.89099999999996</c:v>
                </c:pt>
                <c:pt idx="5">
                  <c:v>48.888000000000034</c:v>
                </c:pt>
                <c:pt idx="6">
                  <c:v>887.97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Glassware, Ceramics &amp; Home Goods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20.19582414286875</c:v>
                </c:pt>
                <c:pt idx="1">
                  <c:v>19.995974998742184</c:v>
                </c:pt>
                <c:pt idx="2">
                  <c:v>19.583344818101512</c:v>
                </c:pt>
              </c:numCache>
            </c:numRef>
          </c:val>
        </c:ser>
        <c:ser>
          <c:idx val="1"/>
          <c:order val="1"/>
          <c:tx>
            <c:strRef>
              <c:strCache>
                <c:ptCount val="1"/>
                <c:pt idx="0">
                  <c:v>Food &amp; Beverage</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13.384559561650608</c:v>
                </c:pt>
                <c:pt idx="1">
                  <c:v>14.72841085262839</c:v>
                </c:pt>
                <c:pt idx="2">
                  <c:v>17.662230622754567</c:v>
                </c:pt>
              </c:numCache>
            </c:numRef>
          </c:val>
        </c:ser>
        <c:ser>
          <c:idx val="2"/>
          <c:order val="2"/>
          <c:tx>
            <c:strRef>
              <c:strCache>
                <c:ptCount val="1"/>
                <c:pt idx="0">
                  <c:v>Others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22.061464606171185</c:v>
                </c:pt>
                <c:pt idx="1">
                  <c:v>20.511225159757863</c:v>
                </c:pt>
                <c:pt idx="2">
                  <c:v>17.1157419838085</c:v>
                </c:pt>
              </c:numCache>
            </c:numRef>
          </c:val>
        </c:ser>
        <c:ser>
          <c:idx val="3"/>
          <c:order val="3"/>
          <c:tx>
            <c:strRef>
              <c:strCache>
                <c:ptCount val="1"/>
                <c:pt idx="0">
                  <c:v>Electronics &amp; Electrical</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9.734356942191738</c:v>
                </c:pt>
                <c:pt idx="1">
                  <c:v>11.756378673868335</c:v>
                </c:pt>
                <c:pt idx="2">
                  <c:v>16.165863311148296</c:v>
                </c:pt>
              </c:numCache>
            </c:numRef>
          </c:val>
        </c:ser>
        <c:ser>
          <c:idx val="4"/>
          <c:order val="4"/>
          <c:tx>
            <c:strRef>
              <c:strCache>
                <c:ptCount val="1"/>
                <c:pt idx="0">
                  <c:v>Automotive &amp; Industrial Components</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15.828736670249372</c:v>
                </c:pt>
                <c:pt idx="1">
                  <c:v>15.191723497413593</c:v>
                </c:pt>
                <c:pt idx="2">
                  <c:v>13.835499440924698</c:v>
                </c:pt>
              </c:numCache>
            </c:numRef>
          </c:val>
        </c:ser>
        <c:ser>
          <c:idx val="5"/>
          <c:order val="5"/>
          <c:tx>
            <c:strRef>
              <c:strCache>
                <c:ptCount val="1"/>
                <c:pt idx="0">
                  <c:v>Pharmaceuticals &amp; Healthcare</c:v>
                </c:pt>
              </c:strCache>
            </c:strRef>
          </c:tx>
          <c:spPr>
            <a:solidFill>
              <a:srgbClr val="808080"/>
            </a:solidFill>
            <a:ln>
              <a:noFill/>
            </a:ln>
          </c:spPr>
          <c:dLbls>
            <c:dLbl>
              <c:idx val="0"/>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15.991465602003569</c:v>
                </c:pt>
                <c:pt idx="1">
                  <c:v>14.484910776534615</c:v>
                </c:pt>
                <c:pt idx="2">
                  <c:v>11.158549361019624</c:v>
                </c:pt>
              </c:numCache>
            </c:numRef>
          </c:val>
        </c:ser>
        <c:ser>
          <c:idx val="6"/>
          <c:order val="6"/>
          <c:tx>
            <c:strRef>
              <c:strCache>
                <c:ptCount val="1"/>
                <c:pt idx="0">
                  <c:v>Personal Care &amp; Cosmetics</c:v>
                </c:pt>
              </c:strCache>
            </c:strRef>
          </c:tx>
          <c:spPr>
            <a:solidFill>
              <a:srgbClr val="0E72A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2.8035924748647707</c:v>
                </c:pt>
                <c:pt idx="1">
                  <c:v>3.331376041055013</c:v>
                </c:pt>
                <c:pt idx="2">
                  <c:v>4.478770462242805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 (to brand owners/OEMs)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66.09058253856689</c:v>
                </c:pt>
                <c:pt idx="1">
                  <c:v>60.89328403847224</c:v>
                </c:pt>
                <c:pt idx="2">
                  <c:v>64.2036895748968</c:v>
                </c:pt>
                <c:pt idx="3">
                  <c:v>64.33418019352159</c:v>
                </c:pt>
                <c:pt idx="4">
                  <c:v>68.87820955680397</c:v>
                </c:pt>
                <c:pt idx="5">
                  <c:v>64.83105337202873</c:v>
                </c:pt>
              </c:numCache>
            </c:numRef>
          </c:val>
        </c:ser>
        <c:ser>
          <c:idx val="1"/>
          <c:order val="1"/>
          <c:tx>
            <c:strRef>
              <c:strCache>
                <c:ptCount val="1"/>
                <c:pt idx="0">
                  <c:v>Indirect (distributors and packaging merchants)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33.90941746143311</c:v>
                </c:pt>
                <c:pt idx="1">
                  <c:v>39.10671596152777</c:v>
                </c:pt>
                <c:pt idx="2">
                  <c:v>35.796310425103194</c:v>
                </c:pt>
                <c:pt idx="3">
                  <c:v>35.66581980647841</c:v>
                </c:pt>
                <c:pt idx="4">
                  <c:v>31.12179044319603</c:v>
                </c:pt>
                <c:pt idx="5">
                  <c:v>35.16894662797127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 (to brand owners/OEMs)</c:v>
                </c:pt>
              </c:strCache>
            </c:strRef>
          </c:tx>
          <c:spPr>
            <a:solidFill>
              <a:srgbClr val="3D85C6"/>
            </a:solidFill>
          </c:spPr>
          <c:invertIfNegative val="0"/>
          <c:xVal>
            <c:numRef>
              <c:numCache>
                <c:formatCode>General</c:formatCode>
                <c:ptCount val="1"/>
                <c:pt idx="0">
                  <c:v>95.76543478723137</c:v>
                </c:pt>
              </c:numCache>
            </c:numRef>
          </c:xVal>
          <c:yVal>
            <c:numRef>
              <c:numCache>
                <c:formatCode>General</c:formatCode>
                <c:ptCount val="1"/>
                <c:pt idx="0">
                  <c:v>133.855916829974</c:v>
                </c:pt>
              </c:numCache>
            </c:numRef>
          </c:yVal>
          <c:bubbleSize>
            <c:numRef>
              <c:numCache>
                <c:formatCode>General</c:formatCode>
                <c:ptCount val="1"/>
                <c:pt idx="0">
                  <c:v>3403.505</c:v>
                </c:pt>
              </c:numCache>
            </c:numRef>
          </c:bubbleSize>
          <c:bubble3D val="0"/>
        </c:ser>
        <c:ser>
          <c:idx val="1"/>
          <c:order val="1"/>
          <c:tx>
            <c:strRef>
              <c:strCache>
                <c:ptCount val="1"/>
                <c:pt idx="0">
                  <c:v>Indirect (distributors and packaging merchants)</c:v>
                </c:pt>
              </c:strCache>
            </c:strRef>
          </c:tx>
          <c:spPr>
            <a:solidFill>
              <a:srgbClr val="9E7E0A"/>
            </a:solidFill>
          </c:spPr>
          <c:invertIfNegative val="0"/>
          <c:xVal>
            <c:numRef>
              <c:numCache>
                <c:formatCode>General</c:formatCode>
                <c:ptCount val="1"/>
                <c:pt idx="0">
                  <c:v>108.3435436439945</c:v>
                </c:pt>
              </c:numCache>
            </c:numRef>
          </c:xVal>
          <c:yVal>
            <c:numRef>
              <c:numCache>
                <c:formatCode>General</c:formatCode>
                <c:ptCount val="1"/>
                <c:pt idx="0">
                  <c:v>66.14408317002601</c:v>
                </c:pt>
              </c:numCache>
            </c:numRef>
          </c:yVal>
          <c:bubbleSize>
            <c:numRef>
              <c:numCache>
                <c:formatCode>General</c:formatCode>
                <c:ptCount val="1"/>
                <c:pt idx="0">
                  <c:v>1784.526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2141.694</c:v>
                </c:pt>
                <c:pt idx="2">
                  <c:v>2347.363</c:v>
                </c:pt>
                <c:pt idx="3">
                  <c:v>2573.99</c:v>
                </c:pt>
                <c:pt idx="4">
                  <c:v>2823.841</c:v>
                </c:pt>
                <c:pt idx="5">
                  <c:v>3099.414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2141.694</c:v>
                </c:pt>
                <c:pt idx="1">
                  <c:v>205.66899999999987</c:v>
                </c:pt>
                <c:pt idx="2">
                  <c:v>226.62699999999995</c:v>
                </c:pt>
                <c:pt idx="3">
                  <c:v>249.8510000000001</c:v>
                </c:pt>
                <c:pt idx="4">
                  <c:v>275.5730000000003</c:v>
                </c:pt>
                <c:pt idx="5">
                  <c:v>304.0909999999999</c:v>
                </c:pt>
                <c:pt idx="6">
                  <c:v>3403.505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1058.305</c:v>
                </c:pt>
                <c:pt idx="2">
                  <c:v>1174.53</c:v>
                </c:pt>
                <c:pt idx="3">
                  <c:v>1303.696</c:v>
                </c:pt>
                <c:pt idx="4">
                  <c:v>1447.282</c:v>
                </c:pt>
                <c:pt idx="5">
                  <c:v>1606.944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1058.305</c:v>
                </c:pt>
                <c:pt idx="1">
                  <c:v>116.22499999999991</c:v>
                </c:pt>
                <c:pt idx="2">
                  <c:v>129.16599999999994</c:v>
                </c:pt>
                <c:pt idx="3">
                  <c:v>143.586</c:v>
                </c:pt>
                <c:pt idx="4">
                  <c:v>159.66200000000003</c:v>
                </c:pt>
                <c:pt idx="5">
                  <c:v>177.5820000000001</c:v>
                </c:pt>
                <c:pt idx="6">
                  <c:v>1784.526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Direct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67.65025145721565</c:v>
                </c:pt>
                <c:pt idx="1">
                  <c:v>66.927958414987</c:v>
                </c:pt>
                <c:pt idx="2">
                  <c:v>65.60301971981278</c:v>
                </c:pt>
              </c:numCache>
            </c:numRef>
          </c:val>
        </c:ser>
        <c:ser>
          <c:idx val="1"/>
          <c:order val="1"/>
          <c:tx>
            <c:strRef>
              <c:strCache>
                <c:ptCount val="1"/>
                <c:pt idx="0">
                  <c:v>Indirect</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32.349748542784354</c:v>
                </c:pt>
                <c:pt idx="1">
                  <c:v>33.072041585013004</c:v>
                </c:pt>
                <c:pt idx="2">
                  <c:v>34.39698028018722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Others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21.752288843519793</c:v>
                </c:pt>
                <c:pt idx="1">
                  <c:v>20.575690713255362</c:v>
                </c:pt>
                <c:pt idx="2">
                  <c:v>20.12231697107248</c:v>
                </c:pt>
              </c:numCache>
            </c:numRef>
          </c:val>
        </c:ser>
        <c:ser>
          <c:idx val="1"/>
          <c:order val="1"/>
          <c:tx>
            <c:strRef>
              <c:strCache>
                <c:ptCount val="1"/>
                <c:pt idx="0">
                  <c:v>Glassware, Ceramics &amp; Home Goods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21.48685906727442</c:v>
                </c:pt>
                <c:pt idx="1">
                  <c:v>19.216831439327304</c:v>
                </c:pt>
                <c:pt idx="2">
                  <c:v>20.025447794495385</c:v>
                </c:pt>
              </c:numCache>
            </c:numRef>
          </c:val>
        </c:ser>
        <c:ser>
          <c:idx val="2"/>
          <c:order val="2"/>
          <c:tx>
            <c:strRef>
              <c:strCache>
                <c:ptCount val="1"/>
                <c:pt idx="0">
                  <c:v>Automotive &amp; Industrial Components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14.883599482710055</c:v>
                </c:pt>
                <c:pt idx="1">
                  <c:v>15.239670086097275</c:v>
                </c:pt>
                <c:pt idx="2">
                  <c:v>15.251339150914031</c:v>
                </c:pt>
              </c:numCache>
            </c:numRef>
          </c:val>
        </c:ser>
        <c:ser>
          <c:idx val="3"/>
          <c:order val="3"/>
          <c:tx>
            <c:strRef>
              <c:strCache>
                <c:ptCount val="1"/>
                <c:pt idx="0">
                  <c:v>Food &amp; Beverage</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13.684745086670738</c:v>
                </c:pt>
                <c:pt idx="1">
                  <c:v>15.409351581465716</c:v>
                </c:pt>
                <c:pt idx="2">
                  <c:v>14.629514670880429</c:v>
                </c:pt>
              </c:numCache>
            </c:numRef>
          </c:val>
        </c:ser>
        <c:ser>
          <c:idx val="4"/>
          <c:order val="4"/>
          <c:tx>
            <c:strRef>
              <c:strCache>
                <c:ptCount val="1"/>
                <c:pt idx="0">
                  <c:v>Pharmaceuticals &amp; Healthcare</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13.37367208011826</c:v>
                </c:pt>
                <c:pt idx="1">
                  <c:v>14.817878880785681</c:v>
                </c:pt>
                <c:pt idx="2">
                  <c:v>14.606708234112729</c:v>
                </c:pt>
              </c:numCache>
            </c:numRef>
          </c:val>
        </c:ser>
        <c:ser>
          <c:idx val="5"/>
          <c:order val="5"/>
          <c:tx>
            <c:strRef>
              <c:strCache>
                <c:ptCount val="1"/>
                <c:pt idx="0">
                  <c:v>Electronics &amp; Electrical</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11.788700627697215</c:v>
                </c:pt>
                <c:pt idx="1">
                  <c:v>11.415302496469158</c:v>
                </c:pt>
                <c:pt idx="2">
                  <c:v>11.944638538340122</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3.0301348120095146</c:v>
                </c:pt>
                <c:pt idx="1">
                  <c:v>3.3252748025995045</c:v>
                </c:pt>
                <c:pt idx="2">
                  <c:v>3.420034640184825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Glassware, Ceramics &amp; Home Goods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20.27345907031462</c:v>
                </c:pt>
                <c:pt idx="1">
                  <c:v>19.30800669975886</c:v>
                </c:pt>
                <c:pt idx="2">
                  <c:v>20.562861442183042</c:v>
                </c:pt>
              </c:numCache>
            </c:numRef>
          </c:val>
        </c:ser>
        <c:ser>
          <c:idx val="1"/>
          <c:order val="1"/>
          <c:tx>
            <c:strRef>
              <c:strCache>
                <c:ptCount val="1"/>
                <c:pt idx="0">
                  <c:v>Others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19.61493478208677</c:v>
                </c:pt>
                <c:pt idx="1">
                  <c:v>20.962590980026512</c:v>
                </c:pt>
                <c:pt idx="2">
                  <c:v>20.457895720769727</c:v>
                </c:pt>
              </c:numCache>
            </c:numRef>
          </c:val>
        </c:ser>
        <c:ser>
          <c:idx val="2"/>
          <c:order val="2"/>
          <c:tx>
            <c:strRef>
              <c:strCache>
                <c:ptCount val="1"/>
                <c:pt idx="0">
                  <c:v>Pharmaceuticals &amp; Healthcare</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14.035827837056397</c:v>
                </c:pt>
                <c:pt idx="1">
                  <c:v>14.075135188295395</c:v>
                </c:pt>
                <c:pt idx="2">
                  <c:v>15.09759513571991</c:v>
                </c:pt>
              </c:numCache>
            </c:numRef>
          </c:val>
        </c:ser>
        <c:ser>
          <c:idx val="3"/>
          <c:order val="3"/>
          <c:tx>
            <c:strRef>
              <c:strCache>
                <c:ptCount val="1"/>
                <c:pt idx="0">
                  <c:v>Food &amp; Beverage</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15.885355037196334</c:v>
                </c:pt>
                <c:pt idx="1">
                  <c:v>14.423693421230183</c:v>
                </c:pt>
                <c:pt idx="2">
                  <c:v>14.51767867924008</c:v>
                </c:pt>
              </c:numCache>
            </c:numRef>
          </c:val>
        </c:ser>
        <c:ser>
          <c:idx val="4"/>
          <c:order val="4"/>
          <c:tx>
            <c:strRef>
              <c:strCache>
                <c:ptCount val="1"/>
                <c:pt idx="0">
                  <c:v>Automotive &amp; Industrial Components</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14.540181985930905</c:v>
                </c:pt>
                <c:pt idx="1">
                  <c:v>16.293572638026237</c:v>
                </c:pt>
                <c:pt idx="2">
                  <c:v>14.375247090840551</c:v>
                </c:pt>
              </c:numCache>
            </c:numRef>
          </c:val>
        </c:ser>
        <c:ser>
          <c:idx val="5"/>
          <c:order val="5"/>
          <c:tx>
            <c:strRef>
              <c:strCache>
                <c:ptCount val="1"/>
                <c:pt idx="0">
                  <c:v>Electronics &amp; Electrical</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12.349902764773066</c:v>
                </c:pt>
                <c:pt idx="1">
                  <c:v>11.565165218279638</c:v>
                </c:pt>
                <c:pt idx="2">
                  <c:v>11.683910670340211</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3.3003385226419177</c:v>
                </c:pt>
                <c:pt idx="1">
                  <c:v>3.371835854383166</c:v>
                </c:pt>
                <c:pt idx="2">
                  <c:v>3.3048112609064746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Others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19.701598146273817</c:v>
                </c:pt>
                <c:pt idx="1">
                  <c:v>20.766291140041016</c:v>
                </c:pt>
                <c:pt idx="2">
                  <c:v>20.598018335031018</c:v>
                </c:pt>
                <c:pt idx="3">
                  <c:v>22.32004916720232</c:v>
                </c:pt>
              </c:numCache>
            </c:numRef>
          </c:val>
        </c:ser>
        <c:ser>
          <c:idx val="1"/>
          <c:order val="1"/>
          <c:tx>
            <c:strRef>
              <c:strCache>
                <c:ptCount val="1"/>
                <c:pt idx="0">
                  <c:v>Glassware, Ceramics &amp; Home Goods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20.37663617452862</c:v>
                </c:pt>
                <c:pt idx="1">
                  <c:v>19.83864702002909</c:v>
                </c:pt>
                <c:pt idx="2">
                  <c:v>19.9212890082415</c:v>
                </c:pt>
                <c:pt idx="3">
                  <c:v>19.314760309888694</c:v>
                </c:pt>
              </c:numCache>
            </c:numRef>
          </c:val>
        </c:ser>
        <c:ser>
          <c:idx val="2"/>
          <c:order val="2"/>
          <c:tx>
            <c:strRef>
              <c:strCache>
                <c:ptCount val="1"/>
                <c:pt idx="0">
                  <c:v>Food &amp; Beverage</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14.698222956132541</c:v>
                </c:pt>
                <c:pt idx="1">
                  <c:v>15.236292675875651</c:v>
                </c:pt>
                <c:pt idx="2">
                  <c:v>13.644041114918048</c:v>
                </c:pt>
                <c:pt idx="3">
                  <c:v>14.896196307949072</c:v>
                </c:pt>
              </c:numCache>
            </c:numRef>
          </c:val>
        </c:ser>
        <c:ser>
          <c:idx val="3"/>
          <c:order val="3"/>
          <c:tx>
            <c:strRef>
              <c:strCache>
                <c:ptCount val="1"/>
                <c:pt idx="0">
                  <c:v>Automotive &amp; Industrial Components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15.466798392258005</c:v>
                </c:pt>
                <c:pt idx="1">
                  <c:v>15.07710793303761</c:v>
                </c:pt>
                <c:pt idx="2">
                  <c:v>15.553291971478838</c:v>
                </c:pt>
                <c:pt idx="3">
                  <c:v>14.070728599298576</c:v>
                </c:pt>
              </c:numCache>
            </c:numRef>
          </c:val>
        </c:ser>
        <c:ser>
          <c:idx val="4"/>
          <c:order val="4"/>
          <c:tx>
            <c:strRef>
              <c:strCache>
                <c:ptCount val="1"/>
                <c:pt idx="0">
                  <c:v>Pharmaceuticals &amp; Healthcare</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14.839154875752117</c:v>
                </c:pt>
                <c:pt idx="1">
                  <c:v>14.340810740001263</c:v>
                </c:pt>
                <c:pt idx="2">
                  <c:v>14.50152791925178</c:v>
                </c:pt>
                <c:pt idx="3">
                  <c:v>13.710150320827271</c:v>
                </c:pt>
              </c:numCache>
            </c:numRef>
          </c:val>
        </c:ser>
        <c:ser>
          <c:idx val="5"/>
          <c:order val="5"/>
          <c:tx>
            <c:strRef>
              <c:strCache>
                <c:ptCount val="1"/>
                <c:pt idx="0">
                  <c:v>Electronics &amp; Electrical</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11.726219928891544</c:v>
                </c:pt>
                <c:pt idx="1">
                  <c:v>11.296515462241054</c:v>
                </c:pt>
                <c:pt idx="2">
                  <c:v>12.206500601907583</c:v>
                </c:pt>
                <c:pt idx="3">
                  <c:v>12.607271333040135</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3.191369526163356</c:v>
                </c:pt>
                <c:pt idx="1">
                  <c:v>3.4443350287743133</c:v>
                </c:pt>
                <c:pt idx="2">
                  <c:v>3.5753310491712194</c:v>
                </c:pt>
                <c:pt idx="3">
                  <c:v>3.080843961793926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2.5045866476737677</c:v>
                </c:pt>
                <c:pt idx="1">
                  <c:v>3.3065722665454933</c:v>
                </c:pt>
                <c:pt idx="2">
                  <c:v>3.03854895631841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364675391840051"/>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1051093.469</c:v>
                </c:pt>
                <c:pt idx="2">
                  <c:v>0.0</c:v>
                </c:pt>
                <c:pt idx="3">
                  <c:v>1189481.881</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1051093.469</c:v>
                </c:pt>
                <c:pt idx="1">
                  <c:v>138388.412</c:v>
                </c:pt>
                <c:pt idx="2">
                  <c:v>1189481.881</c:v>
                </c:pt>
                <c:pt idx="3">
                  <c:v>457304.8119999999</c:v>
                </c:pt>
                <c:pt idx="4">
                  <c:v>1646786.693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3.2479608320905573</c:v>
                </c:pt>
                <c:pt idx="1">
                  <c:v>4.056104045856768</c:v>
                </c:pt>
                <c:pt idx="2">
                  <c:v>3.7860225746378484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354057340530933"/>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900.029</c:v>
                </c:pt>
                <c:pt idx="2">
                  <c:v>0.0</c:v>
                </c:pt>
                <c:pt idx="3">
                  <c:v>1056.0</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900.029</c:v>
                </c:pt>
                <c:pt idx="1">
                  <c:v>155.971</c:v>
                </c:pt>
                <c:pt idx="2">
                  <c:v>1056.0</c:v>
                </c:pt>
                <c:pt idx="3">
                  <c:v>515.5909999999999</c:v>
                </c:pt>
                <c:pt idx="4">
                  <c:v>1571.591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900.029</c:v>
                </c:pt>
                <c:pt idx="1">
                  <c:v>929.242</c:v>
                </c:pt>
                <c:pt idx="2">
                  <c:v>959.414</c:v>
                </c:pt>
                <c:pt idx="3">
                  <c:v>990.575</c:v>
                </c:pt>
                <c:pt idx="4">
                  <c:v>1022.759</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1051093.469</c:v>
                </c:pt>
                <c:pt idx="1">
                  <c:v>1077398.077</c:v>
                </c:pt>
                <c:pt idx="2">
                  <c:v>1104371.6779999998</c:v>
                </c:pt>
                <c:pt idx="3">
                  <c:v>1132031.5890000002</c:v>
                </c:pt>
                <c:pt idx="4">
                  <c:v>1160395.577</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207"/>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601613"/>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1056.0</c:v>
                </c:pt>
                <c:pt idx="1">
                  <c:v>1098.781</c:v>
                </c:pt>
                <c:pt idx="2">
                  <c:v>1143.307</c:v>
                </c:pt>
                <c:pt idx="3">
                  <c:v>1189.649</c:v>
                </c:pt>
                <c:pt idx="4">
                  <c:v>1237.882</c:v>
                </c:pt>
                <c:pt idx="5">
                  <c:v>1288.086</c:v>
                </c:pt>
                <c:pt idx="6">
                  <c:v>1340.339</c:v>
                </c:pt>
                <c:pt idx="7">
                  <c:v>1394.726</c:v>
                </c:pt>
                <c:pt idx="8">
                  <c:v>1451.3359999999998</c:v>
                </c:pt>
                <c:pt idx="9">
                  <c:v>1510.26</c:v>
                </c:pt>
                <c:pt idx="10">
                  <c:v>1571.591</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1189481.881</c:v>
                </c:pt>
                <c:pt idx="1">
                  <c:v>1228758.928</c:v>
                </c:pt>
                <c:pt idx="2">
                  <c:v>1269345.2179999999</c:v>
                </c:pt>
                <c:pt idx="3">
                  <c:v>1311284.832</c:v>
                </c:pt>
                <c:pt idx="4">
                  <c:v>1354623.354</c:v>
                </c:pt>
                <c:pt idx="5">
                  <c:v>1399407.923</c:v>
                </c:pt>
                <c:pt idx="6">
                  <c:v>1445687.277</c:v>
                </c:pt>
                <c:pt idx="7">
                  <c:v>1493511.818</c:v>
                </c:pt>
                <c:pt idx="8">
                  <c:v>1542933.665</c:v>
                </c:pt>
                <c:pt idx="9">
                  <c:v>1594006.712</c:v>
                </c:pt>
                <c:pt idx="10">
                  <c:v>1646786.693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854"/>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373738"/>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94.32279335622718</c:v>
                </c:pt>
                <c:pt idx="1">
                  <c:v>112.208978340609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35.66819436336167</c:v>
                </c:pt>
                <c:pt idx="1">
                  <c:v>64.33180563663838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Slotted (Interlocking Grid) Partitions</c:v>
                </c:pt>
                <c:pt idx="1">
                  <c:v>Die-Cut &amp; Folded Partitions (H-dividers, tube/cell inserts)</c:v>
                </c:pt>
                <c:pt idx="2">
                  <c:v>Flat Dividers &amp; Layer Pads</c:v>
                </c:pt>
              </c:strCache>
            </c:strRef>
          </c:cat>
          <c:val>
            <c:numRef>
              <c:numCache>
                <c:formatCode>General</c:formatCode>
                <c:ptCount val="3"/>
                <c:pt idx="0">
                  <c:v>223.338</c:v>
                </c:pt>
                <c:pt idx="1">
                  <c:v>445.615</c:v>
                </c:pt>
                <c:pt idx="2">
                  <c:v>902.638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0.04559222199545375</c:v>
                </c:pt>
                <c:pt idx="1">
                  <c:v>0.04908158776292909</c:v>
                </c:pt>
                <c:pt idx="2">
                  <c:v>0.052198117188126246</c:v>
                </c:pt>
                <c:pt idx="3">
                  <c:v>0.05434909608588502</c:v>
                </c:pt>
                <c:pt idx="4">
                  <c:v>0.05409097861815396</c:v>
                </c:pt>
                <c:pt idx="5">
                  <c:v>0.052805171232604836</c:v>
                </c:pt>
                <c:pt idx="6">
                  <c:v>0.050835830552879026</c:v>
                </c:pt>
                <c:pt idx="7">
                  <c:v>0.048727871233075426</c:v>
                </c:pt>
                <c:pt idx="8">
                  <c:v>0.04735602469161594</c:v>
                </c:pt>
                <c:pt idx="9">
                  <c:v>0.046983188349337755</c:v>
                </c:pt>
                <c:pt idx="10">
                  <c:v>0.04562568166719666</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0.04273002087852787</c:v>
                </c:pt>
                <c:pt idx="1">
                  <c:v>0.04116002087852787</c:v>
                </c:pt>
                <c:pt idx="2">
                  <c:v>0.03981002087852788</c:v>
                </c:pt>
                <c:pt idx="3">
                  <c:v>0.03879002087852787</c:v>
                </c:pt>
                <c:pt idx="4">
                  <c:v>0.03873002087852787</c:v>
                </c:pt>
                <c:pt idx="5">
                  <c:v>0.03890002087852787</c:v>
                </c:pt>
                <c:pt idx="6">
                  <c:v>0.03947002087852787</c:v>
                </c:pt>
                <c:pt idx="7">
                  <c:v>0.04015002087852787</c:v>
                </c:pt>
                <c:pt idx="8">
                  <c:v>0.04004002087852787</c:v>
                </c:pt>
                <c:pt idx="9">
                  <c:v>0.03941002087852787</c:v>
                </c:pt>
                <c:pt idx="10">
                  <c:v>0.03890002087852787</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0.025968034121936365</c:v>
                </c:pt>
                <c:pt idx="1">
                  <c:v>0.027488034121936365</c:v>
                </c:pt>
                <c:pt idx="2">
                  <c:v>0.030838034121936364</c:v>
                </c:pt>
                <c:pt idx="3">
                  <c:v>0.03388803412193637</c:v>
                </c:pt>
                <c:pt idx="4">
                  <c:v>0.033218034121936364</c:v>
                </c:pt>
                <c:pt idx="5">
                  <c:v>0.030698034121936363</c:v>
                </c:pt>
                <c:pt idx="6">
                  <c:v>0.029248034121936363</c:v>
                </c:pt>
                <c:pt idx="7">
                  <c:v>0.031128034121936363</c:v>
                </c:pt>
                <c:pt idx="8">
                  <c:v>0.03055803412193637</c:v>
                </c:pt>
                <c:pt idx="9">
                  <c:v>0.028868034121936365</c:v>
                </c:pt>
                <c:pt idx="10">
                  <c:v>0.026698034121936366</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72.5273621044758</c:v>
                </c:pt>
                <c:pt idx="1">
                  <c:v>71.11839535613736</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27.472637895524194</c:v>
                </c:pt>
                <c:pt idx="1">
                  <c:v>28.88160464386264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68.93579545454546</c:v>
                </c:pt>
                <c:pt idx="1">
                  <c:v>67.42536703251673</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31.064204545454547</c:v>
                </c:pt>
                <c:pt idx="1">
                  <c:v>32.57463296748327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MM&quot;;&quot;MMMMMMMMM&quot;;&quot;M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769620.04</c:v>
                </c:pt>
                <c:pt idx="1">
                  <c:v>787395.697</c:v>
                </c:pt>
                <c:pt idx="2">
                  <c:v>805581.911</c:v>
                </c:pt>
                <c:pt idx="3">
                  <c:v>824188.167</c:v>
                </c:pt>
                <c:pt idx="4">
                  <c:v>843224.165</c:v>
                </c:pt>
                <c:pt idx="5">
                  <c:v>862699.831</c:v>
                </c:pt>
                <c:pt idx="6">
                  <c:v>889478.943</c:v>
                </c:pt>
                <c:pt idx="7">
                  <c:v>917089.308</c:v>
                </c:pt>
                <c:pt idx="8">
                  <c:v>945556.727</c:v>
                </c:pt>
                <c:pt idx="9">
                  <c:v>974907.804</c:v>
                </c:pt>
                <c:pt idx="10">
                  <c:v>1005169.971</c:v>
                </c:pt>
                <c:pt idx="11">
                  <c:v>1036371.506</c:v>
                </c:pt>
                <c:pt idx="12">
                  <c:v>1068541.571</c:v>
                </c:pt>
                <c:pt idx="13">
                  <c:v>1101710.228</c:v>
                </c:pt>
                <c:pt idx="14">
                  <c:v>1135908.475</c:v>
                </c:pt>
                <c:pt idx="15">
                  <c:v>1171168.271</c:v>
                </c:pt>
              </c:numCache>
            </c:numRef>
          </c:val>
        </c:ser>
        <c:ser>
          <c:idx val="1"/>
          <c:order val="1"/>
          <c:tx>
            <c:strRef>
              <c:strCache>
                <c:ptCount val="1"/>
                <c:pt idx="0">
                  <c:v>Canada</c:v>
                </c:pt>
              </c:strCache>
            </c:strRef>
          </c:tx>
          <c:spPr>
            <a:solidFill>
              <a:srgbClr val="9E7E0A"/>
            </a:solidFill>
            <a:ln>
              <a:noFill/>
            </a:ln>
          </c:spPr>
          <c:dLbls>
            <c:dLbl>
              <c:idx val="0"/>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281473.429</c:v>
                </c:pt>
                <c:pt idx="1">
                  <c:v>290002.38</c:v>
                </c:pt>
                <c:pt idx="2">
                  <c:v>298789.767</c:v>
                </c:pt>
                <c:pt idx="3">
                  <c:v>307843.422</c:v>
                </c:pt>
                <c:pt idx="4">
                  <c:v>317171.412</c:v>
                </c:pt>
                <c:pt idx="5">
                  <c:v>326782.05</c:v>
                </c:pt>
                <c:pt idx="6">
                  <c:v>339279.985</c:v>
                </c:pt>
                <c:pt idx="7">
                  <c:v>352255.91</c:v>
                </c:pt>
                <c:pt idx="8">
                  <c:v>365728.105</c:v>
                </c:pt>
                <c:pt idx="9">
                  <c:v>379715.55</c:v>
                </c:pt>
                <c:pt idx="10">
                  <c:v>394237.952</c:v>
                </c:pt>
                <c:pt idx="11">
                  <c:v>409315.771</c:v>
                </c:pt>
                <c:pt idx="12">
                  <c:v>424970.247</c:v>
                </c:pt>
                <c:pt idx="13">
                  <c:v>441223.437</c:v>
                </c:pt>
                <c:pt idx="14">
                  <c:v>458098.237</c:v>
                </c:pt>
                <c:pt idx="15">
                  <c:v>475618.422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quot;;&quot;MMMMMMM&quot;;&quot;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quot;;&quot;MMMMMMM&quot;;&quot;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627.159</c:v>
                </c:pt>
                <c:pt idx="1">
                  <c:v>646.136</c:v>
                </c:pt>
                <c:pt idx="2">
                  <c:v>665.687</c:v>
                </c:pt>
                <c:pt idx="3">
                  <c:v>685.83</c:v>
                </c:pt>
                <c:pt idx="4">
                  <c:v>706.582</c:v>
                </c:pt>
                <c:pt idx="5">
                  <c:v>727.962</c:v>
                </c:pt>
                <c:pt idx="6">
                  <c:v>755.813</c:v>
                </c:pt>
                <c:pt idx="7">
                  <c:v>784.729</c:v>
                </c:pt>
                <c:pt idx="8">
                  <c:v>814.751</c:v>
                </c:pt>
                <c:pt idx="9">
                  <c:v>845.922</c:v>
                </c:pt>
                <c:pt idx="10">
                  <c:v>878.286</c:v>
                </c:pt>
                <c:pt idx="11">
                  <c:v>911.888</c:v>
                </c:pt>
                <c:pt idx="12">
                  <c:v>946.775</c:v>
                </c:pt>
                <c:pt idx="13">
                  <c:v>982.997</c:v>
                </c:pt>
                <c:pt idx="14">
                  <c:v>1020.605</c:v>
                </c:pt>
                <c:pt idx="15">
                  <c:v>1059.651</c:v>
                </c:pt>
              </c:numCache>
            </c:numRef>
          </c:val>
        </c:ser>
        <c:ser>
          <c:idx val="1"/>
          <c:order val="1"/>
          <c:tx>
            <c:strRef>
              <c:strCache>
                <c:ptCount val="1"/>
                <c:pt idx="0">
                  <c:v>Canada</c:v>
                </c:pt>
              </c:strCache>
            </c:strRef>
          </c:tx>
          <c:spPr>
            <a:solidFill>
              <a:srgbClr val="9E7E0A"/>
            </a:solidFill>
            <a:ln>
              <a:noFill/>
            </a:ln>
          </c:spPr>
          <c:dLbls>
            <c:dLbl>
              <c:idx val="0"/>
              <c:numFmt formatCode="&quot;MMMMM&quot;;&quot;MMMMM&quot;;&quot;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272.87</c:v>
                </c:pt>
                <c:pt idx="1">
                  <c:v>283.106</c:v>
                </c:pt>
                <c:pt idx="2">
                  <c:v>293.727</c:v>
                </c:pt>
                <c:pt idx="3">
                  <c:v>304.745</c:v>
                </c:pt>
                <c:pt idx="4">
                  <c:v>316.177</c:v>
                </c:pt>
                <c:pt idx="5">
                  <c:v>328.038</c:v>
                </c:pt>
                <c:pt idx="6">
                  <c:v>342.968</c:v>
                </c:pt>
                <c:pt idx="7">
                  <c:v>358.578</c:v>
                </c:pt>
                <c:pt idx="8">
                  <c:v>374.898</c:v>
                </c:pt>
                <c:pt idx="9">
                  <c:v>391.96</c:v>
                </c:pt>
                <c:pt idx="10">
                  <c:v>409.8</c:v>
                </c:pt>
                <c:pt idx="11">
                  <c:v>428.451</c:v>
                </c:pt>
                <c:pt idx="12">
                  <c:v>447.951</c:v>
                </c:pt>
                <c:pt idx="13">
                  <c:v>468.339</c:v>
                </c:pt>
                <c:pt idx="14">
                  <c:v>489.655</c:v>
                </c:pt>
                <c:pt idx="15">
                  <c:v>511.94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Slotted (Interlocking Grid) Partitions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12.721412665546744</c:v>
                </c:pt>
                <c:pt idx="1">
                  <c:v>14.93057619914481</c:v>
                </c:pt>
              </c:numCache>
            </c:numRef>
          </c:val>
        </c:ser>
        <c:ser>
          <c:idx val="1"/>
          <c:order val="1"/>
          <c:tx>
            <c:strRef>
              <c:strCache>
                <c:ptCount val="1"/>
                <c:pt idx="0">
                  <c:v>Die-Cut &amp; Folded Partitions (H-dividers, tube/cell inserts)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27.964409891784193</c:v>
                </c:pt>
                <c:pt idx="1">
                  <c:v>28.54279380664011</c:v>
                </c:pt>
              </c:numCache>
            </c:numRef>
          </c:val>
        </c:ser>
        <c:ser>
          <c:idx val="2"/>
          <c:order val="2"/>
          <c:tx>
            <c:strRef>
              <c:strCache>
                <c:ptCount val="1"/>
                <c:pt idx="0">
                  <c:v>Flat Dividers &amp; Layer Pads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59.314177442669056</c:v>
                </c:pt>
                <c:pt idx="1">
                  <c:v>56.52662999421507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Slotted (Interlocking Grid) Partitions</c:v>
                </c:pt>
              </c:strCache>
            </c:strRef>
          </c:tx>
          <c:spPr>
            <a:solidFill>
              <a:srgbClr val="3D85C6"/>
            </a:solidFill>
          </c:spPr>
          <c:invertIfNegative val="0"/>
          <c:xVal>
            <c:numRef>
              <c:numCache>
                <c:formatCode>General</c:formatCode>
                <c:ptCount val="1"/>
                <c:pt idx="0">
                  <c:v>88.62462500692962</c:v>
                </c:pt>
              </c:numCache>
            </c:numRef>
          </c:xVal>
          <c:yVal>
            <c:numRef>
              <c:numCache>
                <c:formatCode>General</c:formatCode>
                <c:ptCount val="1"/>
                <c:pt idx="0">
                  <c:v>44.57017045454546</c:v>
                </c:pt>
              </c:numCache>
            </c:numRef>
          </c:yVal>
          <c:bubbleSize>
            <c:numRef>
              <c:numCache>
                <c:formatCode>General</c:formatCode>
                <c:ptCount val="1"/>
                <c:pt idx="0">
                  <c:v>223.338</c:v>
                </c:pt>
              </c:numCache>
            </c:numRef>
          </c:bubbleSize>
          <c:bubble3D val="0"/>
        </c:ser>
        <c:ser>
          <c:idx val="1"/>
          <c:order val="1"/>
          <c:tx>
            <c:strRef>
              <c:strCache>
                <c:ptCount val="1"/>
                <c:pt idx="0">
                  <c:v>Die-Cut &amp; Folded Partitions (H-dividers, tube/cell inserts)</c:v>
                </c:pt>
              </c:strCache>
            </c:strRef>
          </c:tx>
          <c:spPr>
            <a:solidFill>
              <a:srgbClr val="9E7E0A"/>
            </a:solidFill>
          </c:spPr>
          <c:invertIfNegative val="0"/>
          <c:xVal>
            <c:numRef>
              <c:numCache>
                <c:formatCode>General</c:formatCode>
                <c:ptCount val="1"/>
                <c:pt idx="0">
                  <c:v>66.90893996112179</c:v>
                </c:pt>
              </c:numCache>
            </c:numRef>
          </c:xVal>
          <c:yVal>
            <c:numRef>
              <c:numCache>
                <c:formatCode>General</c:formatCode>
                <c:ptCount val="1"/>
                <c:pt idx="0">
                  <c:v>96.85568181818182</c:v>
                </c:pt>
              </c:numCache>
            </c:numRef>
          </c:yVal>
          <c:bubbleSize>
            <c:numRef>
              <c:numCache>
                <c:formatCode>General</c:formatCode>
                <c:ptCount val="1"/>
                <c:pt idx="0">
                  <c:v>445.615</c:v>
                </c:pt>
              </c:numCache>
            </c:numRef>
          </c:bubbleSize>
          <c:bubble3D val="0"/>
        </c:ser>
        <c:ser>
          <c:idx val="2"/>
          <c:order val="2"/>
          <c:tx>
            <c:strRef>
              <c:strCache>
                <c:ptCount val="1"/>
                <c:pt idx="0">
                  <c:v>Flat Dividers &amp; Layer Pads</c:v>
                </c:pt>
              </c:strCache>
            </c:strRef>
          </c:tx>
          <c:spPr>
            <a:solidFill>
              <a:srgbClr val="008189"/>
            </a:solidFill>
          </c:spPr>
          <c:invertIfNegative val="0"/>
          <c:xVal>
            <c:numRef>
              <c:numCache>
                <c:formatCode>General</c:formatCode>
                <c:ptCount val="1"/>
                <c:pt idx="0">
                  <c:v>121.39142868790019</c:v>
                </c:pt>
              </c:numCache>
            </c:numRef>
          </c:xVal>
          <c:yVal>
            <c:numRef>
              <c:numCache>
                <c:formatCode>General</c:formatCode>
                <c:ptCount val="1"/>
                <c:pt idx="0">
                  <c:v>158.57414772727273</c:v>
                </c:pt>
              </c:numCache>
            </c:numRef>
          </c:yVal>
          <c:bubbleSize>
            <c:numRef>
              <c:numCache>
                <c:formatCode>General</c:formatCode>
                <c:ptCount val="1"/>
                <c:pt idx="0">
                  <c:v>902.638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156.887</c:v>
                </c:pt>
                <c:pt idx="2">
                  <c:v>168.172</c:v>
                </c:pt>
                <c:pt idx="3">
                  <c:v>180.385</c:v>
                </c:pt>
                <c:pt idx="4">
                  <c:v>193.596</c:v>
                </c:pt>
                <c:pt idx="5">
                  <c:v>207.885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156.887</c:v>
                </c:pt>
                <c:pt idx="1">
                  <c:v>11.284999999999997</c:v>
                </c:pt>
                <c:pt idx="2">
                  <c:v>12.212999999999994</c:v>
                </c:pt>
                <c:pt idx="3">
                  <c:v>13.211000000000013</c:v>
                </c:pt>
                <c:pt idx="4">
                  <c:v>14.288999999999987</c:v>
                </c:pt>
                <c:pt idx="5">
                  <c:v>15.453000000000003</c:v>
                </c:pt>
                <c:pt idx="6">
                  <c:v>223.338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340.932</c:v>
                </c:pt>
                <c:pt idx="2">
                  <c:v>358.799</c:v>
                </c:pt>
                <c:pt idx="3">
                  <c:v>378.103</c:v>
                </c:pt>
                <c:pt idx="4">
                  <c:v>398.939</c:v>
                </c:pt>
                <c:pt idx="5">
                  <c:v>421.406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340.932</c:v>
                </c:pt>
                <c:pt idx="1">
                  <c:v>17.866999999999962</c:v>
                </c:pt>
                <c:pt idx="2">
                  <c:v>19.30400000000003</c:v>
                </c:pt>
                <c:pt idx="3">
                  <c:v>20.836000000000013</c:v>
                </c:pt>
                <c:pt idx="4">
                  <c:v>22.466999999999985</c:v>
                </c:pt>
                <c:pt idx="5">
                  <c:v>24.209000000000003</c:v>
                </c:pt>
                <c:pt idx="6">
                  <c:v>445.615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558.181</c:v>
                </c:pt>
                <c:pt idx="2">
                  <c:v>616.336</c:v>
                </c:pt>
                <c:pt idx="3">
                  <c:v>679.394</c:v>
                </c:pt>
                <c:pt idx="4">
                  <c:v>747.804</c:v>
                </c:pt>
                <c:pt idx="5">
                  <c:v>822.045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558.181</c:v>
                </c:pt>
                <c:pt idx="1">
                  <c:v>58.15499999999997</c:v>
                </c:pt>
                <c:pt idx="2">
                  <c:v>63.05799999999999</c:v>
                </c:pt>
                <c:pt idx="3">
                  <c:v>68.40999999999997</c:v>
                </c:pt>
                <c:pt idx="4">
                  <c:v>74.24099999999999</c:v>
                </c:pt>
                <c:pt idx="5">
                  <c:v>80.59300000000007</c:v>
                </c:pt>
                <c:pt idx="6">
                  <c:v>902.638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Flat Dividers &amp; Layer Pads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49.843838365208235</c:v>
                </c:pt>
                <c:pt idx="1">
                  <c:v>52.858049242424244</c:v>
                </c:pt>
                <c:pt idx="2">
                  <c:v>57.434663344343406</c:v>
                </c:pt>
              </c:numCache>
            </c:numRef>
          </c:val>
        </c:ser>
        <c:ser>
          <c:idx val="1"/>
          <c:order val="1"/>
          <c:tx>
            <c:strRef>
              <c:strCache>
                <c:ptCount val="1"/>
                <c:pt idx="0">
                  <c:v>Die-Cut &amp; Folded Partitions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34.878209479916755</c:v>
                </c:pt>
                <c:pt idx="1">
                  <c:v>32.285227272727276</c:v>
                </c:pt>
                <c:pt idx="2">
                  <c:v>28.354387369232832</c:v>
                </c:pt>
              </c:numCache>
            </c:numRef>
          </c:val>
        </c:ser>
        <c:ser>
          <c:idx val="2"/>
          <c:order val="2"/>
          <c:tx>
            <c:strRef>
              <c:strCache>
                <c:ptCount val="1"/>
                <c:pt idx="0">
                  <c:v>Slotted (Interlocking Grid) Partitions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15.27795215487501</c:v>
                </c:pt>
                <c:pt idx="1">
                  <c:v>14.856723484848485</c:v>
                </c:pt>
                <c:pt idx="2">
                  <c:v>14.210949286423757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Single Wall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15.596358948314256</c:v>
                </c:pt>
                <c:pt idx="1">
                  <c:v>18.905847302555276</c:v>
                </c:pt>
              </c:numCache>
            </c:numRef>
          </c:val>
        </c:ser>
        <c:ser>
          <c:idx val="1"/>
          <c:order val="1"/>
          <c:tx>
            <c:strRef>
              <c:strCache>
                <c:ptCount val="1"/>
                <c:pt idx="0">
                  <c:v>Double Wall</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45.10997382505763</c:v>
                </c:pt>
                <c:pt idx="1">
                  <c:v>41.70826054993578</c:v>
                </c:pt>
              </c:numCache>
            </c:numRef>
          </c:val>
        </c:ser>
        <c:ser>
          <c:idx val="2"/>
          <c:order val="2"/>
          <c:tx>
            <c:strRef>
              <c:strCache>
                <c:ptCount val="1"/>
                <c:pt idx="0">
                  <c:v>Triple Wall</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39.29366722662812</c:v>
                </c:pt>
                <c:pt idx="1">
                  <c:v>39.38589214750895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Single Wall</c:v>
                </c:pt>
              </c:strCache>
            </c:strRef>
          </c:tx>
          <c:spPr>
            <a:solidFill>
              <a:srgbClr val="3D85C6"/>
            </a:solidFill>
          </c:spPr>
          <c:invertIfNegative val="0"/>
          <c:xVal>
            <c:numRef>
              <c:numCache>
                <c:formatCode>General</c:formatCode>
                <c:ptCount val="1"/>
                <c:pt idx="0">
                  <c:v>67.08817776278765</c:v>
                </c:pt>
              </c:numCache>
            </c:numRef>
          </c:xVal>
          <c:yVal>
            <c:numRef>
              <c:numCache>
                <c:formatCode>General</c:formatCode>
                <c:ptCount val="1"/>
                <c:pt idx="0">
                  <c:v>60.85482954545455</c:v>
                </c:pt>
              </c:numCache>
            </c:numRef>
          </c:yVal>
          <c:bubbleSize>
            <c:numRef>
              <c:numCache>
                <c:formatCode>General</c:formatCode>
                <c:ptCount val="1"/>
                <c:pt idx="0">
                  <c:v>280.18</c:v>
                </c:pt>
              </c:numCache>
            </c:numRef>
          </c:bubbleSize>
          <c:bubble3D val="0"/>
        </c:ser>
        <c:ser>
          <c:idx val="1"/>
          <c:order val="1"/>
          <c:tx>
            <c:strRef>
              <c:strCache>
                <c:ptCount val="1"/>
                <c:pt idx="0">
                  <c:v>Double Wall</c:v>
                </c:pt>
              </c:strCache>
            </c:strRef>
          </c:tx>
          <c:spPr>
            <a:solidFill>
              <a:srgbClr val="9E7E0A"/>
            </a:solidFill>
          </c:spPr>
          <c:invertIfNegative val="0"/>
          <c:xVal>
            <c:numRef>
              <c:numCache>
                <c:formatCode>General</c:formatCode>
                <c:ptCount val="1"/>
                <c:pt idx="0">
                  <c:v>105.32498186646227</c:v>
                </c:pt>
              </c:numCache>
            </c:numRef>
          </c:xVal>
          <c:yVal>
            <c:numRef>
              <c:numCache>
                <c:formatCode>General</c:formatCode>
                <c:ptCount val="1"/>
                <c:pt idx="0">
                  <c:v>125.81306818181821</c:v>
                </c:pt>
              </c:numCache>
            </c:numRef>
          </c:yVal>
          <c:bubbleSize>
            <c:numRef>
              <c:numCache>
                <c:formatCode>General</c:formatCode>
                <c:ptCount val="1"/>
                <c:pt idx="0">
                  <c:v>672.898</c:v>
                </c:pt>
              </c:numCache>
            </c:numRef>
          </c:bubbleSize>
          <c:bubble3D val="0"/>
        </c:ser>
        <c:ser>
          <c:idx val="2"/>
          <c:order val="2"/>
          <c:tx>
            <c:strRef>
              <c:strCache>
                <c:ptCount val="1"/>
                <c:pt idx="0">
                  <c:v>Triple Wall</c:v>
                </c:pt>
              </c:strCache>
            </c:strRef>
          </c:tx>
          <c:spPr>
            <a:solidFill>
              <a:srgbClr val="008189"/>
            </a:solidFill>
          </c:spPr>
          <c:invertIfNegative val="0"/>
          <c:xVal>
            <c:numRef>
              <c:numCache>
                <c:formatCode>General</c:formatCode>
                <c:ptCount val="1"/>
                <c:pt idx="0">
                  <c:v>110.52293032503218</c:v>
                </c:pt>
              </c:numCache>
            </c:numRef>
          </c:xVal>
          <c:yVal>
            <c:numRef>
              <c:numCache>
                <c:formatCode>General</c:formatCode>
                <c:ptCount val="1"/>
                <c:pt idx="0">
                  <c:v>113.33210227272727</c:v>
                </c:pt>
              </c:numCache>
            </c:numRef>
          </c:yVal>
          <c:bubbleSize>
            <c:numRef>
              <c:numCache>
                <c:formatCode>General</c:formatCode>
                <c:ptCount val="1"/>
                <c:pt idx="0">
                  <c:v>618.513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214.209</c:v>
                </c:pt>
                <c:pt idx="2">
                  <c:v>225.892</c:v>
                </c:pt>
                <c:pt idx="3">
                  <c:v>238.285</c:v>
                </c:pt>
                <c:pt idx="4">
                  <c:v>251.433</c:v>
                </c:pt>
                <c:pt idx="5">
                  <c:v>265.38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214.209</c:v>
                </c:pt>
                <c:pt idx="1">
                  <c:v>11.682999999999993</c:v>
                </c:pt>
                <c:pt idx="2">
                  <c:v>12.393</c:v>
                </c:pt>
                <c:pt idx="3">
                  <c:v>13.147999999999996</c:v>
                </c:pt>
                <c:pt idx="4">
                  <c:v>13.947000000000003</c:v>
                </c:pt>
                <c:pt idx="5">
                  <c:v>14.800000000000011</c:v>
                </c:pt>
                <c:pt idx="6">
                  <c:v>280.18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442.862</c:v>
                </c:pt>
                <c:pt idx="2">
                  <c:v>481.626</c:v>
                </c:pt>
                <c:pt idx="3">
                  <c:v>523.714</c:v>
                </c:pt>
                <c:pt idx="4">
                  <c:v>569.412</c:v>
                </c:pt>
                <c:pt idx="5">
                  <c:v>619.029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442.862</c:v>
                </c:pt>
                <c:pt idx="1">
                  <c:v>38.76399999999995</c:v>
                </c:pt>
                <c:pt idx="2">
                  <c:v>42.08800000000008</c:v>
                </c:pt>
                <c:pt idx="3">
                  <c:v>45.69799999999998</c:v>
                </c:pt>
                <c:pt idx="4">
                  <c:v>49.61699999999996</c:v>
                </c:pt>
                <c:pt idx="5">
                  <c:v>53.86900000000003</c:v>
                </c:pt>
                <c:pt idx="6">
                  <c:v>672.898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398.929</c:v>
                </c:pt>
                <c:pt idx="2">
                  <c:v>435.789</c:v>
                </c:pt>
                <c:pt idx="3">
                  <c:v>475.883</c:v>
                </c:pt>
                <c:pt idx="4">
                  <c:v>519.494</c:v>
                </c:pt>
                <c:pt idx="5">
                  <c:v>566.927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398.929</c:v>
                </c:pt>
                <c:pt idx="1">
                  <c:v>36.860000000000014</c:v>
                </c:pt>
                <c:pt idx="2">
                  <c:v>40.093999999999994</c:v>
                </c:pt>
                <c:pt idx="3">
                  <c:v>43.61100000000005</c:v>
                </c:pt>
                <c:pt idx="4">
                  <c:v>47.43299999999999</c:v>
                </c:pt>
                <c:pt idx="5">
                  <c:v>51.58600000000001</c:v>
                </c:pt>
                <c:pt idx="6">
                  <c:v>618.513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Double Wall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41.43677592610905</c:v>
                </c:pt>
                <c:pt idx="1">
                  <c:v>41.9376893939394</c:v>
                </c:pt>
                <c:pt idx="2">
                  <c:v>42.81635616391287</c:v>
                </c:pt>
              </c:numCache>
            </c:numRef>
          </c:val>
        </c:ser>
        <c:ser>
          <c:idx val="1"/>
          <c:order val="1"/>
          <c:tx>
            <c:strRef>
              <c:strCache>
                <c:ptCount val="1"/>
                <c:pt idx="0">
                  <c:v>Triple Wall</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36.87058972544218</c:v>
                </c:pt>
                <c:pt idx="1">
                  <c:v>37.77736742424242</c:v>
                </c:pt>
                <c:pt idx="2">
                  <c:v>39.35585021802746</c:v>
                </c:pt>
              </c:numCache>
            </c:numRef>
          </c:val>
        </c:ser>
        <c:ser>
          <c:idx val="2"/>
          <c:order val="2"/>
          <c:tx>
            <c:strRef>
              <c:strCache>
                <c:ptCount val="1"/>
                <c:pt idx="0">
                  <c:v>Single Wall</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21.692634348448774</c:v>
                </c:pt>
                <c:pt idx="1">
                  <c:v>20.284943181818182</c:v>
                </c:pt>
                <c:pt idx="2">
                  <c:v>17.82779361805966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Virgin Kraft Fibre-based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83.06578895964371</c:v>
                </c:pt>
                <c:pt idx="1">
                  <c:v>77.23071086612478</c:v>
                </c:pt>
              </c:numCache>
            </c:numRef>
          </c:val>
        </c:ser>
        <c:ser>
          <c:idx val="1"/>
          <c:order val="1"/>
          <c:tx>
            <c:strRef>
              <c:strCache>
                <c:ptCount val="1"/>
                <c:pt idx="0">
                  <c:v>Recycled Fibre-based (testliner/recycled medium)</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16.934211040356292</c:v>
                </c:pt>
                <c:pt idx="1">
                  <c:v>22.76928913387521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Virgin Kraft Fibre-based</c:v>
                </c:pt>
              </c:strCache>
            </c:strRef>
          </c:tx>
          <c:spPr>
            <a:solidFill>
              <a:srgbClr val="3D85C6"/>
            </a:solidFill>
          </c:spPr>
          <c:invertIfNegative val="0"/>
          <c:xVal>
            <c:numRef>
              <c:numCache>
                <c:formatCode>General</c:formatCode>
                <c:ptCount val="1"/>
                <c:pt idx="0">
                  <c:v>98.63790085103096</c:v>
                </c:pt>
              </c:numCache>
            </c:numRef>
          </c:xVal>
          <c:yVal>
            <c:numRef>
              <c:numCache>
                <c:formatCode>General</c:formatCode>
                <c:ptCount val="1"/>
                <c:pt idx="0">
                  <c:v>159.1056818181818</c:v>
                </c:pt>
              </c:numCache>
            </c:numRef>
          </c:yVal>
          <c:bubbleSize>
            <c:numRef>
              <c:numCache>
                <c:formatCode>General</c:formatCode>
                <c:ptCount val="1"/>
                <c:pt idx="0">
                  <c:v>1243.623</c:v>
                </c:pt>
              </c:numCache>
            </c:numRef>
          </c:bubbleSize>
          <c:bubble3D val="0"/>
        </c:ser>
        <c:ser>
          <c:idx val="1"/>
          <c:order val="1"/>
          <c:tx>
            <c:strRef>
              <c:strCache>
                <c:ptCount val="1"/>
                <c:pt idx="0">
                  <c:v>Recycled Fibre-based (testliner/recycled medium)</c:v>
                </c:pt>
              </c:strCache>
            </c:strRef>
          </c:tx>
          <c:spPr>
            <a:solidFill>
              <a:srgbClr val="9E7E0A"/>
            </a:solidFill>
          </c:spPr>
          <c:invertIfNegative val="0"/>
          <c:xVal>
            <c:numRef>
              <c:numCache>
                <c:formatCode>General</c:formatCode>
                <c:ptCount val="1"/>
                <c:pt idx="0">
                  <c:v>105.23841667783678</c:v>
                </c:pt>
              </c:numCache>
            </c:numRef>
          </c:xVal>
          <c:yVal>
            <c:numRef>
              <c:numCache>
                <c:formatCode>General</c:formatCode>
                <c:ptCount val="1"/>
                <c:pt idx="0">
                  <c:v>40.89431818181818</c:v>
                </c:pt>
              </c:numCache>
            </c:numRef>
          </c:yVal>
          <c:bubbleSize>
            <c:numRef>
              <c:numCache>
                <c:formatCode>General</c:formatCode>
                <c:ptCount val="1"/>
                <c:pt idx="0">
                  <c:v>327.968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840.078</c:v>
                </c:pt>
                <c:pt idx="2">
                  <c:v>908.797</c:v>
                </c:pt>
                <c:pt idx="3">
                  <c:v>983.07</c:v>
                </c:pt>
                <c:pt idx="4">
                  <c:v>1063.331</c:v>
                </c:pt>
                <c:pt idx="5">
                  <c:v>1150.024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840.078</c:v>
                </c:pt>
                <c:pt idx="1">
                  <c:v>68.71900000000005</c:v>
                </c:pt>
                <c:pt idx="2">
                  <c:v>74.27300000000002</c:v>
                </c:pt>
                <c:pt idx="3">
                  <c:v>80.26099999999985</c:v>
                </c:pt>
                <c:pt idx="4">
                  <c:v>86.69299999999998</c:v>
                </c:pt>
                <c:pt idx="5">
                  <c:v>93.59900000000016</c:v>
                </c:pt>
                <c:pt idx="6">
                  <c:v>1243.623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215.922</c:v>
                </c:pt>
                <c:pt idx="2">
                  <c:v>234.51</c:v>
                </c:pt>
                <c:pt idx="3">
                  <c:v>254.812</c:v>
                </c:pt>
                <c:pt idx="4">
                  <c:v>277.008</c:v>
                </c:pt>
                <c:pt idx="5">
                  <c:v>301.312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215.922</c:v>
                </c:pt>
                <c:pt idx="1">
                  <c:v>18.587999999999994</c:v>
                </c:pt>
                <c:pt idx="2">
                  <c:v>20.30200000000002</c:v>
                </c:pt>
                <c:pt idx="3">
                  <c:v>22.19599999999997</c:v>
                </c:pt>
                <c:pt idx="4">
                  <c:v>24.30400000000003</c:v>
                </c:pt>
                <c:pt idx="5">
                  <c:v>26.656000000000006</c:v>
                </c:pt>
                <c:pt idx="6">
                  <c:v>327.968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Virgin Kraft Fibre-based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79.68443239051186</c:v>
                </c:pt>
                <c:pt idx="1">
                  <c:v>79.5528409090909</c:v>
                </c:pt>
                <c:pt idx="2">
                  <c:v>79.1314661384546</c:v>
                </c:pt>
              </c:numCache>
            </c:numRef>
          </c:val>
        </c:ser>
        <c:ser>
          <c:idx val="1"/>
          <c:order val="1"/>
          <c:tx>
            <c:strRef>
              <c:strCache>
                <c:ptCount val="1"/>
                <c:pt idx="0">
                  <c:v>Recycled Fibre-based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20.315567609488138</c:v>
                </c:pt>
                <c:pt idx="1">
                  <c:v>20.44715909090909</c:v>
                </c:pt>
                <c:pt idx="2">
                  <c:v>20.8685338615454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Up to 4 Cells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40.765324061413445</c:v>
                </c:pt>
                <c:pt idx="1">
                  <c:v>38.2073909239929</c:v>
                </c:pt>
              </c:numCache>
            </c:numRef>
          </c:val>
        </c:ser>
        <c:ser>
          <c:idx val="1"/>
          <c:order val="1"/>
          <c:tx>
            <c:strRef>
              <c:strCache>
                <c:ptCount val="1"/>
                <c:pt idx="0">
                  <c:v>6 to 12 Cells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32.27233660194554</c:v>
                </c:pt>
                <c:pt idx="1">
                  <c:v>34.88469316784488</c:v>
                </c:pt>
              </c:numCache>
            </c:numRef>
          </c:val>
        </c:ser>
        <c:ser>
          <c:idx val="2"/>
          <c:order val="2"/>
          <c:tx>
            <c:strRef>
              <c:strCache>
                <c:ptCount val="1"/>
                <c:pt idx="0">
                  <c:v>13 to 24 Cells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15.891120053131225</c:v>
                </c:pt>
                <c:pt idx="1">
                  <c:v>15.685824861204301</c:v>
                </c:pt>
              </c:numCache>
            </c:numRef>
          </c:val>
        </c:ser>
        <c:ser>
          <c:idx val="3"/>
          <c:order val="3"/>
          <c:tx>
            <c:strRef>
              <c:strCache>
                <c:ptCount val="1"/>
                <c:pt idx="0">
                  <c:v>Above 24 Cells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11.071219283509786</c:v>
                </c:pt>
                <c:pt idx="1">
                  <c:v>11.222091046957914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Up to 4 Cells</c:v>
                </c:pt>
              </c:strCache>
            </c:strRef>
          </c:tx>
          <c:spPr>
            <a:solidFill>
              <a:srgbClr val="3D85C6"/>
            </a:solidFill>
          </c:spPr>
          <c:invertIfNegative val="0"/>
          <c:xVal>
            <c:numRef>
              <c:numCache>
                <c:formatCode>General</c:formatCode>
                <c:ptCount val="1"/>
                <c:pt idx="0">
                  <c:v>99.09761361885852</c:v>
                </c:pt>
              </c:numCache>
            </c:numRef>
          </c:xVal>
          <c:yVal>
            <c:numRef>
              <c:numCache>
                <c:formatCode>General</c:formatCode>
                <c:ptCount val="1"/>
                <c:pt idx="0">
                  <c:v>156.7128787878788</c:v>
                </c:pt>
              </c:numCache>
            </c:numRef>
          </c:yVal>
          <c:bubbleSize>
            <c:numRef>
              <c:numCache>
                <c:formatCode>General</c:formatCode>
                <c:ptCount val="1"/>
                <c:pt idx="0">
                  <c:v>613.559</c:v>
                </c:pt>
              </c:numCache>
            </c:numRef>
          </c:bubbleSize>
          <c:bubble3D val="0"/>
        </c:ser>
        <c:ser>
          <c:idx val="1"/>
          <c:order val="1"/>
          <c:tx>
            <c:strRef>
              <c:strCache>
                <c:ptCount val="1"/>
                <c:pt idx="0">
                  <c:v>6 to 12 Cells</c:v>
                </c:pt>
              </c:strCache>
            </c:strRef>
          </c:tx>
          <c:spPr>
            <a:solidFill>
              <a:srgbClr val="9E7E0A"/>
            </a:solidFill>
          </c:spPr>
          <c:invertIfNegative val="0"/>
          <c:xVal>
            <c:numRef>
              <c:numCache>
                <c:formatCode>General</c:formatCode>
                <c:ptCount val="1"/>
                <c:pt idx="0">
                  <c:v>124.93351162694807</c:v>
                </c:pt>
              </c:numCache>
            </c:numRef>
          </c:xVal>
          <c:yVal>
            <c:numRef>
              <c:numCache>
                <c:formatCode>General</c:formatCode>
                <c:ptCount val="1"/>
                <c:pt idx="0">
                  <c:v>123.58446969696972</c:v>
                </c:pt>
              </c:numCache>
            </c:numRef>
          </c:yVal>
          <c:bubbleSize>
            <c:numRef>
              <c:numCache>
                <c:formatCode>General</c:formatCode>
                <c:ptCount val="1"/>
                <c:pt idx="0">
                  <c:v>534.871</c:v>
                </c:pt>
              </c:numCache>
            </c:numRef>
          </c:bubbleSize>
          <c:bubble3D val="0"/>
        </c:ser>
        <c:ser>
          <c:idx val="2"/>
          <c:order val="2"/>
          <c:tx>
            <c:strRef>
              <c:strCache>
                <c:ptCount val="1"/>
                <c:pt idx="0">
                  <c:v>13 to 24 Cells</c:v>
                </c:pt>
              </c:strCache>
            </c:strRef>
          </c:tx>
          <c:spPr>
            <a:solidFill>
              <a:srgbClr val="008189"/>
            </a:solidFill>
          </c:spPr>
          <c:invertIfNegative val="0"/>
          <c:xVal>
            <c:numRef>
              <c:numCache>
                <c:formatCode>General</c:formatCode>
                <c:ptCount val="1"/>
                <c:pt idx="0">
                  <c:v>68.3531114812312</c:v>
                </c:pt>
              </c:numCache>
            </c:numRef>
          </c:xVal>
          <c:yVal>
            <c:numRef>
              <c:numCache>
                <c:formatCode>General</c:formatCode>
                <c:ptCount val="1"/>
                <c:pt idx="0">
                  <c:v>71.3382575757576</c:v>
                </c:pt>
              </c:numCache>
            </c:numRef>
          </c:yVal>
          <c:bubbleSize>
            <c:numRef>
              <c:numCache>
                <c:formatCode>General</c:formatCode>
                <c:ptCount val="1"/>
                <c:pt idx="0">
                  <c:v>247.568</c:v>
                </c:pt>
              </c:numCache>
            </c:numRef>
          </c:bubbleSize>
          <c:bubble3D val="0"/>
        </c:ser>
        <c:ser>
          <c:idx val="3"/>
          <c:order val="3"/>
          <c:tx>
            <c:strRef>
              <c:strCache>
                <c:ptCount val="1"/>
                <c:pt idx="0">
                  <c:v>Above 24 Cells</c:v>
                </c:pt>
              </c:strCache>
            </c:strRef>
          </c:tx>
          <c:spPr>
            <a:solidFill>
              <a:srgbClr val="40315E"/>
            </a:solidFill>
          </c:spPr>
          <c:invertIfNegative val="0"/>
          <c:xVal>
            <c:numRef>
              <c:numCache>
                <c:formatCode>General</c:formatCode>
                <c:ptCount val="1"/>
                <c:pt idx="0">
                  <c:v>79.8195726157671</c:v>
                </c:pt>
              </c:numCache>
            </c:numRef>
          </c:xVal>
          <c:yVal>
            <c:numRef>
              <c:numCache>
                <c:formatCode>General</c:formatCode>
                <c:ptCount val="1"/>
                <c:pt idx="0">
                  <c:v>48.36439393939395</c:v>
                </c:pt>
              </c:numCache>
            </c:numRef>
          </c:yVal>
          <c:bubbleSize>
            <c:numRef>
              <c:numCache>
                <c:formatCode>General</c:formatCode>
                <c:ptCount val="1"/>
                <c:pt idx="0">
                  <c:v>175.593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413.722</c:v>
                </c:pt>
                <c:pt idx="2">
                  <c:v>447.601</c:v>
                </c:pt>
                <c:pt idx="3">
                  <c:v>484.278</c:v>
                </c:pt>
                <c:pt idx="4">
                  <c:v>523.992</c:v>
                </c:pt>
                <c:pt idx="5">
                  <c:v>566.994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413.722</c:v>
                </c:pt>
                <c:pt idx="1">
                  <c:v>33.87900000000002</c:v>
                </c:pt>
                <c:pt idx="2">
                  <c:v>36.67700000000002</c:v>
                </c:pt>
                <c:pt idx="3">
                  <c:v>39.71399999999994</c:v>
                </c:pt>
                <c:pt idx="4">
                  <c:v>43.002000000000066</c:v>
                </c:pt>
                <c:pt idx="5">
                  <c:v>46.56499999999994</c:v>
                </c:pt>
                <c:pt idx="6">
                  <c:v>613.559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326.263</c:v>
                </c:pt>
                <c:pt idx="2">
                  <c:v>360.582</c:v>
                </c:pt>
                <c:pt idx="3">
                  <c:v>398.269</c:v>
                </c:pt>
                <c:pt idx="4">
                  <c:v>439.642</c:v>
                </c:pt>
                <c:pt idx="5">
                  <c:v>485.049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326.263</c:v>
                </c:pt>
                <c:pt idx="1">
                  <c:v>34.31900000000002</c:v>
                </c:pt>
                <c:pt idx="2">
                  <c:v>37.68700000000001</c:v>
                </c:pt>
                <c:pt idx="3">
                  <c:v>41.37299999999999</c:v>
                </c:pt>
                <c:pt idx="4">
                  <c:v>45.40699999999998</c:v>
                </c:pt>
                <c:pt idx="5">
                  <c:v>49.822</c:v>
                </c:pt>
                <c:pt idx="6">
                  <c:v>534.871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188.333</c:v>
                </c:pt>
                <c:pt idx="2">
                  <c:v>199.034</c:v>
                </c:pt>
                <c:pt idx="3">
                  <c:v>210.286</c:v>
                </c:pt>
                <c:pt idx="4">
                  <c:v>222.112</c:v>
                </c:pt>
                <c:pt idx="5">
                  <c:v>234.532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188.333</c:v>
                </c:pt>
                <c:pt idx="1">
                  <c:v>10.700999999999993</c:v>
                </c:pt>
                <c:pt idx="2">
                  <c:v>11.25200000000001</c:v>
                </c:pt>
                <c:pt idx="3">
                  <c:v>11.825999999999993</c:v>
                </c:pt>
                <c:pt idx="4">
                  <c:v>12.420000000000016</c:v>
                </c:pt>
                <c:pt idx="5">
                  <c:v>13.036000000000001</c:v>
                </c:pt>
                <c:pt idx="6">
                  <c:v>247.568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127.682</c:v>
                </c:pt>
                <c:pt idx="2">
                  <c:v>136.09</c:v>
                </c:pt>
                <c:pt idx="3">
                  <c:v>145.049</c:v>
                </c:pt>
                <c:pt idx="4">
                  <c:v>154.593</c:v>
                </c:pt>
                <c:pt idx="5">
                  <c:v>164.761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127.682</c:v>
                </c:pt>
                <c:pt idx="1">
                  <c:v>8.408000000000001</c:v>
                </c:pt>
                <c:pt idx="2">
                  <c:v>8.959000000000003</c:v>
                </c:pt>
                <c:pt idx="3">
                  <c:v>9.543999999999983</c:v>
                </c:pt>
                <c:pt idx="4">
                  <c:v>10.168000000000006</c:v>
                </c:pt>
                <c:pt idx="5">
                  <c:v>10.831999999999994</c:v>
                </c:pt>
                <c:pt idx="6">
                  <c:v>175.593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Up to 4 Cells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39.252068544458005</c:v>
                </c:pt>
                <c:pt idx="1">
                  <c:v>39.1782196969697</c:v>
                </c:pt>
                <c:pt idx="2">
                  <c:v>39.04062825506127</c:v>
                </c:pt>
              </c:numCache>
            </c:numRef>
          </c:val>
        </c:ser>
        <c:ser>
          <c:idx val="1"/>
          <c:order val="1"/>
          <c:tx>
            <c:strRef>
              <c:strCache>
                <c:ptCount val="1"/>
                <c:pt idx="0">
                  <c:v>6 to 12 Cells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29.2559461972892</c:v>
                </c:pt>
                <c:pt idx="1">
                  <c:v>30.89611742424242</c:v>
                </c:pt>
                <c:pt idx="2">
                  <c:v>34.03372760470123</c:v>
                </c:pt>
              </c:numCache>
            </c:numRef>
          </c:val>
        </c:ser>
        <c:ser>
          <c:idx val="2"/>
          <c:order val="2"/>
          <c:tx>
            <c:strRef>
              <c:strCache>
                <c:ptCount val="1"/>
                <c:pt idx="0">
                  <c:v>13 to 24 Cells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18.921279203225673</c:v>
                </c:pt>
                <c:pt idx="1">
                  <c:v>17.834564393939395</c:v>
                </c:pt>
                <c:pt idx="2">
                  <c:v>15.75269901647439</c:v>
                </c:pt>
              </c:numCache>
            </c:numRef>
          </c:val>
        </c:ser>
        <c:ser>
          <c:idx val="3"/>
          <c:order val="3"/>
          <c:tx>
            <c:strRef>
              <c:strCache>
                <c:ptCount val="1"/>
                <c:pt idx="0">
                  <c:v>Above 24 Cells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12.570706055027117</c:v>
                </c:pt>
                <c:pt idx="1">
                  <c:v>12.091098484848485</c:v>
                </c:pt>
                <c:pt idx="2">
                  <c:v>11.172945123763117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Standard / Stock Sizes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43.996366761729895</c:v>
                </c:pt>
                <c:pt idx="1">
                  <c:v>41.35729593988964</c:v>
                </c:pt>
              </c:numCache>
            </c:numRef>
          </c:val>
        </c:ser>
        <c:ser>
          <c:idx val="1"/>
          <c:order val="1"/>
          <c:tx>
            <c:strRef>
              <c:strCache>
                <c:ptCount val="1"/>
                <c:pt idx="0">
                  <c:v>Custom-Engineered</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56.00363323827011</c:v>
                </c:pt>
                <c:pt idx="1">
                  <c:v>58.642704060110354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Standard / Stock Sizes</c:v>
                </c:pt>
              </c:strCache>
            </c:strRef>
          </c:tx>
          <c:spPr>
            <a:solidFill>
              <a:srgbClr val="3D85C6"/>
            </a:solidFill>
          </c:spPr>
          <c:invertIfNegative val="0"/>
          <c:xVal>
            <c:numRef>
              <c:numCache>
                <c:formatCode>General</c:formatCode>
                <c:ptCount val="1"/>
                <c:pt idx="0">
                  <c:v>136.5847332866177</c:v>
                </c:pt>
              </c:numCache>
            </c:numRef>
          </c:xVal>
          <c:yVal>
            <c:numRef>
              <c:numCache>
                <c:formatCode>General</c:formatCode>
                <c:ptCount val="1"/>
                <c:pt idx="0">
                  <c:v>73.28598484848484</c:v>
                </c:pt>
              </c:numCache>
            </c:numRef>
          </c:yVal>
          <c:bubbleSize>
            <c:numRef>
              <c:numCache>
                <c:formatCode>General</c:formatCode>
                <c:ptCount val="1"/>
                <c:pt idx="0">
                  <c:v>663.478</c:v>
                </c:pt>
              </c:numCache>
            </c:numRef>
          </c:bubbleSize>
          <c:bubble3D val="0"/>
        </c:ser>
        <c:ser>
          <c:idx val="1"/>
          <c:order val="1"/>
          <c:tx>
            <c:strRef>
              <c:strCache>
                <c:ptCount val="1"/>
                <c:pt idx="0">
                  <c:v>Custom-Engineered</c:v>
                </c:pt>
              </c:strCache>
            </c:strRef>
          </c:tx>
          <c:spPr>
            <a:solidFill>
              <a:srgbClr val="9E7E0A"/>
            </a:solidFill>
          </c:spPr>
          <c:invertIfNegative val="0"/>
          <c:xVal>
            <c:numRef>
              <c:numCache>
                <c:formatCode>General</c:formatCode>
                <c:ptCount val="1"/>
                <c:pt idx="0">
                  <c:v>76.48342602584958</c:v>
                </c:pt>
              </c:numCache>
            </c:numRef>
          </c:xVal>
          <c:yVal>
            <c:numRef>
              <c:numCache>
                <c:formatCode>General</c:formatCode>
                <c:ptCount val="1"/>
                <c:pt idx="0">
                  <c:v>126.71401515151514</c:v>
                </c:pt>
              </c:numCache>
            </c:numRef>
          </c:yVal>
          <c:bubbleSize>
            <c:numRef>
              <c:numCache>
                <c:formatCode>General</c:formatCode>
                <c:ptCount val="1"/>
                <c:pt idx="0">
                  <c:v>908.113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386.95</c:v>
                </c:pt>
                <c:pt idx="2">
                  <c:v>431.439</c:v>
                </c:pt>
                <c:pt idx="3">
                  <c:v>480.792</c:v>
                </c:pt>
                <c:pt idx="4">
                  <c:v>535.527</c:v>
                </c:pt>
                <c:pt idx="5">
                  <c:v>596.212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386.95</c:v>
                </c:pt>
                <c:pt idx="1">
                  <c:v>44.48900000000003</c:v>
                </c:pt>
                <c:pt idx="2">
                  <c:v>49.35299999999995</c:v>
                </c:pt>
                <c:pt idx="3">
                  <c:v>54.73500000000007</c:v>
                </c:pt>
                <c:pt idx="4">
                  <c:v>60.684999999999945</c:v>
                </c:pt>
                <c:pt idx="5">
                  <c:v>67.26599999999996</c:v>
                </c:pt>
                <c:pt idx="6">
                  <c:v>663.478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669.05</c:v>
                </c:pt>
                <c:pt idx="2">
                  <c:v>711.868</c:v>
                </c:pt>
                <c:pt idx="3">
                  <c:v>757.09</c:v>
                </c:pt>
                <c:pt idx="4">
                  <c:v>804.812</c:v>
                </c:pt>
                <c:pt idx="5">
                  <c:v>855.124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669.05</c:v>
                </c:pt>
                <c:pt idx="1">
                  <c:v>42.8180000000001</c:v>
                </c:pt>
                <c:pt idx="2">
                  <c:v>45.22199999999998</c:v>
                </c:pt>
                <c:pt idx="3">
                  <c:v>47.72199999999998</c:v>
                </c:pt>
                <c:pt idx="4">
                  <c:v>50.31200000000001</c:v>
                </c:pt>
                <c:pt idx="5">
                  <c:v>52.98900000000003</c:v>
                </c:pt>
                <c:pt idx="6">
                  <c:v>908.113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Custom-Engineered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66.04398302721356</c:v>
                </c:pt>
                <c:pt idx="1">
                  <c:v>63.35700757575757</c:v>
                </c:pt>
                <c:pt idx="2">
                  <c:v>57.783036426143966</c:v>
                </c:pt>
              </c:numCache>
            </c:numRef>
          </c:val>
        </c:ser>
        <c:ser>
          <c:idx val="1"/>
          <c:order val="1"/>
          <c:tx>
            <c:strRef>
              <c:strCache>
                <c:ptCount val="1"/>
                <c:pt idx="0">
                  <c:v>Standard / Stock Sizes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33.95601697278643</c:v>
                </c:pt>
                <c:pt idx="1">
                  <c:v>36.64299242424242</c:v>
                </c:pt>
                <c:pt idx="2">
                  <c:v>42.21696357385605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Food &amp; Beverage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19.437824745087315</c:v>
                </c:pt>
                <c:pt idx="1">
                  <c:v>17.60758966867393</c:v>
                </c:pt>
              </c:numCache>
            </c:numRef>
          </c:val>
        </c:ser>
        <c:ser>
          <c:idx val="1"/>
          <c:order val="1"/>
          <c:tx>
            <c:strRef>
              <c:strCache>
                <c:ptCount val="1"/>
                <c:pt idx="0">
                  <c:v>Pharmaceuticals &amp; Healthcare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10.579755440090635</c:v>
                </c:pt>
                <c:pt idx="1">
                  <c:v>9.598160148954701</c:v>
                </c:pt>
              </c:numCache>
            </c:numRef>
          </c:val>
        </c:ser>
        <c:ser>
          <c:idx val="2"/>
          <c:order val="2"/>
          <c:tx>
            <c:strRef>
              <c:strCache>
                <c:ptCount val="1"/>
                <c:pt idx="0">
                  <c:v>Personal Care &amp; Cosmetics</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3.9260460210180876</c:v>
                </c:pt>
                <c:pt idx="1">
                  <c:v>4.286128168614005</c:v>
                </c:pt>
              </c:numCache>
            </c:numRef>
          </c:val>
        </c:ser>
        <c:ser>
          <c:idx val="3"/>
          <c:order val="3"/>
          <c:tx>
            <c:strRef>
              <c:strCache>
                <c:ptCount val="1"/>
                <c:pt idx="0">
                  <c:v>Electronics &amp; Electrical</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14.77712231902176</c:v>
                </c:pt>
                <c:pt idx="1">
                  <c:v>15.761132674814633</c:v>
                </c:pt>
              </c:numCache>
            </c:numRef>
          </c:val>
        </c:ser>
        <c:ser>
          <c:idx val="4"/>
          <c:order val="4"/>
          <c:tx>
            <c:strRef>
              <c:strCache>
                <c:ptCount val="1"/>
                <c:pt idx="0">
                  <c:v>Automotive &amp; Industrial Components</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10.544595069734733</c:v>
                </c:pt>
                <c:pt idx="1">
                  <c:v>16.670016826294695</c:v>
                </c:pt>
              </c:numCache>
            </c:numRef>
          </c:val>
        </c:ser>
        <c:ser>
          <c:idx val="5"/>
          <c:order val="5"/>
          <c:tx>
            <c:strRef>
              <c:strCache>
                <c:ptCount val="1"/>
                <c:pt idx="0">
                  <c:v>Glassware, Ceramics &amp; Home Goods</c:v>
                </c:pt>
              </c:strCache>
            </c:strRef>
          </c:tx>
          <c:spPr>
            <a:solidFill>
              <a:srgbClr val="808080"/>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22.036176114388404</c:v>
                </c:pt>
                <c:pt idx="1">
                  <c:v>21.605037885115003</c:v>
                </c:pt>
              </c:numCache>
            </c:numRef>
          </c:val>
        </c:ser>
        <c:ser>
          <c:idx val="6"/>
          <c:order val="6"/>
          <c:tx>
            <c:strRef>
              <c:strCache>
                <c:ptCount val="1"/>
                <c:pt idx="0">
                  <c:v>Others</c:v>
                </c:pt>
              </c:strCache>
            </c:strRef>
          </c:tx>
          <c:spPr>
            <a:solidFill>
              <a:srgbClr val="0E72AE"/>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18.69848029065906</c:v>
                </c:pt>
                <c:pt idx="1">
                  <c:v>14.471934627533026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Food &amp; Beverage</c:v>
                </c:pt>
              </c:strCache>
            </c:strRef>
          </c:tx>
          <c:spPr>
            <a:solidFill>
              <a:srgbClr val="3D85C6"/>
            </a:solidFill>
          </c:spPr>
          <c:invertIfNegative val="0"/>
          <c:xVal>
            <c:numRef>
              <c:numCache>
                <c:formatCode>General</c:formatCode>
                <c:ptCount val="1"/>
                <c:pt idx="0">
                  <c:v>146.80334695584114</c:v>
                </c:pt>
              </c:numCache>
            </c:numRef>
          </c:xVal>
          <c:yVal>
            <c:numRef>
              <c:numCache>
                <c:formatCode>General</c:formatCode>
                <c:ptCount val="1"/>
                <c:pt idx="0">
                  <c:v>106.35094696969698</c:v>
                </c:pt>
              </c:numCache>
            </c:numRef>
          </c:yVal>
          <c:bubbleSize>
            <c:numRef>
              <c:numCache>
                <c:formatCode>General</c:formatCode>
                <c:ptCount val="1"/>
                <c:pt idx="0">
                  <c:v>286.089</c:v>
                </c:pt>
              </c:numCache>
            </c:numRef>
          </c:bubbleSize>
          <c:bubble3D val="0"/>
        </c:ser>
        <c:ser>
          <c:idx val="1"/>
          <c:order val="1"/>
          <c:tx>
            <c:strRef>
              <c:strCache>
                <c:ptCount val="1"/>
                <c:pt idx="0">
                  <c:v>Pharmaceuticals &amp; Healthcare</c:v>
                </c:pt>
              </c:strCache>
            </c:strRef>
          </c:tx>
          <c:spPr>
            <a:solidFill>
              <a:srgbClr val="9E7E0A"/>
            </a:solidFill>
          </c:spPr>
          <c:invertIfNegative val="0"/>
          <c:xVal>
            <c:numRef>
              <c:numCache>
                <c:formatCode>General</c:formatCode>
                <c:ptCount val="1"/>
                <c:pt idx="0">
                  <c:v>31.257959114354627</c:v>
                </c:pt>
              </c:numCache>
            </c:numRef>
          </c:xVal>
          <c:yVal>
            <c:numRef>
              <c:numCache>
                <c:formatCode>General</c:formatCode>
                <c:ptCount val="1"/>
                <c:pt idx="0">
                  <c:v>91.09147727272729</c:v>
                </c:pt>
              </c:numCache>
            </c:numRef>
          </c:yVal>
          <c:bubbleSize>
            <c:numRef>
              <c:numCache>
                <c:formatCode>General</c:formatCode>
                <c:ptCount val="1"/>
                <c:pt idx="0">
                  <c:v>155.869</c:v>
                </c:pt>
              </c:numCache>
            </c:numRef>
          </c:bubbleSize>
          <c:bubble3D val="0"/>
        </c:ser>
        <c:ser>
          <c:idx val="2"/>
          <c:order val="2"/>
          <c:tx>
            <c:strRef>
              <c:strCache>
                <c:ptCount val="1"/>
                <c:pt idx="0">
                  <c:v>Personal Care &amp; Cosmetics</c:v>
                </c:pt>
              </c:strCache>
            </c:strRef>
          </c:tx>
          <c:spPr>
            <a:solidFill>
              <a:srgbClr val="008189"/>
            </a:solidFill>
          </c:spPr>
          <c:invertIfNegative val="0"/>
          <c:xVal>
            <c:numRef>
              <c:numCache>
                <c:formatCode>General</c:formatCode>
                <c:ptCount val="1"/>
                <c:pt idx="0">
                  <c:v>176.2791427871523</c:v>
                </c:pt>
              </c:numCache>
            </c:numRef>
          </c:xVal>
          <c:yVal>
            <c:numRef>
              <c:numCache>
                <c:formatCode>General</c:formatCode>
                <c:ptCount val="1"/>
                <c:pt idx="0">
                  <c:v>21.770265151515154</c:v>
                </c:pt>
              </c:numCache>
            </c:numRef>
          </c:yVal>
          <c:bubbleSize>
            <c:numRef>
              <c:numCache>
                <c:formatCode>General</c:formatCode>
                <c:ptCount val="1"/>
                <c:pt idx="0">
                  <c:v>65.517</c:v>
                </c:pt>
              </c:numCache>
            </c:numRef>
          </c:bubbleSize>
          <c:bubble3D val="0"/>
        </c:ser>
        <c:ser>
          <c:idx val="3"/>
          <c:order val="3"/>
          <c:tx>
            <c:strRef>
              <c:strCache>
                <c:ptCount val="1"/>
                <c:pt idx="0">
                  <c:v>Electronics &amp; Electrical</c:v>
                </c:pt>
              </c:strCache>
            </c:strRef>
          </c:tx>
          <c:spPr>
            <a:solidFill>
              <a:srgbClr val="40315E"/>
            </a:solidFill>
          </c:spPr>
          <c:invertIfNegative val="0"/>
          <c:xVal>
            <c:numRef>
              <c:numCache>
                <c:formatCode>General</c:formatCode>
                <c:ptCount val="1"/>
                <c:pt idx="0">
                  <c:v>181.76353683065437</c:v>
                </c:pt>
              </c:numCache>
            </c:numRef>
          </c:xVal>
          <c:yVal>
            <c:numRef>
              <c:numCache>
                <c:formatCode>General</c:formatCode>
                <c:ptCount val="1"/>
                <c:pt idx="0">
                  <c:v>78.97803030303031</c:v>
                </c:pt>
              </c:numCache>
            </c:numRef>
          </c:yVal>
          <c:bubbleSize>
            <c:numRef>
              <c:numCache>
                <c:formatCode>General</c:formatCode>
                <c:ptCount val="1"/>
                <c:pt idx="0">
                  <c:v>242.663</c:v>
                </c:pt>
              </c:numCache>
            </c:numRef>
          </c:bubbleSize>
          <c:bubble3D val="0"/>
        </c:ser>
        <c:ser>
          <c:idx val="4"/>
          <c:order val="4"/>
          <c:tx>
            <c:strRef>
              <c:strCache>
                <c:ptCount val="1"/>
                <c:pt idx="0">
                  <c:v>Automotive &amp; Industrial Components</c:v>
                </c:pt>
              </c:strCache>
            </c:strRef>
          </c:tx>
          <c:spPr>
            <a:solidFill>
              <a:srgbClr val="A35313"/>
            </a:solidFill>
          </c:spPr>
          <c:invertIfNegative val="0"/>
          <c:xVal>
            <c:numRef>
              <c:numCache>
                <c:formatCode>General</c:formatCode>
                <c:ptCount val="1"/>
                <c:pt idx="0">
                  <c:v>74.729506099687</c:v>
                </c:pt>
              </c:numCache>
            </c:numRef>
          </c:xVal>
          <c:yVal>
            <c:numRef>
              <c:numCache>
                <c:formatCode>General</c:formatCode>
                <c:ptCount val="1"/>
                <c:pt idx="0">
                  <c:v>113.41193181818183</c:v>
                </c:pt>
              </c:numCache>
            </c:numRef>
          </c:yVal>
          <c:bubbleSize>
            <c:numRef>
              <c:numCache>
                <c:formatCode>General</c:formatCode>
                <c:ptCount val="1"/>
                <c:pt idx="0">
                  <c:v>230.626</c:v>
                </c:pt>
              </c:numCache>
            </c:numRef>
          </c:bubbleSize>
          <c:bubble3D val="0"/>
        </c:ser>
        <c:ser>
          <c:idx val="5"/>
          <c:order val="5"/>
          <c:tx>
            <c:strRef>
              <c:strCache>
                <c:ptCount val="1"/>
                <c:pt idx="0">
                  <c:v>Glassware, Ceramics &amp; Home Goods</c:v>
                </c:pt>
              </c:strCache>
            </c:strRef>
          </c:tx>
          <c:spPr>
            <a:solidFill>
              <a:srgbClr val="808080"/>
            </a:solidFill>
          </c:spPr>
          <c:invertIfNegative val="0"/>
          <c:xVal>
            <c:numRef>
              <c:numCache>
                <c:formatCode>General</c:formatCode>
                <c:ptCount val="1"/>
                <c:pt idx="0">
                  <c:v>95.46753903861128</c:v>
                </c:pt>
              </c:numCache>
            </c:numRef>
          </c:xVal>
          <c:yVal>
            <c:numRef>
              <c:numCache>
                <c:formatCode>General</c:formatCode>
                <c:ptCount val="1"/>
                <c:pt idx="0">
                  <c:v>154.93399621212123</c:v>
                </c:pt>
              </c:numCache>
            </c:numRef>
          </c:yVal>
          <c:bubbleSize>
            <c:numRef>
              <c:numCache>
                <c:formatCode>General</c:formatCode>
                <c:ptCount val="1"/>
                <c:pt idx="0">
                  <c:v>341.75</c:v>
                </c:pt>
              </c:numCache>
            </c:numRef>
          </c:bubbleSize>
          <c:bubble3D val="0"/>
        </c:ser>
        <c:ser>
          <c:idx val="6"/>
          <c:order val="6"/>
          <c:tx>
            <c:strRef>
              <c:strCache>
                <c:ptCount val="1"/>
                <c:pt idx="0">
                  <c:v>Others</c:v>
                </c:pt>
              </c:strCache>
            </c:strRef>
          </c:tx>
          <c:spPr>
            <a:solidFill>
              <a:srgbClr val="0E72AE"/>
            </a:solidFill>
          </c:spPr>
          <c:invertIfNegative val="0"/>
          <c:xVal>
            <c:numRef>
              <c:numCache>
                <c:formatCode>General</c:formatCode>
                <c:ptCount val="1"/>
                <c:pt idx="0">
                  <c:v>53.01929279187164</c:v>
                </c:pt>
              </c:numCache>
            </c:numRef>
          </c:xVal>
          <c:yVal>
            <c:numRef>
              <c:numCache>
                <c:formatCode>General</c:formatCode>
                <c:ptCount val="1"/>
                <c:pt idx="0">
                  <c:v>133.46335227272726</c:v>
                </c:pt>
              </c:numCache>
            </c:numRef>
          </c:yVal>
          <c:bubbleSize>
            <c:numRef>
              <c:numCache>
                <c:formatCode>General</c:formatCode>
                <c:ptCount val="1"/>
                <c:pt idx="0">
                  <c:v>249.077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20.0"/>
          <c:min val="-1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160.438</c:v>
                </c:pt>
                <c:pt idx="2">
                  <c:v>180.285</c:v>
                </c:pt>
                <c:pt idx="3">
                  <c:v>202.481</c:v>
                </c:pt>
                <c:pt idx="4">
                  <c:v>227.306</c:v>
                </c:pt>
                <c:pt idx="5">
                  <c:v>255.061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160.438</c:v>
                </c:pt>
                <c:pt idx="1">
                  <c:v>19.84700000000001</c:v>
                </c:pt>
                <c:pt idx="2">
                  <c:v>22.195999999999998</c:v>
                </c:pt>
                <c:pt idx="3">
                  <c:v>24.825000000000017</c:v>
                </c:pt>
                <c:pt idx="4">
                  <c:v>27.754999999999995</c:v>
                </c:pt>
                <c:pt idx="5">
                  <c:v>31.02799999999999</c:v>
                </c:pt>
                <c:pt idx="6">
                  <c:v>286.089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137.418</c:v>
                </c:pt>
                <c:pt idx="2">
                  <c:v>142.011</c:v>
                </c:pt>
                <c:pt idx="3">
                  <c:v>146.268</c:v>
                </c:pt>
                <c:pt idx="4">
                  <c:v>150.084</c:v>
                </c:pt>
                <c:pt idx="5">
                  <c:v>153.333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137.418</c:v>
                </c:pt>
                <c:pt idx="1">
                  <c:v>4.592999999999989</c:v>
                </c:pt>
                <c:pt idx="2">
                  <c:v>4.257000000000005</c:v>
                </c:pt>
                <c:pt idx="3">
                  <c:v>3.8160000000000025</c:v>
                </c:pt>
                <c:pt idx="4">
                  <c:v>3.2489999999999952</c:v>
                </c:pt>
                <c:pt idx="5">
                  <c:v>2.5360000000000014</c:v>
                </c:pt>
                <c:pt idx="6">
                  <c:v>155.869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32.842</c:v>
                </c:pt>
                <c:pt idx="2">
                  <c:v>37.878</c:v>
                </c:pt>
                <c:pt idx="3">
                  <c:v>43.575</c:v>
                </c:pt>
                <c:pt idx="4">
                  <c:v>50.017</c:v>
                </c:pt>
                <c:pt idx="5">
                  <c:v>57.297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32.842</c:v>
                </c:pt>
                <c:pt idx="1">
                  <c:v>5.036000000000001</c:v>
                </c:pt>
                <c:pt idx="2">
                  <c:v>5.697000000000003</c:v>
                </c:pt>
                <c:pt idx="3">
                  <c:v>6.442</c:v>
                </c:pt>
                <c:pt idx="4">
                  <c:v>7.279999999999994</c:v>
                </c:pt>
                <c:pt idx="5">
                  <c:v>8.219999999999999</c:v>
                </c:pt>
                <c:pt idx="6">
                  <c:v>65.517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119.144</c:v>
                </c:pt>
                <c:pt idx="2">
                  <c:v>138.103</c:v>
                </c:pt>
                <c:pt idx="3">
                  <c:v>159.597</c:v>
                </c:pt>
                <c:pt idx="4">
                  <c:v>183.946</c:v>
                </c:pt>
                <c:pt idx="5">
                  <c:v>211.501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119.144</c:v>
                </c:pt>
                <c:pt idx="1">
                  <c:v>18.959000000000003</c:v>
                </c:pt>
                <c:pt idx="2">
                  <c:v>21.494</c:v>
                </c:pt>
                <c:pt idx="3">
                  <c:v>24.34899999999999</c:v>
                </c:pt>
                <c:pt idx="4">
                  <c:v>27.555000000000007</c:v>
                </c:pt>
                <c:pt idx="5">
                  <c:v>31.162000000000006</c:v>
                </c:pt>
                <c:pt idx="6">
                  <c:v>242.663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171.09</c:v>
                </c:pt>
                <c:pt idx="2">
                  <c:v>181.865</c:v>
                </c:pt>
                <c:pt idx="3">
                  <c:v>193.197</c:v>
                </c:pt>
                <c:pt idx="4">
                  <c:v>205.096</c:v>
                </c:pt>
                <c:pt idx="5">
                  <c:v>217.571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171.09</c:v>
                </c:pt>
                <c:pt idx="1">
                  <c:v>10.775000000000006</c:v>
                </c:pt>
                <c:pt idx="2">
                  <c:v>11.331999999999994</c:v>
                </c:pt>
                <c:pt idx="3">
                  <c:v>11.899000000000001</c:v>
                </c:pt>
                <c:pt idx="4">
                  <c:v>12.474999999999994</c:v>
                </c:pt>
                <c:pt idx="5">
                  <c:v>13.055000000000007</c:v>
                </c:pt>
                <c:pt idx="6">
                  <c:v>230.626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233.729</c:v>
                </c:pt>
                <c:pt idx="2">
                  <c:v>252.198</c:v>
                </c:pt>
                <c:pt idx="3">
                  <c:v>272.121</c:v>
                </c:pt>
                <c:pt idx="4">
                  <c:v>293.602</c:v>
                </c:pt>
                <c:pt idx="5">
                  <c:v>316.769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233.729</c:v>
                </c:pt>
                <c:pt idx="1">
                  <c:v>18.468999999999994</c:v>
                </c:pt>
                <c:pt idx="2">
                  <c:v>19.922999999999973</c:v>
                </c:pt>
                <c:pt idx="3">
                  <c:v>21.480999999999995</c:v>
                </c:pt>
                <c:pt idx="4">
                  <c:v>23.16700000000003</c:v>
                </c:pt>
                <c:pt idx="5">
                  <c:v>24.980999999999995</c:v>
                </c:pt>
                <c:pt idx="6">
                  <c:v>341.75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201.339</c:v>
                </c:pt>
                <c:pt idx="2">
                  <c:v>210.967</c:v>
                </c:pt>
                <c:pt idx="3">
                  <c:v>220.643</c:v>
                </c:pt>
                <c:pt idx="4">
                  <c:v>230.288</c:v>
                </c:pt>
                <c:pt idx="5">
                  <c:v>239.804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201.339</c:v>
                </c:pt>
                <c:pt idx="1">
                  <c:v>9.628000000000014</c:v>
                </c:pt>
                <c:pt idx="2">
                  <c:v>9.675999999999988</c:v>
                </c:pt>
                <c:pt idx="3">
                  <c:v>9.64500000000001</c:v>
                </c:pt>
                <c:pt idx="4">
                  <c:v>9.515999999999991</c:v>
                </c:pt>
                <c:pt idx="5">
                  <c:v>9.272999999999996</c:v>
                </c:pt>
                <c:pt idx="6">
                  <c:v>249.077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Glassware, Ceramics &amp; Home Goods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22.313836554155476</c:v>
                </c:pt>
                <c:pt idx="1">
                  <c:v>22.133428030303033</c:v>
                </c:pt>
                <c:pt idx="2">
                  <c:v>21.745479580883323</c:v>
                </c:pt>
              </c:numCache>
            </c:numRef>
          </c:val>
        </c:ser>
        <c:ser>
          <c:idx val="1"/>
          <c:order val="1"/>
          <c:tx>
            <c:strRef>
              <c:strCache>
                <c:ptCount val="1"/>
                <c:pt idx="0">
                  <c:v>Food &amp; Beverage</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13.80722176729861</c:v>
                </c:pt>
                <c:pt idx="1">
                  <c:v>15.192992424242425</c:v>
                </c:pt>
                <c:pt idx="2">
                  <c:v>18.203782027257727</c:v>
                </c:pt>
              </c:numCache>
            </c:numRef>
          </c:val>
        </c:ser>
        <c:ser>
          <c:idx val="2"/>
          <c:order val="2"/>
          <c:tx>
            <c:strRef>
              <c:strCache>
                <c:ptCount val="1"/>
                <c:pt idx="0">
                  <c:v>Others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20.540338144659785</c:v>
                </c:pt>
                <c:pt idx="1">
                  <c:v>19.066193181818182</c:v>
                </c:pt>
                <c:pt idx="2">
                  <c:v>15.848716364499415</c:v>
                </c:pt>
              </c:numCache>
            </c:numRef>
          </c:val>
        </c:ser>
        <c:ser>
          <c:idx val="3"/>
          <c:order val="3"/>
          <c:tx>
            <c:strRef>
              <c:strCache>
                <c:ptCount val="1"/>
                <c:pt idx="0">
                  <c:v>Electronics &amp; Electrical</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9.361587237744562</c:v>
                </c:pt>
                <c:pt idx="1">
                  <c:v>11.282575757575758</c:v>
                </c:pt>
                <c:pt idx="2">
                  <c:v>15.44059491305308</c:v>
                </c:pt>
              </c:numCache>
            </c:numRef>
          </c:val>
        </c:ser>
        <c:ser>
          <c:idx val="4"/>
          <c:order val="4"/>
          <c:tx>
            <c:strRef>
              <c:strCache>
                <c:ptCount val="1"/>
                <c:pt idx="0">
                  <c:v>Automotive &amp; Industrial Components</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16.91767709707132</c:v>
                </c:pt>
                <c:pt idx="1">
                  <c:v>16.201704545454547</c:v>
                </c:pt>
                <c:pt idx="2">
                  <c:v>14.674683171384922</c:v>
                </c:pt>
              </c:numCache>
            </c:numRef>
          </c:val>
        </c:ser>
        <c:ser>
          <c:idx val="5"/>
          <c:order val="5"/>
          <c:tx>
            <c:strRef>
              <c:strCache>
                <c:ptCount val="1"/>
                <c:pt idx="0">
                  <c:v>Pharmaceuticals &amp; Healthcare</c:v>
                </c:pt>
              </c:strCache>
            </c:strRef>
          </c:tx>
          <c:spPr>
            <a:solidFill>
              <a:srgbClr val="808080"/>
            </a:solidFill>
            <a:ln>
              <a:noFill/>
            </a:ln>
          </c:spPr>
          <c:dLbls>
            <c:dLbl>
              <c:idx val="0"/>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14.438645865855435</c:v>
                </c:pt>
                <c:pt idx="1">
                  <c:v>13.013068181818182</c:v>
                </c:pt>
                <c:pt idx="2">
                  <c:v>9.917911212268333</c:v>
                </c:pt>
              </c:numCache>
            </c:numRef>
          </c:val>
        </c:ser>
        <c:ser>
          <c:idx val="6"/>
          <c:order val="6"/>
          <c:tx>
            <c:strRef>
              <c:strCache>
                <c:ptCount val="1"/>
                <c:pt idx="0">
                  <c:v>Personal Care &amp; Cosmetics</c:v>
                </c:pt>
              </c:strCache>
            </c:strRef>
          </c:tx>
          <c:spPr>
            <a:solidFill>
              <a:srgbClr val="0E72A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2.6206933332148186</c:v>
                </c:pt>
                <c:pt idx="1">
                  <c:v>3.1100378787878786</c:v>
                </c:pt>
                <c:pt idx="2">
                  <c:v>4.168832730653204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 (to brand owners/OEMs)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62.254756416767584</c:v>
                </c:pt>
                <c:pt idx="1">
                  <c:v>66.07571738242119</c:v>
                </c:pt>
              </c:numCache>
            </c:numRef>
          </c:val>
        </c:ser>
        <c:ser>
          <c:idx val="1"/>
          <c:order val="1"/>
          <c:tx>
            <c:strRef>
              <c:strCache>
                <c:ptCount val="1"/>
                <c:pt idx="0">
                  <c:v>Indirect (distributors and packaging merchants)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37.745243583232416</c:v>
                </c:pt>
                <c:pt idx="1">
                  <c:v>33.924282617578804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 (to brand owners/OEMs)</c:v>
                </c:pt>
              </c:strCache>
            </c:strRef>
          </c:tx>
          <c:spPr>
            <a:solidFill>
              <a:srgbClr val="3D85C6"/>
            </a:solidFill>
          </c:spPr>
          <c:invertIfNegative val="0"/>
          <c:xVal>
            <c:numRef>
              <c:numCache>
                <c:formatCode>General</c:formatCode>
                <c:ptCount val="1"/>
                <c:pt idx="0">
                  <c:v>94.39387398289215</c:v>
                </c:pt>
              </c:numCache>
            </c:numRef>
          </c:xVal>
          <c:yVal>
            <c:numRef>
              <c:numCache>
                <c:formatCode>General</c:formatCode>
                <c:ptCount val="1"/>
                <c:pt idx="0">
                  <c:v>132.52992424242424</c:v>
                </c:pt>
              </c:numCache>
            </c:numRef>
          </c:yVal>
          <c:bubbleSize>
            <c:numRef>
              <c:numCache>
                <c:formatCode>General</c:formatCode>
                <c:ptCount val="1"/>
                <c:pt idx="0">
                  <c:v>1018.879</c:v>
                </c:pt>
              </c:numCache>
            </c:numRef>
          </c:bubbleSize>
          <c:bubble3D val="0"/>
        </c:ser>
        <c:ser>
          <c:idx val="1"/>
          <c:order val="1"/>
          <c:tx>
            <c:strRef>
              <c:strCache>
                <c:ptCount val="1"/>
                <c:pt idx="0">
                  <c:v>Indirect (distributors and packaging merchants)</c:v>
                </c:pt>
              </c:strCache>
            </c:strRef>
          </c:tx>
          <c:spPr>
            <a:solidFill>
              <a:srgbClr val="9E7E0A"/>
            </a:solidFill>
          </c:spPr>
          <c:invertIfNegative val="0"/>
          <c:xVal>
            <c:numRef>
              <c:numCache>
                <c:formatCode>General</c:formatCode>
                <c:ptCount val="1"/>
                <c:pt idx="0">
                  <c:v>110.70120230489657</c:v>
                </c:pt>
              </c:numCache>
            </c:numRef>
          </c:xVal>
          <c:yVal>
            <c:numRef>
              <c:numCache>
                <c:formatCode>General</c:formatCode>
                <c:ptCount val="1"/>
                <c:pt idx="0">
                  <c:v>67.47007575757577</c:v>
                </c:pt>
              </c:numCache>
            </c:numRef>
          </c:yVal>
          <c:bubbleSize>
            <c:numRef>
              <c:numCache>
                <c:formatCode>General</c:formatCode>
                <c:ptCount val="1"/>
                <c:pt idx="0">
                  <c:v>552.712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699.758</c:v>
                </c:pt>
                <c:pt idx="2">
                  <c:v>754.207</c:v>
                </c:pt>
                <c:pt idx="3">
                  <c:v>812.979</c:v>
                </c:pt>
                <c:pt idx="4">
                  <c:v>876.426</c:v>
                </c:pt>
                <c:pt idx="5">
                  <c:v>944.923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699.758</c:v>
                </c:pt>
                <c:pt idx="1">
                  <c:v>54.448999999999955</c:v>
                </c:pt>
                <c:pt idx="2">
                  <c:v>58.77200000000005</c:v>
                </c:pt>
                <c:pt idx="3">
                  <c:v>63.447</c:v>
                </c:pt>
                <c:pt idx="4">
                  <c:v>68.49699999999996</c:v>
                </c:pt>
                <c:pt idx="5">
                  <c:v>73.95600000000002</c:v>
                </c:pt>
                <c:pt idx="6">
                  <c:v>1018.879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356.242</c:v>
                </c:pt>
                <c:pt idx="2">
                  <c:v>389.1</c:v>
                </c:pt>
                <c:pt idx="3">
                  <c:v>424.903</c:v>
                </c:pt>
                <c:pt idx="4">
                  <c:v>463.913</c:v>
                </c:pt>
                <c:pt idx="5">
                  <c:v>506.413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356.242</c:v>
                </c:pt>
                <c:pt idx="1">
                  <c:v>32.858000000000004</c:v>
                </c:pt>
                <c:pt idx="2">
                  <c:v>35.803</c:v>
                </c:pt>
                <c:pt idx="3">
                  <c:v>39.00999999999999</c:v>
                </c:pt>
                <c:pt idx="4">
                  <c:v>42.5</c:v>
                </c:pt>
                <c:pt idx="5">
                  <c:v>46.29899999999998</c:v>
                </c:pt>
                <c:pt idx="6">
                  <c:v>552.712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Direct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67.03606217133003</c:v>
                </c:pt>
                <c:pt idx="1">
                  <c:v>66.26496212121212</c:v>
                </c:pt>
                <c:pt idx="2">
                  <c:v>64.83105337202873</c:v>
                </c:pt>
              </c:numCache>
            </c:numRef>
          </c:val>
        </c:ser>
        <c:ser>
          <c:idx val="1"/>
          <c:order val="1"/>
          <c:tx>
            <c:strRef>
              <c:strCache>
                <c:ptCount val="1"/>
                <c:pt idx="0">
                  <c:v>Indirect</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32.96393782866996</c:v>
                </c:pt>
                <c:pt idx="1">
                  <c:v>33.735037878787885</c:v>
                </c:pt>
                <c:pt idx="2">
                  <c:v>35.16894662797127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Glassware, Ceramics &amp; Home Goods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25.20476521317891</c:v>
                </c:pt>
                <c:pt idx="1">
                  <c:v>20.150059249351777</c:v>
                </c:pt>
                <c:pt idx="2">
                  <c:v>22.481775624752544</c:v>
                </c:pt>
              </c:numCache>
            </c:numRef>
          </c:val>
        </c:ser>
        <c:ser>
          <c:idx val="1"/>
          <c:order val="1"/>
          <c:tx>
            <c:strRef>
              <c:strCache>
                <c:ptCount val="1"/>
                <c:pt idx="0">
                  <c:v>Others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21.43772269212873</c:v>
                </c:pt>
                <c:pt idx="1">
                  <c:v>20.482676897445824</c:v>
                </c:pt>
                <c:pt idx="2">
                  <c:v>17.53445566939756</c:v>
                </c:pt>
              </c:numCache>
            </c:numRef>
          </c:val>
        </c:ser>
        <c:ser>
          <c:idx val="2"/>
          <c:order val="2"/>
          <c:tx>
            <c:strRef>
              <c:strCache>
                <c:ptCount val="1"/>
                <c:pt idx="0">
                  <c:v>Automotive &amp; Industrial Components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16.392690280265416</c:v>
                </c:pt>
                <c:pt idx="1">
                  <c:v>15.308331280137978</c:v>
                </c:pt>
                <c:pt idx="2">
                  <c:v>16.6935098113336</c:v>
                </c:pt>
              </c:numCache>
            </c:numRef>
          </c:val>
        </c:ser>
        <c:ser>
          <c:idx val="3"/>
          <c:order val="3"/>
          <c:tx>
            <c:strRef>
              <c:strCache>
                <c:ptCount val="1"/>
                <c:pt idx="0">
                  <c:v>Food &amp; Beverage</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12.2444816970176</c:v>
                </c:pt>
                <c:pt idx="1">
                  <c:v>15.428003238182395</c:v>
                </c:pt>
                <c:pt idx="2">
                  <c:v>15.878182883329957</c:v>
                </c:pt>
              </c:numCache>
            </c:numRef>
          </c:val>
        </c:ser>
        <c:ser>
          <c:idx val="4"/>
          <c:order val="4"/>
          <c:tx>
            <c:strRef>
              <c:strCache>
                <c:ptCount val="1"/>
                <c:pt idx="0">
                  <c:v>Pharmaceuticals &amp; Healthcare</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11.081861467170638</c:v>
                </c:pt>
                <c:pt idx="1">
                  <c:v>14.341862893480226</c:v>
                </c:pt>
                <c:pt idx="2">
                  <c:v>12.744253208188741</c:v>
                </c:pt>
              </c:numCache>
            </c:numRef>
          </c:val>
        </c:ser>
        <c:ser>
          <c:idx val="5"/>
          <c:order val="5"/>
          <c:tx>
            <c:strRef>
              <c:strCache>
                <c:ptCount val="1"/>
                <c:pt idx="0">
                  <c:v>Electronics &amp; Electrical</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10.869606787050552</c:v>
                </c:pt>
                <c:pt idx="1">
                  <c:v>11.2444710382129</c:v>
                </c:pt>
                <c:pt idx="2">
                  <c:v>11.421922279690637</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2.7688718631881546</c:v>
                </c:pt>
                <c:pt idx="1">
                  <c:v>3.044595403188906</c:v>
                </c:pt>
                <c:pt idx="2">
                  <c:v>3.2459005233069558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Glassware, Ceramics &amp; Home Goods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24.088865651157036</c:v>
                </c:pt>
                <c:pt idx="1">
                  <c:v>19.367024867847928</c:v>
                </c:pt>
                <c:pt idx="2">
                  <c:v>24.154484017166002</c:v>
                </c:pt>
              </c:numCache>
            </c:numRef>
          </c:val>
        </c:ser>
        <c:ser>
          <c:idx val="1"/>
          <c:order val="1"/>
          <c:tx>
            <c:strRef>
              <c:strCache>
                <c:ptCount val="1"/>
                <c:pt idx="0">
                  <c:v>Others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15.969301296385337</c:v>
                </c:pt>
                <c:pt idx="1">
                  <c:v>20.449531568596015</c:v>
                </c:pt>
                <c:pt idx="2">
                  <c:v>19.193438414952073</c:v>
                </c:pt>
              </c:numCache>
            </c:numRef>
          </c:val>
        </c:ser>
        <c:ser>
          <c:idx val="2"/>
          <c:order val="2"/>
          <c:tx>
            <c:strRef>
              <c:strCache>
                <c:ptCount val="1"/>
                <c:pt idx="0">
                  <c:v>Automotive &amp; Industrial Components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14.329796322317714</c:v>
                </c:pt>
                <c:pt idx="1">
                  <c:v>18.39493656022996</c:v>
                </c:pt>
                <c:pt idx="2">
                  <c:v>14.77183852725304</c:v>
                </c:pt>
              </c:numCache>
            </c:numRef>
          </c:val>
        </c:ser>
        <c:ser>
          <c:idx val="3"/>
          <c:order val="3"/>
          <c:tx>
            <c:strRef>
              <c:strCache>
                <c:ptCount val="1"/>
                <c:pt idx="0">
                  <c:v>Food &amp; Beverage</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16.84880795103893</c:v>
                </c:pt>
                <c:pt idx="1">
                  <c:v>15.155771223928049</c:v>
                </c:pt>
                <c:pt idx="2">
                  <c:v>14.344944451129027</c:v>
                </c:pt>
              </c:numCache>
            </c:numRef>
          </c:val>
        </c:ser>
        <c:ser>
          <c:idx val="4"/>
          <c:order val="4"/>
          <c:tx>
            <c:strRef>
              <c:strCache>
                <c:ptCount val="1"/>
                <c:pt idx="0">
                  <c:v>Pharmaceuticals &amp; Healthcare</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13.208938850012371</c:v>
                </c:pt>
                <c:pt idx="1">
                  <c:v>11.972605399888453</c:v>
                </c:pt>
                <c:pt idx="2">
                  <c:v>14.06318934745117</c:v>
                </c:pt>
              </c:numCache>
            </c:numRef>
          </c:val>
        </c:ser>
        <c:ser>
          <c:idx val="5"/>
          <c:order val="5"/>
          <c:tx>
            <c:strRef>
              <c:strCache>
                <c:ptCount val="1"/>
                <c:pt idx="0">
                  <c:v>Electronics &amp; Electrical</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12.633804986672018</c:v>
                </c:pt>
                <c:pt idx="1">
                  <c:v>11.489383802141077</c:v>
                </c:pt>
                <c:pt idx="2">
                  <c:v>10.327678177515743</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2.9204849424165893</c:v>
                </c:pt>
                <c:pt idx="1">
                  <c:v>3.1707465773685195</c:v>
                </c:pt>
                <c:pt idx="2">
                  <c:v>3.1444270645329486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Others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17.36245727848866</c:v>
                </c:pt>
                <c:pt idx="1">
                  <c:v>19.736346054232655</c:v>
                </c:pt>
                <c:pt idx="2">
                  <c:v>19.10837833389086</c:v>
                </c:pt>
                <c:pt idx="3">
                  <c:v>22.812142666938172</c:v>
                </c:pt>
              </c:numCache>
            </c:numRef>
          </c:val>
        </c:ser>
        <c:ser>
          <c:idx val="1"/>
          <c:order val="1"/>
          <c:tx>
            <c:strRef>
              <c:strCache>
                <c:ptCount val="1"/>
                <c:pt idx="0">
                  <c:v>Glassware, Ceramics &amp; Home Goods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23.433141741152355</c:v>
                </c:pt>
                <c:pt idx="1">
                  <c:v>21.909146358283706</c:v>
                </c:pt>
                <c:pt idx="2">
                  <c:v>20.29352576049615</c:v>
                </c:pt>
                <c:pt idx="3">
                  <c:v>21.211290549960054</c:v>
                </c:pt>
              </c:numCache>
            </c:numRef>
          </c:val>
        </c:ser>
        <c:ser>
          <c:idx val="2"/>
          <c:order val="2"/>
          <c:tx>
            <c:strRef>
              <c:strCache>
                <c:ptCount val="1"/>
                <c:pt idx="0">
                  <c:v>Food &amp; Beverage</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15.430260607261811</c:v>
                </c:pt>
                <c:pt idx="1">
                  <c:v>16.058615648208033</c:v>
                </c:pt>
                <c:pt idx="2">
                  <c:v>13.360519510861193</c:v>
                </c:pt>
                <c:pt idx="3">
                  <c:v>14.91517990006422</c:v>
                </c:pt>
              </c:numCache>
            </c:numRef>
          </c:val>
        </c:ser>
        <c:ser>
          <c:idx val="3"/>
          <c:order val="3"/>
          <c:tx>
            <c:strRef>
              <c:strCache>
                <c:ptCount val="1"/>
                <c:pt idx="0">
                  <c:v>Automotive &amp; Industrial Components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17.117367533101618</c:v>
                </c:pt>
                <c:pt idx="1">
                  <c:v>15.454498085888293</c:v>
                </c:pt>
                <c:pt idx="2">
                  <c:v>17.096495000823015</c:v>
                </c:pt>
                <c:pt idx="3">
                  <c:v>13.82340502185116</c:v>
                </c:pt>
              </c:numCache>
            </c:numRef>
          </c:val>
        </c:ser>
        <c:ser>
          <c:idx val="4"/>
          <c:order val="4"/>
          <c:tx>
            <c:strRef>
              <c:strCache>
                <c:ptCount val="1"/>
                <c:pt idx="0">
                  <c:v>Electronics &amp; Electrical</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11.258659112552753</c:v>
                </c:pt>
                <c:pt idx="1">
                  <c:v>10.64393231186075</c:v>
                </c:pt>
                <c:pt idx="2">
                  <c:v>11.737313559637021</c:v>
                </c:pt>
                <c:pt idx="3">
                  <c:v>12.322018765370217</c:v>
                </c:pt>
              </c:numCache>
            </c:numRef>
          </c:val>
        </c:ser>
        <c:ser>
          <c:idx val="5"/>
          <c:order val="5"/>
          <c:tx>
            <c:strRef>
              <c:strCache>
                <c:ptCount val="1"/>
                <c:pt idx="0">
                  <c:v>Pharmaceuticals &amp; Healthcare</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12.501510661645632</c:v>
                </c:pt>
                <c:pt idx="1">
                  <c:v>12.978872742987976</c:v>
                </c:pt>
                <c:pt idx="2">
                  <c:v>14.77664325044735</c:v>
                </c:pt>
                <c:pt idx="3">
                  <c:v>12.155981265957614</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2.89660306579717</c:v>
                </c:pt>
                <c:pt idx="1">
                  <c:v>3.2185887985385935</c:v>
                </c:pt>
                <c:pt idx="2">
                  <c:v>3.6271245838444015</c:v>
                </c:pt>
                <c:pt idx="3">
                  <c:v>2.7599818298585546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Volume (MT)</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0,,&quot;M&quot;"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769620.04</c:v>
                </c:pt>
                <c:pt idx="1">
                  <c:v>787395.697</c:v>
                </c:pt>
                <c:pt idx="2">
                  <c:v>805581.9110000001</c:v>
                </c:pt>
                <c:pt idx="3">
                  <c:v>824188.1670000001</c:v>
                </c:pt>
                <c:pt idx="4">
                  <c:v>843224.165</c:v>
                </c:pt>
                <c:pt idx="5">
                  <c:v>862699.831</c:v>
                </c:pt>
                <c:pt idx="6">
                  <c:v>889478.943</c:v>
                </c:pt>
                <c:pt idx="7">
                  <c:v>917089.308</c:v>
                </c:pt>
                <c:pt idx="8">
                  <c:v>945556.727</c:v>
                </c:pt>
                <c:pt idx="9">
                  <c:v>974907.804</c:v>
                </c:pt>
                <c:pt idx="10">
                  <c:v>1005169.971</c:v>
                </c:pt>
                <c:pt idx="11">
                  <c:v>1036371.506</c:v>
                </c:pt>
                <c:pt idx="12">
                  <c:v>1068541.571</c:v>
                </c:pt>
                <c:pt idx="13">
                  <c:v>1101710.2280000001</c:v>
                </c:pt>
                <c:pt idx="14">
                  <c:v>1135908.475</c:v>
                </c:pt>
                <c:pt idx="15">
                  <c:v>1171168.271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0.04157370387569381</c:v>
                </c:pt>
                <c:pt idx="1">
                  <c:v>0.03306572266545493</c:v>
                </c:pt>
                <c:pt idx="2">
                  <c:v>0.03104105433917992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612450023218665"/>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862699.831</c:v>
                </c:pt>
                <c:pt idx="2">
                  <c:v>889478.943</c:v>
                </c:pt>
                <c:pt idx="3">
                  <c:v>917089.308</c:v>
                </c:pt>
                <c:pt idx="4">
                  <c:v>945556.727</c:v>
                </c:pt>
                <c:pt idx="5">
                  <c:v>974907.804</c:v>
                </c:pt>
                <c:pt idx="6">
                  <c:v>1005169.971</c:v>
                </c:pt>
                <c:pt idx="7">
                  <c:v>1036371.506</c:v>
                </c:pt>
                <c:pt idx="8">
                  <c:v>1068541.571</c:v>
                </c:pt>
                <c:pt idx="9">
                  <c:v>1101710.2280000001</c:v>
                </c:pt>
                <c:pt idx="10">
                  <c:v>1135908.475</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862699.831</c:v>
                </c:pt>
                <c:pt idx="1">
                  <c:v>26779.111999999965</c:v>
                </c:pt>
                <c:pt idx="2">
                  <c:v>27610.36499999999</c:v>
                </c:pt>
                <c:pt idx="3">
                  <c:v>28467.418999999994</c:v>
                </c:pt>
                <c:pt idx="4">
                  <c:v>29351.07700000005</c:v>
                </c:pt>
                <c:pt idx="5">
                  <c:v>30262.167000000016</c:v>
                </c:pt>
                <c:pt idx="6">
                  <c:v>31201.535000000033</c:v>
                </c:pt>
                <c:pt idx="7">
                  <c:v>32170.064999999944</c:v>
                </c:pt>
                <c:pt idx="8">
                  <c:v>33168.65700000012</c:v>
                </c:pt>
                <c:pt idx="9">
                  <c:v>34198.246999999974</c:v>
                </c:pt>
                <c:pt idx="10">
                  <c:v>35259.79599999986</c:v>
                </c:pt>
                <c:pt idx="11">
                  <c:v>1171168.271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72.5273621044758</c:v>
                </c:pt>
                <c:pt idx="1">
                  <c:v>25.76965209982785</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27.4726378955242</c:v>
                </c:pt>
                <c:pt idx="1">
                  <c:v>74.23034790017215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627.159</c:v>
                </c:pt>
                <c:pt idx="1">
                  <c:v>646.136</c:v>
                </c:pt>
                <c:pt idx="2">
                  <c:v>665.687</c:v>
                </c:pt>
                <c:pt idx="3">
                  <c:v>685.8299999999999</c:v>
                </c:pt>
                <c:pt idx="4">
                  <c:v>706.582</c:v>
                </c:pt>
                <c:pt idx="5">
                  <c:v>727.962</c:v>
                </c:pt>
                <c:pt idx="6">
                  <c:v>755.813</c:v>
                </c:pt>
                <c:pt idx="7">
                  <c:v>784.729</c:v>
                </c:pt>
                <c:pt idx="8">
                  <c:v>814.751</c:v>
                </c:pt>
                <c:pt idx="9">
                  <c:v>845.922</c:v>
                </c:pt>
                <c:pt idx="10">
                  <c:v>878.2860000000001</c:v>
                </c:pt>
                <c:pt idx="11">
                  <c:v>911.8879999999999</c:v>
                </c:pt>
                <c:pt idx="12">
                  <c:v>946.775</c:v>
                </c:pt>
                <c:pt idx="13">
                  <c:v>982.997</c:v>
                </c:pt>
                <c:pt idx="14">
                  <c:v>1020.605</c:v>
                </c:pt>
                <c:pt idx="15">
                  <c:v>1059.651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0.04950683664083688</c:v>
                </c:pt>
                <c:pt idx="1">
                  <c:v>0.040561040458567676</c:v>
                </c:pt>
                <c:pt idx="2">
                  <c:v>0.03825830637487049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6683422946512979"/>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727.962</c:v>
                </c:pt>
                <c:pt idx="2">
                  <c:v>755.813</c:v>
                </c:pt>
                <c:pt idx="3">
                  <c:v>784.729</c:v>
                </c:pt>
                <c:pt idx="4">
                  <c:v>814.751</c:v>
                </c:pt>
                <c:pt idx="5">
                  <c:v>845.922</c:v>
                </c:pt>
                <c:pt idx="6">
                  <c:v>878.2860000000001</c:v>
                </c:pt>
                <c:pt idx="7">
                  <c:v>911.8879999999999</c:v>
                </c:pt>
                <c:pt idx="8">
                  <c:v>946.775</c:v>
                </c:pt>
                <c:pt idx="9">
                  <c:v>982.997</c:v>
                </c:pt>
                <c:pt idx="10">
                  <c:v>1020.605</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727.962</c:v>
                </c:pt>
                <c:pt idx="1">
                  <c:v>27.851</c:v>
                </c:pt>
                <c:pt idx="2">
                  <c:v>28.916000000000054</c:v>
                </c:pt>
                <c:pt idx="3">
                  <c:v>30.021999999999935</c:v>
                </c:pt>
                <c:pt idx="4">
                  <c:v>31.17100000000005</c:v>
                </c:pt>
                <c:pt idx="5">
                  <c:v>32.36400000000003</c:v>
                </c:pt>
                <c:pt idx="6">
                  <c:v>33.60199999999986</c:v>
                </c:pt>
                <c:pt idx="7">
                  <c:v>34.88700000000006</c:v>
                </c:pt>
                <c:pt idx="8">
                  <c:v>36.22199999999998</c:v>
                </c:pt>
                <c:pt idx="9">
                  <c:v>37.60800000000006</c:v>
                </c:pt>
                <c:pt idx="10">
                  <c:v>39.04600000000005</c:v>
                </c:pt>
                <c:pt idx="11">
                  <c:v>1059.651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68.93579545454546</c:v>
                </c:pt>
                <c:pt idx="1">
                  <c:v>22.74881960900613</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31.064204545454544</c:v>
                </c:pt>
                <c:pt idx="1">
                  <c:v>77.25118039099387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9EC6DE"/>
              </a:solidFill>
            </c:spPr>
          </c:dPt>
          <c:dPt>
            <c:idx val="5"/>
            <c:spPr>
              <a:solidFill>
                <a:srgbClr val="569CC6"/>
              </a:solidFill>
            </c:spPr>
          </c:dPt>
          <c:dPt>
            <c:idx val="6"/>
            <c:spPr>
              <a:solidFill>
                <a:srgbClr val="0E72AE"/>
              </a:solidFill>
            </c:spPr>
          </c:dPt>
          <c:dLbls>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7"/>
                <c:pt idx="0">
                  <c:v> </c:v>
                </c:pt>
                <c:pt idx="1">
                  <c:v>  </c:v>
                </c:pt>
                <c:pt idx="2">
                  <c:v>   </c:v>
                </c:pt>
                <c:pt idx="3">
                  <c:v>    </c:v>
                </c:pt>
                <c:pt idx="4">
                  <c:v>Slotted (Interlocking…</c:v>
                </c:pt>
                <c:pt idx="5">
                  <c:v>Die-Cut &amp; Folded Part…</c:v>
                </c:pt>
                <c:pt idx="6">
                  <c:v>Flat Dividers &amp; Layer…</c:v>
                </c:pt>
              </c:strCache>
            </c:strRef>
          </c:cat>
          <c:val>
            <c:numRef>
              <c:numCache>
                <c:formatCode>General</c:formatCode>
                <c:ptCount val="7"/>
                <c:pt idx="4">
                  <c:v>113.237</c:v>
                </c:pt>
                <c:pt idx="5">
                  <c:v>236.226</c:v>
                </c:pt>
                <c:pt idx="6">
                  <c:v>378.499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507.18866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9DABB6"/>
              </a:solidFill>
            </c:spPr>
          </c:dPt>
          <c:dPt>
            <c:idx val="5"/>
            <c:spPr>
              <a:solidFill>
                <a:srgbClr val="546C80"/>
              </a:solidFill>
            </c:spPr>
          </c:dPt>
          <c:dPt>
            <c:idx val="6"/>
            <c:spPr>
              <a:solidFill>
                <a:srgbClr val="0B2E4A"/>
              </a:solidFill>
            </c:spPr>
          </c:dPt>
          <c:dLbls>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7"/>
                <c:pt idx="0">
                  <c:v> </c:v>
                </c:pt>
                <c:pt idx="1">
                  <c:v>  </c:v>
                </c:pt>
                <c:pt idx="2">
                  <c:v>   </c:v>
                </c:pt>
                <c:pt idx="3">
                  <c:v>    </c:v>
                </c:pt>
                <c:pt idx="4">
                  <c:v>Single Wall</c:v>
                </c:pt>
                <c:pt idx="5">
                  <c:v>Triple Wall</c:v>
                </c:pt>
                <c:pt idx="6">
                  <c:v>Double Wall</c:v>
                </c:pt>
              </c:strCache>
            </c:strRef>
          </c:cat>
          <c:val>
            <c:numRef>
              <c:numCache>
                <c:formatCode>General</c:formatCode>
                <c:ptCount val="7"/>
                <c:pt idx="4">
                  <c:v>155.943</c:v>
                </c:pt>
                <c:pt idx="5">
                  <c:v>274.77</c:v>
                </c:pt>
                <c:pt idx="6">
                  <c:v>297.249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98.3136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5B1E6"/>
              </a:solidFill>
            </c:spPr>
          </c:dPt>
          <c:dPt>
            <c:idx val="6"/>
            <c:spPr>
              <a:solidFill>
                <a:srgbClr val="6F3CC2"/>
              </a:solidFill>
            </c:spPr>
          </c:dPt>
          <c:dLbls>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7"/>
                <c:pt idx="0">
                  <c:v> </c:v>
                </c:pt>
                <c:pt idx="1">
                  <c:v>  </c:v>
                </c:pt>
                <c:pt idx="2">
                  <c:v>   </c:v>
                </c:pt>
                <c:pt idx="3">
                  <c:v>    </c:v>
                </c:pt>
                <c:pt idx="4">
                  <c:v>     </c:v>
                </c:pt>
                <c:pt idx="5">
                  <c:v>Recycled Fibre-based</c:v>
                </c:pt>
                <c:pt idx="6">
                  <c:v>Virgin Kraft Fibre-ba…</c:v>
                </c:pt>
              </c:strCache>
            </c:strRef>
          </c:cat>
          <c:val>
            <c:numRef>
              <c:numCache>
                <c:formatCode>General</c:formatCode>
                <c:ptCount val="7"/>
                <c:pt idx="5">
                  <c:v>161.795</c:v>
                </c:pt>
                <c:pt idx="6">
                  <c:v>566.167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58.66378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DABAA0"/>
              </a:solidFill>
            </c:spPr>
          </c:dPt>
          <c:dPt>
            <c:idx val="4"/>
            <c:spPr>
              <a:solidFill>
                <a:srgbClr val="C79771"/>
              </a:solidFill>
            </c:spPr>
          </c:dPt>
          <c:dPt>
            <c:idx val="5"/>
            <c:spPr>
              <a:solidFill>
                <a:srgbClr val="B57542"/>
              </a:solidFill>
            </c:spPr>
          </c:dPt>
          <c:dPt>
            <c:idx val="6"/>
            <c:spPr>
              <a:solidFill>
                <a:srgbClr val="A35313"/>
              </a:solidFill>
            </c:spPr>
          </c:dPt>
          <c:dLbls>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7"/>
                <c:pt idx="0">
                  <c:v> </c:v>
                </c:pt>
                <c:pt idx="1">
                  <c:v>  </c:v>
                </c:pt>
                <c:pt idx="2">
                  <c:v>   </c:v>
                </c:pt>
                <c:pt idx="3">
                  <c:v>Above 24 Cells</c:v>
                </c:pt>
                <c:pt idx="4">
                  <c:v>13 to 24 Cells</c:v>
                </c:pt>
                <c:pt idx="5">
                  <c:v>6 to 12 Cells</c:v>
                </c:pt>
                <c:pt idx="6">
                  <c:v>Up to 4 Cells</c:v>
                </c:pt>
              </c:strCache>
            </c:strRef>
          </c:cat>
          <c:val>
            <c:numRef>
              <c:numCache>
                <c:formatCode>General</c:formatCode>
                <c:ptCount val="7"/>
                <c:pt idx="3">
                  <c:v>88.461</c:v>
                </c:pt>
                <c:pt idx="4">
                  <c:v>129.413</c:v>
                </c:pt>
                <c:pt idx="5">
                  <c:v>230.451</c:v>
                </c:pt>
                <c:pt idx="6">
                  <c:v>279.637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374.71358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DCC599"/>
              </a:solidFill>
            </c:spPr>
          </c:dPt>
          <c:dPt>
            <c:idx val="6"/>
            <c:spPr>
              <a:solidFill>
                <a:srgbClr val="A86F00"/>
              </a:solidFill>
            </c:spPr>
          </c:dPt>
          <c:dLbls>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7"/>
                <c:pt idx="0">
                  <c:v> </c:v>
                </c:pt>
                <c:pt idx="1">
                  <c:v>  </c:v>
                </c:pt>
                <c:pt idx="2">
                  <c:v>   </c:v>
                </c:pt>
                <c:pt idx="3">
                  <c:v>    </c:v>
                </c:pt>
                <c:pt idx="4">
                  <c:v>     </c:v>
                </c:pt>
                <c:pt idx="5">
                  <c:v>Standard / Stock Sizes</c:v>
                </c:pt>
                <c:pt idx="6">
                  <c:v>Custom-Engineered</c:v>
                </c:pt>
              </c:strCache>
            </c:strRef>
          </c:cat>
          <c:val>
            <c:numRef>
              <c:numCache>
                <c:formatCode>General</c:formatCode>
                <c:ptCount val="7"/>
                <c:pt idx="5">
                  <c:v>261.053</c:v>
                </c:pt>
                <c:pt idx="6">
                  <c:v>466.909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25.658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E59999"/>
              </a:solidFill>
            </c:spPr>
          </c:dPt>
          <c:dPt>
            <c:idx val="1"/>
            <c:spPr>
              <a:solidFill>
                <a:srgbClr val="DF7F7F"/>
              </a:solidFill>
            </c:spPr>
          </c:dPt>
          <c:dPt>
            <c:idx val="2"/>
            <c:spPr>
              <a:solidFill>
                <a:srgbClr val="D96565"/>
              </a:solidFill>
            </c:spPr>
          </c:dPt>
          <c:dPt>
            <c:idx val="3"/>
            <c:spPr>
              <a:solidFill>
                <a:srgbClr val="D24C4C"/>
              </a:solidFill>
            </c:spPr>
          </c:dPt>
          <c:dPt>
            <c:idx val="4"/>
            <c:spPr>
              <a:solidFill>
                <a:srgbClr val="CC3232"/>
              </a:solidFill>
            </c:spPr>
          </c:dPt>
          <c:dPt>
            <c:idx val="5"/>
            <c:spPr>
              <a:solidFill>
                <a:srgbClr val="C61919"/>
              </a:solidFill>
            </c:spPr>
          </c:dPt>
          <c:dPt>
            <c:idx val="6"/>
            <c:spPr>
              <a:solidFill>
                <a:srgbClr val="C00000"/>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7"/>
                <c:pt idx="0">
                  <c:v>Personal Care &amp; Cosme…</c:v>
                </c:pt>
                <c:pt idx="1">
                  <c:v>Electronics &amp; Electri…</c:v>
                </c:pt>
                <c:pt idx="2">
                  <c:v>Pharmaceuticals &amp; Hea…</c:v>
                </c:pt>
                <c:pt idx="3">
                  <c:v>Food &amp; Beverage</c:v>
                </c:pt>
                <c:pt idx="4">
                  <c:v>Others</c:v>
                </c:pt>
                <c:pt idx="5">
                  <c:v>Automotive &amp; Industri…</c:v>
                </c:pt>
                <c:pt idx="6">
                  <c:v>Glassware, Ceramics &amp;…</c:v>
                </c:pt>
              </c:strCache>
            </c:strRef>
          </c:cat>
          <c:val>
            <c:numRef>
              <c:numCache>
                <c:formatCode>General</c:formatCode>
                <c:ptCount val="7"/>
                <c:pt idx="0">
                  <c:v>23.292</c:v>
                </c:pt>
                <c:pt idx="1">
                  <c:v>83.922</c:v>
                </c:pt>
                <c:pt idx="2">
                  <c:v>92.015</c:v>
                </c:pt>
                <c:pt idx="3">
                  <c:v>107.375</c:v>
                </c:pt>
                <c:pt idx="4">
                  <c:v>127.559</c:v>
                </c:pt>
                <c:pt idx="5">
                  <c:v>133.335</c:v>
                </c:pt>
                <c:pt idx="6">
                  <c:v>160.464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15.0217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C4C9CF"/>
              </a:solidFill>
            </c:spPr>
          </c:dPt>
          <c:dPt>
            <c:idx val="6"/>
            <c:spPr>
              <a:solidFill>
                <a:srgbClr val="6C7A89"/>
              </a:solidFill>
            </c:spPr>
          </c:dPt>
          <c:dLbls>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7"/>
                <c:pt idx="0">
                  <c:v> </c:v>
                </c:pt>
                <c:pt idx="1">
                  <c:v>  </c:v>
                </c:pt>
                <c:pt idx="2">
                  <c:v>   </c:v>
                </c:pt>
                <c:pt idx="3">
                  <c:v>    </c:v>
                </c:pt>
                <c:pt idx="4">
                  <c:v>     </c:v>
                </c:pt>
                <c:pt idx="5">
                  <c:v>Indirect</c:v>
                </c:pt>
                <c:pt idx="6">
                  <c:v>Direct</c:v>
                </c:pt>
              </c:strCache>
            </c:strRef>
          </c:cat>
          <c:val>
            <c:numRef>
              <c:numCache>
                <c:formatCode>General</c:formatCode>
                <c:ptCount val="7"/>
                <c:pt idx="5">
                  <c:v>237.093</c:v>
                </c:pt>
                <c:pt idx="6">
                  <c:v>490.869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657.76446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Slotted (Interlocking Grid) Partitions</c:v>
                </c:pt>
                <c:pt idx="2">
                  <c:v>Die-Cut &amp; Folded Partitions (H-dividers, tube/cell inserts)</c:v>
                </c:pt>
                <c:pt idx="3">
                  <c:v>Flat Dividers &amp; Layer Pads</c:v>
                </c:pt>
                <c:pt idx="4">
                  <c:v>2036 Total</c:v>
                </c:pt>
              </c:strCache>
            </c:strRef>
          </c:cat>
          <c:val>
            <c:numRef>
              <c:numCache>
                <c:formatCode>General</c:formatCode>
                <c:ptCount val="5"/>
                <c:pt idx="0">
                  <c:v>0.0</c:v>
                </c:pt>
                <c:pt idx="1">
                  <c:v>727.962</c:v>
                </c:pt>
                <c:pt idx="2">
                  <c:v>772.937</c:v>
                </c:pt>
                <c:pt idx="3">
                  <c:v>839.165</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Slotted (Interlocking Grid) Partitions</c:v>
                </c:pt>
                <c:pt idx="2">
                  <c:v>Die-Cut &amp; Folded Partitions (H-dividers, tube/cell inserts)</c:v>
                </c:pt>
                <c:pt idx="3">
                  <c:v>Flat Dividers &amp; Layer Pads</c:v>
                </c:pt>
                <c:pt idx="4">
                  <c:v>2036 Total</c:v>
                </c:pt>
              </c:strCache>
            </c:strRef>
          </c:cat>
          <c:val>
            <c:numRef>
              <c:numCache>
                <c:formatCode>General</c:formatCode>
                <c:ptCount val="5"/>
                <c:pt idx="0">
                  <c:v>727.962</c:v>
                </c:pt>
                <c:pt idx="1">
                  <c:v>44.974999999999994</c:v>
                </c:pt>
                <c:pt idx="2">
                  <c:v>66.22800000000001</c:v>
                </c:pt>
                <c:pt idx="3">
                  <c:v>220.486</c:v>
                </c:pt>
                <c:pt idx="4">
                  <c:v>1059.651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Slotted (Interlocking Grid) Partitions</c:v>
                </c:pt>
                <c:pt idx="1">
                  <c:v>Die-Cut &amp; Folded Partitions (H-dividers, tube/cell inserts)</c:v>
                </c:pt>
                <c:pt idx="2">
                  <c:v>Flat Dividers &amp; Layer Pads</c:v>
                </c:pt>
                <c:pt idx="3">
                  <c:v>Total Absolute $ Opportunity</c:v>
                </c:pt>
              </c:strCache>
            </c:strRef>
          </c:cat>
          <c:val>
            <c:numRef>
              <c:numCache>
                <c:formatCode>General</c:formatCode>
                <c:ptCount val="4"/>
                <c:pt idx="0">
                  <c:v>0.0</c:v>
                </c:pt>
                <c:pt idx="1">
                  <c:v>44.974999999999994</c:v>
                </c:pt>
                <c:pt idx="2">
                  <c:v>111.203</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Slotted (Interlocking Grid) Partitions</c:v>
                </c:pt>
                <c:pt idx="1">
                  <c:v>Die-Cut &amp; Folded Partitions (H-dividers, tube/cell inserts)</c:v>
                </c:pt>
                <c:pt idx="2">
                  <c:v>Flat Dividers &amp; Layer Pads</c:v>
                </c:pt>
                <c:pt idx="3">
                  <c:v>Total Absolute $ Opportunity</c:v>
                </c:pt>
              </c:strCache>
            </c:strRef>
          </c:cat>
          <c:val>
            <c:numRef>
              <c:numCache>
                <c:formatCode>General</c:formatCode>
                <c:ptCount val="4"/>
                <c:pt idx="0">
                  <c:v>44.974999999999994</c:v>
                </c:pt>
                <c:pt idx="1">
                  <c:v>66.22800000000001</c:v>
                </c:pt>
                <c:pt idx="2">
                  <c:v>220.486</c:v>
                </c:pt>
                <c:pt idx="3">
                  <c:v>331.68899999999996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Single Wall</c:v>
                </c:pt>
                <c:pt idx="2">
                  <c:v>Double Wall</c:v>
                </c:pt>
                <c:pt idx="3">
                  <c:v>Triple Wall</c:v>
                </c:pt>
                <c:pt idx="4">
                  <c:v>2036 Total</c:v>
                </c:pt>
              </c:strCache>
            </c:strRef>
          </c:cat>
          <c:val>
            <c:numRef>
              <c:numCache>
                <c:formatCode>General</c:formatCode>
                <c:ptCount val="5"/>
                <c:pt idx="0">
                  <c:v>0.0</c:v>
                </c:pt>
                <c:pt idx="1">
                  <c:v>727.962</c:v>
                </c:pt>
                <c:pt idx="2">
                  <c:v>772.355</c:v>
                </c:pt>
                <c:pt idx="3">
                  <c:v>917.068</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Single Wall</c:v>
                </c:pt>
                <c:pt idx="2">
                  <c:v>Double Wall</c:v>
                </c:pt>
                <c:pt idx="3">
                  <c:v>Triple Wall</c:v>
                </c:pt>
                <c:pt idx="4">
                  <c:v>2036 Total</c:v>
                </c:pt>
              </c:strCache>
            </c:strRef>
          </c:cat>
          <c:val>
            <c:numRef>
              <c:numCache>
                <c:formatCode>General</c:formatCode>
                <c:ptCount val="5"/>
                <c:pt idx="0">
                  <c:v>727.962</c:v>
                </c:pt>
                <c:pt idx="1">
                  <c:v>44.393</c:v>
                </c:pt>
                <c:pt idx="2">
                  <c:v>144.71299999999997</c:v>
                </c:pt>
                <c:pt idx="3">
                  <c:v>142.58300000000003</c:v>
                </c:pt>
                <c:pt idx="4">
                  <c:v>1059.651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Single Wall</c:v>
                </c:pt>
                <c:pt idx="1">
                  <c:v>Double Wall</c:v>
                </c:pt>
                <c:pt idx="2">
                  <c:v>Triple Wall</c:v>
                </c:pt>
                <c:pt idx="3">
                  <c:v>Total Absolute $ Opportunity</c:v>
                </c:pt>
              </c:strCache>
            </c:strRef>
          </c:cat>
          <c:val>
            <c:numRef>
              <c:numCache>
                <c:formatCode>General</c:formatCode>
                <c:ptCount val="4"/>
                <c:pt idx="0">
                  <c:v>0.0</c:v>
                </c:pt>
                <c:pt idx="1">
                  <c:v>44.393</c:v>
                </c:pt>
                <c:pt idx="2">
                  <c:v>189.10599999999997</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Single Wall</c:v>
                </c:pt>
                <c:pt idx="1">
                  <c:v>Double Wall</c:v>
                </c:pt>
                <c:pt idx="2">
                  <c:v>Triple Wall</c:v>
                </c:pt>
                <c:pt idx="3">
                  <c:v>Total Absolute $ Opportunity</c:v>
                </c:pt>
              </c:strCache>
            </c:strRef>
          </c:cat>
          <c:val>
            <c:numRef>
              <c:numCache>
                <c:formatCode>General</c:formatCode>
                <c:ptCount val="4"/>
                <c:pt idx="0">
                  <c:v>44.393</c:v>
                </c:pt>
                <c:pt idx="1">
                  <c:v>144.71299999999997</c:v>
                </c:pt>
                <c:pt idx="2">
                  <c:v>142.58300000000003</c:v>
                </c:pt>
                <c:pt idx="3">
                  <c:v>331.68899999999996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Virgin Kraft Fibre-based</c:v>
                </c:pt>
                <c:pt idx="2">
                  <c:v>Recycled Fibre-based (testliner/recycled medium)</c:v>
                </c:pt>
                <c:pt idx="3">
                  <c:v>2036 Total</c:v>
                </c:pt>
              </c:strCache>
            </c:strRef>
          </c:cat>
          <c:val>
            <c:numRef>
              <c:numCache>
                <c:formatCode>General</c:formatCode>
                <c:ptCount val="4"/>
                <c:pt idx="0">
                  <c:v>0.0</c:v>
                </c:pt>
                <c:pt idx="1">
                  <c:v>727.962</c:v>
                </c:pt>
                <c:pt idx="2">
                  <c:v>980.1709999999999</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Virgin Kraft Fibre-based</c:v>
                </c:pt>
                <c:pt idx="2">
                  <c:v>Recycled Fibre-based (testliner/recycled medium)</c:v>
                </c:pt>
                <c:pt idx="3">
                  <c:v>2036 Total</c:v>
                </c:pt>
              </c:strCache>
            </c:strRef>
          </c:cat>
          <c:val>
            <c:numRef>
              <c:numCache>
                <c:formatCode>General</c:formatCode>
                <c:ptCount val="4"/>
                <c:pt idx="0">
                  <c:v>727.962</c:v>
                </c:pt>
                <c:pt idx="1">
                  <c:v>252.20899999999995</c:v>
                </c:pt>
                <c:pt idx="2">
                  <c:v>79.48000000000002</c:v>
                </c:pt>
                <c:pt idx="3">
                  <c:v>1059.651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Virgin Kraft Fibre-based</c:v>
                </c:pt>
                <c:pt idx="1">
                  <c:v>Recycled Fibre-based (testliner/recycled medium)</c:v>
                </c:pt>
                <c:pt idx="2">
                  <c:v>Total Absolute $ Opportunity</c:v>
                </c:pt>
              </c:strCache>
            </c:strRef>
          </c:cat>
          <c:val>
            <c:numRef>
              <c:numCache>
                <c:formatCode>General</c:formatCode>
                <c:ptCount val="3"/>
                <c:pt idx="0">
                  <c:v>0.0</c:v>
                </c:pt>
                <c:pt idx="1">
                  <c:v>252.20899999999995</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Virgin Kraft Fibre-based</c:v>
                </c:pt>
                <c:pt idx="1">
                  <c:v>Recycled Fibre-based (testliner/recycled medium)</c:v>
                </c:pt>
                <c:pt idx="2">
                  <c:v>Total Absolute $ Opportunity</c:v>
                </c:pt>
              </c:strCache>
            </c:strRef>
          </c:cat>
          <c:val>
            <c:numRef>
              <c:numCache>
                <c:formatCode>General</c:formatCode>
                <c:ptCount val="3"/>
                <c:pt idx="0">
                  <c:v>252.20899999999995</c:v>
                </c:pt>
                <c:pt idx="1">
                  <c:v>79.48000000000002</c:v>
                </c:pt>
                <c:pt idx="2">
                  <c:v>331.68899999999996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Up to 4 Cells</c:v>
                </c:pt>
                <c:pt idx="2">
                  <c:v>6 to 12 Cells</c:v>
                </c:pt>
                <c:pt idx="3">
                  <c:v>13 to 24 Cells</c:v>
                </c:pt>
                <c:pt idx="4">
                  <c:v>Above 24 Cells</c:v>
                </c:pt>
                <c:pt idx="5">
                  <c:v>2036 Total</c:v>
                </c:pt>
              </c:strCache>
            </c:strRef>
          </c:cat>
          <c:val>
            <c:numRef>
              <c:numCache>
                <c:formatCode>General</c:formatCode>
                <c:ptCount val="6"/>
                <c:pt idx="0">
                  <c:v>0.0</c:v>
                </c:pt>
                <c:pt idx="1">
                  <c:v>727.962</c:v>
                </c:pt>
                <c:pt idx="2">
                  <c:v>853.19</c:v>
                </c:pt>
                <c:pt idx="3">
                  <c:v>992.3950000000001</c:v>
                </c:pt>
                <c:pt idx="4">
                  <c:v>1029.1970000000001</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Up to 4 Cells</c:v>
                </c:pt>
                <c:pt idx="2">
                  <c:v>6 to 12 Cells</c:v>
                </c:pt>
                <c:pt idx="3">
                  <c:v>13 to 24 Cells</c:v>
                </c:pt>
                <c:pt idx="4">
                  <c:v>Above 24 Cells</c:v>
                </c:pt>
                <c:pt idx="5">
                  <c:v>2036 Total</c:v>
                </c:pt>
              </c:strCache>
            </c:strRef>
          </c:cat>
          <c:val>
            <c:numRef>
              <c:numCache>
                <c:formatCode>General</c:formatCode>
                <c:ptCount val="6"/>
                <c:pt idx="0">
                  <c:v>727.962</c:v>
                </c:pt>
                <c:pt idx="1">
                  <c:v>125.22800000000001</c:v>
                </c:pt>
                <c:pt idx="2">
                  <c:v>139.205</c:v>
                </c:pt>
                <c:pt idx="3">
                  <c:v>36.80199999999999</c:v>
                </c:pt>
                <c:pt idx="4">
                  <c:v>30.454000000000008</c:v>
                </c:pt>
                <c:pt idx="5">
                  <c:v>1059.651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Up to 4 Cells</c:v>
                </c:pt>
                <c:pt idx="1">
                  <c:v>6 to 12 Cells</c:v>
                </c:pt>
                <c:pt idx="2">
                  <c:v>13 to 24 Cells</c:v>
                </c:pt>
                <c:pt idx="3">
                  <c:v>Above 24 Cells</c:v>
                </c:pt>
                <c:pt idx="4">
                  <c:v>Total Absolute $ Opportunity</c:v>
                </c:pt>
              </c:strCache>
            </c:strRef>
          </c:cat>
          <c:val>
            <c:numRef>
              <c:numCache>
                <c:formatCode>General</c:formatCode>
                <c:ptCount val="5"/>
                <c:pt idx="0">
                  <c:v>0.0</c:v>
                </c:pt>
                <c:pt idx="1">
                  <c:v>125.22800000000001</c:v>
                </c:pt>
                <c:pt idx="2">
                  <c:v>264.433</c:v>
                </c:pt>
                <c:pt idx="3">
                  <c:v>301.235</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Up to 4 Cells</c:v>
                </c:pt>
                <c:pt idx="1">
                  <c:v>6 to 12 Cells</c:v>
                </c:pt>
                <c:pt idx="2">
                  <c:v>13 to 24 Cells</c:v>
                </c:pt>
                <c:pt idx="3">
                  <c:v>Above 24 Cells</c:v>
                </c:pt>
                <c:pt idx="4">
                  <c:v>Total Absolute $ Opportunity</c:v>
                </c:pt>
              </c:strCache>
            </c:strRef>
          </c:cat>
          <c:val>
            <c:numRef>
              <c:numCache>
                <c:formatCode>General</c:formatCode>
                <c:ptCount val="5"/>
                <c:pt idx="0">
                  <c:v>125.22800000000001</c:v>
                </c:pt>
                <c:pt idx="1">
                  <c:v>139.205</c:v>
                </c:pt>
                <c:pt idx="2">
                  <c:v>36.80199999999999</c:v>
                </c:pt>
                <c:pt idx="3">
                  <c:v>30.454000000000008</c:v>
                </c:pt>
                <c:pt idx="4">
                  <c:v>331.689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Standard / Stock Sizes</c:v>
                </c:pt>
                <c:pt idx="2">
                  <c:v>Custom-Engineered</c:v>
                </c:pt>
                <c:pt idx="3">
                  <c:v>2036 Total</c:v>
                </c:pt>
              </c:strCache>
            </c:strRef>
          </c:cat>
          <c:val>
            <c:numRef>
              <c:numCache>
                <c:formatCode>General</c:formatCode>
                <c:ptCount val="4"/>
                <c:pt idx="0">
                  <c:v>0.0</c:v>
                </c:pt>
                <c:pt idx="1">
                  <c:v>727.962</c:v>
                </c:pt>
                <c:pt idx="2">
                  <c:v>905.152</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Standard / Stock Sizes</c:v>
                </c:pt>
                <c:pt idx="2">
                  <c:v>Custom-Engineered</c:v>
                </c:pt>
                <c:pt idx="3">
                  <c:v>2036 Total</c:v>
                </c:pt>
              </c:strCache>
            </c:strRef>
          </c:cat>
          <c:val>
            <c:numRef>
              <c:numCache>
                <c:formatCode>General</c:formatCode>
                <c:ptCount val="4"/>
                <c:pt idx="0">
                  <c:v>727.962</c:v>
                </c:pt>
                <c:pt idx="1">
                  <c:v>177.19</c:v>
                </c:pt>
                <c:pt idx="2">
                  <c:v>154.49900000000002</c:v>
                </c:pt>
                <c:pt idx="3">
                  <c:v>1059.651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Standard / Stock Sizes</c:v>
                </c:pt>
                <c:pt idx="1">
                  <c:v>Custom-Engineered</c:v>
                </c:pt>
                <c:pt idx="2">
                  <c:v>Total Absolute $ Opportunity</c:v>
                </c:pt>
              </c:strCache>
            </c:strRef>
          </c:cat>
          <c:val>
            <c:numRef>
              <c:numCache>
                <c:formatCode>General</c:formatCode>
                <c:ptCount val="3"/>
                <c:pt idx="0">
                  <c:v>0.0</c:v>
                </c:pt>
                <c:pt idx="1">
                  <c:v>177.19</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Standard / Stock Sizes</c:v>
                </c:pt>
                <c:pt idx="1">
                  <c:v>Custom-Engineered</c:v>
                </c:pt>
                <c:pt idx="2">
                  <c:v>Total Absolute $ Opportunity</c:v>
                </c:pt>
              </c:strCache>
            </c:strRef>
          </c:cat>
          <c:val>
            <c:numRef>
              <c:numCache>
                <c:formatCode>General</c:formatCode>
                <c:ptCount val="3"/>
                <c:pt idx="0">
                  <c:v>177.19</c:v>
                </c:pt>
                <c:pt idx="1">
                  <c:v>154.49900000000002</c:v>
                </c:pt>
                <c:pt idx="2">
                  <c:v>331.689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9"/>
                <c:pt idx="0">
                  <c:v>2026</c:v>
                </c:pt>
                <c:pt idx="1">
                  <c:v>Food &amp; Beverage</c:v>
                </c:pt>
                <c:pt idx="2">
                  <c:v>Pharmaceuticals &amp; Healthcare</c:v>
                </c:pt>
                <c:pt idx="3">
                  <c:v>Personal Care &amp; Cosmetics</c:v>
                </c:pt>
                <c:pt idx="4">
                  <c:v>Electronics &amp; Electrical</c:v>
                </c:pt>
                <c:pt idx="5">
                  <c:v>Automotive &amp; Industrial Components</c:v>
                </c:pt>
                <c:pt idx="6">
                  <c:v>Glassware, Ceramics &amp; Home Goods</c:v>
                </c:pt>
                <c:pt idx="7">
                  <c:v>Others</c:v>
                </c:pt>
                <c:pt idx="8">
                  <c:v>2036 Total</c:v>
                </c:pt>
              </c:strCache>
            </c:strRef>
          </c:cat>
          <c:val>
            <c:numRef>
              <c:numCache>
                <c:formatCode>General</c:formatCode>
                <c:ptCount val="9"/>
                <c:pt idx="0">
                  <c:v>0.0</c:v>
                </c:pt>
                <c:pt idx="1">
                  <c:v>727.962</c:v>
                </c:pt>
                <c:pt idx="2">
                  <c:v>807.1659999999999</c:v>
                </c:pt>
                <c:pt idx="3">
                  <c:v>816.858</c:v>
                </c:pt>
                <c:pt idx="4">
                  <c:v>838.9839999999999</c:v>
                </c:pt>
                <c:pt idx="5">
                  <c:v>922.0749999999999</c:v>
                </c:pt>
                <c:pt idx="6">
                  <c:v>965.3839999999999</c:v>
                </c:pt>
                <c:pt idx="7">
                  <c:v>1033.858</c:v>
                </c:pt>
                <c:pt idx="8">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9"/>
                <c:pt idx="0">
                  <c:v>2026</c:v>
                </c:pt>
                <c:pt idx="1">
                  <c:v>Food &amp; Beverage</c:v>
                </c:pt>
                <c:pt idx="2">
                  <c:v>Pharmaceuticals &amp; Healthcare</c:v>
                </c:pt>
                <c:pt idx="3">
                  <c:v>Personal Care &amp; Cosmetics</c:v>
                </c:pt>
                <c:pt idx="4">
                  <c:v>Electronics &amp; Electrical</c:v>
                </c:pt>
                <c:pt idx="5">
                  <c:v>Automotive &amp; Industrial Components</c:v>
                </c:pt>
                <c:pt idx="6">
                  <c:v>Glassware, Ceramics &amp; Home Goods</c:v>
                </c:pt>
                <c:pt idx="7">
                  <c:v>Others</c:v>
                </c:pt>
                <c:pt idx="8">
                  <c:v>2036 Total</c:v>
                </c:pt>
              </c:strCache>
            </c:strRef>
          </c:cat>
          <c:val>
            <c:numRef>
              <c:numCache>
                <c:formatCode>General</c:formatCode>
                <c:ptCount val="9"/>
                <c:pt idx="0">
                  <c:v>727.962</c:v>
                </c:pt>
                <c:pt idx="1">
                  <c:v>79.20400000000001</c:v>
                </c:pt>
                <c:pt idx="2">
                  <c:v>9.691999999999993</c:v>
                </c:pt>
                <c:pt idx="3">
                  <c:v>22.125999999999998</c:v>
                </c:pt>
                <c:pt idx="4">
                  <c:v>83.09100000000001</c:v>
                </c:pt>
                <c:pt idx="5">
                  <c:v>43.309</c:v>
                </c:pt>
                <c:pt idx="6">
                  <c:v>68.47399999999999</c:v>
                </c:pt>
                <c:pt idx="7">
                  <c:v>25.793000000000006</c:v>
                </c:pt>
                <c:pt idx="8">
                  <c:v>1059.651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8"/>
                <c:pt idx="0">
                  <c:v>Food &amp; Beverage</c:v>
                </c:pt>
                <c:pt idx="1">
                  <c:v>Pharmaceuticals &amp; Healthcare</c:v>
                </c:pt>
                <c:pt idx="2">
                  <c:v>Personal Care &amp; Cosmetics</c:v>
                </c:pt>
                <c:pt idx="3">
                  <c:v>Electronics &amp; Electrical</c:v>
                </c:pt>
                <c:pt idx="4">
                  <c:v>Automotive &amp; Industrial Components</c:v>
                </c:pt>
                <c:pt idx="5">
                  <c:v>Glassware, Ceramics &amp; Home Goods</c:v>
                </c:pt>
                <c:pt idx="6">
                  <c:v>Others</c:v>
                </c:pt>
                <c:pt idx="7">
                  <c:v>Total Absolute $ Opportunity</c:v>
                </c:pt>
              </c:strCache>
            </c:strRef>
          </c:cat>
          <c:val>
            <c:numRef>
              <c:numCache>
                <c:formatCode>General</c:formatCode>
                <c:ptCount val="8"/>
                <c:pt idx="0">
                  <c:v>0.0</c:v>
                </c:pt>
                <c:pt idx="1">
                  <c:v>79.20400000000001</c:v>
                </c:pt>
                <c:pt idx="2">
                  <c:v>88.896</c:v>
                </c:pt>
                <c:pt idx="3">
                  <c:v>111.02199999999999</c:v>
                </c:pt>
                <c:pt idx="4">
                  <c:v>194.113</c:v>
                </c:pt>
                <c:pt idx="5">
                  <c:v>237.422</c:v>
                </c:pt>
                <c:pt idx="6">
                  <c:v>305.89599999999996</c:v>
                </c:pt>
                <c:pt idx="7">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8"/>
                <c:pt idx="0">
                  <c:v>Food &amp; Beverage</c:v>
                </c:pt>
                <c:pt idx="1">
                  <c:v>Pharmaceuticals &amp; Healthcare</c:v>
                </c:pt>
                <c:pt idx="2">
                  <c:v>Personal Care &amp; Cosmetics</c:v>
                </c:pt>
                <c:pt idx="3">
                  <c:v>Electronics &amp; Electrical</c:v>
                </c:pt>
                <c:pt idx="4">
                  <c:v>Automotive &amp; Industrial Components</c:v>
                </c:pt>
                <c:pt idx="5">
                  <c:v>Glassware, Ceramics &amp; Home Goods</c:v>
                </c:pt>
                <c:pt idx="6">
                  <c:v>Others</c:v>
                </c:pt>
                <c:pt idx="7">
                  <c:v>Total Absolute $ Opportunity</c:v>
                </c:pt>
              </c:strCache>
            </c:strRef>
          </c:cat>
          <c:val>
            <c:numRef>
              <c:numCache>
                <c:formatCode>General</c:formatCode>
                <c:ptCount val="8"/>
                <c:pt idx="0">
                  <c:v>79.20400000000001</c:v>
                </c:pt>
                <c:pt idx="1">
                  <c:v>9.691999999999993</c:v>
                </c:pt>
                <c:pt idx="2">
                  <c:v>22.125999999999998</c:v>
                </c:pt>
                <c:pt idx="3">
                  <c:v>83.09100000000001</c:v>
                </c:pt>
                <c:pt idx="4">
                  <c:v>43.309</c:v>
                </c:pt>
                <c:pt idx="5">
                  <c:v>68.47399999999999</c:v>
                </c:pt>
                <c:pt idx="6">
                  <c:v>25.793000000000006</c:v>
                </c:pt>
                <c:pt idx="7">
                  <c:v>331.68899999999996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Direct (to brand owners/OEMs)</c:v>
                </c:pt>
                <c:pt idx="2">
                  <c:v>Indirect (distributors and packaging merchants)</c:v>
                </c:pt>
                <c:pt idx="3">
                  <c:v>2036 Total</c:v>
                </c:pt>
              </c:strCache>
            </c:strRef>
          </c:cat>
          <c:val>
            <c:numRef>
              <c:numCache>
                <c:formatCode>General</c:formatCode>
                <c:ptCount val="4"/>
                <c:pt idx="0">
                  <c:v>0.0</c:v>
                </c:pt>
                <c:pt idx="1">
                  <c:v>727.962</c:v>
                </c:pt>
                <c:pt idx="2">
                  <c:v>937.265</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Direct (to brand owners/OEMs)</c:v>
                </c:pt>
                <c:pt idx="2">
                  <c:v>Indirect (distributors and packaging merchants)</c:v>
                </c:pt>
                <c:pt idx="3">
                  <c:v>2036 Total</c:v>
                </c:pt>
              </c:strCache>
            </c:strRef>
          </c:cat>
          <c:val>
            <c:numRef>
              <c:numCache>
                <c:formatCode>General</c:formatCode>
                <c:ptCount val="4"/>
                <c:pt idx="0">
                  <c:v>727.962</c:v>
                </c:pt>
                <c:pt idx="1">
                  <c:v>209.303</c:v>
                </c:pt>
                <c:pt idx="2">
                  <c:v>122.386</c:v>
                </c:pt>
                <c:pt idx="3">
                  <c:v>1059.651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Direct (to brand owners/OEMs)</c:v>
                </c:pt>
                <c:pt idx="1">
                  <c:v>Indirect (distributors and packaging merchants)</c:v>
                </c:pt>
                <c:pt idx="2">
                  <c:v>Total Absolute $ Opportunity</c:v>
                </c:pt>
              </c:strCache>
            </c:strRef>
          </c:cat>
          <c:val>
            <c:numRef>
              <c:numCache>
                <c:formatCode>General</c:formatCode>
                <c:ptCount val="3"/>
                <c:pt idx="0">
                  <c:v>0.0</c:v>
                </c:pt>
                <c:pt idx="1">
                  <c:v>209.303</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Direct (to brand owners/OEMs)</c:v>
                </c:pt>
                <c:pt idx="1">
                  <c:v>Indirect (distributors and packaging merchants)</c:v>
                </c:pt>
                <c:pt idx="2">
                  <c:v>Total Absolute $ Opportunity</c:v>
                </c:pt>
              </c:strCache>
            </c:strRef>
          </c:cat>
          <c:val>
            <c:numRef>
              <c:numCache>
                <c:formatCode>General</c:formatCode>
                <c:ptCount val="3"/>
                <c:pt idx="0">
                  <c:v>209.303</c:v>
                </c:pt>
                <c:pt idx="1">
                  <c:v>122.386</c:v>
                </c:pt>
                <c:pt idx="2">
                  <c:v>331.68899999999996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Glassware, Ceramics &amp; Home Goods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25.9846691864778</c:v>
                </c:pt>
                <c:pt idx="1">
                  <c:v>20.610771041290967</c:v>
                </c:pt>
                <c:pt idx="2">
                  <c:v>21.75772787318362</c:v>
                </c:pt>
              </c:numCache>
            </c:numRef>
          </c:val>
        </c:ser>
        <c:ser>
          <c:idx val="1"/>
          <c:order val="1"/>
          <c:tx>
            <c:strRef>
              <c:strCache>
                <c:ptCount val="1"/>
                <c:pt idx="0">
                  <c:v>Automotive &amp; Industrial Components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18.032251227524814</c:v>
                </c:pt>
                <c:pt idx="1">
                  <c:v>15.866162065141006</c:v>
                </c:pt>
                <c:pt idx="2">
                  <c:v>19.930250990752974</c:v>
                </c:pt>
              </c:numCache>
            </c:numRef>
          </c:val>
        </c:ser>
        <c:ser>
          <c:idx val="2"/>
          <c:order val="2"/>
          <c:tx>
            <c:strRef>
              <c:strCache>
                <c:ptCount val="1"/>
                <c:pt idx="0">
                  <c:v>Others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21.115193048147233</c:v>
                </c:pt>
                <c:pt idx="1">
                  <c:v>18.14872198657218</c:v>
                </c:pt>
                <c:pt idx="2">
                  <c:v>16.057331571994716</c:v>
                </c:pt>
              </c:numCache>
            </c:numRef>
          </c:val>
        </c:ser>
        <c:ser>
          <c:idx val="3"/>
          <c:order val="3"/>
          <c:tx>
            <c:strRef>
              <c:strCache>
                <c:ptCount val="1"/>
                <c:pt idx="0">
                  <c:v>Food &amp; Beverage</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11.769225334699211</c:v>
                </c:pt>
                <c:pt idx="1">
                  <c:v>16.19339107464885</c:v>
                </c:pt>
                <c:pt idx="2">
                  <c:v>14.741083223249671</c:v>
                </c:pt>
              </c:numCache>
            </c:numRef>
          </c:val>
        </c:ser>
        <c:ser>
          <c:idx val="4"/>
          <c:order val="4"/>
          <c:tx>
            <c:strRef>
              <c:strCache>
                <c:ptCount val="1"/>
                <c:pt idx="0">
                  <c:v>Pharmaceuticals &amp; Healthcare</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9.809601186901693</c:v>
                </c:pt>
                <c:pt idx="1">
                  <c:v>14.630904303505964</c:v>
                </c:pt>
                <c:pt idx="2">
                  <c:v>12.244121532364598</c:v>
                </c:pt>
              </c:numCache>
            </c:numRef>
          </c:val>
        </c:ser>
        <c:ser>
          <c:idx val="5"/>
          <c:order val="5"/>
          <c:tx>
            <c:strRef>
              <c:strCache>
                <c:ptCount val="1"/>
                <c:pt idx="0">
                  <c:v>Electronics &amp; Electrical</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10.389805362252288</c:v>
                </c:pt>
                <c:pt idx="1">
                  <c:v>11.60202517927747</c:v>
                </c:pt>
                <c:pt idx="2">
                  <c:v>11.822985468956407</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Slotted Partitions</c:v>
                </c:pt>
                <c:pt idx="1">
                  <c:v>Die-Cut &amp; Folded Partitions</c:v>
                </c:pt>
                <c:pt idx="2">
                  <c:v>Flat Dividers &amp; Layer Pads</c:v>
                </c:pt>
              </c:strCache>
            </c:strRef>
          </c:cat>
          <c:val>
            <c:numRef>
              <c:numCache>
                <c:formatCode>General</c:formatCode>
                <c:ptCount val="3"/>
                <c:pt idx="0">
                  <c:v>2.899254653996962</c:v>
                </c:pt>
                <c:pt idx="1">
                  <c:v>2.9480243495635534</c:v>
                </c:pt>
                <c:pt idx="2">
                  <c:v>3.446499339498019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Glassware, Ceramics &amp; Home Goods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22.26490108692167</c:v>
                </c:pt>
                <c:pt idx="1">
                  <c:v>19.759594681881794</c:v>
                </c:pt>
                <c:pt idx="2">
                  <c:v>24.387030560216033</c:v>
                </c:pt>
              </c:numCache>
            </c:numRef>
          </c:val>
        </c:ser>
        <c:ser>
          <c:idx val="1"/>
          <c:order val="1"/>
          <c:tx>
            <c:strRef>
              <c:strCache>
                <c:ptCount val="1"/>
                <c:pt idx="0">
                  <c:v>Others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15.29770111257174</c:v>
                </c:pt>
                <c:pt idx="1">
                  <c:v>18.146127139627517</c:v>
                </c:pt>
                <c:pt idx="2">
                  <c:v>18.11121341927219</c:v>
                </c:pt>
              </c:numCache>
            </c:numRef>
          </c:val>
        </c:ser>
        <c:ser>
          <c:idx val="2"/>
          <c:order val="2"/>
          <c:tx>
            <c:strRef>
              <c:strCache>
                <c:ptCount val="1"/>
                <c:pt idx="0">
                  <c:v>Automotive &amp; Industrial Components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15.733111032735902</c:v>
                </c:pt>
                <c:pt idx="1">
                  <c:v>21.326636344062873</c:v>
                </c:pt>
                <c:pt idx="2">
                  <c:v>16.525517798587174</c:v>
                </c:pt>
              </c:numCache>
            </c:numRef>
          </c:val>
        </c:ser>
        <c:ser>
          <c:idx val="3"/>
          <c:order val="3"/>
          <c:tx>
            <c:strRef>
              <c:strCache>
                <c:ptCount val="1"/>
                <c:pt idx="0">
                  <c:v>Food &amp; Beverage</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18.350700567507776</c:v>
                </c:pt>
                <c:pt idx="1">
                  <c:v>13.75114382603079</c:v>
                </c:pt>
                <c:pt idx="2">
                  <c:v>13.787217626442578</c:v>
                </c:pt>
              </c:numCache>
            </c:numRef>
          </c:val>
        </c:ser>
        <c:ser>
          <c:idx val="4"/>
          <c:order val="4"/>
          <c:tx>
            <c:strRef>
              <c:strCache>
                <c:ptCount val="1"/>
                <c:pt idx="0">
                  <c:v>Pharmaceuticals &amp; Healthcare</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12.291513033441277</c:v>
                </c:pt>
                <c:pt idx="1">
                  <c:v>11.807312412530951</c:v>
                </c:pt>
                <c:pt idx="2">
                  <c:v>13.738813330470323</c:v>
                </c:pt>
              </c:numCache>
            </c:numRef>
          </c:val>
        </c:ser>
        <c:ser>
          <c:idx val="5"/>
          <c:order val="5"/>
          <c:tx>
            <c:strRef>
              <c:strCache>
                <c:ptCount val="1"/>
                <c:pt idx="0">
                  <c:v>Electronics &amp; Electrical</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13.253390618487288</c:v>
                </c:pt>
                <c:pt idx="1">
                  <c:v>12.024639358380881</c:v>
                </c:pt>
                <c:pt idx="2">
                  <c:v>10.012410424756796</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Single Wall</c:v>
                </c:pt>
                <c:pt idx="1">
                  <c:v>Double Wall</c:v>
                </c:pt>
                <c:pt idx="2">
                  <c:v>Triple Wall</c:v>
                </c:pt>
              </c:strCache>
            </c:strRef>
          </c:cat>
          <c:val>
            <c:numRef>
              <c:numCache>
                <c:formatCode>General</c:formatCode>
                <c:ptCount val="3"/>
                <c:pt idx="0">
                  <c:v>2.8086825483343487</c:v>
                </c:pt>
                <c:pt idx="1">
                  <c:v>3.1845462374851974</c:v>
                </c:pt>
                <c:pt idx="2">
                  <c:v>3.4377968402549053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Glassware, Ceramics &amp; Home Goods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22.590911854212038</c:v>
                </c:pt>
                <c:pt idx="1">
                  <c:v>21.98524625732263</c:v>
                </c:pt>
                <c:pt idx="2">
                  <c:v>20.687576790226487</c:v>
                </c:pt>
                <c:pt idx="3">
                  <c:v>22.44579593497773</c:v>
                </c:pt>
              </c:numCache>
            </c:numRef>
          </c:val>
        </c:ser>
        <c:ser>
          <c:idx val="1"/>
          <c:order val="1"/>
          <c:tx>
            <c:strRef>
              <c:strCache>
                <c:ptCount val="1"/>
                <c:pt idx="0">
                  <c:v>Others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15.23857544906111</c:v>
                </c:pt>
                <c:pt idx="1">
                  <c:v>17.702321544803645</c:v>
                </c:pt>
                <c:pt idx="2">
                  <c:v>18.822202131194413</c:v>
                </c:pt>
                <c:pt idx="3">
                  <c:v>22.37457891524044</c:v>
                </c:pt>
              </c:numCache>
            </c:numRef>
          </c:val>
        </c:ser>
        <c:ser>
          <c:idx val="2"/>
          <c:order val="2"/>
          <c:tx>
            <c:strRef>
              <c:strCache>
                <c:ptCount val="1"/>
                <c:pt idx="0">
                  <c:v>Automotive &amp; Industrial Components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20.059433769967708</c:v>
                </c:pt>
                <c:pt idx="1">
                  <c:v>16.748969407680626</c:v>
                </c:pt>
                <c:pt idx="2">
                  <c:v>19.42493296551298</c:v>
                </c:pt>
                <c:pt idx="3">
                  <c:v>15.266442088128237</c:v>
                </c:pt>
              </c:numCache>
            </c:numRef>
          </c:val>
        </c:ser>
        <c:ser>
          <c:idx val="3"/>
          <c:order val="3"/>
          <c:tx>
            <c:strRef>
              <c:strCache>
                <c:ptCount val="1"/>
                <c:pt idx="0">
                  <c:v>Food &amp; Beverage</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15.77212048390961</c:v>
                </c:pt>
                <c:pt idx="1">
                  <c:v>14.962464742894339</c:v>
                </c:pt>
                <c:pt idx="2">
                  <c:v>12.501255689238164</c:v>
                </c:pt>
                <c:pt idx="3">
                  <c:v>14.254708236304852</c:v>
                </c:pt>
              </c:numCache>
            </c:numRef>
          </c:val>
        </c:ser>
        <c:ser>
          <c:idx val="4"/>
          <c:order val="4"/>
          <c:tx>
            <c:strRef>
              <c:strCache>
                <c:ptCount val="1"/>
                <c:pt idx="0">
                  <c:v>Electronics &amp; Electrical</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11.493389691709668</c:v>
                </c:pt>
                <c:pt idx="1">
                  <c:v>11.160772401822522</c:v>
                </c:pt>
                <c:pt idx="2">
                  <c:v>11.46270409779694</c:v>
                </c:pt>
                <c:pt idx="3">
                  <c:v>12.693585946508104</c:v>
                </c:pt>
              </c:numCache>
            </c:numRef>
          </c:val>
        </c:ser>
        <c:ser>
          <c:idx val="5"/>
          <c:order val="5"/>
          <c:tx>
            <c:strRef>
              <c:strCache>
                <c:ptCount val="1"/>
                <c:pt idx="0">
                  <c:v>Pharmaceuticals &amp; Healthcare</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11.994392770679339</c:v>
                </c:pt>
                <c:pt idx="1">
                  <c:v>14.049034497721848</c:v>
                </c:pt>
                <c:pt idx="2">
                  <c:v>13.25466923213637</c:v>
                </c:pt>
                <c:pt idx="3">
                  <c:v>10.110555944925505</c:v>
                </c:pt>
              </c:numCache>
            </c:numRef>
          </c:val>
        </c:ser>
        <c:ser>
          <c:idx val="6"/>
          <c:order val="6"/>
          <c:tx>
            <c:strRef>
              <c:strCache>
                <c:ptCount val="1"/>
                <c:pt idx="0">
                  <c:v>Personal Care &amp; Cosmetics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Up to 4 Cells</c:v>
                </c:pt>
                <c:pt idx="1">
                  <c:v>6 to 12 Cells</c:v>
                </c:pt>
                <c:pt idx="2">
                  <c:v>13 to 24 Cells</c:v>
                </c:pt>
                <c:pt idx="3">
                  <c:v>Above 24 Cells</c:v>
                </c:pt>
              </c:strCache>
            </c:strRef>
          </c:cat>
          <c:val>
            <c:numRef>
              <c:numCache>
                <c:formatCode>General</c:formatCode>
                <c:ptCount val="4"/>
                <c:pt idx="0">
                  <c:v>2.851175980460522</c:v>
                </c:pt>
                <c:pt idx="1">
                  <c:v>3.3911911477543937</c:v>
                </c:pt>
                <c:pt idx="2">
                  <c:v>3.8466590938946457</c:v>
                </c:pt>
                <c:pt idx="3">
                  <c:v>2.8543329339151273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Die-Cut &amp; Folded Partitions (H-dividers, tube/cell inserts)</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1011.0</c:v>
                </c:pt>
                <c:pt idx="1">
                  <c:v>1021.0</c:v>
                </c:pt>
                <c:pt idx="2">
                  <c:v>1030.0</c:v>
                </c:pt>
                <c:pt idx="3">
                  <c:v>1037.0</c:v>
                </c:pt>
                <c:pt idx="4">
                  <c:v>1045.0</c:v>
                </c:pt>
                <c:pt idx="5">
                  <c:v>1052.0</c:v>
                </c:pt>
                <c:pt idx="6">
                  <c:v>1059.0</c:v>
                </c:pt>
                <c:pt idx="7">
                  <c:v>1068.0</c:v>
                </c:pt>
                <c:pt idx="8">
                  <c:v>1077.0</c:v>
                </c:pt>
                <c:pt idx="9">
                  <c:v>1086.0</c:v>
                </c:pt>
                <c:pt idx="10">
                  <c:v>1095.0</c:v>
                </c:pt>
                <c:pt idx="11">
                  <c:v>1104.0</c:v>
                </c:pt>
                <c:pt idx="12">
                  <c:v>1113.0</c:v>
                </c:pt>
                <c:pt idx="13">
                  <c:v>1122.0</c:v>
                </c:pt>
                <c:pt idx="14">
                  <c:v>1131.0</c:v>
                </c:pt>
                <c:pt idx="15">
                  <c:v>1139.0</c:v>
                </c:pt>
              </c:numCache>
            </c:numRef>
          </c:val>
          <c:smooth val="0"/>
        </c:ser>
        <c:ser>
          <c:idx val="1"/>
          <c:order val="1"/>
          <c:tx>
            <c:strRef>
              <c:strCache>
                <c:ptCount val="1"/>
                <c:pt idx="0">
                  <c:v>Flat Dividers &amp; Layer Pads</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907.0</c:v>
                </c:pt>
                <c:pt idx="1">
                  <c:v>916.0</c:v>
                </c:pt>
                <c:pt idx="2">
                  <c:v>923.0</c:v>
                </c:pt>
                <c:pt idx="3">
                  <c:v>930.0</c:v>
                </c:pt>
                <c:pt idx="4">
                  <c:v>938.0</c:v>
                </c:pt>
                <c:pt idx="5">
                  <c:v>944.0</c:v>
                </c:pt>
                <c:pt idx="6">
                  <c:v>955.0</c:v>
                </c:pt>
                <c:pt idx="7">
                  <c:v>966.0</c:v>
                </c:pt>
                <c:pt idx="8">
                  <c:v>976.0</c:v>
                </c:pt>
                <c:pt idx="9">
                  <c:v>986.0</c:v>
                </c:pt>
                <c:pt idx="10">
                  <c:v>995.0</c:v>
                </c:pt>
                <c:pt idx="11">
                  <c:v>1002.0</c:v>
                </c:pt>
                <c:pt idx="12">
                  <c:v>1007.0</c:v>
                </c:pt>
                <c:pt idx="13">
                  <c:v>1013.0</c:v>
                </c:pt>
                <c:pt idx="14">
                  <c:v>1018.0</c:v>
                </c:pt>
                <c:pt idx="15">
                  <c:v>1022.0</c:v>
                </c:pt>
              </c:numCache>
            </c:numRef>
          </c:val>
          <c:smooth val="0"/>
        </c:ser>
        <c:ser>
          <c:idx val="2"/>
          <c:order val="2"/>
          <c:tx>
            <c:strRef>
              <c:strCache>
                <c:ptCount val="1"/>
                <c:pt idx="0">
                  <c:v>Slotted (Interlocking Grid) Partitions</c:v>
                </c:pt>
              </c:strCache>
            </c:strRef>
          </c:tx>
          <c:spPr>
            <a:ln w="25400">
              <a:solidFill>
                <a:srgbClr val="7030A0"/>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802.0</c:v>
                </c:pt>
                <c:pt idx="1">
                  <c:v>806.0</c:v>
                </c:pt>
                <c:pt idx="2">
                  <c:v>811.0</c:v>
                </c:pt>
                <c:pt idx="3">
                  <c:v>818.0</c:v>
                </c:pt>
                <c:pt idx="4">
                  <c:v>826.0</c:v>
                </c:pt>
                <c:pt idx="5">
                  <c:v>835.0</c:v>
                </c:pt>
                <c:pt idx="6">
                  <c:v>846.0</c:v>
                </c:pt>
                <c:pt idx="7">
                  <c:v>856.0</c:v>
                </c:pt>
                <c:pt idx="8">
                  <c:v>865.0</c:v>
                </c:pt>
                <c:pt idx="9">
                  <c:v>873.0</c:v>
                </c:pt>
                <c:pt idx="10">
                  <c:v>880.0</c:v>
                </c:pt>
                <c:pt idx="11">
                  <c:v>886.0</c:v>
                </c:pt>
                <c:pt idx="12">
                  <c:v>891.0</c:v>
                </c:pt>
                <c:pt idx="13">
                  <c:v>896.0</c:v>
                </c:pt>
                <c:pt idx="14">
                  <c:v>901.0</c:v>
                </c:pt>
                <c:pt idx="15">
                  <c:v>904.0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1500.0"/>
          <c:min val="50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cat>
            <c:strRef>
              <c:strCache>
                <c:ptCount val="3"/>
                <c:pt idx="0">
                  <c:v>Slotted (Interlocking Grid) Partitions</c:v>
                </c:pt>
                <c:pt idx="1">
                  <c:v>Flat Dividers &amp; Layer Pads</c:v>
                </c:pt>
                <c:pt idx="2">
                  <c:v>Die-Cut &amp; Folded Partitions (H-dividers, tube/cell inserts)</c:v>
                </c:pt>
              </c:strCache>
            </c:strRef>
          </c:cat>
          <c:val>
            <c:numRef>
              <c:numCache>
                <c:formatCode>General</c:formatCode>
                <c:ptCount val="3"/>
                <c:pt idx="0">
                  <c:v>87.4</c:v>
                </c:pt>
                <c:pt idx="1">
                  <c:v>98.8</c:v>
                </c:pt>
                <c:pt idx="2">
                  <c:v>110.1</c:v>
                </c:pt>
              </c:numCache>
            </c:numRef>
          </c:val>
        </c:ser>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12.0"/>
          <c:min val="84.0"/>
        </c:scaling>
        <c:delete/>
        <c:axPos val="b"/>
        <c:majorTickMark val="out"/>
        <c:minorTickMark val="none"/>
        <c:tickLblPos val="none"/>
        <c:crossAx val="-2068027336"/>
        <c:crosses val="autoZero"/>
      </c:valAx>
    </c:plotArea>
    <c:dispBlanksAs val="gap"/>
  </c:chart>
  <c:txPr>
    <a:bodyPr/>
    <a:lstStyle/>
    <a:p>
      <a:pPr>
        <a:defRPr sz="1800"/>
      </a:pPr>
      <a:endParaRPr lang="en-US"/>
    </a:p>
  </c:txPr>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strCache>
                <c:ptCount val="1"/>
                <c:pt idx="0">
                  <c:v>Base</c:v>
                </c:pt>
              </c:strCache>
            </c:strRef>
          </c:tx>
          <c:spPr>
            <a:noFill/>
          </c:spPr>
          <c:cat>
            <c:strRef>
              <c:strCache>
                <c:ptCount val="3"/>
                <c:pt idx="0">
                  <c:v>Slotted (Interlocking Grid) Partitions</c:v>
                </c:pt>
                <c:pt idx="1">
                  <c:v>Flat Dividers &amp; Layer Pads</c:v>
                </c:pt>
                <c:pt idx="2">
                  <c:v>Die-Cut &amp; Folded Partitions (H-dividers, tube/cell inserts)</c:v>
                </c:pt>
              </c:strCache>
            </c:strRef>
          </c:cat>
          <c:val>
            <c:numRef>
              <c:numCache>
                <c:formatCode>General</c:formatCode>
                <c:ptCount val="3"/>
                <c:pt idx="0">
                  <c:v>607</c:v>
                </c:pt>
                <c:pt idx="1">
                  <c:v>687</c:v>
                </c:pt>
                <c:pt idx="2">
                  <c:v>768</c:v>
                </c:pt>
              </c:numCache>
            </c:numRef>
          </c:val>
        </c:ser>
        <c:ser>
          <c:idx val="1"/>
          <c:order val="1"/>
          <c:tx>
            <c:strRef>
              <c:strCache>
                <c:ptCount val="1"/>
                <c:pt idx="0">
                  <c:v>Range</c:v>
                </c:pt>
              </c:strCache>
            </c:strRef>
          </c:tx>
          <c:spPr>
            <a:solidFill>
              <a:srgbClr val="008189"/>
            </a:solidFill>
          </c:spPr>
          <c:cat>
            <c:strRef>
              <c:strCache>
                <c:ptCount val="3"/>
                <c:pt idx="0">
                  <c:v>Slotted (Interlocking Grid) Partitions</c:v>
                </c:pt>
                <c:pt idx="1">
                  <c:v>Flat Dividers &amp; Layer Pads</c:v>
                </c:pt>
                <c:pt idx="2">
                  <c:v>Die-Cut &amp; Folded Partitions (H-dividers, tube/cell inserts)</c:v>
                </c:pt>
              </c:strCache>
            </c:strRef>
          </c:cat>
          <c:val>
            <c:numRef>
              <c:numCache>
                <c:formatCode>General</c:formatCode>
                <c:ptCount val="3"/>
                <c:pt idx="0">
                  <c:v>350</c:v>
                </c:pt>
                <c:pt idx="1">
                  <c:v>393</c:v>
                </c:pt>
                <c:pt idx="2">
                  <c:v>454</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2000.0"/>
          <c:min val="0.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strCache>
                <c:ptCount val="1"/>
                <c:pt idx="0">
                  <c:v>Base</c:v>
                </c:pt>
              </c:strCache>
            </c:strRef>
          </c:tx>
          <c:spPr>
            <a:noFill/>
          </c:spPr>
          <c:cat>
            <c:strRef>
              <c:strCache>
                <c:ptCount val="6"/>
                <c:pt idx="0">
                  <c:v>Europe</c:v>
                </c:pt>
                <c:pt idx="1">
                  <c:v>Middle East &amp; Africa</c:v>
                </c:pt>
                <c:pt idx="2">
                  <c:v>South Asia &amp; Pacific</c:v>
                </c:pt>
                <c:pt idx="3">
                  <c:v>Latin America</c:v>
                </c:pt>
                <c:pt idx="4">
                  <c:v>East Asia</c:v>
                </c:pt>
                <c:pt idx="5">
                  <c:v>North America</c:v>
                </c:pt>
              </c:strCache>
            </c:strRef>
          </c:cat>
          <c:val>
            <c:numRef>
              <c:numCache>
                <c:formatCode>General</c:formatCode>
                <c:ptCount val="6"/>
                <c:pt idx="0">
                  <c:v>94.5</c:v>
                </c:pt>
                <c:pt idx="1">
                  <c:v>91.4</c:v>
                </c:pt>
                <c:pt idx="2">
                  <c:v>88.6</c:v>
                </c:pt>
                <c:pt idx="3">
                  <c:v>88.6</c:v>
                </c:pt>
                <c:pt idx="4">
                  <c:v>87.5</c:v>
                </c:pt>
                <c:pt idx="5">
                  <c:v>80.4</c:v>
                </c:pt>
              </c:numCache>
            </c:numRef>
          </c:val>
        </c:ser>
        <c:ser>
          <c:idx val="1"/>
          <c:order val="1"/>
          <c:tx>
            <c:strRef>
              <c:strCache>
                <c:ptCount val="1"/>
                <c:pt idx="0">
                  <c:v>Range</c:v>
                </c:pt>
              </c:strCache>
            </c:strRef>
          </c:tx>
          <c:spPr>
            <a:solidFill>
              <a:srgbClr val="008189"/>
            </a:solidFill>
          </c:spPr>
          <c:dPt>
            <c:idx val="5"/>
            <c:spPr>
              <a:solidFill>
                <a:srgbClr val="5B7DB1"/>
              </a:solidFill>
            </c:spPr>
          </c:dPt>
          <c:cat>
            <c:strRef>
              <c:strCache>
                <c:ptCount val="6"/>
                <c:pt idx="0">
                  <c:v>Europe</c:v>
                </c:pt>
                <c:pt idx="1">
                  <c:v>Middle East &amp; Africa</c:v>
                </c:pt>
                <c:pt idx="2">
                  <c:v>South Asia &amp; Pacific</c:v>
                </c:pt>
                <c:pt idx="3">
                  <c:v>Latin America</c:v>
                </c:pt>
                <c:pt idx="4">
                  <c:v>East Asia</c:v>
                </c:pt>
                <c:pt idx="5">
                  <c:v>North America</c:v>
                </c:pt>
              </c:strCache>
            </c:strRef>
          </c:cat>
          <c:val>
            <c:numRef>
              <c:numCache>
                <c:formatCode>General</c:formatCode>
                <c:ptCount val="6"/>
                <c:pt idx="0">
                  <c:v>24.6</c:v>
                </c:pt>
                <c:pt idx="1">
                  <c:v>23.5</c:v>
                </c:pt>
                <c:pt idx="2">
                  <c:v>24.2</c:v>
                </c:pt>
                <c:pt idx="3">
                  <c:v>21.7</c:v>
                </c:pt>
                <c:pt idx="4">
                  <c:v>22.8</c:v>
                </c:pt>
                <c:pt idx="5">
                  <c:v>21.9</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20.0"/>
          <c:min val="8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850">
                <a:solidFill>
                  <a:srgbClr val="59636E"/>
                </a:solidFill>
                <a:latin typeface="Calibri"/>
              </a:defRPr>
            </a:pPr>
          </a:p>
        </c:txPr>
        <c:crossAx val="-2068027336"/>
        <c:crosses val="autoZero"/>
        <c:majorUnit val="5.0"/>
      </c:valAx>
    </c:plotArea>
    <c:dispBlanksAs val="gap"/>
  </c:chart>
  <c:txPr>
    <a:bodyPr/>
    <a:lstStyle/>
    <a:p>
      <a:pPr>
        <a:defRPr sz="1800"/>
      </a:pPr>
      <a:endParaRPr lang="en-US"/>
    </a:p>
  </c:txPr>
</c:chartSpace>
</file>

<file path=ppt/charts/chart15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Cache>
            </c:strRef>
          </c:cat>
          <c:val>
            <c:numRef>
              <c:numCache>
                <c:formatCode>General</c:formatCode>
                <c:ptCount val="11"/>
                <c:pt idx="0">
                  <c:v>15.401240790072531</c:v>
                </c:pt>
                <c:pt idx="1">
                  <c:v>13.483170759180721</c:v>
                </c:pt>
                <c:pt idx="2">
                  <c:v>9.299352883645389</c:v>
                </c:pt>
                <c:pt idx="3">
                  <c:v>6.532876475193234</c:v>
                </c:pt>
                <c:pt idx="4">
                  <c:v>6.473319829711895</c:v>
                </c:pt>
                <c:pt idx="5">
                  <c:v>6.433244680872182</c:v>
                </c:pt>
                <c:pt idx="6">
                  <c:v>5.1503700280767655</c:v>
                </c:pt>
                <c:pt idx="7">
                  <c:v>3.1015192989370006</c:v>
                </c:pt>
                <c:pt idx="8">
                  <c:v>2.164598136819089</c:v>
                </c:pt>
                <c:pt idx="9">
                  <c:v>2.136096181068746</c:v>
                </c:pt>
                <c:pt idx="10">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Cache>
            </c:strRef>
          </c:cat>
          <c:val>
            <c:numRef>
              <c:numCache>
                <c:formatCode>General</c:formatCode>
                <c:ptCount val="11"/>
                <c:pt idx="0">
                  <c:v>11.693602256562977</c:v>
                </c:pt>
                <c:pt idx="1">
                  <c:v>9.98907014549872</c:v>
                </c:pt>
                <c:pt idx="2">
                  <c:v>11.264513875278551</c:v>
                </c:pt>
                <c:pt idx="3">
                  <c:v>11.542462021743303</c:v>
                </c:pt>
                <c:pt idx="4">
                  <c:v>9.170712625473369</c:v>
                </c:pt>
                <c:pt idx="5">
                  <c:v>5.69371565484273</c:v>
                </c:pt>
                <c:pt idx="6">
                  <c:v>3.7515880157620747</c:v>
                </c:pt>
                <c:pt idx="7">
                  <c:v>3.240076671241286</c:v>
                </c:pt>
                <c:pt idx="8">
                  <c:v>3.3901784262482124</c:v>
                </c:pt>
                <c:pt idx="9">
                  <c:v>3.0300946920704144</c:v>
                </c:pt>
                <c:pt idx="10">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Cache>
            </c:strRef>
          </c:cat>
          <c:val>
            <c:numRef>
              <c:numCache>
                <c:formatCode>General</c:formatCode>
                <c:ptCount val="11"/>
                <c:pt idx="0">
                  <c:v>12.127056022733685</c:v>
                </c:pt>
                <c:pt idx="1">
                  <c:v>13.515963661294228</c:v>
                </c:pt>
                <c:pt idx="2">
                  <c:v>13.672509787055716</c:v>
                </c:pt>
                <c:pt idx="3">
                  <c:v>10.747277583816313</c:v>
                </c:pt>
                <c:pt idx="4">
                  <c:v>6.853819923875349</c:v>
                </c:pt>
                <c:pt idx="5">
                  <c:v>4.527540451517601</c:v>
                </c:pt>
                <c:pt idx="6">
                  <c:v>4.351504519294602</c:v>
                </c:pt>
                <c:pt idx="7">
                  <c:v>4.386878793633664</c:v>
                </c:pt>
                <c:pt idx="8">
                  <c:v>3.8343075690671227</c:v>
                </c:pt>
                <c:pt idx="9">
                  <c:v>2.614124464284719</c:v>
                </c:pt>
                <c:pt idx="10">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Cache>
            </c:strRef>
          </c:cat>
          <c:val>
            <c:numRef>
              <c:numCache>
                <c:formatCode>General</c:formatCode>
                <c:ptCount val="11"/>
                <c:pt idx="0">
                  <c:v>16.616982878130067</c:v>
                </c:pt>
                <c:pt idx="1">
                  <c:v>15.838373751146182</c:v>
                </c:pt>
                <c:pt idx="2">
                  <c:v>12.226323321243273</c:v>
                </c:pt>
                <c:pt idx="3">
                  <c:v>7.956018792951128</c:v>
                </c:pt>
                <c:pt idx="4">
                  <c:v>5.814138033935409</c:v>
                </c:pt>
                <c:pt idx="5">
                  <c:v>5.618762435113717</c:v>
                </c:pt>
                <c:pt idx="6">
                  <c:v>5.851259038190952</c:v>
                </c:pt>
                <c:pt idx="7">
                  <c:v>4.767350351372047</c:v>
                </c:pt>
                <c:pt idx="8">
                  <c:v>3.1905899020099833</c:v>
                </c:pt>
                <c:pt idx="9">
                  <c:v>1.9266097914653117</c:v>
                </c:pt>
                <c:pt idx="10">
                  <c:v>20.193591704441936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Cache>
            </c:strRef>
          </c:cat>
          <c:val>
            <c:numRef>
              <c:numCache>
                <c:formatCode>General</c:formatCode>
                <c:ptCount val="11"/>
                <c:pt idx="0">
                  <c:v>17.074931814674855</c:v>
                </c:pt>
                <c:pt idx="1">
                  <c:v>12.550885260107192</c:v>
                </c:pt>
                <c:pt idx="2">
                  <c:v>8.380043562697718</c:v>
                </c:pt>
                <c:pt idx="3">
                  <c:v>7.444952014860334</c:v>
                </c:pt>
                <c:pt idx="4">
                  <c:v>8.04660708305492</c:v>
                </c:pt>
                <c:pt idx="5">
                  <c:v>6.919214229256515</c:v>
                </c:pt>
                <c:pt idx="6">
                  <c:v>4.691071174682332</c:v>
                </c:pt>
                <c:pt idx="7">
                  <c:v>2.86510879859984</c:v>
                </c:pt>
                <c:pt idx="8">
                  <c:v>2.560369933335589</c:v>
                </c:pt>
                <c:pt idx="9">
                  <c:v>2.6169804142295043</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Cache>
            </c:strRef>
          </c:cat>
          <c:val>
            <c:numRef>
              <c:numCache>
                <c:formatCode>General</c:formatCode>
                <c:ptCount val="11"/>
                <c:pt idx="0">
                  <c:v>15.570454803610694</c:v>
                </c:pt>
                <c:pt idx="1">
                  <c:v>10.546713911504883</c:v>
                </c:pt>
                <c:pt idx="2">
                  <c:v>10.489494550876001</c:v>
                </c:pt>
                <c:pt idx="3">
                  <c:v>11.523850319189417</c:v>
                </c:pt>
                <c:pt idx="4">
                  <c:v>9.716274527037694</c:v>
                </c:pt>
                <c:pt idx="5">
                  <c:v>6.041847824962319</c:v>
                </c:pt>
                <c:pt idx="6">
                  <c:v>4.100995695833606</c:v>
                </c:pt>
                <c:pt idx="7">
                  <c:v>3.8524851858046234</c:v>
                </c:pt>
                <c:pt idx="8">
                  <c:v>3.889793811996375</c:v>
                </c:pt>
                <c:pt idx="9">
                  <c:v>2.9792010725276863</c:v>
                </c:pt>
                <c:pt idx="10">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Cache>
            </c:strRef>
          </c:cat>
          <c:val>
            <c:numRef>
              <c:numCache>
                <c:formatCode>General</c:formatCode>
                <c:ptCount val="11"/>
                <c:pt idx="0">
                  <c:v>11.931858870012501</c:v>
                </c:pt>
                <c:pt idx="1">
                  <c:v>12.495250983383206</c:v>
                </c:pt>
                <c:pt idx="2">
                  <c:v>13.557011133261542</c:v>
                </c:pt>
                <c:pt idx="3">
                  <c:v>11.024479649083794</c:v>
                </c:pt>
                <c:pt idx="4">
                  <c:v>6.975036720459171</c:v>
                </c:pt>
                <c:pt idx="5">
                  <c:v>4.918850211127804</c:v>
                </c:pt>
                <c:pt idx="6">
                  <c:v>5.131252406943278</c:v>
                </c:pt>
                <c:pt idx="7">
                  <c:v>4.808839258461541</c:v>
                </c:pt>
                <c:pt idx="8">
                  <c:v>3.5084788144252483</c:v>
                </c:pt>
                <c:pt idx="9">
                  <c:v>2.100246059545411</c:v>
                </c:pt>
                <c:pt idx="10">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Food &amp; Beverage</c:v>
                </c:pt>
                <c:pt idx="1">
                  <c:v>Pharmaceuticals &amp; Healthcare</c:v>
                </c:pt>
                <c:pt idx="2">
                  <c:v>Personal Care &amp; Cosmetics</c:v>
                </c:pt>
                <c:pt idx="3">
                  <c:v>Electronics &amp; Electrical</c:v>
                </c:pt>
              </c:strCache>
            </c:strRef>
          </c:cat>
          <c:val>
            <c:numRef>
              <c:numCache>
                <c:formatCode>General</c:formatCode>
                <c:ptCount val="4"/>
                <c:pt idx="0">
                  <c:v>223.22295869635388</c:v>
                </c:pt>
                <c:pt idx="1">
                  <c:v>124.18684322983123</c:v>
                </c:pt>
                <c:pt idx="2">
                  <c:v>156.31588312231577</c:v>
                </c:pt>
                <c:pt idx="3">
                  <c:v>295.295461525107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89.7900092131412"/>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265.2600859720078</c:v>
                </c:pt>
                <c:pt idx="1">
                  <c:v>161.46322373410425</c:v>
                </c:pt>
                <c:pt idx="2">
                  <c:v>87.07243581021135</c:v>
                </c:pt>
                <c:pt idx="3">
                  <c:v>98.38518740611333</c:v>
                </c:pt>
                <c:pt idx="4">
                  <c:v>186.84021365117124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50.1433134830503"/>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Flat Dividers &amp; Layer Pads</c:v>
                </c:pt>
                <c:pt idx="1">
                  <c:v>Die-Cut &amp; Folded Partitions (H-dividers, tube/cell inserts)</c:v>
                </c:pt>
                <c:pt idx="2">
                  <c:v>Slotted (Interlocking Grid) Partitions</c:v>
                </c:pt>
              </c:strCache>
            </c:strRef>
          </c:cat>
          <c:val>
            <c:numRef>
              <c:numCache>
                <c:formatCode>General</c:formatCode>
                <c:ptCount val="3"/>
                <c:pt idx="0">
                  <c:v>160.36336201859277</c:v>
                </c:pt>
                <c:pt idx="1">
                  <c:v>222.94234330946327</c:v>
                </c:pt>
                <c:pt idx="2">
                  <c:v>415.71544124555174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809.3328359999999</c:v>
                </c:pt>
                <c:pt idx="1">
                  <c:v>727.5110963120563</c:v>
                </c:pt>
                <c:pt idx="2">
                  <c:v>531.6778466020176</c:v>
                </c:pt>
                <c:pt idx="3">
                  <c:v>340.62290831747544</c:v>
                </c:pt>
                <c:pt idx="4">
                  <c:v>270.2376433140161</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265.2600859720078</c:v>
                </c:pt>
                <c:pt idx="1">
                  <c:v>161.46322373410425</c:v>
                </c:pt>
                <c:pt idx="2">
                  <c:v>87.07243581021135</c:v>
                </c:pt>
                <c:pt idx="3">
                  <c:v>98.38518740611333</c:v>
                </c:pt>
                <c:pt idx="4">
                  <c:v>186.84021365117124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35.94603008"/>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Food &amp; Beverage</c:v>
                </c:pt>
                <c:pt idx="1">
                  <c:v>Pharmaceuticals &amp; Healthcare</c:v>
                </c:pt>
                <c:pt idx="2">
                  <c:v>Personal Care &amp; Cosmetics</c:v>
                </c:pt>
                <c:pt idx="3">
                  <c:v>Electronics &amp; Electrical</c:v>
                </c:pt>
              </c:strCache>
            </c:strRef>
          </c:cat>
          <c:val>
            <c:numRef>
              <c:numCache>
                <c:formatCode>General</c:formatCode>
                <c:ptCount val="4"/>
                <c:pt idx="0">
                  <c:v>80.59676751512988</c:v>
                </c:pt>
                <c:pt idx="1">
                  <c:v>112.0482383682365</c:v>
                </c:pt>
                <c:pt idx="2">
                  <c:v>208.93376360264085</c:v>
                </c:pt>
                <c:pt idx="3">
                  <c:v>297.9323092832238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93.2706482538554"/>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126.43786014713284</c:v>
                </c:pt>
                <c:pt idx="1">
                  <c:v>70.341862719266</c:v>
                </c:pt>
                <c:pt idx="2">
                  <c:v>88.54038081217205</c:v>
                </c:pt>
                <c:pt idx="3">
                  <c:v>167.2611387486478</c:v>
                </c:pt>
                <c:pt idx="4">
                  <c:v>246.92983634201235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25.9473839714563"/>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Flat Dividers &amp; Layer Pads</c:v>
                </c:pt>
                <c:pt idx="1">
                  <c:v>Die-Cut &amp; Folded Partitions (H-dividers, tube/cell inserts)</c:v>
                </c:pt>
                <c:pt idx="2">
                  <c:v>Slotted (Interlocking Grid) Partitions</c:v>
                </c:pt>
              </c:strCache>
            </c:strRef>
          </c:cat>
          <c:val>
            <c:numRef>
              <c:numCache>
                <c:formatCode>General</c:formatCode>
                <c:ptCount val="3"/>
                <c:pt idx="0">
                  <c:v>130.7807430670271</c:v>
                </c:pt>
                <c:pt idx="1">
                  <c:v>239.24444007476825</c:v>
                </c:pt>
                <c:pt idx="2">
                  <c:v>329.4858956274358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856.025115</c:v>
                </c:pt>
                <c:pt idx="1">
                  <c:v>769.4828903300596</c:v>
                </c:pt>
                <c:pt idx="2">
                  <c:v>562.3515685213647</c:v>
                </c:pt>
                <c:pt idx="3">
                  <c:v>360.2742299511759</c:v>
                </c:pt>
                <c:pt idx="4">
                  <c:v>285.8282765821324</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126.43786014713284</c:v>
                </c:pt>
                <c:pt idx="1">
                  <c:v>70.341862719266</c:v>
                </c:pt>
                <c:pt idx="2">
                  <c:v>88.54038081217205</c:v>
                </c:pt>
                <c:pt idx="3">
                  <c:v>167.2611387486478</c:v>
                </c:pt>
                <c:pt idx="4">
                  <c:v>246.92983634201235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95.7121472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Food &amp; Beverage</c:v>
                </c:pt>
                <c:pt idx="1">
                  <c:v>Pharmaceuticals &amp; Healthcare</c:v>
                </c:pt>
                <c:pt idx="2">
                  <c:v>Personal Care &amp; Cosmetics</c:v>
                </c:pt>
                <c:pt idx="3">
                  <c:v>Electronics &amp; Electrical</c:v>
                </c:pt>
              </c:strCache>
            </c:strRef>
          </c:cat>
          <c:val>
            <c:numRef>
              <c:numCache>
                <c:formatCode>General</c:formatCode>
                <c:ptCount val="4"/>
                <c:pt idx="0">
                  <c:v>61.096331648529</c:v>
                </c:pt>
                <c:pt idx="1">
                  <c:v>111.76689559244402</c:v>
                </c:pt>
                <c:pt idx="2">
                  <c:v>153.92464579016277</c:v>
                </c:pt>
                <c:pt idx="3">
                  <c:v>155.66543737178088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05.4783773307508"/>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38.45339813727719</c:v>
                </c:pt>
                <c:pt idx="1">
                  <c:v>53.459160378181465</c:v>
                </c:pt>
                <c:pt idx="2">
                  <c:v>99.68406232450815</c:v>
                </c:pt>
                <c:pt idx="3">
                  <c:v>142.14601974794527</c:v>
                </c:pt>
                <c:pt idx="4">
                  <c:v>148.71066981500465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96.29808415580615"/>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3"/>
                <c:pt idx="0">
                  <c:v>Flat Dividers &amp; Layer Pads</c:v>
                </c:pt>
                <c:pt idx="1">
                  <c:v>Die-Cut &amp; Folded Partitions (H-dividers, tube/cell inserts)</c:v>
                </c:pt>
                <c:pt idx="2">
                  <c:v>Slotted (Interlocking Grid) Partitions</c:v>
                </c:pt>
              </c:strCache>
            </c:strRef>
          </c:cat>
          <c:val>
            <c:numRef>
              <c:numCache>
                <c:formatCode>General</c:formatCode>
                <c:ptCount val="3"/>
                <c:pt idx="0">
                  <c:v>132.89139849597123</c:v>
                </c:pt>
                <c:pt idx="1">
                  <c:v>176.75971389127355</c:v>
                </c:pt>
                <c:pt idx="2">
                  <c:v>172.802198015672</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902.717394</c:v>
                </c:pt>
                <c:pt idx="1">
                  <c:v>811.454684348063</c:v>
                </c:pt>
                <c:pt idx="2">
                  <c:v>593.025290440712</c:v>
                </c:pt>
                <c:pt idx="3">
                  <c:v>379.9255515848765</c:v>
                </c:pt>
                <c:pt idx="4">
                  <c:v>301.4189098502488</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38.45339813727719</c:v>
                </c:pt>
                <c:pt idx="1">
                  <c:v>53.459160378181465</c:v>
                </c:pt>
                <c:pt idx="2">
                  <c:v>99.68406232450815</c:v>
                </c:pt>
                <c:pt idx="3">
                  <c:v>142.14601974794527</c:v>
                </c:pt>
                <c:pt idx="4">
                  <c:v>148.71066981500465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55.47826432"/>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Region Global Corrugated Partition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By Partition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By Board Construction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By Material Source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By Cell Configuration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By Customization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By End Use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By End Use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By Sales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Country North America Corrugated Partition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By Partition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By Board Construction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By Material Source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Material Source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By Cell Configuration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By Customization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Customization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By End Use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By End Use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End Use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By Sales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Sales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Partition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Partition Type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Partition Type YoY</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Board Construction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Board Construction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Board Construction YoY</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Material Source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Material Source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Material Source YoY</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Cell Configuration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Cell Configuration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Cell Configuration YoY</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Customization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Customization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Customization YoY</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End Use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End Use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End Use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End Use YoY</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Sales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Sales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Country Sales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Partition Type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Board Construction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Cell Configuration × End Use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Multicell Packaging Inc. Snapshot</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Multicell Packaging Inc.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Multicell Packaging Inc.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Multicell Packaging Inc.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Multicell Packaging Inc.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Company Snapshot</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Company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Company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Company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Company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Great American Paper Inc. Snapshot</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Great American Paper Inc.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Great American Paper Inc.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Great American Paper Inc.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Competitor Company Profiles &amp; Strategic Benchmarking Great American Paper Inc.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Table of Contents  (1/7)</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Table of Contents  (2/7)</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Table of Contents  (3/7)</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Table of Contents  (4/7)</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Table of Contents  (5/7)</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Table of Contents  (6/7)</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Table of Contents  (7/7)</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Corrugated Partition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0.xml"/><Relationship Id="rId7" Type="http://schemas.openxmlformats.org/officeDocument/2006/relationships/slide" Target="slide18.xml"/><Relationship Id="rId8" Type="http://schemas.openxmlformats.org/officeDocument/2006/relationships/slide" Target="slide27.xml"/><Relationship Id="rId9" Type="http://schemas.openxmlformats.org/officeDocument/2006/relationships/slide" Target="slide28.xml"/><Relationship Id="rId10" Type="http://schemas.openxmlformats.org/officeDocument/2006/relationships/slide" Target="slide39.xml"/><Relationship Id="rId11" Type="http://schemas.openxmlformats.org/officeDocument/2006/relationships/slide" Target="slide47.xml"/><Relationship Id="rId12" Type="http://schemas.openxmlformats.org/officeDocument/2006/relationships/slide" Target="slide113.xml"/><Relationship Id="rId13" Type="http://schemas.openxmlformats.org/officeDocument/2006/relationships/slide" Target="slide126.xml"/><Relationship Id="rId14" Type="http://schemas.openxmlformats.org/officeDocument/2006/relationships/slide" Target="slide127.xml"/><Relationship Id="rId15" Type="http://schemas.openxmlformats.org/officeDocument/2006/relationships/slide" Target="slide137.xml"/><Relationship Id="rId16" Type="http://schemas.openxmlformats.org/officeDocument/2006/relationships/slide" Target="slide145.xml"/><Relationship Id="rId17" Type="http://schemas.openxmlformats.org/officeDocument/2006/relationships/slide" Target="slide211.xml"/><Relationship Id="rId18" Type="http://schemas.openxmlformats.org/officeDocument/2006/relationships/slide" Target="slide224.xml"/><Relationship Id="rId19" Type="http://schemas.openxmlformats.org/officeDocument/2006/relationships/slide" Target="slide225.xml"/><Relationship Id="rId20" Type="http://schemas.openxmlformats.org/officeDocument/2006/relationships/slide" Target="slide230.xml"/><Relationship Id="rId21" Type="http://schemas.openxmlformats.org/officeDocument/2006/relationships/slide" Target="slide260.xml"/><Relationship Id="rId22" Type="http://schemas.openxmlformats.org/officeDocument/2006/relationships/slide" Target="slide273.xml"/><Relationship Id="rId23" Type="http://schemas.openxmlformats.org/officeDocument/2006/relationships/slide" Target="slide274.xml"/><Relationship Id="rId24" Type="http://schemas.openxmlformats.org/officeDocument/2006/relationships/slide" Target="slide287.xml"/><Relationship Id="rId25" Type="http://schemas.openxmlformats.org/officeDocument/2006/relationships/slide" Target="slide291.xml"/><Relationship Id="rId26" Type="http://schemas.openxmlformats.org/officeDocument/2006/relationships/slide" Target="slide292.xml"/><Relationship Id="rId27" Type="http://schemas.openxmlformats.org/officeDocument/2006/relationships/slide" Target="slide300.xml"/><Relationship Id="rId28" Type="http://schemas.openxmlformats.org/officeDocument/2006/relationships/slide" Target="slide301.xml"/><Relationship Id="rId29" Type="http://schemas.openxmlformats.org/officeDocument/2006/relationships/slide" Target="slide315.xml"/><Relationship Id="rId30" Type="http://schemas.openxmlformats.org/officeDocument/2006/relationships/slide" Target="slide32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9.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0.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8.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0.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 Id="rId6" Type="http://schemas.openxmlformats.org/officeDocument/2006/relationships/image" Target="../media/image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 Id="rId4"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 Id="rId6" Type="http://schemas.openxmlformats.org/officeDocument/2006/relationships/image" Target="../media/image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 Id="rId6" Type="http://schemas.openxmlformats.org/officeDocument/2006/relationships/image" Target="../media/image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 Id="rId4" Type="http://schemas.openxmlformats.org/officeDocument/2006/relationships/image" Target="../media/image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 Id="rId4"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 Id="rId5"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 Id="rId4"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 Id="rId5" Type="http://schemas.openxmlformats.org/officeDocument/2006/relationships/image" Target="../media/image2.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 Id="rId4" Type="http://schemas.openxmlformats.org/officeDocument/2006/relationships/image" Target="../media/image60.png"/><Relationship Id="rId5" Type="http://schemas.openxmlformats.org/officeDocument/2006/relationships/image" Target="../media/image61.png"/><Relationship Id="rId6" Type="http://schemas.openxmlformats.org/officeDocument/2006/relationships/image" Target="../media/image62.png"/><Relationship Id="rId7" Type="http://schemas.openxmlformats.org/officeDocument/2006/relationships/image" Target="../media/image63.png"/><Relationship Id="rId8" Type="http://schemas.openxmlformats.org/officeDocument/2006/relationships/image" Target="../media/image64.png"/><Relationship Id="rId9" Type="http://schemas.openxmlformats.org/officeDocument/2006/relationships/image" Target="../media/image65.png"/><Relationship Id="rId10" Type="http://schemas.openxmlformats.org/officeDocument/2006/relationships/image" Target="../media/image66.png"/><Relationship Id="rId11" Type="http://schemas.openxmlformats.org/officeDocument/2006/relationships/image" Target="../media/image67.png"/><Relationship Id="rId12" Type="http://schemas.openxmlformats.org/officeDocument/2006/relationships/image" Target="../media/image68.png"/><Relationship Id="rId13" Type="http://schemas.openxmlformats.org/officeDocument/2006/relationships/image" Target="../media/image69.png"/><Relationship Id="rId14" Type="http://schemas.openxmlformats.org/officeDocument/2006/relationships/image" Target="../media/image70.png"/><Relationship Id="rId15" Type="http://schemas.openxmlformats.org/officeDocument/2006/relationships/image" Target="../media/image71.png"/><Relationship Id="rId16" Type="http://schemas.openxmlformats.org/officeDocument/2006/relationships/image" Target="../media/image72.png"/><Relationship Id="rId17" Type="http://schemas.openxmlformats.org/officeDocument/2006/relationships/image" Target="../media/image73.png"/><Relationship Id="rId18" Type="http://schemas.openxmlformats.org/officeDocument/2006/relationships/image" Target="../media/image74.png"/><Relationship Id="rId19" Type="http://schemas.openxmlformats.org/officeDocument/2006/relationships/image" Target="../media/image75.png"/><Relationship Id="rId20" Type="http://schemas.openxmlformats.org/officeDocument/2006/relationships/image" Target="../media/image76.png"/><Relationship Id="rId21" Type="http://schemas.openxmlformats.org/officeDocument/2006/relationships/image" Target="../media/image77.png"/><Relationship Id="rId22" Type="http://schemas.openxmlformats.org/officeDocument/2006/relationships/image" Target="../media/image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 Id="rId5" Type="http://schemas.openxmlformats.org/officeDocument/2006/relationships/image" Target="../media/image2.png"/><Relationship Id="rId6" Type="http://schemas.openxmlformats.org/officeDocument/2006/relationships/image" Target="../media/image88.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 Id="rId5" Type="http://schemas.openxmlformats.org/officeDocument/2006/relationships/image" Target="../media/image2.png"/><Relationship Id="rId6" Type="http://schemas.openxmlformats.org/officeDocument/2006/relationships/image" Target="../media/image100.png"/><Relationship Id="rId7" Type="http://schemas.openxmlformats.org/officeDocument/2006/relationships/image" Target="../media/image101.png"/><Relationship Id="rId8" Type="http://schemas.openxmlformats.org/officeDocument/2006/relationships/image" Target="../media/image10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 Id="rId4"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 Id="rId4" Type="http://schemas.openxmlformats.org/officeDocument/2006/relationships/image" Target="../media/image2.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 Id="rId4" Type="http://schemas.openxmlformats.org/officeDocument/2006/relationships/image" Target="../media/image2.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105.png"/><Relationship Id="rId5" Type="http://schemas.openxmlformats.org/officeDocument/2006/relationships/image" Target="../media/image106.png"/><Relationship Id="rId6" Type="http://schemas.openxmlformats.org/officeDocument/2006/relationships/image" Target="../media/image71.png"/><Relationship Id="rId7" Type="http://schemas.openxmlformats.org/officeDocument/2006/relationships/image" Target="../media/image107.png"/><Relationship Id="rId8" Type="http://schemas.openxmlformats.org/officeDocument/2006/relationships/image" Target="../media/image108.png"/><Relationship Id="rId9" Type="http://schemas.openxmlformats.org/officeDocument/2006/relationships/image" Target="../media/image109.png"/><Relationship Id="rId10" Type="http://schemas.openxmlformats.org/officeDocument/2006/relationships/image" Target="../media/image110.png"/><Relationship Id="rId11" Type="http://schemas.openxmlformats.org/officeDocument/2006/relationships/image" Target="../media/image57.png"/><Relationship Id="rId12" Type="http://schemas.openxmlformats.org/officeDocument/2006/relationships/image" Target="../media/image111.png"/><Relationship Id="rId13"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5.xml"/><Relationship Id="rId6" Type="http://schemas.openxmlformats.org/officeDocument/2006/relationships/image" Target="../media/image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notesSlide" Target="../notesSlides/notesSlide26.xml"/><Relationship Id="rId7" Type="http://schemas.openxmlformats.org/officeDocument/2006/relationships/image" Target="../media/image2.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 Id="rId4" Type="http://schemas.openxmlformats.org/officeDocument/2006/relationships/image" Target="../media/image2.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 Id="rId4" Type="http://schemas.openxmlformats.org/officeDocument/2006/relationships/image" Target="../media/image2.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xml"/><Relationship Id="rId4" Type="http://schemas.openxmlformats.org/officeDocument/2006/relationships/notesSlide" Target="../notesSlides/notesSlide29.xml"/><Relationship Id="rId5" Type="http://schemas.openxmlformats.org/officeDocument/2006/relationships/image" Target="../media/image2.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 Id="rId4"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 Id="rId4" Type="http://schemas.openxmlformats.org/officeDocument/2006/relationships/image" Target="../media/image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 Id="rId4" Type="http://schemas.openxmlformats.org/officeDocument/2006/relationships/image" Target="../media/image139.png"/><Relationship Id="rId5" Type="http://schemas.openxmlformats.org/officeDocument/2006/relationships/image" Target="../media/image140.png"/><Relationship Id="rId6" Type="http://schemas.openxmlformats.org/officeDocument/2006/relationships/image" Target="../media/image141.png"/><Relationship Id="rId7" Type="http://schemas.openxmlformats.org/officeDocument/2006/relationships/image" Target="../media/image142.png"/><Relationship Id="rId8" Type="http://schemas.openxmlformats.org/officeDocument/2006/relationships/image" Target="../media/image143.png"/><Relationship Id="rId9" Type="http://schemas.openxmlformats.org/officeDocument/2006/relationships/image" Target="../media/image74.png"/><Relationship Id="rId10" Type="http://schemas.openxmlformats.org/officeDocument/2006/relationships/image" Target="../media/image144.png"/><Relationship Id="rId11" Type="http://schemas.openxmlformats.org/officeDocument/2006/relationships/image" Target="../media/image145.png"/><Relationship Id="rId12" Type="http://schemas.openxmlformats.org/officeDocument/2006/relationships/image" Target="../media/image146.png"/><Relationship Id="rId13"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chart" Target="../charts/chart22.xml"/><Relationship Id="rId5" Type="http://schemas.openxmlformats.org/officeDocument/2006/relationships/notesSlide" Target="../notesSlides/notesSlide33.xml"/><Relationship Id="rId6"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xml"/><Relationship Id="rId4" Type="http://schemas.openxmlformats.org/officeDocument/2006/relationships/chart" Target="../charts/chart24.xml"/><Relationship Id="rId5" Type="http://schemas.openxmlformats.org/officeDocument/2006/relationships/chart" Target="../charts/chart25.xml"/><Relationship Id="rId6" Type="http://schemas.openxmlformats.org/officeDocument/2006/relationships/notesSlide" Target="../notesSlides/notesSlide34.xml"/><Relationship Id="rId7" Type="http://schemas.openxmlformats.org/officeDocument/2006/relationships/image" Target="../media/image2.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 Id="rId4"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 Id="rId4" Type="http://schemas.openxmlformats.org/officeDocument/2006/relationships/image" Target="../media/image2.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xml"/><Relationship Id="rId4" Type="http://schemas.openxmlformats.org/officeDocument/2006/relationships/notesSlide" Target="../notesSlides/notesSlide37.xml"/><Relationship Id="rId5" Type="http://schemas.openxmlformats.org/officeDocument/2006/relationships/image" Target="../media/image2.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xml"/><Relationship Id="rId4"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 Id="rId4" Type="http://schemas.openxmlformats.org/officeDocument/2006/relationships/image" Target="../media/image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 Id="rId4" Type="http://schemas.openxmlformats.org/officeDocument/2006/relationships/image" Target="../media/image173.png"/><Relationship Id="rId5" Type="http://schemas.openxmlformats.org/officeDocument/2006/relationships/image" Target="../media/image174.png"/><Relationship Id="rId6" Type="http://schemas.openxmlformats.org/officeDocument/2006/relationships/image" Target="../media/image77.png"/><Relationship Id="rId7" Type="http://schemas.openxmlformats.org/officeDocument/2006/relationships/image" Target="../media/image175.png"/><Relationship Id="rId8" Type="http://schemas.openxmlformats.org/officeDocument/2006/relationships/image" Target="../media/image176.png"/><Relationship Id="rId9" Type="http://schemas.openxmlformats.org/officeDocument/2006/relationships/image" Target="../media/image177.png"/><Relationship Id="rId10" Type="http://schemas.openxmlformats.org/officeDocument/2006/relationships/image" Target="../media/image2.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xml"/><Relationship Id="rId4" Type="http://schemas.openxmlformats.org/officeDocument/2006/relationships/chart" Target="../charts/chart28.xml"/><Relationship Id="rId5" Type="http://schemas.openxmlformats.org/officeDocument/2006/relationships/notesSlide" Target="../notesSlides/notesSlide41.xml"/><Relationship Id="rId6" Type="http://schemas.openxmlformats.org/officeDocument/2006/relationships/image" Target="../media/image2.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xml"/><Relationship Id="rId4" Type="http://schemas.openxmlformats.org/officeDocument/2006/relationships/chart" Target="../charts/chart30.xml"/><Relationship Id="rId5" Type="http://schemas.openxmlformats.org/officeDocument/2006/relationships/notesSlide" Target="../notesSlides/notesSlide42.xml"/><Relationship Id="rId6" Type="http://schemas.openxmlformats.org/officeDocument/2006/relationships/image" Target="../media/image2.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xml"/><Relationship Id="rId4"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 Id="rId4" Type="http://schemas.openxmlformats.org/officeDocument/2006/relationships/image" Target="../media/image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notesSlide" Target="../notesSlides/notesSlide45.xml"/><Relationship Id="rId5" Type="http://schemas.openxmlformats.org/officeDocument/2006/relationships/image" Target="../media/image2.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 Id="rId4" Type="http://schemas.openxmlformats.org/officeDocument/2006/relationships/image" Target="../media/image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 Id="rId4"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xml"/><Relationship Id="rId4" Type="http://schemas.openxmlformats.org/officeDocument/2006/relationships/image" Target="../media/image194.png"/><Relationship Id="rId5" Type="http://schemas.openxmlformats.org/officeDocument/2006/relationships/image" Target="../media/image195.png"/><Relationship Id="rId6" Type="http://schemas.openxmlformats.org/officeDocument/2006/relationships/image" Target="../media/image77.png"/><Relationship Id="rId7" Type="http://schemas.openxmlformats.org/officeDocument/2006/relationships/image" Target="../media/image196.png"/><Relationship Id="rId8" Type="http://schemas.openxmlformats.org/officeDocument/2006/relationships/image" Target="../media/image197.png"/><Relationship Id="rId9" Type="http://schemas.openxmlformats.org/officeDocument/2006/relationships/image" Target="../media/image198.png"/><Relationship Id="rId10" Type="http://schemas.openxmlformats.org/officeDocument/2006/relationships/image" Target="../media/image199.png"/><Relationship Id="rId11" Type="http://schemas.openxmlformats.org/officeDocument/2006/relationships/image" Target="../media/image200.png"/><Relationship Id="rId12" Type="http://schemas.openxmlformats.org/officeDocument/2006/relationships/image" Target="../media/image109.png"/><Relationship Id="rId13" Type="http://schemas.openxmlformats.org/officeDocument/2006/relationships/image" Target="../media/image201.png"/><Relationship Id="rId14" Type="http://schemas.openxmlformats.org/officeDocument/2006/relationships/image" Target="../media/image202.png"/><Relationship Id="rId15" Type="http://schemas.openxmlformats.org/officeDocument/2006/relationships/image" Target="../media/image203.png"/><Relationship Id="rId16" Type="http://schemas.openxmlformats.org/officeDocument/2006/relationships/image" Target="../media/image2.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chart" Target="../charts/chart33.xml"/><Relationship Id="rId5" Type="http://schemas.openxmlformats.org/officeDocument/2006/relationships/notesSlide" Target="../notesSlides/notesSlide49.xml"/><Relationship Id="rId6" Type="http://schemas.openxmlformats.org/officeDocument/2006/relationships/image" Target="../media/image2.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xml"/><Relationship Id="rId4" Type="http://schemas.openxmlformats.org/officeDocument/2006/relationships/chart" Target="../charts/chart35.xml"/><Relationship Id="rId5" Type="http://schemas.openxmlformats.org/officeDocument/2006/relationships/chart" Target="../charts/chart36.xml"/><Relationship Id="rId6" Type="http://schemas.openxmlformats.org/officeDocument/2006/relationships/chart" Target="../charts/chart37.xml"/><Relationship Id="rId7" Type="http://schemas.openxmlformats.org/officeDocument/2006/relationships/notesSlide" Target="../notesSlides/notesSlide50.xml"/><Relationship Id="rId8"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 Id="rId4"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 Id="rId4"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notesSlide" Target="../notesSlides/notesSlide53.xml"/><Relationship Id="rId5"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 Id="rId4" Type="http://schemas.openxmlformats.org/officeDocument/2006/relationships/image" Target="../media/image2.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 Id="rId4" Type="http://schemas.openxmlformats.org/officeDocument/2006/relationships/image" Target="../media/image2.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xml"/><Relationship Id="rId4" Type="http://schemas.openxmlformats.org/officeDocument/2006/relationships/image" Target="../media/image238.png"/><Relationship Id="rId5" Type="http://schemas.openxmlformats.org/officeDocument/2006/relationships/image" Target="../media/image239.png"/><Relationship Id="rId6" Type="http://schemas.openxmlformats.org/officeDocument/2006/relationships/image" Target="../media/image203.png"/><Relationship Id="rId7" Type="http://schemas.openxmlformats.org/officeDocument/2006/relationships/image" Target="../media/image240.png"/><Relationship Id="rId8" Type="http://schemas.openxmlformats.org/officeDocument/2006/relationships/image" Target="../media/image241.png"/><Relationship Id="rId9" Type="http://schemas.openxmlformats.org/officeDocument/2006/relationships/image" Target="../media/image242.png"/><Relationship Id="rId10" Type="http://schemas.openxmlformats.org/officeDocument/2006/relationships/image" Target="../media/image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9.xml"/><Relationship Id="rId4" Type="http://schemas.openxmlformats.org/officeDocument/2006/relationships/chart" Target="../charts/chart40.xml"/><Relationship Id="rId5" Type="http://schemas.openxmlformats.org/officeDocument/2006/relationships/notesSlide" Target="../notesSlides/notesSlide57.xml"/><Relationship Id="rId6" Type="http://schemas.openxmlformats.org/officeDocument/2006/relationships/image" Target="../media/image2.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xml"/><Relationship Id="rId4" Type="http://schemas.openxmlformats.org/officeDocument/2006/relationships/chart" Target="../charts/chart42.xml"/><Relationship Id="rId5" Type="http://schemas.openxmlformats.org/officeDocument/2006/relationships/notesSlide" Target="../notesSlides/notesSlide58.xml"/><Relationship Id="rId6"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 Id="rId4"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xml"/><Relationship Id="rId4" Type="http://schemas.openxmlformats.org/officeDocument/2006/relationships/notesSlide" Target="../notesSlides/notesSlide61.xml"/><Relationship Id="rId5"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xml"/><Relationship Id="rId4" Type="http://schemas.openxmlformats.org/officeDocument/2006/relationships/image" Target="../media/image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 Id="rId4" Type="http://schemas.openxmlformats.org/officeDocument/2006/relationships/image" Target="../media/image2.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 Id="rId4" Type="http://schemas.openxmlformats.org/officeDocument/2006/relationships/image" Target="../media/image261.png"/><Relationship Id="rId5" Type="http://schemas.openxmlformats.org/officeDocument/2006/relationships/image" Target="../media/image262.png"/><Relationship Id="rId6" Type="http://schemas.openxmlformats.org/officeDocument/2006/relationships/image" Target="../media/image263.png"/><Relationship Id="rId7" Type="http://schemas.openxmlformats.org/officeDocument/2006/relationships/image" Target="../media/image264.png"/><Relationship Id="rId8" Type="http://schemas.openxmlformats.org/officeDocument/2006/relationships/image" Target="../media/image265.png"/><Relationship Id="rId9" Type="http://schemas.openxmlformats.org/officeDocument/2006/relationships/image" Target="../media/image266.png"/><Relationship Id="rId10" Type="http://schemas.openxmlformats.org/officeDocument/2006/relationships/image" Target="../media/image267.png"/><Relationship Id="rId11" Type="http://schemas.openxmlformats.org/officeDocument/2006/relationships/image" Target="../media/image268.png"/><Relationship Id="rId12" Type="http://schemas.openxmlformats.org/officeDocument/2006/relationships/image" Target="../media/image203.png"/><Relationship Id="rId13" Type="http://schemas.openxmlformats.org/officeDocument/2006/relationships/image" Target="../media/image269.png"/><Relationship Id="rId14" Type="http://schemas.openxmlformats.org/officeDocument/2006/relationships/image" Target="../media/image270.png"/><Relationship Id="rId15" Type="http://schemas.openxmlformats.org/officeDocument/2006/relationships/image" Target="../media/image271.png"/><Relationship Id="rId16"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 Id="rId4" Type="http://schemas.openxmlformats.org/officeDocument/2006/relationships/image" Target="../media/image272.png"/><Relationship Id="rId5" Type="http://schemas.openxmlformats.org/officeDocument/2006/relationships/image" Target="../media/image273.png"/><Relationship Id="rId6" Type="http://schemas.openxmlformats.org/officeDocument/2006/relationships/image" Target="../media/image274.png"/><Relationship Id="rId7" Type="http://schemas.openxmlformats.org/officeDocument/2006/relationships/image" Target="../media/image275.png"/><Relationship Id="rId8" Type="http://schemas.openxmlformats.org/officeDocument/2006/relationships/image" Target="../media/image276.png"/><Relationship Id="rId9" Type="http://schemas.openxmlformats.org/officeDocument/2006/relationships/image" Target="../media/image277.png"/><Relationship Id="rId10" Type="http://schemas.openxmlformats.org/officeDocument/2006/relationships/image" Target="../media/image278.png"/><Relationship Id="rId11" Type="http://schemas.openxmlformats.org/officeDocument/2006/relationships/image" Target="../media/image279.png"/><Relationship Id="rId12" Type="http://schemas.openxmlformats.org/officeDocument/2006/relationships/image" Target="../media/image280.png"/><Relationship Id="rId13" Type="http://schemas.openxmlformats.org/officeDocument/2006/relationships/image" Target="../media/image2.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xml"/><Relationship Id="rId4" Type="http://schemas.openxmlformats.org/officeDocument/2006/relationships/chart" Target="../charts/chart45.xml"/><Relationship Id="rId5" Type="http://schemas.openxmlformats.org/officeDocument/2006/relationships/notesSlide" Target="../notesSlides/notesSlide66.xml"/><Relationship Id="rId6"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chart" Target="../charts/chart48.xml"/><Relationship Id="rId6" Type="http://schemas.openxmlformats.org/officeDocument/2006/relationships/chart" Target="../charts/chart49.xml"/><Relationship Id="rId7" Type="http://schemas.openxmlformats.org/officeDocument/2006/relationships/notesSlide" Target="../notesSlides/notesSlide67.xml"/><Relationship Id="rId8"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0.xml"/><Relationship Id="rId4" Type="http://schemas.openxmlformats.org/officeDocument/2006/relationships/chart" Target="../charts/chart51.xml"/><Relationship Id="rId5" Type="http://schemas.openxmlformats.org/officeDocument/2006/relationships/chart" Target="../charts/chart52.xml"/><Relationship Id="rId6" Type="http://schemas.openxmlformats.org/officeDocument/2006/relationships/notesSlide" Target="../notesSlides/notesSlide68.xml"/><Relationship Id="rId7"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xml"/><Relationship Id="rId4"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notesSlide" Target="../notesSlides/notesSlide71.xml"/><Relationship Id="rId5"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 Id="rId4" Type="http://schemas.openxmlformats.org/officeDocument/2006/relationships/image" Target="../media/image2.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 Id="rId4" Type="http://schemas.openxmlformats.org/officeDocument/2006/relationships/image" Target="../media/image2.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 Id="rId4" Type="http://schemas.openxmlformats.org/officeDocument/2006/relationships/image" Target="../media/image339.png"/><Relationship Id="rId5" Type="http://schemas.openxmlformats.org/officeDocument/2006/relationships/image" Target="../media/image340.png"/><Relationship Id="rId6" Type="http://schemas.openxmlformats.org/officeDocument/2006/relationships/image" Target="../media/image266.png"/><Relationship Id="rId7" Type="http://schemas.openxmlformats.org/officeDocument/2006/relationships/image" Target="../media/image341.png"/><Relationship Id="rId8" Type="http://schemas.openxmlformats.org/officeDocument/2006/relationships/image" Target="../media/image342.png"/><Relationship Id="rId9" Type="http://schemas.openxmlformats.org/officeDocument/2006/relationships/image" Target="../media/image74.png"/><Relationship Id="rId10" Type="http://schemas.openxmlformats.org/officeDocument/2006/relationships/image" Target="../media/image2.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xml"/><Relationship Id="rId4" Type="http://schemas.openxmlformats.org/officeDocument/2006/relationships/chart" Target="../charts/chart55.xml"/><Relationship Id="rId5" Type="http://schemas.openxmlformats.org/officeDocument/2006/relationships/notesSlide" Target="../notesSlides/notesSlide75.xml"/><Relationship Id="rId6"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xml"/><Relationship Id="rId4" Type="http://schemas.openxmlformats.org/officeDocument/2006/relationships/chart" Target="../charts/chart57.xml"/><Relationship Id="rId5" Type="http://schemas.openxmlformats.org/officeDocument/2006/relationships/notesSlide" Target="../notesSlides/notesSlide76.xml"/><Relationship Id="rId6" Type="http://schemas.openxmlformats.org/officeDocument/2006/relationships/image" Target="../media/image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 Id="rId4" Type="http://schemas.openxmlformats.org/officeDocument/2006/relationships/image" Target="../media/image2.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notesSlide" Target="../notesSlides/notesSlide79.xml"/><Relationship Id="rId5"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 Id="rId4" Type="http://schemas.openxmlformats.org/officeDocument/2006/relationships/image" Target="../media/image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 Id="rId4" Type="http://schemas.openxmlformats.org/officeDocument/2006/relationships/image" Target="../media/image2.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xml"/><Relationship Id="rId4"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xml"/><Relationship Id="rId4" Type="http://schemas.openxmlformats.org/officeDocument/2006/relationships/notesSlide" Target="../notesSlides/notesSlide83.xml"/><Relationship Id="rId5" Type="http://schemas.openxmlformats.org/officeDocument/2006/relationships/image" Target="../media/image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 Id="rId4"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xml"/><Relationship Id="rId4" Type="http://schemas.openxmlformats.org/officeDocument/2006/relationships/image" Target="../media/image2.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notesSlide" Target="../notesSlides/notesSlide86.xml"/><Relationship Id="rId5" Type="http://schemas.openxmlformats.org/officeDocument/2006/relationships/image" Target="../media/image2.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 Id="rId4" Type="http://schemas.openxmlformats.org/officeDocument/2006/relationships/image" Target="../media/image2.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 Id="rId4" Type="http://schemas.openxmlformats.org/officeDocument/2006/relationships/image" Target="../media/image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xml"/><Relationship Id="rId4" Type="http://schemas.openxmlformats.org/officeDocument/2006/relationships/notesSlide" Target="../notesSlides/notesSlide89.xml"/><Relationship Id="rId5" Type="http://schemas.openxmlformats.org/officeDocument/2006/relationships/image" Target="../media/image2.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 Id="rId4"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xml"/><Relationship Id="rId4" Type="http://schemas.openxmlformats.org/officeDocument/2006/relationships/chart" Target="../charts/chart63.xml"/><Relationship Id="rId5" Type="http://schemas.openxmlformats.org/officeDocument/2006/relationships/notesSlide" Target="../notesSlides/notesSlide92.xml"/><Relationship Id="rId6"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chart" Target="../charts/chart65.xml"/><Relationship Id="rId5" Type="http://schemas.openxmlformats.org/officeDocument/2006/relationships/notesSlide" Target="../notesSlides/notesSlide94.xml"/><Relationship Id="rId6" Type="http://schemas.openxmlformats.org/officeDocument/2006/relationships/image" Target="../media/image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chart" Target="../charts/chart67.xml"/><Relationship Id="rId5" Type="http://schemas.openxmlformats.org/officeDocument/2006/relationships/notesSlide" Target="../notesSlides/notesSlide95.xml"/><Relationship Id="rId6" Type="http://schemas.openxmlformats.org/officeDocument/2006/relationships/image" Target="../media/image2.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xml"/><Relationship Id="rId4" Type="http://schemas.openxmlformats.org/officeDocument/2006/relationships/chart" Target="../charts/chart69.xml"/><Relationship Id="rId5" Type="http://schemas.openxmlformats.org/officeDocument/2006/relationships/notesSlide" Target="../notesSlides/notesSlide96.xml"/><Relationship Id="rId6" Type="http://schemas.openxmlformats.org/officeDocument/2006/relationships/image" Target="../media/image2.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 Id="rId4" Type="http://schemas.openxmlformats.org/officeDocument/2006/relationships/image" Target="../media/image2.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notesSlide" Target="../notesSlides/notesSlide98.xml"/><Relationship Id="rId5" Type="http://schemas.openxmlformats.org/officeDocument/2006/relationships/image" Target="../media/image2.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xml"/><Relationship Id="rId4"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xml"/><Relationship Id="rId4" Type="http://schemas.openxmlformats.org/officeDocument/2006/relationships/notesSlide" Target="../notesSlides/notesSlide100.xml"/><Relationship Id="rId5"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2.xml"/><Relationship Id="rId4" Type="http://schemas.openxmlformats.org/officeDocument/2006/relationships/notesSlide" Target="../notesSlides/notesSlide102.xml"/><Relationship Id="rId5" Type="http://schemas.openxmlformats.org/officeDocument/2006/relationships/image" Target="../media/image2.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notesSlide" Target="../notesSlides/notesSlide103.xml"/><Relationship Id="rId5" Type="http://schemas.openxmlformats.org/officeDocument/2006/relationships/image" Target="../media/image2.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 Id="rId4"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 Id="rId4" Type="http://schemas.openxmlformats.org/officeDocument/2006/relationships/image" Target="../media/image2.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xml"/><Relationship Id="rId4" Type="http://schemas.openxmlformats.org/officeDocument/2006/relationships/chart" Target="../charts/chart75.xml"/><Relationship Id="rId5" Type="http://schemas.openxmlformats.org/officeDocument/2006/relationships/notesSlide" Target="../notesSlides/notesSlide106.xml"/><Relationship Id="rId6" Type="http://schemas.openxmlformats.org/officeDocument/2006/relationships/image" Target="../media/image2.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 Id="rId4"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 Id="rId4" Type="http://schemas.openxmlformats.org/officeDocument/2006/relationships/image" Target="../media/image474.png"/><Relationship Id="rId5" Type="http://schemas.openxmlformats.org/officeDocument/2006/relationships/image" Target="../media/image401.png"/><Relationship Id="rId6" Type="http://schemas.openxmlformats.org/officeDocument/2006/relationships/image" Target="../media/image77.png"/><Relationship Id="rId7" Type="http://schemas.openxmlformats.org/officeDocument/2006/relationships/image" Target="../media/image475.png"/><Relationship Id="rId8" Type="http://schemas.openxmlformats.org/officeDocument/2006/relationships/image" Target="../media/image400.png"/><Relationship Id="rId9" Type="http://schemas.openxmlformats.org/officeDocument/2006/relationships/image" Target="../media/image476.png"/><Relationship Id="rId10" Type="http://schemas.openxmlformats.org/officeDocument/2006/relationships/image" Target="../media/image477.png"/><Relationship Id="rId11" Type="http://schemas.openxmlformats.org/officeDocument/2006/relationships/image" Target="../media/image399.png"/><Relationship Id="rId12" Type="http://schemas.openxmlformats.org/officeDocument/2006/relationships/image" Target="../media/image146.png"/><Relationship Id="rId13"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xml"/><Relationship Id="rId4" Type="http://schemas.openxmlformats.org/officeDocument/2006/relationships/chart" Target="../charts/chart77.xml"/><Relationship Id="rId5" Type="http://schemas.openxmlformats.org/officeDocument/2006/relationships/notesSlide" Target="../notesSlides/notesSlide109.xml"/><Relationship Id="rId6" Type="http://schemas.openxmlformats.org/officeDocument/2006/relationships/image" Target="../media/image2.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8.xml"/><Relationship Id="rId4" Type="http://schemas.openxmlformats.org/officeDocument/2006/relationships/chart" Target="../charts/chart79.xml"/><Relationship Id="rId5" Type="http://schemas.openxmlformats.org/officeDocument/2006/relationships/chart" Target="../charts/chart80.xml"/><Relationship Id="rId6" Type="http://schemas.openxmlformats.org/officeDocument/2006/relationships/notesSlide" Target="../notesSlides/notesSlide110.xml"/><Relationship Id="rId7" Type="http://schemas.openxmlformats.org/officeDocument/2006/relationships/image" Target="../media/image2.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 Id="rId4"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 Id="rId4" Type="http://schemas.openxmlformats.org/officeDocument/2006/relationships/image" Target="../media/image2.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113.xml"/><Relationship Id="rId5" Type="http://schemas.openxmlformats.org/officeDocument/2006/relationships/image" Target="../media/image2.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 Id="rId4" Type="http://schemas.openxmlformats.org/officeDocument/2006/relationships/image" Target="../media/image2.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 Id="rId4" Type="http://schemas.openxmlformats.org/officeDocument/2006/relationships/image" Target="../media/image2.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 Id="rId4" Type="http://schemas.openxmlformats.org/officeDocument/2006/relationships/image" Target="../media/image493.png"/><Relationship Id="rId5" Type="http://schemas.openxmlformats.org/officeDocument/2006/relationships/image" Target="../media/image494.png"/><Relationship Id="rId6" Type="http://schemas.openxmlformats.org/officeDocument/2006/relationships/image" Target="../media/image495.png"/><Relationship Id="rId7" Type="http://schemas.openxmlformats.org/officeDocument/2006/relationships/image" Target="../media/image496.png"/><Relationship Id="rId8" Type="http://schemas.openxmlformats.org/officeDocument/2006/relationships/image" Target="../media/image497.png"/><Relationship Id="rId9" Type="http://schemas.openxmlformats.org/officeDocument/2006/relationships/image" Target="../media/image111.png"/><Relationship Id="rId10" Type="http://schemas.openxmlformats.org/officeDocument/2006/relationships/image" Target="../media/image498.png"/><Relationship Id="rId11" Type="http://schemas.openxmlformats.org/officeDocument/2006/relationships/image" Target="../media/image499.png"/><Relationship Id="rId12" Type="http://schemas.openxmlformats.org/officeDocument/2006/relationships/image" Target="../media/image476.png"/><Relationship Id="rId13"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notesSlide" Target="../notesSlides/notesSlide117.xml"/><Relationship Id="rId6" Type="http://schemas.openxmlformats.org/officeDocument/2006/relationships/image" Target="../media/image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chart" Target="../charts/chart85.xml"/><Relationship Id="rId5" Type="http://schemas.openxmlformats.org/officeDocument/2006/relationships/chart" Target="../charts/chart86.xml"/><Relationship Id="rId6" Type="http://schemas.openxmlformats.org/officeDocument/2006/relationships/notesSlide" Target="../notesSlides/notesSlide118.xml"/><Relationship Id="rId7" Type="http://schemas.openxmlformats.org/officeDocument/2006/relationships/image" Target="../media/image2.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 Id="rId4"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 Id="rId4"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notesSlide" Target="../notesSlides/notesSlide121.xml"/><Relationship Id="rId5" Type="http://schemas.openxmlformats.org/officeDocument/2006/relationships/image" Target="../media/image2.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 Id="rId4" Type="http://schemas.openxmlformats.org/officeDocument/2006/relationships/image" Target="../media/image2.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xml"/><Relationship Id="rId4" Type="http://schemas.openxmlformats.org/officeDocument/2006/relationships/image" Target="../media/image2.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 Id="rId4" Type="http://schemas.openxmlformats.org/officeDocument/2006/relationships/image" Target="../media/image515.png"/><Relationship Id="rId5" Type="http://schemas.openxmlformats.org/officeDocument/2006/relationships/image" Target="../media/image516.png"/><Relationship Id="rId6" Type="http://schemas.openxmlformats.org/officeDocument/2006/relationships/image" Target="../media/image203.png"/><Relationship Id="rId7" Type="http://schemas.openxmlformats.org/officeDocument/2006/relationships/image" Target="../media/image517.png"/><Relationship Id="rId8" Type="http://schemas.openxmlformats.org/officeDocument/2006/relationships/image" Target="../media/image463.png"/><Relationship Id="rId9" Type="http://schemas.openxmlformats.org/officeDocument/2006/relationships/image" Target="../media/image495.png"/><Relationship Id="rId10"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xml"/><Relationship Id="rId4" Type="http://schemas.openxmlformats.org/officeDocument/2006/relationships/chart" Target="../charts/chart89.xml"/><Relationship Id="rId5" Type="http://schemas.openxmlformats.org/officeDocument/2006/relationships/notesSlide" Target="../notesSlides/notesSlide125.xml"/><Relationship Id="rId6" Type="http://schemas.openxmlformats.org/officeDocument/2006/relationships/image" Target="../media/image2.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0.xml"/><Relationship Id="rId4" Type="http://schemas.openxmlformats.org/officeDocument/2006/relationships/chart" Target="../charts/chart91.xml"/><Relationship Id="rId5" Type="http://schemas.openxmlformats.org/officeDocument/2006/relationships/notesSlide" Target="../notesSlides/notesSlide126.xml"/><Relationship Id="rId6" Type="http://schemas.openxmlformats.org/officeDocument/2006/relationships/image" Target="../media/image2.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xml"/><Relationship Id="rId4"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 Id="rId4" Type="http://schemas.openxmlformats.org/officeDocument/2006/relationships/image" Target="../media/image2.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2.xml"/><Relationship Id="rId4" Type="http://schemas.openxmlformats.org/officeDocument/2006/relationships/notesSlide" Target="../notesSlides/notesSlide129.xml"/><Relationship Id="rId5"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 Id="rId4" Type="http://schemas.openxmlformats.org/officeDocument/2006/relationships/image" Target="../media/image2.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 Id="rId4" Type="http://schemas.openxmlformats.org/officeDocument/2006/relationships/image" Target="../media/image528.png"/><Relationship Id="rId5" Type="http://schemas.openxmlformats.org/officeDocument/2006/relationships/image" Target="../media/image529.png"/><Relationship Id="rId6" Type="http://schemas.openxmlformats.org/officeDocument/2006/relationships/image" Target="../media/image203.png"/><Relationship Id="rId7" Type="http://schemas.openxmlformats.org/officeDocument/2006/relationships/image" Target="../media/image530.png"/><Relationship Id="rId8" Type="http://schemas.openxmlformats.org/officeDocument/2006/relationships/image" Target="../media/image531.png"/><Relationship Id="rId9" Type="http://schemas.openxmlformats.org/officeDocument/2006/relationships/image" Target="../media/image141.png"/><Relationship Id="rId10" Type="http://schemas.openxmlformats.org/officeDocument/2006/relationships/image" Target="../media/image532.png"/><Relationship Id="rId11" Type="http://schemas.openxmlformats.org/officeDocument/2006/relationships/image" Target="../media/image533.png"/><Relationship Id="rId12" Type="http://schemas.openxmlformats.org/officeDocument/2006/relationships/image" Target="../media/image534.png"/><Relationship Id="rId13" Type="http://schemas.openxmlformats.org/officeDocument/2006/relationships/image" Target="../media/image535.png"/><Relationship Id="rId14" Type="http://schemas.openxmlformats.org/officeDocument/2006/relationships/image" Target="../media/image536.png"/><Relationship Id="rId15" Type="http://schemas.openxmlformats.org/officeDocument/2006/relationships/image" Target="../media/image537.png"/><Relationship Id="rId16" Type="http://schemas.openxmlformats.org/officeDocument/2006/relationships/image" Target="../media/image2.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chart" Target="../charts/chart94.xml"/><Relationship Id="rId5" Type="http://schemas.openxmlformats.org/officeDocument/2006/relationships/notesSlide" Target="../notesSlides/notesSlide133.xml"/><Relationship Id="rId6" Type="http://schemas.openxmlformats.org/officeDocument/2006/relationships/image" Target="../media/image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34.xml"/><Relationship Id="rId8" Type="http://schemas.openxmlformats.org/officeDocument/2006/relationships/image" Target="../media/image2.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 Id="rId4"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 Id="rId4" Type="http://schemas.openxmlformats.org/officeDocument/2006/relationships/image" Target="../media/image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37.xml"/><Relationship Id="rId5"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 Id="rId4" Type="http://schemas.openxmlformats.org/officeDocument/2006/relationships/image" Target="../media/image2.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 Id="rId4" Type="http://schemas.openxmlformats.org/officeDocument/2006/relationships/image" Target="../media/image558.png"/><Relationship Id="rId5" Type="http://schemas.openxmlformats.org/officeDocument/2006/relationships/image" Target="../media/image559.png"/><Relationship Id="rId6" Type="http://schemas.openxmlformats.org/officeDocument/2006/relationships/image" Target="../media/image263.png"/><Relationship Id="rId7" Type="http://schemas.openxmlformats.org/officeDocument/2006/relationships/image" Target="../media/image560.png"/><Relationship Id="rId8" Type="http://schemas.openxmlformats.org/officeDocument/2006/relationships/image" Target="../media/image561.png"/><Relationship Id="rId9" Type="http://schemas.openxmlformats.org/officeDocument/2006/relationships/image" Target="../media/image562.png"/><Relationship Id="rId10" Type="http://schemas.openxmlformats.org/officeDocument/2006/relationships/image" Target="../media/image2.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41.xml"/><Relationship Id="rId6" Type="http://schemas.openxmlformats.org/officeDocument/2006/relationships/image" Target="../media/image2.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notesSlide" Target="../notesSlides/notesSlide142.xml"/><Relationship Id="rId6" Type="http://schemas.openxmlformats.org/officeDocument/2006/relationships/image" Target="../media/image2.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 Id="rId4"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 Id="rId4"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xml"/><Relationship Id="rId4" Type="http://schemas.openxmlformats.org/officeDocument/2006/relationships/notesSlide" Target="../notesSlides/notesSlide145.xml"/><Relationship Id="rId5"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 Id="rId4" Type="http://schemas.openxmlformats.org/officeDocument/2006/relationships/image" Target="../media/image2.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 Id="rId4" Type="http://schemas.openxmlformats.org/officeDocument/2006/relationships/image" Target="../media/image573.png"/><Relationship Id="rId5" Type="http://schemas.openxmlformats.org/officeDocument/2006/relationships/image" Target="../media/image574.png"/><Relationship Id="rId6" Type="http://schemas.openxmlformats.org/officeDocument/2006/relationships/image" Target="../media/image575.png"/><Relationship Id="rId7" Type="http://schemas.openxmlformats.org/officeDocument/2006/relationships/image" Target="../media/image576.png"/><Relationship Id="rId8" Type="http://schemas.openxmlformats.org/officeDocument/2006/relationships/image" Target="../media/image577.png"/><Relationship Id="rId9" Type="http://schemas.openxmlformats.org/officeDocument/2006/relationships/image" Target="../media/image274.png"/><Relationship Id="rId10" Type="http://schemas.openxmlformats.org/officeDocument/2006/relationships/image" Target="../media/image578.png"/><Relationship Id="rId11" Type="http://schemas.openxmlformats.org/officeDocument/2006/relationships/image" Target="../media/image579.png"/><Relationship Id="rId12" Type="http://schemas.openxmlformats.org/officeDocument/2006/relationships/image" Target="../media/image580.png"/><Relationship Id="rId13" Type="http://schemas.openxmlformats.org/officeDocument/2006/relationships/image" Target="../media/image581.png"/><Relationship Id="rId14" Type="http://schemas.openxmlformats.org/officeDocument/2006/relationships/image" Target="../media/image582.png"/><Relationship Id="rId15" Type="http://schemas.openxmlformats.org/officeDocument/2006/relationships/image" Target="../media/image198.png"/><Relationship Id="rId16" Type="http://schemas.openxmlformats.org/officeDocument/2006/relationships/image" Target="../media/image2.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 Id="rId4" Type="http://schemas.openxmlformats.org/officeDocument/2006/relationships/image" Target="../media/image583.png"/><Relationship Id="rId5" Type="http://schemas.openxmlformats.org/officeDocument/2006/relationships/image" Target="../media/image584.png"/><Relationship Id="rId6" Type="http://schemas.openxmlformats.org/officeDocument/2006/relationships/image" Target="../media/image585.png"/><Relationship Id="rId7" Type="http://schemas.openxmlformats.org/officeDocument/2006/relationships/image" Target="../media/image40.png"/><Relationship Id="rId8" Type="http://schemas.openxmlformats.org/officeDocument/2006/relationships/image" Target="../media/image586.png"/><Relationship Id="rId9" Type="http://schemas.openxmlformats.org/officeDocument/2006/relationships/image" Target="../media/image587.png"/><Relationship Id="rId10" Type="http://schemas.openxmlformats.org/officeDocument/2006/relationships/image" Target="../media/image226.png"/><Relationship Id="rId11" Type="http://schemas.openxmlformats.org/officeDocument/2006/relationships/image" Target="../media/image588.png"/><Relationship Id="rId12" Type="http://schemas.openxmlformats.org/officeDocument/2006/relationships/image" Target="../media/image589.png"/><Relationship Id="rId13" Type="http://schemas.openxmlformats.org/officeDocument/2006/relationships/image" Target="../media/image2.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chart" Target="../charts/chart106.xml"/><Relationship Id="rId5" Type="http://schemas.openxmlformats.org/officeDocument/2006/relationships/notesSlide" Target="../notesSlides/notesSlide150.xml"/><Relationship Id="rId6" Type="http://schemas.openxmlformats.org/officeDocument/2006/relationships/image" Target="../media/image2.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chart" Target="../charts/chart108.xml"/><Relationship Id="rId5" Type="http://schemas.openxmlformats.org/officeDocument/2006/relationships/chart" Target="../charts/chart109.xml"/><Relationship Id="rId6" Type="http://schemas.openxmlformats.org/officeDocument/2006/relationships/chart" Target="../charts/chart110.xml"/><Relationship Id="rId7" Type="http://schemas.openxmlformats.org/officeDocument/2006/relationships/notesSlide" Target="../notesSlides/notesSlide151.xml"/><Relationship Id="rId8" Type="http://schemas.openxmlformats.org/officeDocument/2006/relationships/image" Target="../media/image2.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chart" Target="../charts/chart113.xml"/><Relationship Id="rId6" Type="http://schemas.openxmlformats.org/officeDocument/2006/relationships/notesSlide" Target="../notesSlides/notesSlide152.xml"/><Relationship Id="rId7"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 Id="rId4"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4.xml"/><Relationship Id="rId4" Type="http://schemas.openxmlformats.org/officeDocument/2006/relationships/notesSlide" Target="../notesSlides/notesSlide155.xml"/><Relationship Id="rId5" Type="http://schemas.openxmlformats.org/officeDocument/2006/relationships/image" Target="../media/image2.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xml"/><Relationship Id="rId4" Type="http://schemas.openxmlformats.org/officeDocument/2006/relationships/image" Target="../media/image2.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xml"/><Relationship Id="rId4" Type="http://schemas.openxmlformats.org/officeDocument/2006/relationships/image" Target="../media/image2.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xml"/><Relationship Id="rId4" Type="http://schemas.openxmlformats.org/officeDocument/2006/relationships/image" Target="../media/image625.png"/><Relationship Id="rId5" Type="http://schemas.openxmlformats.org/officeDocument/2006/relationships/image" Target="../media/image626.png"/><Relationship Id="rId6" Type="http://schemas.openxmlformats.org/officeDocument/2006/relationships/image" Target="../media/image627.png"/><Relationship Id="rId7" Type="http://schemas.openxmlformats.org/officeDocument/2006/relationships/image" Target="../media/image628.png"/><Relationship Id="rId8" Type="http://schemas.openxmlformats.org/officeDocument/2006/relationships/image" Target="../media/image629.png"/><Relationship Id="rId9" Type="http://schemas.openxmlformats.org/officeDocument/2006/relationships/image" Target="../media/image111.png"/><Relationship Id="rId10" Type="http://schemas.openxmlformats.org/officeDocument/2006/relationships/image" Target="../media/image2.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notesSlide" Target="../notesSlides/notesSlide159.xml"/><Relationship Id="rId6" Type="http://schemas.openxmlformats.org/officeDocument/2006/relationships/image" Target="../media/image2.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chart" Target="../charts/chart118.xml"/><Relationship Id="rId5" Type="http://schemas.openxmlformats.org/officeDocument/2006/relationships/notesSlide" Target="../notesSlides/notesSlide160.xml"/><Relationship Id="rId6" Type="http://schemas.openxmlformats.org/officeDocument/2006/relationships/image" Target="../media/image2.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 Id="rId4"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xml"/><Relationship Id="rId4" Type="http://schemas.openxmlformats.org/officeDocument/2006/relationships/notesSlide" Target="../notesSlides/notesSlide163.xml"/><Relationship Id="rId5"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 Id="rId4" Type="http://schemas.openxmlformats.org/officeDocument/2006/relationships/image" Target="../media/image2.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 Id="rId4"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2.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xml"/><Relationship Id="rId4" Type="http://schemas.openxmlformats.org/officeDocument/2006/relationships/notesSlide" Target="../notesSlides/notesSlide167.xml"/><Relationship Id="rId5"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 Id="rId4" Type="http://schemas.openxmlformats.org/officeDocument/2006/relationships/image" Target="../media/image2.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 Id="rId4" Type="http://schemas.openxmlformats.org/officeDocument/2006/relationships/image" Target="../media/image2.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notesSlide" Target="../notesSlides/notesSlide170.xml"/><Relationship Id="rId5" Type="http://schemas.openxmlformats.org/officeDocument/2006/relationships/image" Target="../media/image2.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 Id="rId4"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xml"/><Relationship Id="rId4" Type="http://schemas.openxmlformats.org/officeDocument/2006/relationships/notesSlide" Target="../notesSlides/notesSlide173.xml"/><Relationship Id="rId5" Type="http://schemas.openxmlformats.org/officeDocument/2006/relationships/image" Target="../media/image2.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 Id="rId4" Type="http://schemas.openxmlformats.org/officeDocument/2006/relationships/image" Target="../media/image2.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xml"/><Relationship Id="rId4" Type="http://schemas.openxmlformats.org/officeDocument/2006/relationships/chart" Target="../charts/chart124.xml"/><Relationship Id="rId5" Type="http://schemas.openxmlformats.org/officeDocument/2006/relationships/chart" Target="../charts/chart125.xml"/><Relationship Id="rId6" Type="http://schemas.openxmlformats.org/officeDocument/2006/relationships/chart" Target="../charts/chart126.xml"/><Relationship Id="rId7" Type="http://schemas.openxmlformats.org/officeDocument/2006/relationships/notesSlide" Target="../notesSlides/notesSlide176.xml"/><Relationship Id="rId8" Type="http://schemas.openxmlformats.org/officeDocument/2006/relationships/image" Target="../media/image2.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xml"/><Relationship Id="rId4" Type="http://schemas.openxmlformats.org/officeDocument/2006/relationships/chart" Target="../charts/chart128.xml"/><Relationship Id="rId5" Type="http://schemas.openxmlformats.org/officeDocument/2006/relationships/chart" Target="../charts/chart129.xml"/><Relationship Id="rId6" Type="http://schemas.openxmlformats.org/officeDocument/2006/relationships/chart" Target="../charts/chart130.xml"/><Relationship Id="rId7" Type="http://schemas.openxmlformats.org/officeDocument/2006/relationships/notesSlide" Target="../notesSlides/notesSlide177.xml"/><Relationship Id="rId8" Type="http://schemas.openxmlformats.org/officeDocument/2006/relationships/image" Target="../media/image2.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chart" Target="../charts/chart133.xml"/><Relationship Id="rId6" Type="http://schemas.openxmlformats.org/officeDocument/2006/relationships/chart" Target="../charts/chart134.xml"/><Relationship Id="rId7" Type="http://schemas.openxmlformats.org/officeDocument/2006/relationships/chart" Target="../charts/chart135.xml"/><Relationship Id="rId8" Type="http://schemas.openxmlformats.org/officeDocument/2006/relationships/chart" Target="../charts/chart136.xml"/><Relationship Id="rId9" Type="http://schemas.openxmlformats.org/officeDocument/2006/relationships/chart" Target="../charts/chart137.xml"/><Relationship Id="rId10" Type="http://schemas.openxmlformats.org/officeDocument/2006/relationships/notesSlide" Target="../notesSlides/notesSlide178.xml"/><Relationship Id="rId11" Type="http://schemas.openxmlformats.org/officeDocument/2006/relationships/image" Target="../media/image2.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 Id="rId4" Type="http://schemas.openxmlformats.org/officeDocument/2006/relationships/image" Target="../media/image2.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chart" Target="../charts/chart139.xml"/><Relationship Id="rId5" Type="http://schemas.openxmlformats.org/officeDocument/2006/relationships/notesSlide" Target="../notesSlides/notesSlide180.xml"/><Relationship Id="rId6" Type="http://schemas.openxmlformats.org/officeDocument/2006/relationships/image" Target="../media/image2.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 Id="rId4" Type="http://schemas.openxmlformats.org/officeDocument/2006/relationships/image" Target="../media/image2.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2.xml"/><Relationship Id="rId4"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notesSlide" Target="../notesSlides/notesSlide183.xml"/><Relationship Id="rId6" Type="http://schemas.openxmlformats.org/officeDocument/2006/relationships/image" Target="../media/image2.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 Id="rId4" Type="http://schemas.openxmlformats.org/officeDocument/2006/relationships/image" Target="../media/image2.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 Id="rId4" Type="http://schemas.openxmlformats.org/officeDocument/2006/relationships/image" Target="../media/image2.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xml"/><Relationship Id="rId4" Type="http://schemas.openxmlformats.org/officeDocument/2006/relationships/chart" Target="../charts/chart143.xml"/><Relationship Id="rId5" Type="http://schemas.openxmlformats.org/officeDocument/2006/relationships/notesSlide" Target="../notesSlides/notesSlide186.xml"/><Relationship Id="rId6"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 Id="rId4" Type="http://schemas.openxmlformats.org/officeDocument/2006/relationships/image" Target="../media/image2.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8.xml"/><Relationship Id="rId4" Type="http://schemas.openxmlformats.org/officeDocument/2006/relationships/image" Target="../media/image2.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xml"/><Relationship Id="rId4" Type="http://schemas.openxmlformats.org/officeDocument/2006/relationships/chart" Target="../charts/chart145.xml"/><Relationship Id="rId5" Type="http://schemas.openxmlformats.org/officeDocument/2006/relationships/notesSlide" Target="../notesSlides/notesSlide189.xml"/><Relationship Id="rId6" Type="http://schemas.openxmlformats.org/officeDocument/2006/relationships/image" Target="../media/image2.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0.xml"/><Relationship Id="rId4"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 Id="rId4"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xml"/><Relationship Id="rId4" Type="http://schemas.openxmlformats.org/officeDocument/2006/relationships/chart" Target="../charts/chart147.xml"/><Relationship Id="rId5" Type="http://schemas.openxmlformats.org/officeDocument/2006/relationships/notesSlide" Target="../notesSlides/notesSlide192.xml"/><Relationship Id="rId6" Type="http://schemas.openxmlformats.org/officeDocument/2006/relationships/image" Target="../media/image2.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 Id="rId4" Type="http://schemas.openxmlformats.org/officeDocument/2006/relationships/image" Target="../media/image2.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xml"/><Relationship Id="rId4" Type="http://schemas.openxmlformats.org/officeDocument/2006/relationships/chart" Target="../charts/chart149.xml"/><Relationship Id="rId5" Type="http://schemas.openxmlformats.org/officeDocument/2006/relationships/notesSlide" Target="../notesSlides/notesSlide195.xml"/><Relationship Id="rId6" Type="http://schemas.openxmlformats.org/officeDocument/2006/relationships/image" Target="../media/image2.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 Id="rId4"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 Id="rId4" Type="http://schemas.openxmlformats.org/officeDocument/2006/relationships/image" Target="../media/image2.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 Id="rId4" Type="http://schemas.openxmlformats.org/officeDocument/2006/relationships/image" Target="../media/image2.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xml"/><Relationship Id="rId4" Type="http://schemas.openxmlformats.org/officeDocument/2006/relationships/chart" Target="../charts/chart151.xml"/><Relationship Id="rId5" Type="http://schemas.openxmlformats.org/officeDocument/2006/relationships/notesSlide" Target="../notesSlides/notesSlide199.xml"/><Relationship Id="rId6" Type="http://schemas.openxmlformats.org/officeDocument/2006/relationships/image" Target="../media/image2.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 Id="rId4" Type="http://schemas.openxmlformats.org/officeDocument/2006/relationships/image" Target="../media/image2.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 Id="rId4" Type="http://schemas.openxmlformats.org/officeDocument/2006/relationships/image" Target="../media/image2.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xml"/><Relationship Id="rId4" Type="http://schemas.openxmlformats.org/officeDocument/2006/relationships/notesSlide" Target="../notesSlides/notesSlide203.xml"/><Relationship Id="rId5" Type="http://schemas.openxmlformats.org/officeDocument/2006/relationships/image" Target="../media/image2.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 Id="rId4" Type="http://schemas.openxmlformats.org/officeDocument/2006/relationships/image" Target="../media/image2.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notesSlide" Target="../notesSlides/notesSlide206.xml"/><Relationship Id="rId5" Type="http://schemas.openxmlformats.org/officeDocument/2006/relationships/image" Target="../media/image2.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 Id="rId4" Type="http://schemas.openxmlformats.org/officeDocument/2006/relationships/image" Target="../media/image2.png"/></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 Id="rId4" Type="http://schemas.openxmlformats.org/officeDocument/2006/relationships/image" Target="../media/image2.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xml"/><Relationship Id="rId4" Type="http://schemas.openxmlformats.org/officeDocument/2006/relationships/notesSlide" Target="../notesSlides/notesSlide209.xml"/><Relationship Id="rId5"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 Id="rId4" Type="http://schemas.openxmlformats.org/officeDocument/2006/relationships/image" Target="../media/image2.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 Id="rId4" Type="http://schemas.openxmlformats.org/officeDocument/2006/relationships/image" Target="../media/image2.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xml"/><Relationship Id="rId4" Type="http://schemas.openxmlformats.org/officeDocument/2006/relationships/chart" Target="../charts/chart156.xml"/><Relationship Id="rId5" Type="http://schemas.openxmlformats.org/officeDocument/2006/relationships/notesSlide" Target="../notesSlides/notesSlide213.xml"/><Relationship Id="rId6" Type="http://schemas.openxmlformats.org/officeDocument/2006/relationships/image" Target="../media/image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notesSlide" Target="../notesSlides/notesSlide214.xml"/><Relationship Id="rId5" Type="http://schemas.openxmlformats.org/officeDocument/2006/relationships/image" Target="../media/image2.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8.xml"/><Relationship Id="rId4" Type="http://schemas.openxmlformats.org/officeDocument/2006/relationships/notesSlide" Target="../notesSlides/notesSlide215.xml"/><Relationship Id="rId5" Type="http://schemas.openxmlformats.org/officeDocument/2006/relationships/image" Target="../media/image2.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 Id="rId4" Type="http://schemas.openxmlformats.org/officeDocument/2006/relationships/image" Target="../media/image2.pn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 Id="rId4" Type="http://schemas.openxmlformats.org/officeDocument/2006/relationships/image" Target="../media/image2.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 Id="rId4" Type="http://schemas.openxmlformats.org/officeDocument/2006/relationships/image" Target="../media/image2.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 Id="rId4" Type="http://schemas.openxmlformats.org/officeDocument/2006/relationships/image" Target="../media/image2.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 Id="rId4" Type="http://schemas.openxmlformats.org/officeDocument/2006/relationships/image" Target="../media/image2.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 Id="rId4" Type="http://schemas.openxmlformats.org/officeDocument/2006/relationships/image" Target="../media/image2.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 Id="rId4" Type="http://schemas.openxmlformats.org/officeDocument/2006/relationships/image" Target="../media/image2.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 Id="rId4" Type="http://schemas.openxmlformats.org/officeDocument/2006/relationships/image" Target="../media/image2.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 Id="rId4" Type="http://schemas.openxmlformats.org/officeDocument/2006/relationships/image" Target="../media/image2.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6.xml"/><Relationship Id="rId4" Type="http://schemas.openxmlformats.org/officeDocument/2006/relationships/image" Target="../media/image2.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 Id="rId4" Type="http://schemas.openxmlformats.org/officeDocument/2006/relationships/image" Target="../media/image2.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9.xml"/><Relationship Id="rId4" Type="http://schemas.openxmlformats.org/officeDocument/2006/relationships/image" Target="../media/image2.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 Id="rId4" Type="http://schemas.openxmlformats.org/officeDocument/2006/relationships/image" Target="../media/image2.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 Id="rId4" Type="http://schemas.openxmlformats.org/officeDocument/2006/relationships/image" Target="../media/image2.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 Id="rId4" Type="http://schemas.openxmlformats.org/officeDocument/2006/relationships/image" Target="../media/image2.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3.xml"/><Relationship Id="rId4" Type="http://schemas.openxmlformats.org/officeDocument/2006/relationships/image" Target="../media/image2.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4.xml"/><Relationship Id="rId4" Type="http://schemas.openxmlformats.org/officeDocument/2006/relationships/image" Target="../media/image2.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 Id="rId4" Type="http://schemas.openxmlformats.org/officeDocument/2006/relationships/image" Target="../media/image2.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 Id="rId4" Type="http://schemas.openxmlformats.org/officeDocument/2006/relationships/image" Target="../media/image2.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 Id="rId4" Type="http://schemas.openxmlformats.org/officeDocument/2006/relationships/image" Target="../media/image2.png"/></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 Id="rId4" Type="http://schemas.openxmlformats.org/officeDocument/2006/relationships/image" Target="../media/image2.png"/></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 Id="rId4" Type="http://schemas.openxmlformats.org/officeDocument/2006/relationships/image" Target="../media/image2.png"/></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 Id="rId4" Type="http://schemas.openxmlformats.org/officeDocument/2006/relationships/image" Target="../media/image2.png"/></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 Id="rId4" Type="http://schemas.openxmlformats.org/officeDocument/2006/relationships/image" Target="../media/image2.png"/></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 Id="rId4" Type="http://schemas.openxmlformats.org/officeDocument/2006/relationships/image" Target="../media/image2.png"/></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 Id="rId4" Type="http://schemas.openxmlformats.org/officeDocument/2006/relationships/image" Target="../media/image2.png"/></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 Id="rId4" Type="http://schemas.openxmlformats.org/officeDocument/2006/relationships/image" Target="../media/image2.png"/></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 Id="rId4" Type="http://schemas.openxmlformats.org/officeDocument/2006/relationships/image" Target="../media/image2.png"/></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 Id="rId4" Type="http://schemas.openxmlformats.org/officeDocument/2006/relationships/image" Target="../media/image2.png"/></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 Id="rId4" Type="http://schemas.openxmlformats.org/officeDocument/2006/relationships/image" Target="../media/image2.png"/></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notesSlide" Target="../notesSlides/notesSlide250.xml"/><Relationship Id="rId5" Type="http://schemas.openxmlformats.org/officeDocument/2006/relationships/image" Target="../media/image2.png"/></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xml"/><Relationship Id="rId4" Type="http://schemas.openxmlformats.org/officeDocument/2006/relationships/chart" Target="../charts/chart161.xml"/><Relationship Id="rId5" Type="http://schemas.openxmlformats.org/officeDocument/2006/relationships/chart" Target="../charts/chart162.xml"/><Relationship Id="rId6" Type="http://schemas.openxmlformats.org/officeDocument/2006/relationships/notesSlide" Target="../notesSlides/notesSlide251.xml"/><Relationship Id="rId7" Type="http://schemas.openxmlformats.org/officeDocument/2006/relationships/image" Target="../media/image2.png"/></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3.xml"/><Relationship Id="rId4" Type="http://schemas.openxmlformats.org/officeDocument/2006/relationships/chart" Target="../charts/chart164.xml"/><Relationship Id="rId5" Type="http://schemas.openxmlformats.org/officeDocument/2006/relationships/chart" Target="../charts/chart165.xml"/><Relationship Id="rId6" Type="http://schemas.openxmlformats.org/officeDocument/2006/relationships/notesSlide" Target="../notesSlides/notesSlide252.xml"/><Relationship Id="rId7" Type="http://schemas.openxmlformats.org/officeDocument/2006/relationships/image" Target="../media/image2.png"/></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 Id="rId4" Type="http://schemas.openxmlformats.org/officeDocument/2006/relationships/image" Target="../media/image2.pn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6.xml"/><Relationship Id="rId4" Type="http://schemas.openxmlformats.org/officeDocument/2006/relationships/chart" Target="../charts/chart167.xml"/><Relationship Id="rId5" Type="http://schemas.openxmlformats.org/officeDocument/2006/relationships/chart" Target="../charts/chart168.xml"/><Relationship Id="rId6" Type="http://schemas.openxmlformats.org/officeDocument/2006/relationships/notesSlide" Target="../notesSlides/notesSlide254.xml"/><Relationship Id="rId7" Type="http://schemas.openxmlformats.org/officeDocument/2006/relationships/image" Target="../media/image2.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9.xml"/><Relationship Id="rId4" Type="http://schemas.openxmlformats.org/officeDocument/2006/relationships/notesSlide" Target="../notesSlides/notesSlide255.xml"/><Relationship Id="rId5" Type="http://schemas.openxmlformats.org/officeDocument/2006/relationships/image" Target="../media/image2.png"/></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 Id="rId4" Type="http://schemas.openxmlformats.org/officeDocument/2006/relationships/image" Target="../media/image2.png"/></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 Id="rId4" Type="http://schemas.openxmlformats.org/officeDocument/2006/relationships/image" Target="../media/image2.pn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8.xml"/><Relationship Id="rId4" Type="http://schemas.openxmlformats.org/officeDocument/2006/relationships/image" Target="../media/image2.png"/></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0.xml"/><Relationship Id="rId4" Type="http://schemas.openxmlformats.org/officeDocument/2006/relationships/chart" Target="../charts/chart171.xml"/><Relationship Id="rId5" Type="http://schemas.openxmlformats.org/officeDocument/2006/relationships/chart" Target="../charts/chart172.xml"/><Relationship Id="rId6" Type="http://schemas.openxmlformats.org/officeDocument/2006/relationships/notesSlide" Target="../notesSlides/notesSlide259.xml"/><Relationship Id="rId7" Type="http://schemas.openxmlformats.org/officeDocument/2006/relationships/image" Target="../media/image2.png"/></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3.xml"/><Relationship Id="rId4" Type="http://schemas.openxmlformats.org/officeDocument/2006/relationships/notesSlide" Target="../notesSlides/notesSlide260.xml"/><Relationship Id="rId5" Type="http://schemas.openxmlformats.org/officeDocument/2006/relationships/image" Target="../media/image2.png"/></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1.xml"/><Relationship Id="rId4" Type="http://schemas.openxmlformats.org/officeDocument/2006/relationships/image" Target="../media/image2.png"/></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2.xml"/><Relationship Id="rId4" Type="http://schemas.openxmlformats.org/officeDocument/2006/relationships/image" Target="../media/image2.png"/></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3.xml"/><Relationship Id="rId4" Type="http://schemas.openxmlformats.org/officeDocument/2006/relationships/image" Target="../media/image2.png"/></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4.xml"/><Relationship Id="rId4" Type="http://schemas.openxmlformats.org/officeDocument/2006/relationships/chart" Target="../charts/chart175.xml"/><Relationship Id="rId5" Type="http://schemas.openxmlformats.org/officeDocument/2006/relationships/chart" Target="../charts/chart176.xml"/><Relationship Id="rId6" Type="http://schemas.openxmlformats.org/officeDocument/2006/relationships/notesSlide" Target="../notesSlides/notesSlide264.xml"/><Relationship Id="rId7" Type="http://schemas.openxmlformats.org/officeDocument/2006/relationships/image" Target="../media/image2.png"/></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7.xml"/><Relationship Id="rId4" Type="http://schemas.openxmlformats.org/officeDocument/2006/relationships/notesSlide" Target="../notesSlides/notesSlide265.xml"/><Relationship Id="rId5" Type="http://schemas.openxmlformats.org/officeDocument/2006/relationships/image" Target="../media/image2.png"/></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6.xml"/><Relationship Id="rId4" Type="http://schemas.openxmlformats.org/officeDocument/2006/relationships/image" Target="../media/image2.png"/></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7.xml"/><Relationship Id="rId4" Type="http://schemas.openxmlformats.org/officeDocument/2006/relationships/image" Target="../media/image2.pn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 Id="rId4" Type="http://schemas.openxmlformats.org/officeDocument/2006/relationships/image" Target="../media/image2.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Corrugated Partition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(MT) Analysis and Forecast, 2021–2036</a:t>
            </a:r>
          </a:p>
          <a:p>
            <a:pPr algn="l"/>
            <a:r>
              <a:rPr sz="1100" b="0">
                <a:solidFill>
                  <a:srgbClr val="8FCBE6"/>
                </a:solidFill>
                <a:latin typeface="Calibri"/>
              </a:rPr>
              <a:t>Region focus: Global   ·   Country focus: U.S.   ·   Generated 08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49402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22721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58620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294519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331939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Corrugated Partition Market Global Overview</a:t>
            </a:r>
          </a:p>
        </p:txBody>
      </p:sp>
      <p:sp>
        <p:nvSpPr>
          <p:cNvPr id="17" name="Rounded Rectangle 16">
            <a:hlinkClick action="ppaction://hlinksldjump" r:id="rId10"/>
          </p:cNvPr>
          <p:cNvSpPr/>
          <p:nvPr/>
        </p:nvSpPr>
        <p:spPr>
          <a:xfrm>
            <a:off x="314325" y="367838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403737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439636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142875" y="475535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1" name="Rounded Rectangle 20">
            <a:hlinkClick action="ppaction://hlinksldjump" r:id="rId14"/>
          </p:cNvPr>
          <p:cNvSpPr/>
          <p:nvPr/>
        </p:nvSpPr>
        <p:spPr>
          <a:xfrm>
            <a:off x="314325" y="51295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Overview</a:t>
            </a:r>
          </a:p>
        </p:txBody>
      </p:sp>
      <p:sp>
        <p:nvSpPr>
          <p:cNvPr id="22" name="Rounded Rectangle 21">
            <a:hlinkClick action="ppaction://hlinksldjump" r:id="rId15"/>
          </p:cNvPr>
          <p:cNvSpPr/>
          <p:nvPr/>
        </p:nvSpPr>
        <p:spPr>
          <a:xfrm>
            <a:off x="314325" y="548854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Country</a:t>
            </a:r>
          </a:p>
        </p:txBody>
      </p:sp>
      <p:sp>
        <p:nvSpPr>
          <p:cNvPr id="23" name="Rounded Rectangle 22">
            <a:hlinkClick action="ppaction://hlinksldjump" r:id="rId16"/>
          </p:cNvPr>
          <p:cNvSpPr/>
          <p:nvPr/>
        </p:nvSpPr>
        <p:spPr>
          <a:xfrm>
            <a:off x="314325" y="584753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North America Market Analysis By Segments</a:t>
            </a:r>
          </a:p>
        </p:txBody>
      </p:sp>
      <p:sp>
        <p:nvSpPr>
          <p:cNvPr id="24" name="Rounded Rectangle 23">
            <a:hlinkClick action="ppaction://hlinksldjump" r:id="rId17"/>
          </p:cNvPr>
          <p:cNvSpPr/>
          <p:nvPr/>
        </p:nvSpPr>
        <p:spPr>
          <a:xfrm>
            <a:off x="31432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Cross-sectional Assessment</a:t>
            </a:r>
          </a:p>
        </p:txBody>
      </p:sp>
      <p:sp>
        <p:nvSpPr>
          <p:cNvPr id="25" name="Rounded Rectangle 24">
            <a:hlinkClick action="ppaction://hlinksldjump" r:id="rId18"/>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6" name="Rounded Rectangle 25">
            <a:hlinkClick action="ppaction://hlinksldjump" r:id="rId19"/>
          </p:cNvPr>
          <p:cNvSpPr/>
          <p:nvPr/>
        </p:nvSpPr>
        <p:spPr>
          <a:xfrm>
            <a:off x="6391275" y="156780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Corrugated Partition Market Overview (Volume &amp; Value)</a:t>
            </a:r>
          </a:p>
        </p:txBody>
      </p:sp>
      <p:sp>
        <p:nvSpPr>
          <p:cNvPr id="27" name="Rounded Rectangle 26">
            <a:hlinkClick action="ppaction://hlinksldjump" r:id="rId20"/>
          </p:cNvPr>
          <p:cNvSpPr/>
          <p:nvPr/>
        </p:nvSpPr>
        <p:spPr>
          <a:xfrm>
            <a:off x="6391275" y="19853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Segment Overview (Volume &amp; Value)</a:t>
            </a:r>
          </a:p>
        </p:txBody>
      </p:sp>
      <p:sp>
        <p:nvSpPr>
          <p:cNvPr id="28" name="Rounded Rectangle 27">
            <a:hlinkClick action="ppaction://hlinksldjump" r:id="rId21"/>
          </p:cNvPr>
          <p:cNvSpPr/>
          <p:nvPr/>
        </p:nvSpPr>
        <p:spPr>
          <a:xfrm>
            <a:off x="6391275" y="240290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Cross-sectional Assessment</a:t>
            </a:r>
          </a:p>
        </p:txBody>
      </p:sp>
      <p:sp>
        <p:nvSpPr>
          <p:cNvPr id="29" name="Rounded Rectangle 28">
            <a:hlinkClick action="ppaction://hlinksldjump" r:id="rId22"/>
          </p:cNvPr>
          <p:cNvSpPr/>
          <p:nvPr/>
        </p:nvSpPr>
        <p:spPr>
          <a:xfrm>
            <a:off x="6219825" y="282046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30" name="Rounded Rectangle 29">
            <a:hlinkClick action="ppaction://hlinksldjump" r:id="rId23"/>
          </p:cNvPr>
          <p:cNvSpPr/>
          <p:nvPr/>
        </p:nvSpPr>
        <p:spPr>
          <a:xfrm>
            <a:off x="6391275" y="3253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Corrugated Partition Market Pricing Analysis</a:t>
            </a:r>
          </a:p>
        </p:txBody>
      </p:sp>
      <p:sp>
        <p:nvSpPr>
          <p:cNvPr id="31" name="Rounded Rectangle 30">
            <a:hlinkClick action="ppaction://hlinksldjump" r:id="rId24"/>
          </p:cNvPr>
          <p:cNvSpPr/>
          <p:nvPr/>
        </p:nvSpPr>
        <p:spPr>
          <a:xfrm>
            <a:off x="6391275" y="367077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Supply Chain Analysis</a:t>
            </a:r>
          </a:p>
        </p:txBody>
      </p:sp>
      <p:sp>
        <p:nvSpPr>
          <p:cNvPr id="32" name="Rounded Rectangle 31">
            <a:hlinkClick action="ppaction://hlinksldjump" r:id="rId25"/>
          </p:cNvPr>
          <p:cNvSpPr/>
          <p:nvPr/>
        </p:nvSpPr>
        <p:spPr>
          <a:xfrm>
            <a:off x="6219825" y="408833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33" name="Rounded Rectangle 32">
            <a:hlinkClick action="ppaction://hlinksldjump" r:id="rId26"/>
          </p:cNvPr>
          <p:cNvSpPr/>
          <p:nvPr/>
        </p:nvSpPr>
        <p:spPr>
          <a:xfrm>
            <a:off x="6391275" y="452109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Market Dynamics &amp; Forces</a:t>
            </a:r>
          </a:p>
        </p:txBody>
      </p:sp>
      <p:sp>
        <p:nvSpPr>
          <p:cNvPr id="34" name="Rounded Rectangle 33">
            <a:hlinkClick action="ppaction://hlinksldjump" r:id="rId27"/>
          </p:cNvPr>
          <p:cNvSpPr/>
          <p:nvPr/>
        </p:nvSpPr>
        <p:spPr>
          <a:xfrm>
            <a:off x="6219825" y="493865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35" name="Rounded Rectangle 34">
            <a:hlinkClick action="ppaction://hlinksldjump" r:id="rId28"/>
          </p:cNvPr>
          <p:cNvSpPr/>
          <p:nvPr/>
        </p:nvSpPr>
        <p:spPr>
          <a:xfrm>
            <a:off x="6391275" y="537141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Competitive Landscape</a:t>
            </a:r>
          </a:p>
        </p:txBody>
      </p:sp>
      <p:sp>
        <p:nvSpPr>
          <p:cNvPr id="36" name="Rounded Rectangle 35">
            <a:hlinkClick action="ppaction://hlinksldjump" r:id="rId29"/>
          </p:cNvPr>
          <p:cNvSpPr/>
          <p:nvPr/>
        </p:nvSpPr>
        <p:spPr>
          <a:xfrm>
            <a:off x="6391275" y="578896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Market Share by Leading Players</a:t>
            </a:r>
          </a:p>
        </p:txBody>
      </p:sp>
      <p:sp>
        <p:nvSpPr>
          <p:cNvPr id="37" name="Rounded Rectangle 36">
            <a:hlinkClick action="ppaction://hlinksldjump" r:id="rId30"/>
          </p:cNvPr>
          <p:cNvSpPr/>
          <p:nvPr/>
        </p:nvSpPr>
        <p:spPr>
          <a:xfrm>
            <a:off x="639127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21. Company Profiles &amp; Strategic Benchmarking</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Corrugated Partition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Corrugated Partition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Corrugated Partition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partition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Corrugated Partition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1689844" cy="186689"/>
          </a:xfrm>
          <a:prstGeom prst="rect">
            <a:avLst/>
          </a:prstGeom>
          <a:noFill/>
        </p:spPr>
        <p:txBody>
          <a:bodyPr wrap="none" lIns="0" rIns="0" tIns="0" bIns="0">
            <a:spAutoFit/>
          </a:bodyPr>
          <a:lstStyle/>
          <a:p>
            <a:r>
              <a:rPr sz="1100" b="0">
                <a:solidFill>
                  <a:srgbClr val="2E2E2E"/>
                </a:solidFill>
                <a:latin typeface="Calibri"/>
              </a:rPr>
              <a:t>Global demand expands at a</a:t>
            </a:r>
          </a:p>
        </p:txBody>
      </p:sp>
      <p:pic>
        <p:nvPicPr>
          <p:cNvPr id="13" name="Picture 12" descr="lock.png"/>
          <p:cNvPicPr>
            <a:picLocks noChangeAspect="1"/>
          </p:cNvPicPr>
          <p:nvPr/>
        </p:nvPicPr>
        <p:blipFill>
          <a:blip r:embed="rId4"/>
          <a:stretch>
            <a:fillRect/>
          </a:stretch>
        </p:blipFill>
        <p:spPr>
          <a:xfrm>
            <a:off x="5422645" y="1751653"/>
            <a:ext cx="128699" cy="187198"/>
          </a:xfrm>
          <a:prstGeom prst="rect">
            <a:avLst/>
          </a:prstGeom>
        </p:spPr>
      </p:pic>
      <p:sp>
        <p:nvSpPr>
          <p:cNvPr id="14" name="TextBox 13"/>
          <p:cNvSpPr txBox="1"/>
          <p:nvPr/>
        </p:nvSpPr>
        <p:spPr>
          <a:xfrm>
            <a:off x="5590141" y="1761432"/>
            <a:ext cx="2708109" cy="186689"/>
          </a:xfrm>
          <a:prstGeom prst="rect">
            <a:avLst/>
          </a:prstGeom>
          <a:noFill/>
        </p:spPr>
        <p:txBody>
          <a:bodyPr wrap="none" lIns="0" rIns="0" tIns="0" bIns="0">
            <a:spAutoFit/>
          </a:bodyPr>
          <a:lstStyle/>
          <a:p>
            <a:r>
              <a:rPr sz="1100" b="0">
                <a:solidFill>
                  <a:srgbClr val="2E2E2E"/>
                </a:solidFill>
                <a:latin typeface="Calibri"/>
              </a:rPr>
              <a:t>forecast CAGR (2026–2036), accelerating from</a:t>
            </a:r>
          </a:p>
        </p:txBody>
      </p:sp>
      <p:pic>
        <p:nvPicPr>
          <p:cNvPr id="15" name="Picture 14" descr="lock.png"/>
          <p:cNvPicPr>
            <a:picLocks noChangeAspect="1"/>
          </p:cNvPicPr>
          <p:nvPr/>
        </p:nvPicPr>
        <p:blipFill>
          <a:blip r:embed="rId4"/>
          <a:stretch>
            <a:fillRect/>
          </a:stretch>
        </p:blipFill>
        <p:spPr>
          <a:xfrm>
            <a:off x="8246302" y="1751653"/>
            <a:ext cx="128699" cy="187198"/>
          </a:xfrm>
          <a:prstGeom prst="rect">
            <a:avLst/>
          </a:prstGeom>
        </p:spPr>
      </p:pic>
      <p:sp>
        <p:nvSpPr>
          <p:cNvPr id="16" name="TextBox 15"/>
          <p:cNvSpPr txBox="1"/>
          <p:nvPr/>
        </p:nvSpPr>
        <p:spPr>
          <a:xfrm>
            <a:off x="3784750"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7" name="Picture 16" descr="lock.png"/>
          <p:cNvPicPr>
            <a:picLocks noChangeAspect="1"/>
          </p:cNvPicPr>
          <p:nvPr/>
        </p:nvPicPr>
        <p:blipFill>
          <a:blip r:embed="rId4"/>
          <a:stretch>
            <a:fillRect/>
          </a:stretch>
        </p:blipFill>
        <p:spPr>
          <a:xfrm>
            <a:off x="10214228" y="1689042"/>
            <a:ext cx="330041" cy="480060"/>
          </a:xfrm>
          <a:prstGeom prst="rect">
            <a:avLst/>
          </a:prstGeom>
        </p:spPr>
      </p:pic>
      <p:sp>
        <p:nvSpPr>
          <p:cNvPr id="18" name="TextBox 17"/>
          <p:cNvSpPr txBox="1"/>
          <p:nvPr/>
        </p:nvSpPr>
        <p:spPr>
          <a:xfrm>
            <a:off x="3784750" y="2801893"/>
            <a:ext cx="2881932" cy="186689"/>
          </a:xfrm>
          <a:prstGeom prst="rect">
            <a:avLst/>
          </a:prstGeom>
          <a:noFill/>
        </p:spPr>
        <p:txBody>
          <a:bodyPr wrap="none" lIns="0" rIns="0" tIns="0" bIns="0">
            <a:spAutoFit/>
          </a:bodyPr>
          <a:lstStyle/>
          <a:p>
            <a:r>
              <a:rPr sz="1100" b="0">
                <a:solidFill>
                  <a:srgbClr val="2E2E2E"/>
                </a:solidFill>
                <a:latin typeface="Calibri"/>
              </a:rPr>
              <a:t>Flat Dividers &amp; Layer Pads leads Partition Type, at</a:t>
            </a:r>
          </a:p>
        </p:txBody>
      </p:sp>
      <p:pic>
        <p:nvPicPr>
          <p:cNvPr id="19" name="Picture 18" descr="lock.png"/>
          <p:cNvPicPr>
            <a:picLocks noChangeAspect="1"/>
          </p:cNvPicPr>
          <p:nvPr/>
        </p:nvPicPr>
        <p:blipFill>
          <a:blip r:embed="rId4"/>
          <a:stretch>
            <a:fillRect/>
          </a:stretch>
        </p:blipFill>
        <p:spPr>
          <a:xfrm>
            <a:off x="6614734" y="2792114"/>
            <a:ext cx="128699" cy="187198"/>
          </a:xfrm>
          <a:prstGeom prst="rect">
            <a:avLst/>
          </a:prstGeom>
        </p:spPr>
      </p:pic>
      <p:sp>
        <p:nvSpPr>
          <p:cNvPr id="20" name="TextBox 19"/>
          <p:cNvSpPr txBox="1"/>
          <p:nvPr/>
        </p:nvSpPr>
        <p:spPr>
          <a:xfrm>
            <a:off x="6782230" y="2801893"/>
            <a:ext cx="1751508" cy="186689"/>
          </a:xfrm>
          <a:prstGeom prst="rect">
            <a:avLst/>
          </a:prstGeom>
          <a:noFill/>
        </p:spPr>
        <p:txBody>
          <a:bodyPr wrap="none" lIns="0" rIns="0" tIns="0" bIns="0">
            <a:spAutoFit/>
          </a:bodyPr>
          <a:lstStyle/>
          <a:p>
            <a:r>
              <a:rPr sz="1100" b="0">
                <a:solidFill>
                  <a:srgbClr val="2E2E2E"/>
                </a:solidFill>
                <a:latin typeface="Calibri"/>
              </a:rPr>
              <a:t>of 2036 value, within a mix of</a:t>
            </a:r>
          </a:p>
        </p:txBody>
      </p:sp>
      <p:sp>
        <p:nvSpPr>
          <p:cNvPr id="21" name="TextBox 20"/>
          <p:cNvSpPr txBox="1"/>
          <p:nvPr/>
        </p:nvSpPr>
        <p:spPr>
          <a:xfrm>
            <a:off x="3784750" y="2969533"/>
            <a:ext cx="1261194" cy="186689"/>
          </a:xfrm>
          <a:prstGeom prst="rect">
            <a:avLst/>
          </a:prstGeom>
          <a:noFill/>
        </p:spPr>
        <p:txBody>
          <a:bodyPr wrap="none" lIns="0" rIns="0" tIns="0" bIns="0">
            <a:spAutoFit/>
          </a:bodyPr>
          <a:lstStyle/>
          <a:p>
            <a:r>
              <a:rPr sz="1100" b="0">
                <a:solidFill>
                  <a:srgbClr val="2E2E2E"/>
                </a:solidFill>
                <a:latin typeface="Calibri"/>
              </a:rPr>
              <a:t>3 tracked categories.</a:t>
            </a:r>
          </a:p>
        </p:txBody>
      </p:sp>
      <p:sp>
        <p:nvSpPr>
          <p:cNvPr id="22" name="TextBox 21"/>
          <p:cNvSpPr txBox="1"/>
          <p:nvPr/>
        </p:nvSpPr>
        <p:spPr>
          <a:xfrm>
            <a:off x="8785375" y="2885713"/>
            <a:ext cx="1946597" cy="186689"/>
          </a:xfrm>
          <a:prstGeom prst="rect">
            <a:avLst/>
          </a:prstGeom>
          <a:noFill/>
        </p:spPr>
        <p:txBody>
          <a:bodyPr wrap="none" lIns="0" rIns="0" tIns="0" bIns="0">
            <a:spAutoFit/>
          </a:bodyPr>
          <a:lstStyle/>
          <a:p>
            <a:r>
              <a:rPr sz="1100" b="0">
                <a:solidFill>
                  <a:srgbClr val="2E2E2E"/>
                </a:solidFill>
                <a:latin typeface="Calibri"/>
              </a:rPr>
              <a:t>Lead: Flat Dividers &amp; Layer Pads ·</a:t>
            </a:r>
          </a:p>
        </p:txBody>
      </p:sp>
      <p:pic>
        <p:nvPicPr>
          <p:cNvPr id="23" name="Picture 22" descr="lock.png"/>
          <p:cNvPicPr>
            <a:picLocks noChangeAspect="1"/>
          </p:cNvPicPr>
          <p:nvPr/>
        </p:nvPicPr>
        <p:blipFill>
          <a:blip r:embed="rId4"/>
          <a:stretch>
            <a:fillRect/>
          </a:stretch>
        </p:blipFill>
        <p:spPr>
          <a:xfrm>
            <a:off x="10680024" y="2875934"/>
            <a:ext cx="128699" cy="187198"/>
          </a:xfrm>
          <a:prstGeom prst="rect">
            <a:avLst/>
          </a:prstGeom>
        </p:spPr>
      </p:pic>
      <p:sp>
        <p:nvSpPr>
          <p:cNvPr id="24" name="TextBox 23"/>
          <p:cNvSpPr txBox="1"/>
          <p:nvPr/>
        </p:nvSpPr>
        <p:spPr>
          <a:xfrm>
            <a:off x="10847519"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5" name="TextBox 24"/>
          <p:cNvSpPr txBox="1"/>
          <p:nvPr/>
        </p:nvSpPr>
        <p:spPr>
          <a:xfrm>
            <a:off x="3784750" y="3842354"/>
            <a:ext cx="3810719" cy="186689"/>
          </a:xfrm>
          <a:prstGeom prst="rect">
            <a:avLst/>
          </a:prstGeom>
          <a:noFill/>
        </p:spPr>
        <p:txBody>
          <a:bodyPr wrap="none" lIns="0" rIns="0" tIns="0" bIns="0">
            <a:spAutoFit/>
          </a:bodyPr>
          <a:lstStyle/>
          <a:p>
            <a:r>
              <a:rPr sz="1100" b="0">
                <a:solidFill>
                  <a:srgbClr val="2E2E2E"/>
                </a:solidFill>
                <a:latin typeface="Calibri"/>
              </a:rPr>
              <a:t>Electronics &amp; Electrical is the fastest-growing part of End Use, at a</a:t>
            </a:r>
          </a:p>
        </p:txBody>
      </p:sp>
      <p:pic>
        <p:nvPicPr>
          <p:cNvPr id="26" name="Picture 25" descr="lock.png"/>
          <p:cNvPicPr>
            <a:picLocks noChangeAspect="1"/>
          </p:cNvPicPr>
          <p:nvPr/>
        </p:nvPicPr>
        <p:blipFill>
          <a:blip r:embed="rId4"/>
          <a:stretch>
            <a:fillRect/>
          </a:stretch>
        </p:blipFill>
        <p:spPr>
          <a:xfrm>
            <a:off x="7543520" y="3832575"/>
            <a:ext cx="128699" cy="187198"/>
          </a:xfrm>
          <a:prstGeom prst="rect">
            <a:avLst/>
          </a:prstGeom>
        </p:spPr>
      </p:pic>
      <p:sp>
        <p:nvSpPr>
          <p:cNvPr id="27" name="TextBox 26"/>
          <p:cNvSpPr txBox="1"/>
          <p:nvPr/>
        </p:nvSpPr>
        <p:spPr>
          <a:xfrm>
            <a:off x="7711016" y="3842354"/>
            <a:ext cx="889280"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28" name="TextBox 27"/>
          <p:cNvSpPr txBox="1"/>
          <p:nvPr/>
        </p:nvSpPr>
        <p:spPr>
          <a:xfrm>
            <a:off x="3784750" y="4009994"/>
            <a:ext cx="1692299" cy="186689"/>
          </a:xfrm>
          <a:prstGeom prst="rect">
            <a:avLst/>
          </a:prstGeom>
          <a:noFill/>
        </p:spPr>
        <p:txBody>
          <a:bodyPr wrap="none" lIns="0" rIns="0" tIns="0" bIns="0">
            <a:spAutoFit/>
          </a:bodyPr>
          <a:lstStyle/>
          <a:p>
            <a:r>
              <a:rPr sz="1100" b="0">
                <a:solidFill>
                  <a:srgbClr val="2E2E2E"/>
                </a:solidFill>
                <a:latin typeface="Calibri"/>
              </a:rPr>
              <a:t>outpacing the wider market.</a:t>
            </a:r>
          </a:p>
        </p:txBody>
      </p:sp>
      <p:sp>
        <p:nvSpPr>
          <p:cNvPr id="29" name="TextBox 28"/>
          <p:cNvSpPr txBox="1"/>
          <p:nvPr/>
        </p:nvSpPr>
        <p:spPr>
          <a:xfrm>
            <a:off x="8785375" y="3926174"/>
            <a:ext cx="1907520" cy="186689"/>
          </a:xfrm>
          <a:prstGeom prst="rect">
            <a:avLst/>
          </a:prstGeom>
          <a:noFill/>
        </p:spPr>
        <p:txBody>
          <a:bodyPr wrap="none" lIns="0" rIns="0" tIns="0" bIns="0">
            <a:spAutoFit/>
          </a:bodyPr>
          <a:lstStyle/>
          <a:p>
            <a:r>
              <a:rPr sz="1100" b="0">
                <a:solidFill>
                  <a:srgbClr val="2E2E2E"/>
                </a:solidFill>
                <a:latin typeface="Calibri"/>
              </a:rPr>
              <a:t>Fastest: Electronics &amp; Electrical ·</a:t>
            </a:r>
          </a:p>
        </p:txBody>
      </p:sp>
      <p:pic>
        <p:nvPicPr>
          <p:cNvPr id="30" name="Picture 29" descr="lock.png"/>
          <p:cNvPicPr>
            <a:picLocks noChangeAspect="1"/>
          </p:cNvPicPr>
          <p:nvPr/>
        </p:nvPicPr>
        <p:blipFill>
          <a:blip r:embed="rId4"/>
          <a:stretch>
            <a:fillRect/>
          </a:stretch>
        </p:blipFill>
        <p:spPr>
          <a:xfrm>
            <a:off x="10640946" y="3916395"/>
            <a:ext cx="128699" cy="187198"/>
          </a:xfrm>
          <a:prstGeom prst="rect">
            <a:avLst/>
          </a:prstGeom>
        </p:spPr>
      </p:pic>
      <p:sp>
        <p:nvSpPr>
          <p:cNvPr id="31" name="TextBox 30"/>
          <p:cNvSpPr txBox="1"/>
          <p:nvPr/>
        </p:nvSpPr>
        <p:spPr>
          <a:xfrm>
            <a:off x="10808442"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2" name="TextBox 31"/>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3" name="Picture 32" descr="lock.png"/>
          <p:cNvPicPr>
            <a:picLocks noChangeAspect="1"/>
          </p:cNvPicPr>
          <p:nvPr/>
        </p:nvPicPr>
        <p:blipFill>
          <a:blip r:embed="rId4"/>
          <a:stretch>
            <a:fillRect/>
          </a:stretch>
        </p:blipFill>
        <p:spPr>
          <a:xfrm>
            <a:off x="6406275" y="4873036"/>
            <a:ext cx="128699" cy="187198"/>
          </a:xfrm>
          <a:prstGeom prst="rect">
            <a:avLst/>
          </a:prstGeom>
        </p:spPr>
      </p:pic>
      <p:sp>
        <p:nvSpPr>
          <p:cNvPr id="34" name="TextBox 33"/>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5" name="TextBox 34"/>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6" name="Picture 35" descr="lock.png"/>
          <p:cNvPicPr>
            <a:picLocks noChangeAspect="1"/>
          </p:cNvPicPr>
          <p:nvPr/>
        </p:nvPicPr>
        <p:blipFill>
          <a:blip r:embed="rId4"/>
          <a:stretch>
            <a:fillRect/>
          </a:stretch>
        </p:blipFill>
        <p:spPr>
          <a:xfrm>
            <a:off x="5106956" y="5040676"/>
            <a:ext cx="128699" cy="187198"/>
          </a:xfrm>
          <a:prstGeom prst="rect">
            <a:avLst/>
          </a:prstGeom>
        </p:spPr>
      </p:pic>
      <p:sp>
        <p:nvSpPr>
          <p:cNvPr id="37" name="TextBox 36"/>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8" name="TextBox 37"/>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9" name="Picture 38" descr="lock.png"/>
          <p:cNvPicPr>
            <a:picLocks noChangeAspect="1"/>
          </p:cNvPicPr>
          <p:nvPr/>
        </p:nvPicPr>
        <p:blipFill>
          <a:blip r:embed="rId4"/>
          <a:stretch>
            <a:fillRect/>
          </a:stretch>
        </p:blipFill>
        <p:spPr>
          <a:xfrm>
            <a:off x="10197622" y="4873036"/>
            <a:ext cx="128699" cy="187198"/>
          </a:xfrm>
          <a:prstGeom prst="rect">
            <a:avLst/>
          </a:prstGeom>
        </p:spPr>
      </p:pic>
      <p:sp>
        <p:nvSpPr>
          <p:cNvPr id="40" name="TextBox 39"/>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41" name="TextBox 40"/>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2" name="Picture 41" descr="lock.png"/>
          <p:cNvPicPr>
            <a:picLocks noChangeAspect="1"/>
          </p:cNvPicPr>
          <p:nvPr/>
        </p:nvPicPr>
        <p:blipFill>
          <a:blip r:embed="rId4"/>
          <a:stretch>
            <a:fillRect/>
          </a:stretch>
        </p:blipFill>
        <p:spPr>
          <a:xfrm>
            <a:off x="9248099" y="5040676"/>
            <a:ext cx="128699" cy="187198"/>
          </a:xfrm>
          <a:prstGeom prst="rect">
            <a:avLst/>
          </a:prstGeom>
        </p:spPr>
      </p:pic>
      <p:sp>
        <p:nvSpPr>
          <p:cNvPr id="43" name="TextBox 42"/>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4" name="TextBox 43"/>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5" name="Picture 44" descr="lock.png"/>
          <p:cNvPicPr>
            <a:picLocks noChangeAspect="1"/>
          </p:cNvPicPr>
          <p:nvPr/>
        </p:nvPicPr>
        <p:blipFill>
          <a:blip r:embed="rId4"/>
          <a:stretch>
            <a:fillRect/>
          </a:stretch>
        </p:blipFill>
        <p:spPr>
          <a:xfrm>
            <a:off x="4678579" y="5913497"/>
            <a:ext cx="128699" cy="187198"/>
          </a:xfrm>
          <a:prstGeom prst="rect">
            <a:avLst/>
          </a:prstGeom>
        </p:spPr>
      </p:pic>
      <p:sp>
        <p:nvSpPr>
          <p:cNvPr id="46" name="TextBox 45"/>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7" name="TextBox 46"/>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8" name="TextBox 47"/>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9" name="Picture 48" descr="lock.png"/>
          <p:cNvPicPr>
            <a:picLocks noChangeAspect="1"/>
          </p:cNvPicPr>
          <p:nvPr/>
        </p:nvPicPr>
        <p:blipFill>
          <a:blip r:embed="rId4"/>
          <a:stretch>
            <a:fillRect/>
          </a:stretch>
        </p:blipFill>
        <p:spPr>
          <a:xfrm>
            <a:off x="9591346" y="5997317"/>
            <a:ext cx="128699" cy="187198"/>
          </a:xfrm>
          <a:prstGeom prst="rect">
            <a:avLst/>
          </a:prstGeom>
        </p:spPr>
      </p:pic>
      <p:sp>
        <p:nvSpPr>
          <p:cNvPr id="50" name="TextBox 49"/>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51" name="Picture 50" descr="lock.png"/>
          <p:cNvPicPr>
            <a:picLocks noChangeAspect="1"/>
          </p:cNvPicPr>
          <p:nvPr/>
        </p:nvPicPr>
        <p:blipFill>
          <a:blip r:embed="rId4"/>
          <a:stretch>
            <a:fillRect/>
          </a:stretch>
        </p:blipFill>
        <p:spPr>
          <a:xfrm>
            <a:off x="11052672" y="5997317"/>
            <a:ext cx="128699" cy="187198"/>
          </a:xfrm>
          <a:prstGeom prst="rect">
            <a:avLst/>
          </a:prstGeom>
        </p:spPr>
      </p:pic>
      <p:sp>
        <p:nvSpPr>
          <p:cNvPr id="52" name="TextBox 51"/>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445350"/>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627887"/>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56795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2933026"/>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298100"/>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66317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028248"/>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39332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767523"/>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325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497671"/>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6274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2781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1315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18735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9163050" y="556155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116330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6" name="Rounded Rectangle 55"/>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Corrugated Partition Market</a:t>
            </a:r>
          </a:p>
        </p:txBody>
      </p:sp>
      <p:sp>
        <p:nvSpPr>
          <p:cNvPr id="57" name="Rounded Rectangle 56"/>
          <p:cNvSpPr/>
          <p:nvPr/>
        </p:nvSpPr>
        <p:spPr>
          <a:xfrm>
            <a:off x="1428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8" name="Rounded Rectangle 57"/>
          <p:cNvSpPr/>
          <p:nvPr/>
        </p:nvSpPr>
        <p:spPr>
          <a:xfrm>
            <a:off x="2762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9" name="Rounded Rectangle 58"/>
          <p:cNvSpPr/>
          <p:nvPr/>
        </p:nvSpPr>
        <p:spPr>
          <a:xfrm>
            <a:off x="27622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60" name="Rounded Rectangle 59"/>
          <p:cNvSpPr/>
          <p:nvPr/>
        </p:nvSpPr>
        <p:spPr>
          <a:xfrm>
            <a:off x="214312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1" name="Rounded Rectangle 60"/>
          <p:cNvSpPr/>
          <p:nvPr/>
        </p:nvSpPr>
        <p:spPr>
          <a:xfrm>
            <a:off x="227647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2" name="Rounded Rectangle 61"/>
          <p:cNvSpPr/>
          <p:nvPr/>
        </p:nvSpPr>
        <p:spPr>
          <a:xfrm>
            <a:off x="227647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3" name="Rounded Rectangle 62"/>
          <p:cNvSpPr/>
          <p:nvPr/>
        </p:nvSpPr>
        <p:spPr>
          <a:xfrm>
            <a:off x="2276475"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4" name="Rounded Rectangle 63"/>
          <p:cNvSpPr/>
          <p:nvPr/>
        </p:nvSpPr>
        <p:spPr>
          <a:xfrm>
            <a:off x="2276475"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5" name="Rounded Rectangle 64"/>
          <p:cNvSpPr/>
          <p:nvPr/>
        </p:nvSpPr>
        <p:spPr>
          <a:xfrm>
            <a:off x="41433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6" name="Rounded Rectangle 65"/>
          <p:cNvSpPr/>
          <p:nvPr/>
        </p:nvSpPr>
        <p:spPr>
          <a:xfrm>
            <a:off x="42767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7" name="Rounded Rectangle 66"/>
          <p:cNvSpPr/>
          <p:nvPr/>
        </p:nvSpPr>
        <p:spPr>
          <a:xfrm>
            <a:off x="4276725" y="263184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8" name="Rounded Rectangle 67"/>
          <p:cNvSpPr/>
          <p:nvPr/>
        </p:nvSpPr>
        <p:spPr>
          <a:xfrm>
            <a:off x="4276725" y="2996914"/>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9" name="Rounded Rectangle 68"/>
          <p:cNvSpPr/>
          <p:nvPr/>
        </p:nvSpPr>
        <p:spPr>
          <a:xfrm>
            <a:off x="4276725" y="336198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70" name="Rounded Rectangle 69"/>
          <p:cNvSpPr/>
          <p:nvPr/>
        </p:nvSpPr>
        <p:spPr>
          <a:xfrm>
            <a:off x="4276725" y="372706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1" name="Rounded Rectangle 70"/>
          <p:cNvSpPr/>
          <p:nvPr/>
        </p:nvSpPr>
        <p:spPr>
          <a:xfrm>
            <a:off x="4276725" y="409213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2" name="Rounded Rectangle 71"/>
          <p:cNvSpPr/>
          <p:nvPr/>
        </p:nvSpPr>
        <p:spPr>
          <a:xfrm>
            <a:off x="4276725" y="446633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3" name="Rounded Rectangle 72"/>
          <p:cNvSpPr/>
          <p:nvPr/>
        </p:nvSpPr>
        <p:spPr>
          <a:xfrm>
            <a:off x="4276725" y="483141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4" name="Rounded Rectangle 73"/>
          <p:cNvSpPr/>
          <p:nvPr/>
        </p:nvSpPr>
        <p:spPr>
          <a:xfrm>
            <a:off x="4276725" y="5196485"/>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5" name="Rounded Rectangle 74"/>
          <p:cNvSpPr/>
          <p:nvPr/>
        </p:nvSpPr>
        <p:spPr>
          <a:xfrm>
            <a:off x="4276725" y="556155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6" name="Rounded Rectangle 75"/>
          <p:cNvSpPr/>
          <p:nvPr/>
        </p:nvSpPr>
        <p:spPr>
          <a:xfrm>
            <a:off x="4276725" y="592663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7" name="Rounded Rectangle 76"/>
          <p:cNvSpPr/>
          <p:nvPr/>
        </p:nvSpPr>
        <p:spPr>
          <a:xfrm>
            <a:off x="4276725" y="629170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8" name="Rounded Rectangle 77"/>
          <p:cNvSpPr/>
          <p:nvPr/>
        </p:nvSpPr>
        <p:spPr>
          <a:xfrm>
            <a:off x="61531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9" name="Rounded Rectangle 78"/>
          <p:cNvSpPr/>
          <p:nvPr/>
        </p:nvSpPr>
        <p:spPr>
          <a:xfrm>
            <a:off x="62865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80" name="Rounded Rectangle 79"/>
          <p:cNvSpPr/>
          <p:nvPr/>
        </p:nvSpPr>
        <p:spPr>
          <a:xfrm>
            <a:off x="62865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1" name="Rounded Rectangle 80"/>
          <p:cNvSpPr/>
          <p:nvPr/>
        </p:nvSpPr>
        <p:spPr>
          <a:xfrm>
            <a:off x="62865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2" name="Rounded Rectangle 81"/>
          <p:cNvSpPr/>
          <p:nvPr/>
        </p:nvSpPr>
        <p:spPr>
          <a:xfrm>
            <a:off x="815340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3" name="Rounded Rectangle 82"/>
          <p:cNvSpPr/>
          <p:nvPr/>
        </p:nvSpPr>
        <p:spPr>
          <a:xfrm>
            <a:off x="828675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4" name="Rounded Rectangle 83"/>
          <p:cNvSpPr/>
          <p:nvPr/>
        </p:nvSpPr>
        <p:spPr>
          <a:xfrm>
            <a:off x="828675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5" name="Rounded Rectangle 84"/>
          <p:cNvSpPr/>
          <p:nvPr/>
        </p:nvSpPr>
        <p:spPr>
          <a:xfrm>
            <a:off x="828675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6" name="Rounded Rectangle 85"/>
          <p:cNvSpPr/>
          <p:nvPr/>
        </p:nvSpPr>
        <p:spPr>
          <a:xfrm>
            <a:off x="828675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7" name="Rounded Rectangle 86"/>
          <p:cNvSpPr/>
          <p:nvPr/>
        </p:nvSpPr>
        <p:spPr>
          <a:xfrm>
            <a:off x="828675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8" name="Rounded Rectangle 87"/>
          <p:cNvSpPr/>
          <p:nvPr/>
        </p:nvSpPr>
        <p:spPr>
          <a:xfrm>
            <a:off x="828675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9" name="Rounded Rectangle 88"/>
          <p:cNvSpPr/>
          <p:nvPr/>
        </p:nvSpPr>
        <p:spPr>
          <a:xfrm>
            <a:off x="828675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90" name="Rounded Rectangle 89"/>
          <p:cNvSpPr/>
          <p:nvPr/>
        </p:nvSpPr>
        <p:spPr>
          <a:xfrm>
            <a:off x="8286750" y="488617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1" name="Rounded Rectangle 90"/>
          <p:cNvSpPr/>
          <p:nvPr/>
        </p:nvSpPr>
        <p:spPr>
          <a:xfrm>
            <a:off x="8286750" y="52603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Vietnam</a:t>
            </a:r>
          </a:p>
        </p:txBody>
      </p:sp>
      <p:sp>
        <p:nvSpPr>
          <p:cNvPr id="92" name="Rounded Rectangle 91"/>
          <p:cNvSpPr/>
          <p:nvPr/>
        </p:nvSpPr>
        <p:spPr>
          <a:xfrm>
            <a:off x="8286750" y="56345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3" name="Rounded Rectangle 92"/>
          <p:cNvSpPr/>
          <p:nvPr/>
        </p:nvSpPr>
        <p:spPr>
          <a:xfrm>
            <a:off x="101536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4" name="Rounded Rectangle 93"/>
          <p:cNvSpPr/>
          <p:nvPr/>
        </p:nvSpPr>
        <p:spPr>
          <a:xfrm>
            <a:off x="102870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6" name="Rounded Rectangle 95"/>
          <p:cNvSpPr/>
          <p:nvPr/>
        </p:nvSpPr>
        <p:spPr>
          <a:xfrm>
            <a:off x="102870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7" name="Rounded Rectangle 96"/>
          <p:cNvSpPr/>
          <p:nvPr/>
        </p:nvSpPr>
        <p:spPr>
          <a:xfrm>
            <a:off x="1028700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8" name="Rounded Rectangle 97"/>
          <p:cNvSpPr/>
          <p:nvPr/>
        </p:nvSpPr>
        <p:spPr>
          <a:xfrm>
            <a:off x="1028700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Other GCC Countries</a:t>
            </a:r>
          </a:p>
        </p:txBody>
      </p:sp>
      <p:sp>
        <p:nvSpPr>
          <p:cNvPr id="99" name="Rounded Rectangle 98"/>
          <p:cNvSpPr/>
          <p:nvPr/>
        </p:nvSpPr>
        <p:spPr>
          <a:xfrm>
            <a:off x="1028700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North Africa</a:t>
            </a:r>
          </a:p>
        </p:txBody>
      </p:sp>
      <p:sp>
        <p:nvSpPr>
          <p:cNvPr id="100" name="Rounded Rectangle 99"/>
          <p:cNvSpPr/>
          <p:nvPr/>
        </p:nvSpPr>
        <p:spPr>
          <a:xfrm>
            <a:off x="1028700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101" name="TextBox 10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7 axes and the sub-segments sized under each</a:t>
            </a:r>
          </a:p>
        </p:txBody>
      </p:sp>
      <p:sp>
        <p:nvSpPr>
          <p:cNvPr id="10" name="Rectangle 9"/>
          <p:cNvSpPr/>
          <p:nvPr/>
        </p:nvSpPr>
        <p:spPr>
          <a:xfrm>
            <a:off x="1428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Partition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Slotted (Interlocking Grid) Partitions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000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390525" y="1434465"/>
            <a:ext cx="259080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Die-Cut &amp; Folded Partitions (H-dividers, tube/cell inserts)</a:t>
            </a:r>
          </a:p>
        </p:txBody>
      </p:sp>
      <p:cxnSp>
        <p:nvCxnSpPr>
          <p:cNvPr id="18" name="Connector 17"/>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2000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3905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Flat Dividers &amp; Layer Pads</a:t>
            </a:r>
          </a:p>
        </p:txBody>
      </p:sp>
      <p:sp>
        <p:nvSpPr>
          <p:cNvPr id="21" name="Rectangle 20"/>
          <p:cNvSpPr/>
          <p:nvPr/>
        </p:nvSpPr>
        <p:spPr>
          <a:xfrm>
            <a:off x="142875" y="208026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Rectangle 21"/>
          <p:cNvSpPr/>
          <p:nvPr/>
        </p:nvSpPr>
        <p:spPr>
          <a:xfrm>
            <a:off x="1428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190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Sales Channel</a:t>
            </a:r>
          </a:p>
        </p:txBody>
      </p:sp>
      <p:sp>
        <p:nvSpPr>
          <p:cNvPr id="24" name="TextBox 23"/>
          <p:cNvSpPr txBox="1"/>
          <p:nvPr/>
        </p:nvSpPr>
        <p:spPr>
          <a:xfrm>
            <a:off x="2000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 name="TextBox 24"/>
          <p:cNvSpPr txBox="1"/>
          <p:nvPr/>
        </p:nvSpPr>
        <p:spPr>
          <a:xfrm>
            <a:off x="3905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Direct (to brand owners/OEMs)</a:t>
            </a:r>
          </a:p>
        </p:txBody>
      </p:sp>
      <p:cxnSp>
        <p:nvCxnSpPr>
          <p:cNvPr id="26" name="Connector 25"/>
          <p:cNvCxnSpPr/>
          <p:nvPr/>
        </p:nvCxnSpPr>
        <p:spPr>
          <a:xfrm>
            <a:off x="1524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2000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 name="TextBox 27"/>
          <p:cNvSpPr txBox="1"/>
          <p:nvPr/>
        </p:nvSpPr>
        <p:spPr>
          <a:xfrm>
            <a:off x="390525" y="2486025"/>
            <a:ext cx="259080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Indirect (distributors and packaging merchants)</a:t>
            </a:r>
          </a:p>
        </p:txBody>
      </p:sp>
      <p:sp>
        <p:nvSpPr>
          <p:cNvPr id="29" name="Rectangle 28"/>
          <p:cNvSpPr/>
          <p:nvPr/>
        </p:nvSpPr>
        <p:spPr>
          <a:xfrm>
            <a:off x="31527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Board Construction</a:t>
            </a:r>
          </a:p>
        </p:txBody>
      </p:sp>
      <p:sp>
        <p:nvSpPr>
          <p:cNvPr id="32" name="TextBox 31"/>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Single Wall</a:t>
            </a:r>
          </a:p>
        </p:txBody>
      </p:sp>
      <p:cxnSp>
        <p:nvCxnSpPr>
          <p:cNvPr id="34" name="Connector 33"/>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2099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6" name="TextBox 35"/>
          <p:cNvSpPr txBox="1"/>
          <p:nvPr/>
        </p:nvSpPr>
        <p:spPr>
          <a:xfrm>
            <a:off x="34004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Double Wall</a:t>
            </a:r>
          </a:p>
        </p:txBody>
      </p:sp>
      <p:cxnSp>
        <p:nvCxnSpPr>
          <p:cNvPr id="37" name="Connector 36"/>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32099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9" name="TextBox 38"/>
          <p:cNvSpPr txBox="1"/>
          <p:nvPr/>
        </p:nvSpPr>
        <p:spPr>
          <a:xfrm>
            <a:off x="34004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Triple Wall</a:t>
            </a:r>
          </a:p>
        </p:txBody>
      </p:sp>
      <p:sp>
        <p:nvSpPr>
          <p:cNvPr id="40" name="Rectangle 39"/>
          <p:cNvSpPr/>
          <p:nvPr/>
        </p:nvSpPr>
        <p:spPr>
          <a:xfrm>
            <a:off x="3152775" y="1903095"/>
            <a:ext cx="2876550" cy="58293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31527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3228975" y="19030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Customization</a:t>
            </a:r>
          </a:p>
        </p:txBody>
      </p:sp>
      <p:sp>
        <p:nvSpPr>
          <p:cNvPr id="43" name="TextBox 42"/>
          <p:cNvSpPr txBox="1"/>
          <p:nvPr/>
        </p:nvSpPr>
        <p:spPr>
          <a:xfrm>
            <a:off x="3209925" y="21316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3400425" y="21316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 Stock Sizes</a:t>
            </a:r>
          </a:p>
        </p:txBody>
      </p:sp>
      <p:cxnSp>
        <p:nvCxnSpPr>
          <p:cNvPr id="45" name="Connector 44"/>
          <p:cNvCxnSpPr/>
          <p:nvPr/>
        </p:nvCxnSpPr>
        <p:spPr>
          <a:xfrm>
            <a:off x="31623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2099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4004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Custom-Engineered</a:t>
            </a:r>
          </a:p>
        </p:txBody>
      </p:sp>
      <p:sp>
        <p:nvSpPr>
          <p:cNvPr id="48" name="Rectangle 47"/>
          <p:cNvSpPr/>
          <p:nvPr/>
        </p:nvSpPr>
        <p:spPr>
          <a:xfrm>
            <a:off x="61626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Source</a:t>
            </a:r>
          </a:p>
        </p:txBody>
      </p:sp>
      <p:sp>
        <p:nvSpPr>
          <p:cNvPr id="51" name="TextBox 50"/>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2" name="TextBox 51"/>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Virgin Kraft Fibre-based</a:t>
            </a:r>
          </a:p>
        </p:txBody>
      </p:sp>
      <p:cxnSp>
        <p:nvCxnSpPr>
          <p:cNvPr id="53" name="Connector 52"/>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5" name="TextBox 54"/>
          <p:cNvSpPr txBox="1"/>
          <p:nvPr/>
        </p:nvSpPr>
        <p:spPr>
          <a:xfrm>
            <a:off x="6410325" y="1434465"/>
            <a:ext cx="259080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Recycled Fibre-based (testliner/recycled medium)</a:t>
            </a:r>
          </a:p>
        </p:txBody>
      </p:sp>
      <p:sp>
        <p:nvSpPr>
          <p:cNvPr id="56" name="Rectangle 55"/>
          <p:cNvSpPr/>
          <p:nvPr/>
        </p:nvSpPr>
        <p:spPr>
          <a:xfrm>
            <a:off x="6162675" y="1903095"/>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61626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6238875" y="19030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End Use</a:t>
            </a:r>
          </a:p>
        </p:txBody>
      </p:sp>
      <p:sp>
        <p:nvSpPr>
          <p:cNvPr id="59" name="TextBox 58"/>
          <p:cNvSpPr txBox="1"/>
          <p:nvPr/>
        </p:nvSpPr>
        <p:spPr>
          <a:xfrm>
            <a:off x="6219825" y="21316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0" name="TextBox 59"/>
          <p:cNvSpPr txBox="1"/>
          <p:nvPr/>
        </p:nvSpPr>
        <p:spPr>
          <a:xfrm>
            <a:off x="6410325" y="21316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Food &amp; Beverage</a:t>
            </a:r>
          </a:p>
        </p:txBody>
      </p:sp>
      <p:cxnSp>
        <p:nvCxnSpPr>
          <p:cNvPr id="61" name="Connector 60"/>
          <p:cNvCxnSpPr/>
          <p:nvPr/>
        </p:nvCxnSpPr>
        <p:spPr>
          <a:xfrm>
            <a:off x="61722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62198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3" name="TextBox 62"/>
          <p:cNvSpPr txBox="1"/>
          <p:nvPr/>
        </p:nvSpPr>
        <p:spPr>
          <a:xfrm>
            <a:off x="64103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Pharmaceuticals &amp; Healthcare</a:t>
            </a:r>
          </a:p>
        </p:txBody>
      </p:sp>
      <p:cxnSp>
        <p:nvCxnSpPr>
          <p:cNvPr id="64" name="Connector 63"/>
          <p:cNvCxnSpPr/>
          <p:nvPr/>
        </p:nvCxnSpPr>
        <p:spPr>
          <a:xfrm>
            <a:off x="61722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62198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6" name="TextBox 65"/>
          <p:cNvSpPr txBox="1"/>
          <p:nvPr/>
        </p:nvSpPr>
        <p:spPr>
          <a:xfrm>
            <a:off x="64103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Personal Care &amp; Cosmetics</a:t>
            </a:r>
          </a:p>
        </p:txBody>
      </p:sp>
      <p:cxnSp>
        <p:nvCxnSpPr>
          <p:cNvPr id="67" name="Connector 66"/>
          <p:cNvCxnSpPr/>
          <p:nvPr/>
        </p:nvCxnSpPr>
        <p:spPr>
          <a:xfrm>
            <a:off x="61722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62198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64103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Electronics &amp; Electrical</a:t>
            </a:r>
          </a:p>
        </p:txBody>
      </p:sp>
      <p:cxnSp>
        <p:nvCxnSpPr>
          <p:cNvPr id="70" name="Connector 69"/>
          <p:cNvCxnSpPr/>
          <p:nvPr/>
        </p:nvCxnSpPr>
        <p:spPr>
          <a:xfrm>
            <a:off x="61722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62198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64103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Automotive &amp; Industrial Components</a:t>
            </a:r>
          </a:p>
        </p:txBody>
      </p:sp>
      <p:cxnSp>
        <p:nvCxnSpPr>
          <p:cNvPr id="73" name="Connector 72"/>
          <p:cNvCxnSpPr/>
          <p:nvPr/>
        </p:nvCxnSpPr>
        <p:spPr>
          <a:xfrm>
            <a:off x="61722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2198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64103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Glassware, Ceramics &amp; Home Goods</a:t>
            </a:r>
          </a:p>
        </p:txBody>
      </p:sp>
      <p:cxnSp>
        <p:nvCxnSpPr>
          <p:cNvPr id="76" name="Connector 75"/>
          <p:cNvCxnSpPr/>
          <p:nvPr/>
        </p:nvCxnSpPr>
        <p:spPr>
          <a:xfrm>
            <a:off x="61722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62198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8" name="TextBox 77"/>
          <p:cNvSpPr txBox="1"/>
          <p:nvPr/>
        </p:nvSpPr>
        <p:spPr>
          <a:xfrm>
            <a:off x="64103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Others</a:t>
            </a:r>
          </a:p>
        </p:txBody>
      </p:sp>
      <p:sp>
        <p:nvSpPr>
          <p:cNvPr id="79" name="Rectangle 78"/>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Cell Configuration</a:t>
            </a:r>
          </a:p>
        </p:txBody>
      </p:sp>
      <p:sp>
        <p:nvSpPr>
          <p:cNvPr id="82" name="TextBox 81"/>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Up to 4 Cells</a:t>
            </a:r>
          </a:p>
        </p:txBody>
      </p:sp>
      <p:cxnSp>
        <p:nvCxnSpPr>
          <p:cNvPr id="84" name="Connector 83"/>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6 to 12 Cells</a:t>
            </a:r>
          </a:p>
        </p:txBody>
      </p:sp>
      <p:cxnSp>
        <p:nvCxnSpPr>
          <p:cNvPr id="87" name="Connector 86"/>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13 to 24 Cells</a:t>
            </a:r>
          </a:p>
        </p:txBody>
      </p:sp>
      <p:cxnSp>
        <p:nvCxnSpPr>
          <p:cNvPr id="90" name="Connector 89"/>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Above 24 Cells</a:t>
            </a:r>
          </a:p>
        </p:txBody>
      </p:sp>
      <p:sp>
        <p:nvSpPr>
          <p:cNvPr id="93" name="TextBox 9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Corrugated Partition Market profiled and benchmarked in the Competition Assessment section.</a:t>
            </a:r>
          </a:p>
        </p:txBody>
      </p:sp>
      <p:sp>
        <p:nvSpPr>
          <p:cNvPr id="11" name="Rectangle 10"/>
          <p:cNvSpPr/>
          <p:nvPr/>
        </p:nvSpPr>
        <p:spPr>
          <a:xfrm>
            <a:off x="142875"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1828677"/>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1828677"/>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Multicell Packaging Inc.</a:t>
            </a:r>
          </a:p>
        </p:txBody>
      </p:sp>
      <p:sp>
        <p:nvSpPr>
          <p:cNvPr id="16" name="Rectangle 15"/>
          <p:cNvSpPr/>
          <p:nvPr/>
        </p:nvSpPr>
        <p:spPr>
          <a:xfrm>
            <a:off x="152400" y="2102483"/>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210248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2102483"/>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2102483"/>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Company</a:t>
            </a:r>
          </a:p>
        </p:txBody>
      </p:sp>
      <p:cxnSp>
        <p:nvCxnSpPr>
          <p:cNvPr id="20" name="Connector 19"/>
          <p:cNvCxnSpPr/>
          <p:nvPr/>
        </p:nvCxnSpPr>
        <p:spPr>
          <a:xfrm>
            <a:off x="152400" y="237628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2376288"/>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2376288"/>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Great American Paper Inc.</a:t>
            </a:r>
          </a:p>
        </p:txBody>
      </p:sp>
      <p:sp>
        <p:nvSpPr>
          <p:cNvPr id="23" name="Rectangle 22"/>
          <p:cNvSpPr/>
          <p:nvPr/>
        </p:nvSpPr>
        <p:spPr>
          <a:xfrm>
            <a:off x="152400" y="2650094"/>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265009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2650094"/>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2650094"/>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Interpack Inc.</a:t>
            </a:r>
          </a:p>
        </p:txBody>
      </p:sp>
      <p:cxnSp>
        <p:nvCxnSpPr>
          <p:cNvPr id="27" name="Connector 26"/>
          <p:cNvCxnSpPr/>
          <p:nvPr/>
        </p:nvCxnSpPr>
        <p:spPr>
          <a:xfrm>
            <a:off x="152400" y="292389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2923899"/>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9" name="TextBox 28"/>
          <p:cNvSpPr txBox="1"/>
          <p:nvPr/>
        </p:nvSpPr>
        <p:spPr>
          <a:xfrm>
            <a:off x="581025" y="2923899"/>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Caps Cases Ltd.</a:t>
            </a:r>
          </a:p>
        </p:txBody>
      </p:sp>
      <p:sp>
        <p:nvSpPr>
          <p:cNvPr id="30" name="Rectangle 29"/>
          <p:cNvSpPr/>
          <p:nvPr/>
        </p:nvSpPr>
        <p:spPr>
          <a:xfrm>
            <a:off x="152400" y="3197705"/>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52400" y="319770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333375" y="3197705"/>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3" name="TextBox 32"/>
          <p:cNvSpPr txBox="1"/>
          <p:nvPr/>
        </p:nvSpPr>
        <p:spPr>
          <a:xfrm>
            <a:off x="581025" y="3197705"/>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M &amp; M Box &amp; Partitions Co.</a:t>
            </a:r>
          </a:p>
        </p:txBody>
      </p:sp>
      <p:cxnSp>
        <p:nvCxnSpPr>
          <p:cNvPr id="34" name="Connector 33"/>
          <p:cNvCxnSpPr/>
          <p:nvPr/>
        </p:nvCxnSpPr>
        <p:spPr>
          <a:xfrm>
            <a:off x="152400" y="34715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33375" y="3471510"/>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6" name="TextBox 35"/>
          <p:cNvSpPr txBox="1"/>
          <p:nvPr/>
        </p:nvSpPr>
        <p:spPr>
          <a:xfrm>
            <a:off x="581025" y="3471510"/>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Martin Partitions</a:t>
            </a:r>
          </a:p>
        </p:txBody>
      </p:sp>
      <p:sp>
        <p:nvSpPr>
          <p:cNvPr id="37" name="Rectangle 36"/>
          <p:cNvSpPr/>
          <p:nvPr/>
        </p:nvSpPr>
        <p:spPr>
          <a:xfrm>
            <a:off x="152400" y="3745316"/>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8" name="Connector 37"/>
          <p:cNvCxnSpPr/>
          <p:nvPr/>
        </p:nvCxnSpPr>
        <p:spPr>
          <a:xfrm>
            <a:off x="152400" y="374531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3375" y="3745316"/>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0" name="TextBox 39"/>
          <p:cNvSpPr txBox="1"/>
          <p:nvPr/>
        </p:nvSpPr>
        <p:spPr>
          <a:xfrm>
            <a:off x="581025" y="3745316"/>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Buckeye Corrugated Inc.</a:t>
            </a:r>
          </a:p>
        </p:txBody>
      </p:sp>
      <p:cxnSp>
        <p:nvCxnSpPr>
          <p:cNvPr id="41" name="Connector 40"/>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33375" y="4019121"/>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3" name="TextBox 42"/>
          <p:cNvSpPr txBox="1"/>
          <p:nvPr/>
        </p:nvSpPr>
        <p:spPr>
          <a:xfrm>
            <a:off x="581025" y="4019121"/>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Cactus Corrugated Containers Inc.</a:t>
            </a:r>
          </a:p>
        </p:txBody>
      </p:sp>
      <p:sp>
        <p:nvSpPr>
          <p:cNvPr id="44" name="Rectangle 43"/>
          <p:cNvSpPr/>
          <p:nvPr/>
        </p:nvSpPr>
        <p:spPr>
          <a:xfrm>
            <a:off x="152400" y="4292927"/>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5" name="Connector 44"/>
          <p:cNvCxnSpPr/>
          <p:nvPr/>
        </p:nvCxnSpPr>
        <p:spPr>
          <a:xfrm>
            <a:off x="152400" y="429292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33375" y="4292927"/>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7" name="TextBox 46"/>
          <p:cNvSpPr txBox="1"/>
          <p:nvPr/>
        </p:nvSpPr>
        <p:spPr>
          <a:xfrm>
            <a:off x="581025" y="4292927"/>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Jarrett Industries Inc.</a:t>
            </a:r>
          </a:p>
        </p:txBody>
      </p:sp>
      <p:cxnSp>
        <p:nvCxnSpPr>
          <p:cNvPr id="48" name="Connector 47"/>
          <p:cNvCxnSpPr/>
          <p:nvPr/>
        </p:nvCxnSpPr>
        <p:spPr>
          <a:xfrm>
            <a:off x="152400" y="45667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33375" y="4566732"/>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0" name="TextBox 49"/>
          <p:cNvSpPr txBox="1"/>
          <p:nvPr/>
        </p:nvSpPr>
        <p:spPr>
          <a:xfrm>
            <a:off x="581025" y="4566732"/>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Imperial Paper Company</a:t>
            </a:r>
          </a:p>
        </p:txBody>
      </p:sp>
      <p:sp>
        <p:nvSpPr>
          <p:cNvPr id="51" name="Rectangle 50"/>
          <p:cNvSpPr/>
          <p:nvPr/>
        </p:nvSpPr>
        <p:spPr>
          <a:xfrm>
            <a:off x="152400" y="4840538"/>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52400" y="484053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3375" y="4840538"/>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4" name="TextBox 53"/>
          <p:cNvSpPr txBox="1"/>
          <p:nvPr/>
        </p:nvSpPr>
        <p:spPr>
          <a:xfrm>
            <a:off x="581025" y="4840538"/>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Unipaq Inc.</a:t>
            </a:r>
          </a:p>
        </p:txBody>
      </p:sp>
      <p:cxnSp>
        <p:nvCxnSpPr>
          <p:cNvPr id="55" name="Connector 54"/>
          <p:cNvCxnSpPr/>
          <p:nvPr/>
        </p:nvCxnSpPr>
        <p:spPr>
          <a:xfrm>
            <a:off x="152400" y="511434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33375" y="5114343"/>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7" name="TextBox 56"/>
          <p:cNvSpPr txBox="1"/>
          <p:nvPr/>
        </p:nvSpPr>
        <p:spPr>
          <a:xfrm>
            <a:off x="581025" y="5114343"/>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Fibre Tec Packaging</a:t>
            </a:r>
          </a:p>
        </p:txBody>
      </p:sp>
      <p:sp>
        <p:nvSpPr>
          <p:cNvPr id="58" name="Rectangle 57"/>
          <p:cNvSpPr/>
          <p:nvPr/>
        </p:nvSpPr>
        <p:spPr>
          <a:xfrm>
            <a:off x="152400" y="5388149"/>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9" name="Connector 58"/>
          <p:cNvCxnSpPr/>
          <p:nvPr/>
        </p:nvCxnSpPr>
        <p:spPr>
          <a:xfrm>
            <a:off x="152400" y="538814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3375" y="5388149"/>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1" name="TextBox 60"/>
          <p:cNvSpPr txBox="1"/>
          <p:nvPr/>
        </p:nvSpPr>
        <p:spPr>
          <a:xfrm>
            <a:off x="581025" y="5388149"/>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Packnet Ltd.</a:t>
            </a:r>
          </a:p>
        </p:txBody>
      </p:sp>
      <p:cxnSp>
        <p:nvCxnSpPr>
          <p:cNvPr id="62" name="Connector 61"/>
          <p:cNvCxnSpPr/>
          <p:nvPr/>
        </p:nvCxnSpPr>
        <p:spPr>
          <a:xfrm>
            <a:off x="152400" y="566195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3375" y="5661954"/>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4" name="TextBox 63"/>
          <p:cNvSpPr txBox="1"/>
          <p:nvPr/>
        </p:nvSpPr>
        <p:spPr>
          <a:xfrm>
            <a:off x="581025" y="5661954"/>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Action Wood 360</a:t>
            </a:r>
          </a:p>
        </p:txBody>
      </p:sp>
      <p:sp>
        <p:nvSpPr>
          <p:cNvPr id="65" name="Rectangle 64"/>
          <p:cNvSpPr/>
          <p:nvPr/>
        </p:nvSpPr>
        <p:spPr>
          <a:xfrm>
            <a:off x="152400" y="5935759"/>
            <a:ext cx="5838825" cy="26467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6" name="Connector 65"/>
          <p:cNvCxnSpPr/>
          <p:nvPr/>
        </p:nvCxnSpPr>
        <p:spPr>
          <a:xfrm>
            <a:off x="152400" y="593575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33375" y="5935759"/>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8" name="TextBox 67"/>
          <p:cNvSpPr txBox="1"/>
          <p:nvPr/>
        </p:nvSpPr>
        <p:spPr>
          <a:xfrm>
            <a:off x="581025" y="5935759"/>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Pacific Southwest Container</a:t>
            </a:r>
          </a:p>
        </p:txBody>
      </p:sp>
      <p:sp>
        <p:nvSpPr>
          <p:cNvPr id="69" name="Rectangle 68"/>
          <p:cNvSpPr/>
          <p:nvPr/>
        </p:nvSpPr>
        <p:spPr>
          <a:xfrm>
            <a:off x="6191250"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6191250"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6191250"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72" name="TextBox 71"/>
          <p:cNvSpPr txBox="1"/>
          <p:nvPr/>
        </p:nvSpPr>
        <p:spPr>
          <a:xfrm>
            <a:off x="6381750" y="1828677"/>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3" name="TextBox 72"/>
          <p:cNvSpPr txBox="1"/>
          <p:nvPr/>
        </p:nvSpPr>
        <p:spPr>
          <a:xfrm>
            <a:off x="6629400" y="1828677"/>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Colorado Industrial Packaging</a:t>
            </a:r>
          </a:p>
        </p:txBody>
      </p:sp>
      <p:sp>
        <p:nvSpPr>
          <p:cNvPr id="74" name="Rectangle 73"/>
          <p:cNvSpPr/>
          <p:nvPr/>
        </p:nvSpPr>
        <p:spPr>
          <a:xfrm>
            <a:off x="6200775" y="2102483"/>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6200775" y="210248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381750" y="2102483"/>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7" name="TextBox 76"/>
          <p:cNvSpPr txBox="1"/>
          <p:nvPr/>
        </p:nvSpPr>
        <p:spPr>
          <a:xfrm>
            <a:off x="6629400" y="2102483"/>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Riverside Paper Co.</a:t>
            </a:r>
          </a:p>
        </p:txBody>
      </p:sp>
      <p:cxnSp>
        <p:nvCxnSpPr>
          <p:cNvPr id="78" name="Connector 77"/>
          <p:cNvCxnSpPr/>
          <p:nvPr/>
        </p:nvCxnSpPr>
        <p:spPr>
          <a:xfrm>
            <a:off x="6200775" y="237628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81750" y="2376288"/>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0" name="TextBox 79"/>
          <p:cNvSpPr txBox="1"/>
          <p:nvPr/>
        </p:nvSpPr>
        <p:spPr>
          <a:xfrm>
            <a:off x="6629400" y="2376288"/>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Industrie-Kartonagen Maier GmbH</a:t>
            </a:r>
          </a:p>
        </p:txBody>
      </p:sp>
      <p:sp>
        <p:nvSpPr>
          <p:cNvPr id="81" name="Rectangle 80"/>
          <p:cNvSpPr/>
          <p:nvPr/>
        </p:nvSpPr>
        <p:spPr>
          <a:xfrm>
            <a:off x="6200775" y="2650094"/>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2" name="Connector 81"/>
          <p:cNvCxnSpPr/>
          <p:nvPr/>
        </p:nvCxnSpPr>
        <p:spPr>
          <a:xfrm>
            <a:off x="6200775" y="265009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6381750" y="2650094"/>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4" name="TextBox 83"/>
          <p:cNvSpPr txBox="1"/>
          <p:nvPr/>
        </p:nvSpPr>
        <p:spPr>
          <a:xfrm>
            <a:off x="6629400" y="2650094"/>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ITB Packaging LLC</a:t>
            </a:r>
          </a:p>
        </p:txBody>
      </p:sp>
      <p:cxnSp>
        <p:nvCxnSpPr>
          <p:cNvPr id="85" name="Connector 84"/>
          <p:cNvCxnSpPr/>
          <p:nvPr/>
        </p:nvCxnSpPr>
        <p:spPr>
          <a:xfrm>
            <a:off x="6200775" y="292389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6381750" y="2923899"/>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7" name="TextBox 86"/>
          <p:cNvSpPr txBox="1"/>
          <p:nvPr/>
        </p:nvSpPr>
        <p:spPr>
          <a:xfrm>
            <a:off x="6629400" y="2923899"/>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Packform USA LLC</a:t>
            </a:r>
          </a:p>
        </p:txBody>
      </p:sp>
      <p:sp>
        <p:nvSpPr>
          <p:cNvPr id="88" name="Rectangle 87"/>
          <p:cNvSpPr/>
          <p:nvPr/>
        </p:nvSpPr>
        <p:spPr>
          <a:xfrm>
            <a:off x="6200775" y="3197705"/>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9" name="Connector 88"/>
          <p:cNvCxnSpPr/>
          <p:nvPr/>
        </p:nvCxnSpPr>
        <p:spPr>
          <a:xfrm>
            <a:off x="6200775" y="319770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6381750" y="3197705"/>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1" name="TextBox 90"/>
          <p:cNvSpPr txBox="1"/>
          <p:nvPr/>
        </p:nvSpPr>
        <p:spPr>
          <a:xfrm>
            <a:off x="6629400" y="3197705"/>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Dong Hai Ben Tre JSC (DOHACO)</a:t>
            </a:r>
          </a:p>
        </p:txBody>
      </p:sp>
      <p:cxnSp>
        <p:nvCxnSpPr>
          <p:cNvPr id="92" name="Connector 91"/>
          <p:cNvCxnSpPr/>
          <p:nvPr/>
        </p:nvCxnSpPr>
        <p:spPr>
          <a:xfrm>
            <a:off x="6200775" y="34715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6381750" y="3471510"/>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4" name="TextBox 93"/>
          <p:cNvSpPr txBox="1"/>
          <p:nvPr/>
        </p:nvSpPr>
        <p:spPr>
          <a:xfrm>
            <a:off x="6629400" y="3471510"/>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Sunrise Printing &amp; Packaging Co., Ltd.</a:t>
            </a:r>
          </a:p>
        </p:txBody>
      </p:sp>
      <p:sp>
        <p:nvSpPr>
          <p:cNvPr id="95" name="Rectangle 94"/>
          <p:cNvSpPr/>
          <p:nvPr/>
        </p:nvSpPr>
        <p:spPr>
          <a:xfrm>
            <a:off x="6200775" y="3745316"/>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6" name="Connector 95"/>
          <p:cNvCxnSpPr/>
          <p:nvPr/>
        </p:nvCxnSpPr>
        <p:spPr>
          <a:xfrm>
            <a:off x="6200775" y="374531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81750" y="3745316"/>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8" name="TextBox 97"/>
          <p:cNvSpPr txBox="1"/>
          <p:nvPr/>
        </p:nvSpPr>
        <p:spPr>
          <a:xfrm>
            <a:off x="6629400" y="3745316"/>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Minh Dung Company Limited</a:t>
            </a:r>
          </a:p>
        </p:txBody>
      </p:sp>
      <p:cxnSp>
        <p:nvCxnSpPr>
          <p:cNvPr id="99" name="Connector 98"/>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381750" y="4019121"/>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1" name="TextBox 100"/>
          <p:cNvSpPr txBox="1"/>
          <p:nvPr/>
        </p:nvSpPr>
        <p:spPr>
          <a:xfrm>
            <a:off x="6629400" y="4019121"/>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Trung Tin Phat Packaging JSC</a:t>
            </a:r>
          </a:p>
        </p:txBody>
      </p:sp>
      <p:sp>
        <p:nvSpPr>
          <p:cNvPr id="102" name="Rectangle 101"/>
          <p:cNvSpPr/>
          <p:nvPr/>
        </p:nvSpPr>
        <p:spPr>
          <a:xfrm>
            <a:off x="6200775" y="4292927"/>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3" name="Connector 102"/>
          <p:cNvCxnSpPr/>
          <p:nvPr/>
        </p:nvCxnSpPr>
        <p:spPr>
          <a:xfrm>
            <a:off x="6200775" y="429292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381750" y="4292927"/>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5" name="TextBox 104"/>
          <p:cNvSpPr txBox="1"/>
          <p:nvPr/>
        </p:nvSpPr>
        <p:spPr>
          <a:xfrm>
            <a:off x="6629400" y="4292927"/>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Global Packaging JSC (Bao Bi Toan Cau)</a:t>
            </a:r>
          </a:p>
        </p:txBody>
      </p:sp>
      <p:cxnSp>
        <p:nvCxnSpPr>
          <p:cNvPr id="106" name="Connector 105"/>
          <p:cNvCxnSpPr/>
          <p:nvPr/>
        </p:nvCxnSpPr>
        <p:spPr>
          <a:xfrm>
            <a:off x="6200775" y="45667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6381750" y="4566732"/>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8" name="TextBox 107"/>
          <p:cNvSpPr txBox="1"/>
          <p:nvPr/>
        </p:nvSpPr>
        <p:spPr>
          <a:xfrm>
            <a:off x="6629400" y="4566732"/>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Thai Kobashi Co., Ltd.</a:t>
            </a:r>
          </a:p>
        </p:txBody>
      </p:sp>
      <p:sp>
        <p:nvSpPr>
          <p:cNvPr id="109" name="Rectangle 108"/>
          <p:cNvSpPr/>
          <p:nvPr/>
        </p:nvSpPr>
        <p:spPr>
          <a:xfrm>
            <a:off x="6200775" y="4840538"/>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0" name="Connector 109"/>
          <p:cNvCxnSpPr/>
          <p:nvPr/>
        </p:nvCxnSpPr>
        <p:spPr>
          <a:xfrm>
            <a:off x="6200775" y="484053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6381750" y="4840538"/>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2" name="TextBox 111"/>
          <p:cNvSpPr txBox="1"/>
          <p:nvPr/>
        </p:nvSpPr>
        <p:spPr>
          <a:xfrm>
            <a:off x="6629400" y="4840538"/>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Kaizen Packaging Co., Ltd.</a:t>
            </a:r>
          </a:p>
        </p:txBody>
      </p:sp>
      <p:cxnSp>
        <p:nvCxnSpPr>
          <p:cNvPr id="113" name="Connector 112"/>
          <p:cNvCxnSpPr/>
          <p:nvPr/>
        </p:nvCxnSpPr>
        <p:spPr>
          <a:xfrm>
            <a:off x="6200775" y="511434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381750" y="5114343"/>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5" name="TextBox 114"/>
          <p:cNvSpPr txBox="1"/>
          <p:nvPr/>
        </p:nvSpPr>
        <p:spPr>
          <a:xfrm>
            <a:off x="6629400" y="5114343"/>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Shoon Teet Paper Boxes Manufacturer Sdn. Bhd.</a:t>
            </a:r>
          </a:p>
        </p:txBody>
      </p:sp>
      <p:sp>
        <p:nvSpPr>
          <p:cNvPr id="116" name="Rectangle 115"/>
          <p:cNvSpPr/>
          <p:nvPr/>
        </p:nvSpPr>
        <p:spPr>
          <a:xfrm>
            <a:off x="6200775" y="5388149"/>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7" name="Connector 116"/>
          <p:cNvCxnSpPr/>
          <p:nvPr/>
        </p:nvCxnSpPr>
        <p:spPr>
          <a:xfrm>
            <a:off x="6200775" y="538814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8" name="TextBox 117"/>
          <p:cNvSpPr txBox="1"/>
          <p:nvPr/>
        </p:nvSpPr>
        <p:spPr>
          <a:xfrm>
            <a:off x="6381750" y="5388149"/>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9" name="TextBox 118"/>
          <p:cNvSpPr txBox="1"/>
          <p:nvPr/>
        </p:nvSpPr>
        <p:spPr>
          <a:xfrm>
            <a:off x="6629400" y="5388149"/>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MD Pack Industries Sdn. Bhd.</a:t>
            </a:r>
          </a:p>
        </p:txBody>
      </p:sp>
      <p:cxnSp>
        <p:nvCxnSpPr>
          <p:cNvPr id="120" name="Connector 119"/>
          <p:cNvCxnSpPr/>
          <p:nvPr/>
        </p:nvCxnSpPr>
        <p:spPr>
          <a:xfrm>
            <a:off x="6200775" y="566195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6381750" y="5661954"/>
            <a:ext cx="190500" cy="273805"/>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22" name="TextBox 121"/>
          <p:cNvSpPr txBox="1"/>
          <p:nvPr/>
        </p:nvSpPr>
        <p:spPr>
          <a:xfrm>
            <a:off x="6629400" y="5661954"/>
            <a:ext cx="5324475" cy="273805"/>
          </a:xfrm>
          <a:prstGeom prst="rect">
            <a:avLst/>
          </a:prstGeom>
          <a:noFill/>
        </p:spPr>
        <p:txBody>
          <a:bodyPr wrap="square" lIns="28575" rIns="28575" tIns="9525" bIns="9525" anchor="ctr">
            <a:spAutoFit/>
          </a:bodyPr>
          <a:lstStyle/>
          <a:p>
            <a:pPr algn="l"/>
            <a:r>
              <a:rPr sz="1100" b="0">
                <a:solidFill>
                  <a:srgbClr val="2E2E2E"/>
                </a:solidFill>
                <a:latin typeface="Calibri"/>
              </a:rPr>
              <a:t>PT SuryaTITIA Makmur</a:t>
            </a:r>
          </a:p>
        </p:txBody>
      </p:sp>
      <p:sp>
        <p:nvSpPr>
          <p:cNvPr id="123" name="Rectangle 122"/>
          <p:cNvSpPr/>
          <p:nvPr/>
        </p:nvSpPr>
        <p:spPr>
          <a:xfrm>
            <a:off x="6200775" y="5935759"/>
            <a:ext cx="5838825" cy="26467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4" name="Connector 123"/>
          <p:cNvCxnSpPr/>
          <p:nvPr/>
        </p:nvCxnSpPr>
        <p:spPr>
          <a:xfrm>
            <a:off x="6200775" y="593575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126" name="TextBox 1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Partition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Slotted (Interlocking Grid) Partitions</a:t>
                      </a:r>
                      <a:endParaRPr sz="1100"/>
                    </a:p>
                  </a:txBody>
                  <a:tcPr marL="771525"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Die-Cut &amp; Folded Partitions (H-dividers, tube/cell inserts)</a:t>
                      </a:r>
                      <a:endParaRPr sz="1100"/>
                    </a:p>
                  </a:txBody>
                  <a:tcPr marL="771525"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Flat Dividers &amp; Layer Pads</a:t>
                      </a:r>
                      <a:endParaRPr sz="1100"/>
                    </a:p>
                  </a:txBody>
                  <a:tcPr marL="771525"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Board Construction</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Single Wall</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Double Wall</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Triple Wall</a:t>
                      </a:r>
                      <a:endParaRPr sz="1100"/>
                    </a:p>
                  </a:txBody>
                  <a:tcPr marL="771525"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Material Source</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Virgin Kraft Fibre-based</a:t>
                      </a:r>
                      <a:endParaRPr sz="1100"/>
                    </a:p>
                  </a:txBody>
                  <a:tcPr marL="771525"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Recycled Fibre-based (testliner/recycled medium)</a:t>
                      </a:r>
                      <a:endParaRPr sz="1100"/>
                    </a:p>
                  </a:txBody>
                  <a:tcPr marL="771525"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Cell Configuration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Up to 4 Cells</a:t>
                      </a:r>
                      <a:endParaRPr sz="1100"/>
                    </a:p>
                  </a:txBody>
                  <a:tcPr marL="771525"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6 to 12 Cells</a:t>
                      </a:r>
                      <a:endParaRPr sz="1100"/>
                    </a:p>
                  </a:txBody>
                  <a:tcPr marL="771525"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13 to 24 Cells</a:t>
                      </a:r>
                      <a:endParaRPr sz="1100"/>
                    </a:p>
                  </a:txBody>
                  <a:tcPr marL="771525"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Above 24 Cells</a:t>
                      </a:r>
                      <a:endParaRPr sz="1100"/>
                    </a:p>
                  </a:txBody>
                  <a:tcPr marL="771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Customization</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7.5.1.</a:t>
                      </a:r>
                      <a:r>
                        <a:rPr sz="700" b="0" i="0">
                          <a:solidFill>
                            <a:srgbClr val="000000"/>
                          </a:solidFill>
                          <a:latin typeface="Times New Roman"/>
                        </a:rPr>
                        <a:t>   </a:t>
                      </a:r>
                      <a:r>
                        <a:rPr sz="1100" b="0" i="0">
                          <a:solidFill>
                            <a:srgbClr val="000000"/>
                          </a:solidFill>
                          <a:latin typeface="Calibri"/>
                        </a:rPr>
                        <a:t>Standard / Stock Sizes</a:t>
                      </a:r>
                      <a:endParaRPr sz="1100"/>
                    </a:p>
                  </a:txBody>
                  <a:tcPr marL="771525" marR="9525" marT="9525" marB="0" anchor="ctr"/>
                </a:tc>
              </a:tr>
              <a:tr h="175260">
                <a:tc>
                  <a:txBody>
                    <a:bodyPr wrap="square"/>
                    <a:lstStyle/>
                    <a:p>
                      <a:pPr algn="l"/>
                      <a:r>
                        <a:rPr sz="1100" b="0" i="0">
                          <a:solidFill>
                            <a:srgbClr val="000000"/>
                          </a:solidFill>
                          <a:latin typeface="Calibri"/>
                        </a:rPr>
                        <a:t>7.5.2.</a:t>
                      </a:r>
                      <a:r>
                        <a:rPr sz="700" b="0" i="0">
                          <a:solidFill>
                            <a:srgbClr val="000000"/>
                          </a:solidFill>
                          <a:latin typeface="Times New Roman"/>
                        </a:rPr>
                        <a:t>   </a:t>
                      </a:r>
                      <a:r>
                        <a:rPr sz="1100" b="0" i="0">
                          <a:solidFill>
                            <a:srgbClr val="000000"/>
                          </a:solidFill>
                          <a:latin typeface="Calibri"/>
                        </a:rPr>
                        <a:t>Custom-Engineered</a:t>
                      </a:r>
                      <a:endParaRPr sz="1100"/>
                    </a:p>
                  </a:txBody>
                  <a:tcPr marL="771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End Use</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8.5.1.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0">
                          <a:solidFill>
                            <a:srgbClr val="000000"/>
                          </a:solidFill>
                          <a:latin typeface="Calibri"/>
                        </a:rPr>
                        <a:t>8.5.2.</a:t>
                      </a:r>
                      <a:r>
                        <a:rPr sz="700" b="0" i="0">
                          <a:solidFill>
                            <a:srgbClr val="000000"/>
                          </a:solidFill>
                          <a:latin typeface="Times New Roman"/>
                        </a:rPr>
                        <a:t>   </a:t>
                      </a:r>
                      <a:r>
                        <a:rPr sz="1100" b="0" i="0">
                          <a:solidFill>
                            <a:srgbClr val="000000"/>
                          </a:solidFill>
                          <a:latin typeface="Calibri"/>
                        </a:rPr>
                        <a:t>Pharmaceuticals &amp; Healthcare</a:t>
                      </a:r>
                      <a:endParaRPr sz="1100"/>
                    </a:p>
                  </a:txBody>
                  <a:tcPr marL="771525" marR="9525" marT="9525" marB="0" anchor="ctr"/>
                </a:tc>
              </a:tr>
              <a:tr h="175260">
                <a:tc>
                  <a:txBody>
                    <a:bodyPr wrap="square"/>
                    <a:lstStyle/>
                    <a:p>
                      <a:pPr algn="l"/>
                      <a:r>
                        <a:rPr sz="1100" b="0" i="0">
                          <a:solidFill>
                            <a:srgbClr val="000000"/>
                          </a:solidFill>
                          <a:latin typeface="Calibri"/>
                        </a:rPr>
                        <a:t>8.5.3.</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0">
                          <a:solidFill>
                            <a:srgbClr val="000000"/>
                          </a:solidFill>
                          <a:latin typeface="Calibri"/>
                        </a:rPr>
                        <a:t>8.5.4.</a:t>
                      </a:r>
                      <a:r>
                        <a:rPr sz="700" b="0" i="0">
                          <a:solidFill>
                            <a:srgbClr val="000000"/>
                          </a:solidFill>
                          <a:latin typeface="Times New Roman"/>
                        </a:rPr>
                        <a:t>   </a:t>
                      </a:r>
                      <a:r>
                        <a:rPr sz="1100" b="0" i="0">
                          <a:solidFill>
                            <a:srgbClr val="000000"/>
                          </a:solidFill>
                          <a:latin typeface="Calibri"/>
                        </a:rPr>
                        <a:t>Electronics &amp; Electrical</a:t>
                      </a:r>
                      <a:endParaRPr sz="1100"/>
                    </a:p>
                  </a:txBody>
                  <a:tcPr marL="771525" marR="9525" marT="9525" marB="0" anchor="ctr"/>
                </a:tc>
              </a:tr>
              <a:tr h="175260">
                <a:tc>
                  <a:txBody>
                    <a:bodyPr wrap="square"/>
                    <a:lstStyle/>
                    <a:p>
                      <a:pPr algn="l"/>
                      <a:r>
                        <a:rPr sz="1100" b="0" i="0">
                          <a:solidFill>
                            <a:srgbClr val="000000"/>
                          </a:solidFill>
                          <a:latin typeface="Calibri"/>
                        </a:rPr>
                        <a:t>8.5.5.</a:t>
                      </a:r>
                      <a:r>
                        <a:rPr sz="700" b="0" i="0">
                          <a:solidFill>
                            <a:srgbClr val="000000"/>
                          </a:solidFill>
                          <a:latin typeface="Times New Roman"/>
                        </a:rPr>
                        <a:t>   </a:t>
                      </a:r>
                      <a:r>
                        <a:rPr sz="1100" b="0" i="0">
                          <a:solidFill>
                            <a:srgbClr val="000000"/>
                          </a:solidFill>
                          <a:latin typeface="Calibri"/>
                        </a:rPr>
                        <a:t>Automotive &amp; Industrial Components</a:t>
                      </a:r>
                      <a:endParaRPr sz="1100"/>
                    </a:p>
                  </a:txBody>
                  <a:tcPr marL="771525" marR="9525" marT="9525" marB="0" anchor="ctr"/>
                </a:tc>
              </a:tr>
              <a:tr h="175260">
                <a:tc>
                  <a:txBody>
                    <a:bodyPr wrap="square"/>
                    <a:lstStyle/>
                    <a:p>
                      <a:pPr algn="l"/>
                      <a:r>
                        <a:rPr sz="1100" b="0" i="0">
                          <a:solidFill>
                            <a:srgbClr val="000000"/>
                          </a:solidFill>
                          <a:latin typeface="Calibri"/>
                        </a:rPr>
                        <a:t>8.5.6.</a:t>
                      </a:r>
                      <a:r>
                        <a:rPr sz="700" b="0" i="0">
                          <a:solidFill>
                            <a:srgbClr val="000000"/>
                          </a:solidFill>
                          <a:latin typeface="Times New Roman"/>
                        </a:rPr>
                        <a:t>   </a:t>
                      </a:r>
                      <a:r>
                        <a:rPr sz="1100" b="0" i="0">
                          <a:solidFill>
                            <a:srgbClr val="000000"/>
                          </a:solidFill>
                          <a:latin typeface="Calibri"/>
                        </a:rPr>
                        <a:t>Glassware, Ceramics &amp; Home Goods</a:t>
                      </a:r>
                      <a:endParaRPr sz="1100"/>
                    </a:p>
                  </a:txBody>
                  <a:tcPr marL="771525" marR="9525" marT="9525" marB="0" anchor="ctr"/>
                </a:tc>
              </a:tr>
              <a:tr h="175260">
                <a:tc>
                  <a:txBody>
                    <a:bodyPr wrap="square"/>
                    <a:lstStyle/>
                    <a:p>
                      <a:pPr algn="l"/>
                      <a:r>
                        <a:rPr sz="1100" b="0" i="0">
                          <a:solidFill>
                            <a:srgbClr val="000000"/>
                          </a:solidFill>
                          <a:latin typeface="Calibri"/>
                        </a:rPr>
                        <a:t>8.5.7.</a:t>
                      </a:r>
                      <a:r>
                        <a:rPr sz="700" b="0" i="0">
                          <a:solidFill>
                            <a:srgbClr val="000000"/>
                          </a:solidFill>
                          <a:latin typeface="Times New Roman"/>
                        </a:rPr>
                        <a:t>   </a:t>
                      </a:r>
                      <a:r>
                        <a:rPr sz="1100" b="0" i="0">
                          <a:solidFill>
                            <a:srgbClr val="000000"/>
                          </a:solidFill>
                          <a:latin typeface="Calibri"/>
                        </a:rPr>
                        <a:t>Others</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Sales Channel</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9.5.1.</a:t>
                      </a:r>
                      <a:r>
                        <a:rPr sz="700" b="0" i="0">
                          <a:solidFill>
                            <a:srgbClr val="000000"/>
                          </a:solidFill>
                          <a:latin typeface="Times New Roman"/>
                        </a:rPr>
                        <a:t>   </a:t>
                      </a:r>
                      <a:r>
                        <a:rPr sz="1100" b="0" i="0">
                          <a:solidFill>
                            <a:srgbClr val="000000"/>
                          </a:solidFill>
                          <a:latin typeface="Calibri"/>
                        </a:rPr>
                        <a:t>Direct (to brand owners/OEMs)</a:t>
                      </a:r>
                      <a:endParaRPr sz="1100"/>
                    </a:p>
                  </a:txBody>
                  <a:tcPr marL="771525" marR="9525" marT="9525" marB="0" anchor="ctr"/>
                </a:tc>
              </a:tr>
              <a:tr h="175260">
                <a:tc>
                  <a:txBody>
                    <a:bodyPr wrap="square"/>
                    <a:lstStyle/>
                    <a:p>
                      <a:pPr algn="l"/>
                      <a:r>
                        <a:rPr sz="1100" b="0" i="0">
                          <a:solidFill>
                            <a:srgbClr val="000000"/>
                          </a:solidFill>
                          <a:latin typeface="Calibri"/>
                        </a:rPr>
                        <a:t>9.5.2.</a:t>
                      </a:r>
                      <a:r>
                        <a:rPr sz="700" b="0" i="0">
                          <a:solidFill>
                            <a:srgbClr val="000000"/>
                          </a:solidFill>
                          <a:latin typeface="Times New Roman"/>
                        </a:rPr>
                        <a:t>   </a:t>
                      </a:r>
                      <a:r>
                        <a:rPr sz="1100" b="0" i="0">
                          <a:solidFill>
                            <a:srgbClr val="000000"/>
                          </a:solidFill>
                          <a:latin typeface="Calibri"/>
                        </a:rPr>
                        <a:t>Indirect (distributors and packaging merchants)</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10.5.1.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10.5.1.1.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10.5.1.2.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10.5.2.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10.5.2.1.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10.5.2.2.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10.5.2.3.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10.5.3.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10.5.3.1.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10.5.3.2.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10.5.3.3.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10.5.4.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10.5.4.1.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10.5.4.2.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10.5.4.3.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10.5.4.4.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10.5.4.5.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10.5.4.6.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10.5.4.7.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10.5.4.8.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10.5.4.9.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10.5.5.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10.5.5.1.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10.5.5.2.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10.5.5.3.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10.5.5.4.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10.5.5.5.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10.5.5.6.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10.5.5.7.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10.5.5.8.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r h="175260">
                <a:tc>
                  <a:txBody>
                    <a:bodyPr wrap="square"/>
                    <a:lstStyle/>
                    <a:p>
                      <a:pPr algn="l"/>
                      <a:r>
                        <a:rPr sz="1100" b="0" i="1">
                          <a:solidFill>
                            <a:srgbClr val="000000"/>
                          </a:solidFill>
                          <a:latin typeface="Calibri"/>
                        </a:rPr>
                        <a:t>10.5.5.9.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10.5.5.10.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10.5.5.11.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10.5.5.12.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10.5.6.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10.5.6.1.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10.5.6.2.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10.5.6.3.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10.5.6.4.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10.5.6.5.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10.5.6.6.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10.5.6.7.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175260">
                <a:tc>
                  <a:txBody>
                    <a:bodyPr wrap="square"/>
                    <a:lstStyle/>
                    <a:p>
                      <a:pPr algn="l"/>
                      <a:r>
                        <a:rPr sz="1100" b="0" i="1">
                          <a:solidFill>
                            <a:srgbClr val="EE0000"/>
                          </a:solidFill>
                          <a:latin typeface="Calibri"/>
                        </a:rPr>
                        <a:t>Note: Value &amp; Volume (US$ Mn / MT)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Partition Type X End Use</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Board Configuration X End Use</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Cell Configuration X End Use</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tr>
              <a:tr h="175260">
                <a:tc>
                  <a:txBody>
                    <a:bodyPr wrap="square"/>
                    <a:lstStyle/>
                    <a:p>
                      <a:pPr algn="l"/>
                      <a:r>
                        <a:rPr sz="1100" b="0" i="0">
                          <a:solidFill>
                            <a:srgbClr val="000000"/>
                          </a:solidFill>
                          <a:latin typeface="Calibri"/>
                        </a:rPr>
                        <a:t>12.4.4.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tr>
              <a:tr h="175260">
                <a:tc>
                  <a:txBody>
                    <a:bodyPr wrap="square"/>
                    <a:lstStyle/>
                    <a:p>
                      <a:pPr algn="l"/>
                      <a:r>
                        <a:rPr sz="1100" b="0" i="0">
                          <a:solidFill>
                            <a:srgbClr val="000000"/>
                          </a:solidFill>
                          <a:latin typeface="Calibri"/>
                        </a:rPr>
                        <a:t>12.4.5.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tr>
              <a:tr h="175260">
                <a:tc>
                  <a:txBody>
                    <a:bodyPr wrap="square"/>
                    <a:lstStyle/>
                    <a:p>
                      <a:pPr algn="l"/>
                      <a:r>
                        <a:rPr sz="1100" b="0" i="0">
                          <a:solidFill>
                            <a:srgbClr val="000000"/>
                          </a:solidFill>
                          <a:latin typeface="Calibri"/>
                        </a:rPr>
                        <a:t>12.4.6.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tr>
              <a:tr h="175260">
                <a:tc>
                  <a:txBody>
                    <a:bodyPr wrap="square"/>
                    <a:lstStyle/>
                    <a:p>
                      <a:pPr algn="l"/>
                      <a:r>
                        <a:rPr sz="1100" b="0" i="0">
                          <a:solidFill>
                            <a:srgbClr val="000000"/>
                          </a:solidFill>
                          <a:latin typeface="Calibri"/>
                        </a:rPr>
                        <a:t>12.4.7.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12.4.8.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tr>
              <a:tr h="175260">
                <a:tc>
                  <a:txBody>
                    <a:bodyPr wrap="square"/>
                    <a:lstStyle/>
                    <a:p>
                      <a:pPr algn="l"/>
                      <a:r>
                        <a:rPr sz="1100" b="0" i="0">
                          <a:solidFill>
                            <a:srgbClr val="000000"/>
                          </a:solidFill>
                          <a:latin typeface="Calibri"/>
                        </a:rPr>
                        <a:t>13.4.4.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tr>
              <a:tr h="175260">
                <a:tc>
                  <a:txBody>
                    <a:bodyPr wrap="square"/>
                    <a:lstStyle/>
                    <a:p>
                      <a:pPr algn="l"/>
                      <a:r>
                        <a:rPr sz="1100" b="0" i="0">
                          <a:solidFill>
                            <a:srgbClr val="000000"/>
                          </a:solidFill>
                          <a:latin typeface="Calibri"/>
                        </a:rPr>
                        <a:t>13.4.5.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tr>
              <a:tr h="175260">
                <a:tc>
                  <a:txBody>
                    <a:bodyPr wrap="square"/>
                    <a:lstStyle/>
                    <a:p>
                      <a:pPr algn="l"/>
                      <a:r>
                        <a:rPr sz="1100" b="0" i="0">
                          <a:solidFill>
                            <a:srgbClr val="000000"/>
                          </a:solidFill>
                          <a:latin typeface="Calibri"/>
                        </a:rPr>
                        <a:t>13.4.6.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tr>
              <a:tr h="175260">
                <a:tc>
                  <a:txBody>
                    <a:bodyPr wrap="square"/>
                    <a:lstStyle/>
                    <a:p>
                      <a:pPr algn="l"/>
                      <a:r>
                        <a:rPr sz="1100" b="0" i="0">
                          <a:solidFill>
                            <a:srgbClr val="000000"/>
                          </a:solidFill>
                          <a:latin typeface="Calibri"/>
                        </a:rPr>
                        <a:t>13.4.7.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13.4.8.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14.4.1.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tr>
              <a:tr h="175260">
                <a:tc>
                  <a:txBody>
                    <a:bodyPr wrap="square"/>
                    <a:lstStyle/>
                    <a:p>
                      <a:pPr algn="l"/>
                      <a:r>
                        <a:rPr sz="1100" b="0" i="0">
                          <a:solidFill>
                            <a:srgbClr val="000000"/>
                          </a:solidFill>
                          <a:latin typeface="Calibri"/>
                        </a:rPr>
                        <a:t>14.4.2.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tr>
              <a:tr h="175260">
                <a:tc>
                  <a:txBody>
                    <a:bodyPr wrap="square"/>
                    <a:lstStyle/>
                    <a:p>
                      <a:pPr algn="l"/>
                      <a:r>
                        <a:rPr sz="1100" b="0" i="0">
                          <a:solidFill>
                            <a:srgbClr val="000000"/>
                          </a:solidFill>
                          <a:latin typeface="Calibri"/>
                        </a:rPr>
                        <a:t>14.4.3.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tr>
              <a:tr h="175260">
                <a:tc>
                  <a:txBody>
                    <a:bodyPr wrap="square"/>
                    <a:lstStyle/>
                    <a:p>
                      <a:pPr algn="l"/>
                      <a:r>
                        <a:rPr sz="1100" b="0" i="0">
                          <a:solidFill>
                            <a:srgbClr val="000000"/>
                          </a:solidFill>
                          <a:latin typeface="Calibri"/>
                        </a:rPr>
                        <a:t>14.4.4.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tr>
              <a:tr h="175260">
                <a:tc>
                  <a:txBody>
                    <a:bodyPr wrap="square"/>
                    <a:lstStyle/>
                    <a:p>
                      <a:pPr algn="l"/>
                      <a:r>
                        <a:rPr sz="1100" b="0" i="0">
                          <a:solidFill>
                            <a:srgbClr val="000000"/>
                          </a:solidFill>
                          <a:latin typeface="Calibri"/>
                        </a:rPr>
                        <a:t>14.4.5.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tr>
              <a:tr h="175260">
                <a:tc>
                  <a:txBody>
                    <a:bodyPr wrap="square"/>
                    <a:lstStyle/>
                    <a:p>
                      <a:pPr algn="l"/>
                      <a:r>
                        <a:rPr sz="1100" b="0" i="0">
                          <a:solidFill>
                            <a:srgbClr val="000000"/>
                          </a:solidFill>
                          <a:latin typeface="Calibri"/>
                        </a:rPr>
                        <a:t>14.4.6.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tr>
              <a:tr h="175260">
                <a:tc>
                  <a:txBody>
                    <a:bodyPr wrap="square"/>
                    <a:lstStyle/>
                    <a:p>
                      <a:pPr algn="l"/>
                      <a:r>
                        <a:rPr sz="1100" b="0" i="0">
                          <a:solidFill>
                            <a:srgbClr val="000000"/>
                          </a:solidFill>
                          <a:latin typeface="Calibri"/>
                        </a:rPr>
                        <a:t>14.4.7.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14.4.8.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15.4.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15.4.1.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15.4.2.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tr>
              <a:tr h="175260">
                <a:tc>
                  <a:txBody>
                    <a:bodyPr wrap="square"/>
                    <a:lstStyle/>
                    <a:p>
                      <a:pPr algn="l"/>
                      <a:r>
                        <a:rPr sz="1100" b="0" i="0">
                          <a:solidFill>
                            <a:srgbClr val="000000"/>
                          </a:solidFill>
                          <a:latin typeface="Calibri"/>
                        </a:rPr>
                        <a:t>15.4.3.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tr>
              <a:tr h="175260">
                <a:tc>
                  <a:txBody>
                    <a:bodyPr wrap="square"/>
                    <a:lstStyle/>
                    <a:p>
                      <a:pPr algn="l"/>
                      <a:r>
                        <a:rPr sz="1100" b="0" i="0">
                          <a:solidFill>
                            <a:srgbClr val="000000"/>
                          </a:solidFill>
                          <a:latin typeface="Calibri"/>
                        </a:rPr>
                        <a:t>15.4.4.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tr>
              <a:tr h="175260">
                <a:tc>
                  <a:txBody>
                    <a:bodyPr wrap="square"/>
                    <a:lstStyle/>
                    <a:p>
                      <a:pPr algn="l"/>
                      <a:r>
                        <a:rPr sz="1100" b="0" i="0">
                          <a:solidFill>
                            <a:srgbClr val="000000"/>
                          </a:solidFill>
                          <a:latin typeface="Calibri"/>
                        </a:rPr>
                        <a:t>15.4.5.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tr>
              <a:tr h="175260">
                <a:tc>
                  <a:txBody>
                    <a:bodyPr wrap="square"/>
                    <a:lstStyle/>
                    <a:p>
                      <a:pPr algn="l"/>
                      <a:r>
                        <a:rPr sz="1100" b="0" i="0">
                          <a:solidFill>
                            <a:srgbClr val="000000"/>
                          </a:solidFill>
                          <a:latin typeface="Calibri"/>
                        </a:rPr>
                        <a:t>15.4.6.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tr>
              <a:tr h="175260">
                <a:tc>
                  <a:txBody>
                    <a:bodyPr wrap="square"/>
                    <a:lstStyle/>
                    <a:p>
                      <a:pPr algn="l"/>
                      <a:r>
                        <a:rPr sz="1100" b="0" i="0">
                          <a:solidFill>
                            <a:srgbClr val="000000"/>
                          </a:solidFill>
                          <a:latin typeface="Calibri"/>
                        </a:rPr>
                        <a:t>15.4.7.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15.4.8.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16.4.1.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tr>
              <a:tr h="175260">
                <a:tc>
                  <a:txBody>
                    <a:bodyPr wrap="square"/>
                    <a:lstStyle/>
                    <a:p>
                      <a:pPr algn="l"/>
                      <a:r>
                        <a:rPr sz="1100" b="0" i="0">
                          <a:solidFill>
                            <a:srgbClr val="000000"/>
                          </a:solidFill>
                          <a:latin typeface="Calibri"/>
                        </a:rPr>
                        <a:t>16.4.2.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tr>
              <a:tr h="175260">
                <a:tc>
                  <a:txBody>
                    <a:bodyPr wrap="square"/>
                    <a:lstStyle/>
                    <a:p>
                      <a:pPr algn="l"/>
                      <a:r>
                        <a:rPr sz="1100" b="0" i="0">
                          <a:solidFill>
                            <a:srgbClr val="000000"/>
                          </a:solidFill>
                          <a:latin typeface="Calibri"/>
                        </a:rPr>
                        <a:t>16.4.3.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tr>
              <a:tr h="175260">
                <a:tc>
                  <a:txBody>
                    <a:bodyPr wrap="square"/>
                    <a:lstStyle/>
                    <a:p>
                      <a:pPr algn="l"/>
                      <a:r>
                        <a:rPr sz="1100" b="0" i="0">
                          <a:solidFill>
                            <a:srgbClr val="000000"/>
                          </a:solidFill>
                          <a:latin typeface="Calibri"/>
                        </a:rPr>
                        <a:t>16.4.4.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tr>
              <a:tr h="175260">
                <a:tc>
                  <a:txBody>
                    <a:bodyPr wrap="square"/>
                    <a:lstStyle/>
                    <a:p>
                      <a:pPr algn="l"/>
                      <a:r>
                        <a:rPr sz="1100" b="0" i="0">
                          <a:solidFill>
                            <a:srgbClr val="000000"/>
                          </a:solidFill>
                          <a:latin typeface="Calibri"/>
                        </a:rPr>
                        <a:t>16.4.5.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tr>
              <a:tr h="175260">
                <a:tc>
                  <a:txBody>
                    <a:bodyPr wrap="square"/>
                    <a:lstStyle/>
                    <a:p>
                      <a:pPr algn="l"/>
                      <a:r>
                        <a:rPr sz="1100" b="0" i="0">
                          <a:solidFill>
                            <a:srgbClr val="000000"/>
                          </a:solidFill>
                          <a:latin typeface="Calibri"/>
                        </a:rPr>
                        <a:t>16.4.6.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tr>
              <a:tr h="175260">
                <a:tc>
                  <a:txBody>
                    <a:bodyPr wrap="square"/>
                    <a:lstStyle/>
                    <a:p>
                      <a:pPr algn="l"/>
                      <a:r>
                        <a:rPr sz="1100" b="0" i="0">
                          <a:solidFill>
                            <a:srgbClr val="000000"/>
                          </a:solidFill>
                          <a:latin typeface="Calibri"/>
                        </a:rPr>
                        <a:t>16.4.7.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16.4.8.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tr>
              <a:tr h="175260">
                <a:tc>
                  <a:txBody>
                    <a:bodyPr wrap="square"/>
                    <a:lstStyle/>
                    <a:p>
                      <a:pPr algn="l"/>
                      <a:r>
                        <a:rPr sz="1100" b="0" i="0">
                          <a:solidFill>
                            <a:srgbClr val="000000"/>
                          </a:solidFill>
                          <a:latin typeface="Calibri"/>
                        </a:rPr>
                        <a:t>17.4.5.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17.4.6.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tr>
              <a:tr h="175260">
                <a:tc>
                  <a:txBody>
                    <a:bodyPr wrap="square"/>
                    <a:lstStyle/>
                    <a:p>
                      <a:pPr algn="l"/>
                      <a:r>
                        <a:rPr sz="1100" b="0" i="0">
                          <a:solidFill>
                            <a:srgbClr val="000000"/>
                          </a:solidFill>
                          <a:latin typeface="Calibri"/>
                        </a:rPr>
                        <a:t>17.4.7.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17.4.8.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35052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Regional, Vietnam and Southeast Asia Partition Selling Price Benchmark by Format - USD/1,000 Units / USD/MT</a:t>
                      </a:r>
                      <a:endParaRPr sz="1100"/>
                    </a:p>
                  </a:txBody>
                  <a:tcPr marL="428625" marR="9525" marT="9525" marB="0" anchor="ctr"/>
                </a:tc>
              </a:tr>
              <a:tr h="35052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Selling Price by Paper Grade, Flute Profile, and Cell Configuration - USD/Unit / USD/MT</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Country-wise Price Comparison (Partition Type)</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Corrugated Partition Pricing, Manufacturing Cost, and Margin Analysis</a:t>
                      </a:r>
                      <a:endParaRPr sz="1100"/>
                    </a:p>
                  </a:txBody>
                  <a:tcPr marL="428625" marR="9525" marT="9525" marB="0" anchor="ctr"/>
                </a:tc>
              </a:tr>
              <a:tr h="350520">
                <a:tc>
                  <a:txBody>
                    <a:bodyPr wrap="square"/>
                    <a:lstStyle/>
                    <a:p>
                      <a:pPr algn="l"/>
                      <a:r>
                        <a:rPr sz="1100" b="0" i="0">
                          <a:solidFill>
                            <a:srgbClr val="0070C0"/>
                          </a:solidFill>
                          <a:latin typeface="Calibri"/>
                        </a:rPr>
                        <a:t>18.5.</a:t>
                      </a:r>
                      <a:r>
                        <a:rPr sz="700" b="0" i="0">
                          <a:solidFill>
                            <a:srgbClr val="0070C0"/>
                          </a:solidFill>
                          <a:latin typeface="Times New Roman"/>
                        </a:rPr>
                        <a:t>  </a:t>
                      </a:r>
                      <a:r>
                        <a:rPr sz="1100" b="0" i="0">
                          <a:solidFill>
                            <a:srgbClr val="0070C0"/>
                          </a:solidFill>
                          <a:latin typeface="Calibri"/>
                        </a:rPr>
                        <a:t>Regional Price and Profitability Benchmarking - Vietnam versus Southeast Asia versus China - USD/MT / Margin %</a:t>
                      </a:r>
                      <a:endParaRPr sz="1100"/>
                    </a:p>
                  </a:txBody>
                  <a:tcPr marL="428625" marR="9525" marT="9525" marB="0" anchor="ctr"/>
                </a:tc>
              </a:tr>
              <a:tr h="175260">
                <a:tc>
                  <a:txBody>
                    <a:bodyPr wrap="square"/>
                    <a:lstStyle/>
                    <a:p>
                      <a:pPr algn="l"/>
                      <a:r>
                        <a:rPr sz="1100" b="0" i="0">
                          <a:solidFill>
                            <a:srgbClr val="0070C0"/>
                          </a:solidFill>
                          <a:latin typeface="Calibri"/>
                        </a:rPr>
                        <a:t>18.6.</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18.7.</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18.8.</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19.1.3.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20.1.1.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20.1.2.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20.1.3.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r h="175260">
                <a:tc>
                  <a:txBody>
                    <a:bodyPr wrap="square"/>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20.2.1.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20.2.2.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20.2.3.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20.3.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20.4.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20.5.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20.6.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20.7.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20.8.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20.9.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Sustainability, Regulatory Compliance, and Protective Packaging Substitution Analysis</a:t>
                      </a:r>
                      <a:endParaRPr sz="1100"/>
                    </a:p>
                  </a:txBody>
                  <a:tcPr marL="171450" marR="9525" marT="9525" marB="0" anchor="ctr"/>
                </a:tc>
              </a:tr>
              <a:tr h="35052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Global, Vietnam and Southeast Asia Packaging EPR and Recycling Compliance Matrix - Country × Regulation × Packaging Material</a:t>
                      </a:r>
                      <a:endParaRPr sz="1100"/>
                    </a:p>
                  </a:txBody>
                  <a:tcPr marL="428625" marR="9525" marT="9525" marB="0" anchor="ctr"/>
                </a:tc>
              </a:tr>
              <a:tr h="35052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Corrugated Partition Recyclability and Recycled-content Benchmark - % Recyclability / % Recycled Fiber</a:t>
                      </a:r>
                      <a:endParaRPr sz="1100"/>
                    </a:p>
                  </a:txBody>
                  <a:tcPr marL="428625" marR="9525" marT="9525" marB="0" anchor="ctr"/>
                </a:tc>
              </a:tr>
              <a:tr h="35052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Corrugated versus EPS Foam, Plastic Inserts, and Molded Fiber Cost Comparison - USD/Unit / USD/1,000 Packs</a:t>
                      </a:r>
                      <a:endParaRPr sz="1100"/>
                    </a:p>
                  </a:txBody>
                  <a:tcPr marL="428625" marR="9525" marT="9525" marB="0" anchor="ctr"/>
                </a:tc>
              </a:tr>
              <a:tr h="350520">
                <a:tc>
                  <a:txBody>
                    <a:bodyPr wrap="square"/>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Virgin versus Recycled Paper Partition Performance and Cost Trade-off - GSM / Strength / USD/MT</a:t>
                      </a:r>
                      <a:endParaRPr sz="1100"/>
                    </a:p>
                  </a:txBody>
                  <a:tcPr marL="428625" marR="9525" marT="9525" marB="0" anchor="ctr"/>
                </a:tc>
              </a:tr>
              <a:tr h="350520">
                <a:tc>
                  <a:txBody>
                    <a:bodyPr wrap="square"/>
                    <a:lstStyle/>
                    <a:p>
                      <a:pPr algn="l"/>
                      <a:r>
                        <a:rPr sz="1100" b="0" i="0">
                          <a:solidFill>
                            <a:srgbClr val="0070C0"/>
                          </a:solidFill>
                          <a:latin typeface="Calibri"/>
                        </a:rPr>
                        <a:t>21.5.</a:t>
                      </a:r>
                      <a:r>
                        <a:rPr sz="700" b="0" i="0">
                          <a:solidFill>
                            <a:srgbClr val="0070C0"/>
                          </a:solidFill>
                          <a:latin typeface="Times New Roman"/>
                        </a:rPr>
                        <a:t>  </a:t>
                      </a:r>
                      <a:r>
                        <a:rPr sz="1100" b="0" i="0">
                          <a:solidFill>
                            <a:srgbClr val="0070C0"/>
                          </a:solidFill>
                          <a:latin typeface="Calibri"/>
                        </a:rPr>
                        <a:t>Sustainable Partition Adoption Forecast in Vietnam and Southeast Asia, 2026–2036 - MT / CAGR % / Penetration %</a:t>
                      </a:r>
                      <a:endParaRPr sz="1100"/>
                    </a:p>
                  </a:txBody>
                  <a:tcPr marL="4286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Production Volume (MT),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Exports: Key Countries, Share &amp; Value (US$ Mn / MT)</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Imports: Key Countries, Share &amp; Value (US$ Mn / MT)</a:t>
                      </a:r>
                      <a:endParaRPr sz="1100"/>
                    </a:p>
                  </a:txBody>
                  <a:tcPr marL="428625" marR="9525" marT="9525" marB="0" anchor="ctr"/>
                </a:tc>
              </a:tr>
              <a:tr h="175260">
                <a:tc>
                  <a:txBody>
                    <a:bodyPr wrap="square"/>
                    <a:lstStyle/>
                    <a:p>
                      <a:pPr algn="l"/>
                      <a:r>
                        <a:rPr sz="1100" b="0" i="0">
                          <a:solidFill>
                            <a:srgbClr val="0070C0"/>
                          </a:solidFill>
                          <a:latin typeface="Calibri"/>
                        </a:rPr>
                        <a:t>22.4.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Converter Capacity, Production Capability, and Supply Network Analysis</a:t>
                      </a:r>
                      <a:endParaRPr sz="1100"/>
                    </a:p>
                  </a:txBody>
                  <a:tcPr marL="171450" marR="9525" marT="9525" marB="0" anchor="ctr"/>
                </a:tc>
              </a:tr>
              <a:tr h="35052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Global, Vietnam and Southeast Asia Corrugated Partition Installed Production Capacity by Country - MT/year / Mn Units/year</a:t>
                      </a:r>
                      <a:endParaRPr sz="1100"/>
                    </a:p>
                  </a:txBody>
                  <a:tcPr marL="428625" marR="9525" marT="9525" marB="0" anchor="ctr"/>
                </a:tc>
              </a:tr>
              <a:tr h="175260">
                <a:tc>
                  <a:txBody>
                    <a:bodyPr wrap="square"/>
                    <a:lstStyle/>
                    <a:p>
                      <a:pPr algn="l"/>
                      <a:endParaRPr sz="110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35052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Converter-level Production Capacity and Manufacturing Footprint - MT/year / Number of Plants</a:t>
                      </a:r>
                      <a:endParaRPr sz="1100"/>
                    </a:p>
                  </a:txBody>
                  <a:tcPr marL="428625" marR="9525" marT="9525" marB="0" anchor="ctr"/>
                </a:tc>
              </a:tr>
              <a:tr h="35052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Partition Production Output by Converter and Product Format - MT/year / Mn Units/year</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Capacity Utilization by Converter Cluster and Manufacturing Technology - %</a:t>
                      </a:r>
                      <a:endParaRPr sz="1100"/>
                    </a:p>
                  </a:txBody>
                  <a:tcPr marL="428625" marR="9525" marT="9525" marB="0" anchor="ctr"/>
                </a:tc>
              </a:tr>
              <a:tr h="35052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Converting Equipment Configuration and Production Throughput - Units/hour / MT/year</a:t>
                      </a:r>
                      <a:endParaRPr sz="1100"/>
                    </a:p>
                  </a:txBody>
                  <a:tcPr marL="428625" marR="9525" marT="9525" marB="0" anchor="ctr"/>
                </a:tc>
              </a:tr>
              <a:tr h="35052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Paper Sourcing Structure by Converter - In-house / Domestic Supplier / Imported - % Share</a:t>
                      </a:r>
                      <a:endParaRPr sz="1100"/>
                    </a:p>
                  </a:txBody>
                  <a:tcPr marL="428625" marR="9525" marT="9525" marB="0" anchor="ctr"/>
                </a:tc>
              </a:tr>
              <a:tr h="35052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Announced Capacity Expansion and Downstream Investment Pipeline, 2026–2030 - MT/year / USD Mn</a:t>
                      </a:r>
                      <a:endParaRPr sz="1100"/>
                    </a:p>
                  </a:txBody>
                  <a:tcPr marL="4286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24.1.1.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24.1.2.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r h="175260">
                <a:tc>
                  <a:txBody>
                    <a:bodyPr wrap="square"/>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24.3.1.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24.3.2.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24.3.3.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6: Competition Assessment</a:t>
                      </a:r>
                      <a:endParaRPr sz="1100"/>
                    </a:p>
                  </a:txBody>
                  <a:tcPr marL="9525"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27.1.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27.2.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27.3.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28.1.</a:t>
                      </a:r>
                      <a:r>
                        <a:rPr sz="700" b="0" i="0">
                          <a:solidFill>
                            <a:srgbClr val="0070C0"/>
                          </a:solidFill>
                          <a:latin typeface="Times New Roman"/>
                        </a:rPr>
                        <a:t>  </a:t>
                      </a:r>
                      <a:r>
                        <a:rPr sz="1100" b="0" i="0">
                          <a:solidFill>
                            <a:srgbClr val="0070C0"/>
                          </a:solidFill>
                          <a:latin typeface="Calibri"/>
                        </a:rPr>
                        <a:t>Multicell Packaging Inc.</a:t>
                      </a:r>
                      <a:endParaRPr sz="1100"/>
                    </a:p>
                  </a:txBody>
                  <a:tcPr marL="428625" marR="9525" marT="9525" marB="0" anchor="ctr"/>
                </a:tc>
              </a:tr>
              <a:tr h="175260">
                <a:tc>
                  <a:txBody>
                    <a:bodyPr wrap="square"/>
                    <a:lstStyle/>
                    <a:p>
                      <a:pPr algn="l"/>
                      <a:r>
                        <a:rPr sz="1100" b="0" i="0">
                          <a:solidFill>
                            <a:srgbClr val="000000"/>
                          </a:solidFill>
                          <a:latin typeface="Calibri"/>
                        </a:rPr>
                        <a:t>28.1.1.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28.1.2.</a:t>
                      </a:r>
                      <a:r>
                        <a:rPr sz="700" b="0" i="0">
                          <a:solidFill>
                            <a:srgbClr val="000000"/>
                          </a:solidFill>
                          <a:latin typeface="Times New Roman"/>
                        </a:rPr>
                        <a:t> </a:t>
                      </a:r>
                      <a:r>
                        <a:rPr sz="1100" b="0" i="0">
                          <a:solidFill>
                            <a:srgbClr val="000000"/>
                          </a:solidFill>
                          <a:latin typeface="Calibri"/>
                        </a:rPr>
                        <a:t>Apparent Production Volume (MT)</a:t>
                      </a:r>
                      <a:endParaRPr sz="1100"/>
                    </a:p>
                  </a:txBody>
                  <a:tcPr marL="771525" marR="9525" marT="9525" marB="0" anchor="ctr"/>
                </a:tc>
              </a:tr>
              <a:tr h="175260">
                <a:tc>
                  <a:txBody>
                    <a:bodyPr wrap="square"/>
                    <a:lstStyle/>
                    <a:p>
                      <a:pPr algn="l"/>
                      <a:r>
                        <a:rPr sz="1100" b="0" i="0">
                          <a:solidFill>
                            <a:srgbClr val="000000"/>
                          </a:solidFill>
                          <a:latin typeface="Calibri"/>
                        </a:rPr>
                        <a:t>28.1.3.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28.1.4.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28.1.4.1.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28.1.4.2.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28.1.4.3.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28.1.5.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28.1.6.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28.1.6.1.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28.1.6.2.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r h="175260">
                <a:tc>
                  <a:txBody>
                    <a:bodyPr wrap="square"/>
                    <a:lstStyle/>
                    <a:p>
                      <a:pPr algn="l"/>
                      <a:r>
                        <a:rPr sz="1100" b="0" i="1">
                          <a:solidFill>
                            <a:srgbClr val="000000"/>
                          </a:solidFill>
                          <a:latin typeface="Calibri"/>
                        </a:rPr>
                        <a:t>28.1.6.3.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28.1.6.4.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28.1.7.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28.1.8.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28.2.</a:t>
                      </a:r>
                      <a:r>
                        <a:rPr sz="700" b="0" i="0">
                          <a:solidFill>
                            <a:srgbClr val="0070C0"/>
                          </a:solidFill>
                          <a:latin typeface="Times New Roman"/>
                        </a:rPr>
                        <a:t>  </a:t>
                      </a:r>
                      <a:r>
                        <a:rPr sz="1100" b="0" i="0">
                          <a:solidFill>
                            <a:srgbClr val="0070C0"/>
                          </a:solidFill>
                          <a:latin typeface="Calibri"/>
                        </a:rPr>
                        <a:t>Great American Paper Inc.</a:t>
                      </a:r>
                      <a:endParaRPr sz="1100"/>
                    </a:p>
                  </a:txBody>
                  <a:tcPr marL="428625" marR="9525" marT="9525" marB="0" anchor="ctr"/>
                </a:tc>
              </a:tr>
              <a:tr h="175260">
                <a:tc>
                  <a:txBody>
                    <a:bodyPr wrap="square"/>
                    <a:lstStyle/>
                    <a:p>
                      <a:pPr algn="l"/>
                      <a:r>
                        <a:rPr sz="1100" b="0" i="0">
                          <a:solidFill>
                            <a:srgbClr val="0070C0"/>
                          </a:solidFill>
                          <a:latin typeface="Calibri"/>
                        </a:rPr>
                        <a:t>28.3.</a:t>
                      </a:r>
                      <a:r>
                        <a:rPr sz="700" b="0" i="0">
                          <a:solidFill>
                            <a:srgbClr val="0070C0"/>
                          </a:solidFill>
                          <a:latin typeface="Times New Roman"/>
                        </a:rPr>
                        <a:t>  </a:t>
                      </a:r>
                      <a:r>
                        <a:rPr sz="1100" b="0" i="0">
                          <a:solidFill>
                            <a:srgbClr val="0070C0"/>
                          </a:solidFill>
                          <a:latin typeface="Calibri"/>
                        </a:rPr>
                        <a:t>Interpack Inc.</a:t>
                      </a:r>
                      <a:endParaRPr sz="1100"/>
                    </a:p>
                  </a:txBody>
                  <a:tcPr marL="428625" marR="9525" marT="9525" marB="0" anchor="ctr"/>
                </a:tc>
              </a:tr>
              <a:tr h="175260">
                <a:tc>
                  <a:txBody>
                    <a:bodyPr wrap="square"/>
                    <a:lstStyle/>
                    <a:p>
                      <a:pPr algn="l"/>
                      <a:r>
                        <a:rPr sz="1100" b="0" i="0">
                          <a:solidFill>
                            <a:srgbClr val="0070C0"/>
                          </a:solidFill>
                          <a:latin typeface="Calibri"/>
                        </a:rPr>
                        <a:t>28.4.</a:t>
                      </a:r>
                      <a:r>
                        <a:rPr sz="700" b="0" i="0">
                          <a:solidFill>
                            <a:srgbClr val="0070C0"/>
                          </a:solidFill>
                          <a:latin typeface="Times New Roman"/>
                        </a:rPr>
                        <a:t>  </a:t>
                      </a:r>
                      <a:r>
                        <a:rPr sz="1100" b="0" i="0">
                          <a:solidFill>
                            <a:srgbClr val="0070C0"/>
                          </a:solidFill>
                          <a:latin typeface="Calibri"/>
                        </a:rPr>
                        <a:t>Caps Cases Ltd.</a:t>
                      </a:r>
                      <a:endParaRPr sz="1100"/>
                    </a:p>
                  </a:txBody>
                  <a:tcPr marL="428625" marR="9525" marT="9525" marB="0" anchor="ctr"/>
                </a:tc>
              </a:tr>
              <a:tr h="175260">
                <a:tc>
                  <a:txBody>
                    <a:bodyPr wrap="square"/>
                    <a:lstStyle/>
                    <a:p>
                      <a:pPr algn="l"/>
                      <a:r>
                        <a:rPr sz="1100" b="0" i="0">
                          <a:solidFill>
                            <a:srgbClr val="0070C0"/>
                          </a:solidFill>
                          <a:latin typeface="Calibri"/>
                        </a:rPr>
                        <a:t>28.5.</a:t>
                      </a:r>
                      <a:r>
                        <a:rPr sz="700" b="0" i="0">
                          <a:solidFill>
                            <a:srgbClr val="0070C0"/>
                          </a:solidFill>
                          <a:latin typeface="Times New Roman"/>
                        </a:rPr>
                        <a:t>  </a:t>
                      </a:r>
                      <a:r>
                        <a:rPr sz="1100" b="0" i="0">
                          <a:solidFill>
                            <a:srgbClr val="0070C0"/>
                          </a:solidFill>
                          <a:latin typeface="Calibri"/>
                        </a:rPr>
                        <a:t>M &amp; M Box &amp; Partitions Co.</a:t>
                      </a:r>
                      <a:endParaRPr sz="1100"/>
                    </a:p>
                  </a:txBody>
                  <a:tcPr marL="428625" marR="9525" marT="9525" marB="0" anchor="ctr"/>
                </a:tc>
              </a:tr>
              <a:tr h="175260">
                <a:tc>
                  <a:txBody>
                    <a:bodyPr wrap="square"/>
                    <a:lstStyle/>
                    <a:p>
                      <a:pPr algn="l"/>
                      <a:r>
                        <a:rPr sz="1100" b="0" i="0">
                          <a:solidFill>
                            <a:srgbClr val="0070C0"/>
                          </a:solidFill>
                          <a:latin typeface="Calibri"/>
                        </a:rPr>
                        <a:t>28.6.</a:t>
                      </a:r>
                      <a:r>
                        <a:rPr sz="700" b="0" i="0">
                          <a:solidFill>
                            <a:srgbClr val="0070C0"/>
                          </a:solidFill>
                          <a:latin typeface="Times New Roman"/>
                        </a:rPr>
                        <a:t>  </a:t>
                      </a:r>
                      <a:r>
                        <a:rPr sz="1100" b="0" i="0">
                          <a:solidFill>
                            <a:srgbClr val="0070C0"/>
                          </a:solidFill>
                          <a:latin typeface="Calibri"/>
                        </a:rPr>
                        <a:t>Martin Partitions</a:t>
                      </a:r>
                      <a:endParaRPr sz="1100"/>
                    </a:p>
                  </a:txBody>
                  <a:tcPr marL="428625" marR="9525" marT="9525" marB="0" anchor="ctr"/>
                </a:tc>
              </a:tr>
              <a:tr h="175260">
                <a:tc>
                  <a:txBody>
                    <a:bodyPr wrap="square"/>
                    <a:lstStyle/>
                    <a:p>
                      <a:pPr algn="l"/>
                      <a:r>
                        <a:rPr sz="1100" b="0" i="0">
                          <a:solidFill>
                            <a:srgbClr val="0070C0"/>
                          </a:solidFill>
                          <a:latin typeface="Calibri"/>
                        </a:rPr>
                        <a:t>28.7.</a:t>
                      </a:r>
                      <a:r>
                        <a:rPr sz="700" b="0" i="0">
                          <a:solidFill>
                            <a:srgbClr val="0070C0"/>
                          </a:solidFill>
                          <a:latin typeface="Times New Roman"/>
                        </a:rPr>
                        <a:t>  </a:t>
                      </a:r>
                      <a:r>
                        <a:rPr sz="1100" b="0" i="0">
                          <a:solidFill>
                            <a:srgbClr val="0070C0"/>
                          </a:solidFill>
                          <a:latin typeface="Calibri"/>
                        </a:rPr>
                        <a:t>Buckeye Corrugated Inc.</a:t>
                      </a:r>
                      <a:endParaRPr sz="1100"/>
                    </a:p>
                  </a:txBody>
                  <a:tcPr marL="428625" marR="9525" marT="9525" marB="0" anchor="ctr"/>
                </a:tc>
              </a:tr>
              <a:tr h="175260">
                <a:tc>
                  <a:txBody>
                    <a:bodyPr wrap="square"/>
                    <a:lstStyle/>
                    <a:p>
                      <a:pPr algn="l"/>
                      <a:r>
                        <a:rPr sz="1100" b="0" i="0">
                          <a:solidFill>
                            <a:srgbClr val="0070C0"/>
                          </a:solidFill>
                          <a:latin typeface="Calibri"/>
                        </a:rPr>
                        <a:t>28.8.</a:t>
                      </a:r>
                      <a:r>
                        <a:rPr sz="700" b="0" i="0">
                          <a:solidFill>
                            <a:srgbClr val="0070C0"/>
                          </a:solidFill>
                          <a:latin typeface="Times New Roman"/>
                        </a:rPr>
                        <a:t>  </a:t>
                      </a:r>
                      <a:r>
                        <a:rPr sz="1100" b="0" i="0">
                          <a:solidFill>
                            <a:srgbClr val="0070C0"/>
                          </a:solidFill>
                          <a:latin typeface="Calibri"/>
                        </a:rPr>
                        <a:t>Cactus Corrugated Containers Inc.</a:t>
                      </a:r>
                      <a:endParaRPr sz="1100"/>
                    </a:p>
                  </a:txBody>
                  <a:tcPr marL="428625" marR="9525" marT="9525" marB="0" anchor="ctr"/>
                </a:tc>
              </a:tr>
              <a:tr h="175260">
                <a:tc>
                  <a:txBody>
                    <a:bodyPr wrap="square"/>
                    <a:lstStyle/>
                    <a:p>
                      <a:pPr algn="l"/>
                      <a:r>
                        <a:rPr sz="1100" b="0" i="0">
                          <a:solidFill>
                            <a:srgbClr val="0070C0"/>
                          </a:solidFill>
                          <a:latin typeface="Calibri"/>
                        </a:rPr>
                        <a:t>28.9.</a:t>
                      </a:r>
                      <a:r>
                        <a:rPr sz="700" b="0" i="0">
                          <a:solidFill>
                            <a:srgbClr val="0070C0"/>
                          </a:solidFill>
                          <a:latin typeface="Times New Roman"/>
                        </a:rPr>
                        <a:t>  </a:t>
                      </a:r>
                      <a:r>
                        <a:rPr sz="1100" b="0" i="0">
                          <a:solidFill>
                            <a:srgbClr val="0070C0"/>
                          </a:solidFill>
                          <a:latin typeface="Calibri"/>
                        </a:rPr>
                        <a:t>Jarrett Industries Inc.</a:t>
                      </a:r>
                      <a:endParaRPr sz="1100"/>
                    </a:p>
                  </a:txBody>
                  <a:tcPr marL="428625" marR="9525" marT="9525" marB="0" anchor="ctr"/>
                </a:tc>
              </a:tr>
              <a:tr h="175260">
                <a:tc>
                  <a:txBody>
                    <a:bodyPr wrap="square"/>
                    <a:lstStyle/>
                    <a:p>
                      <a:pPr algn="l"/>
                      <a:r>
                        <a:rPr sz="1100" b="0" i="0">
                          <a:solidFill>
                            <a:srgbClr val="0070C0"/>
                          </a:solidFill>
                          <a:latin typeface="Calibri"/>
                        </a:rPr>
                        <a:t>28.10.</a:t>
                      </a:r>
                      <a:r>
                        <a:rPr sz="700" b="0" i="0">
                          <a:solidFill>
                            <a:srgbClr val="0070C0"/>
                          </a:solidFill>
                          <a:latin typeface="Times New Roman"/>
                        </a:rPr>
                        <a:t> </a:t>
                      </a:r>
                      <a:r>
                        <a:rPr sz="1100" b="0" i="0">
                          <a:solidFill>
                            <a:srgbClr val="0070C0"/>
                          </a:solidFill>
                          <a:latin typeface="Calibri"/>
                        </a:rPr>
                        <a:t>Imperial Paper Company</a:t>
                      </a:r>
                      <a:endParaRPr sz="1100"/>
                    </a:p>
                  </a:txBody>
                  <a:tcPr marL="428625" marR="9525" marT="9525" marB="0" anchor="ctr"/>
                </a:tc>
              </a:tr>
              <a:tr h="175260">
                <a:tc>
                  <a:txBody>
                    <a:bodyPr wrap="square"/>
                    <a:lstStyle/>
                    <a:p>
                      <a:pPr algn="l"/>
                      <a:r>
                        <a:rPr sz="1100" b="0" i="0">
                          <a:solidFill>
                            <a:srgbClr val="0070C0"/>
                          </a:solidFill>
                          <a:latin typeface="Calibri"/>
                        </a:rPr>
                        <a:t>28.11.</a:t>
                      </a:r>
                      <a:r>
                        <a:rPr sz="700" b="0" i="0">
                          <a:solidFill>
                            <a:srgbClr val="0070C0"/>
                          </a:solidFill>
                          <a:latin typeface="Times New Roman"/>
                        </a:rPr>
                        <a:t> </a:t>
                      </a:r>
                      <a:r>
                        <a:rPr sz="1100" b="0" i="0">
                          <a:solidFill>
                            <a:srgbClr val="0070C0"/>
                          </a:solidFill>
                          <a:latin typeface="Calibri"/>
                        </a:rPr>
                        <a:t>Unipaq Inc.</a:t>
                      </a:r>
                      <a:endParaRPr sz="1100"/>
                    </a:p>
                  </a:txBody>
                  <a:tcPr marL="428625" marR="9525" marT="9525" marB="0" anchor="ctr"/>
                </a:tc>
              </a:tr>
              <a:tr h="175260">
                <a:tc>
                  <a:txBody>
                    <a:bodyPr wrap="square"/>
                    <a:lstStyle/>
                    <a:p>
                      <a:pPr algn="l"/>
                      <a:r>
                        <a:rPr sz="1100" b="0" i="0">
                          <a:solidFill>
                            <a:srgbClr val="0070C0"/>
                          </a:solidFill>
                          <a:latin typeface="Calibri"/>
                        </a:rPr>
                        <a:t>28.12.</a:t>
                      </a:r>
                      <a:r>
                        <a:rPr sz="700" b="0" i="0">
                          <a:solidFill>
                            <a:srgbClr val="0070C0"/>
                          </a:solidFill>
                          <a:latin typeface="Times New Roman"/>
                        </a:rPr>
                        <a:t> </a:t>
                      </a:r>
                      <a:r>
                        <a:rPr sz="1100" b="0" i="0">
                          <a:solidFill>
                            <a:srgbClr val="0070C0"/>
                          </a:solidFill>
                          <a:latin typeface="Calibri"/>
                        </a:rPr>
                        <a:t>Fibre Tec Packaging</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28.13.</a:t>
                      </a:r>
                      <a:r>
                        <a:rPr sz="700" b="0" i="0">
                          <a:solidFill>
                            <a:srgbClr val="0070C0"/>
                          </a:solidFill>
                          <a:latin typeface="Times New Roman"/>
                        </a:rPr>
                        <a:t> </a:t>
                      </a:r>
                      <a:r>
                        <a:rPr sz="1100" b="0" i="0">
                          <a:solidFill>
                            <a:srgbClr val="0070C0"/>
                          </a:solidFill>
                          <a:latin typeface="Calibri"/>
                        </a:rPr>
                        <a:t>Packnet Ltd.</a:t>
                      </a:r>
                      <a:endParaRPr sz="1100"/>
                    </a:p>
                  </a:txBody>
                  <a:tcPr marL="428625" marR="9525" marT="9525" marB="0" anchor="ctr"/>
                </a:tc>
              </a:tr>
              <a:tr h="175260">
                <a:tc>
                  <a:txBody>
                    <a:bodyPr wrap="square"/>
                    <a:lstStyle/>
                    <a:p>
                      <a:pPr algn="l"/>
                      <a:r>
                        <a:rPr sz="1100" b="0" i="0">
                          <a:solidFill>
                            <a:srgbClr val="0070C0"/>
                          </a:solidFill>
                          <a:latin typeface="Calibri"/>
                        </a:rPr>
                        <a:t>28.14.</a:t>
                      </a:r>
                      <a:r>
                        <a:rPr sz="700" b="0" i="0">
                          <a:solidFill>
                            <a:srgbClr val="0070C0"/>
                          </a:solidFill>
                          <a:latin typeface="Times New Roman"/>
                        </a:rPr>
                        <a:t> </a:t>
                      </a:r>
                      <a:r>
                        <a:rPr sz="1100" b="0" i="0">
                          <a:solidFill>
                            <a:srgbClr val="0070C0"/>
                          </a:solidFill>
                          <a:latin typeface="Calibri"/>
                        </a:rPr>
                        <a:t>Action Wood 360</a:t>
                      </a:r>
                      <a:endParaRPr sz="1100"/>
                    </a:p>
                  </a:txBody>
                  <a:tcPr marL="428625" marR="9525" marT="9525" marB="0" anchor="ctr"/>
                </a:tc>
              </a:tr>
              <a:tr h="175260">
                <a:tc>
                  <a:txBody>
                    <a:bodyPr wrap="square"/>
                    <a:lstStyle/>
                    <a:p>
                      <a:pPr algn="l"/>
                      <a:r>
                        <a:rPr sz="1100" b="0" i="0">
                          <a:solidFill>
                            <a:srgbClr val="0070C0"/>
                          </a:solidFill>
                          <a:latin typeface="Calibri"/>
                        </a:rPr>
                        <a:t>28.15.</a:t>
                      </a:r>
                      <a:r>
                        <a:rPr sz="700" b="0" i="0">
                          <a:solidFill>
                            <a:srgbClr val="0070C0"/>
                          </a:solidFill>
                          <a:latin typeface="Times New Roman"/>
                        </a:rPr>
                        <a:t> </a:t>
                      </a:r>
                      <a:r>
                        <a:rPr sz="1100" b="0" i="0">
                          <a:solidFill>
                            <a:srgbClr val="0070C0"/>
                          </a:solidFill>
                          <a:latin typeface="Calibri"/>
                        </a:rPr>
                        <a:t>Pacific Southwest Container</a:t>
                      </a:r>
                      <a:endParaRPr sz="1100"/>
                    </a:p>
                  </a:txBody>
                  <a:tcPr marL="428625" marR="9525" marT="9525" marB="0" anchor="ctr"/>
                </a:tc>
              </a:tr>
              <a:tr h="175260">
                <a:tc>
                  <a:txBody>
                    <a:bodyPr wrap="square"/>
                    <a:lstStyle/>
                    <a:p>
                      <a:pPr algn="l"/>
                      <a:r>
                        <a:rPr sz="1100" b="0" i="0">
                          <a:solidFill>
                            <a:srgbClr val="0070C0"/>
                          </a:solidFill>
                          <a:latin typeface="Calibri"/>
                        </a:rPr>
                        <a:t>28.16.</a:t>
                      </a:r>
                      <a:r>
                        <a:rPr sz="700" b="0" i="0">
                          <a:solidFill>
                            <a:srgbClr val="0070C0"/>
                          </a:solidFill>
                          <a:latin typeface="Times New Roman"/>
                        </a:rPr>
                        <a:t> </a:t>
                      </a:r>
                      <a:r>
                        <a:rPr sz="1100" b="0" i="0">
                          <a:solidFill>
                            <a:srgbClr val="0070C0"/>
                          </a:solidFill>
                          <a:latin typeface="Calibri"/>
                        </a:rPr>
                        <a:t>Colorado Industrial Packaging</a:t>
                      </a:r>
                      <a:endParaRPr sz="1100"/>
                    </a:p>
                  </a:txBody>
                  <a:tcPr marL="428625" marR="9525" marT="9525" marB="0" anchor="ctr"/>
                </a:tc>
              </a:tr>
              <a:tr h="175260">
                <a:tc>
                  <a:txBody>
                    <a:bodyPr wrap="square"/>
                    <a:lstStyle/>
                    <a:p>
                      <a:pPr algn="l"/>
                      <a:r>
                        <a:rPr sz="1100" b="0" i="0">
                          <a:solidFill>
                            <a:srgbClr val="0070C0"/>
                          </a:solidFill>
                          <a:latin typeface="Calibri"/>
                        </a:rPr>
                        <a:t>28.17.</a:t>
                      </a:r>
                      <a:r>
                        <a:rPr sz="700" b="0" i="0">
                          <a:solidFill>
                            <a:srgbClr val="0070C0"/>
                          </a:solidFill>
                          <a:latin typeface="Times New Roman"/>
                        </a:rPr>
                        <a:t> </a:t>
                      </a:r>
                      <a:r>
                        <a:rPr sz="1100" b="0" i="0">
                          <a:solidFill>
                            <a:srgbClr val="0070C0"/>
                          </a:solidFill>
                          <a:latin typeface="Calibri"/>
                        </a:rPr>
                        <a:t>Riverside Paper Co.</a:t>
                      </a:r>
                      <a:endParaRPr sz="1100"/>
                    </a:p>
                  </a:txBody>
                  <a:tcPr marL="428625" marR="9525" marT="9525" marB="0" anchor="ctr"/>
                </a:tc>
              </a:tr>
              <a:tr h="175260">
                <a:tc>
                  <a:txBody>
                    <a:bodyPr wrap="square"/>
                    <a:lstStyle/>
                    <a:p>
                      <a:pPr algn="l"/>
                      <a:r>
                        <a:rPr sz="1100" b="0" i="0">
                          <a:solidFill>
                            <a:srgbClr val="0070C0"/>
                          </a:solidFill>
                          <a:latin typeface="Calibri"/>
                        </a:rPr>
                        <a:t>28.18.</a:t>
                      </a:r>
                      <a:r>
                        <a:rPr sz="700" b="0" i="0">
                          <a:solidFill>
                            <a:srgbClr val="0070C0"/>
                          </a:solidFill>
                          <a:latin typeface="Times New Roman"/>
                        </a:rPr>
                        <a:t> </a:t>
                      </a:r>
                      <a:r>
                        <a:rPr sz="1100" b="0" i="0">
                          <a:solidFill>
                            <a:srgbClr val="0070C0"/>
                          </a:solidFill>
                          <a:latin typeface="Calibri"/>
                        </a:rPr>
                        <a:t>Industrie-Kartonagen Maier GmbH</a:t>
                      </a:r>
                      <a:endParaRPr sz="1100"/>
                    </a:p>
                  </a:txBody>
                  <a:tcPr marL="428625" marR="9525" marT="9525" marB="0" anchor="ctr"/>
                </a:tc>
              </a:tr>
              <a:tr h="175260">
                <a:tc>
                  <a:txBody>
                    <a:bodyPr wrap="square"/>
                    <a:lstStyle/>
                    <a:p>
                      <a:pPr algn="l"/>
                      <a:r>
                        <a:rPr sz="1100" b="0" i="0">
                          <a:solidFill>
                            <a:srgbClr val="0070C0"/>
                          </a:solidFill>
                          <a:latin typeface="Calibri"/>
                        </a:rPr>
                        <a:t>28.19.</a:t>
                      </a:r>
                      <a:r>
                        <a:rPr sz="700" b="0" i="0">
                          <a:solidFill>
                            <a:srgbClr val="0070C0"/>
                          </a:solidFill>
                          <a:latin typeface="Times New Roman"/>
                        </a:rPr>
                        <a:t> </a:t>
                      </a:r>
                      <a:r>
                        <a:rPr sz="1100" b="0" i="0">
                          <a:solidFill>
                            <a:srgbClr val="0070C0"/>
                          </a:solidFill>
                          <a:latin typeface="Calibri"/>
                        </a:rPr>
                        <a:t>ITB Packaging LLC</a:t>
                      </a:r>
                      <a:endParaRPr sz="1100"/>
                    </a:p>
                  </a:txBody>
                  <a:tcPr marL="428625" marR="9525" marT="9525" marB="0" anchor="ctr"/>
                </a:tc>
              </a:tr>
              <a:tr h="175260">
                <a:tc>
                  <a:txBody>
                    <a:bodyPr wrap="square"/>
                    <a:lstStyle/>
                    <a:p>
                      <a:pPr algn="l"/>
                      <a:r>
                        <a:rPr sz="1100" b="0" i="0">
                          <a:solidFill>
                            <a:srgbClr val="0070C0"/>
                          </a:solidFill>
                          <a:latin typeface="Calibri"/>
                        </a:rPr>
                        <a:t>28.20.</a:t>
                      </a:r>
                      <a:r>
                        <a:rPr sz="700" b="0" i="0">
                          <a:solidFill>
                            <a:srgbClr val="0070C0"/>
                          </a:solidFill>
                          <a:latin typeface="Times New Roman"/>
                        </a:rPr>
                        <a:t> </a:t>
                      </a:r>
                      <a:r>
                        <a:rPr sz="1100" b="0" i="0">
                          <a:solidFill>
                            <a:srgbClr val="0070C0"/>
                          </a:solidFill>
                          <a:latin typeface="Calibri"/>
                        </a:rPr>
                        <a:t>Packform USA LLC</a:t>
                      </a:r>
                      <a:endParaRPr sz="1100"/>
                    </a:p>
                  </a:txBody>
                  <a:tcPr marL="428625" marR="9525" marT="9525" marB="0" anchor="ctr"/>
                </a:tc>
              </a:tr>
              <a:tr h="175260">
                <a:tc>
                  <a:txBody>
                    <a:bodyPr wrap="square"/>
                    <a:lstStyle/>
                    <a:p>
                      <a:pPr algn="l"/>
                      <a:r>
                        <a:rPr sz="1100" b="0" i="0">
                          <a:solidFill>
                            <a:srgbClr val="0070C0"/>
                          </a:solidFill>
                          <a:latin typeface="Calibri"/>
                        </a:rPr>
                        <a:t>28.21.</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29.</a:t>
                      </a:r>
                      <a:r>
                        <a:rPr sz="700" b="1" i="0">
                          <a:solidFill>
                            <a:srgbClr val="000000"/>
                          </a:solidFill>
                          <a:latin typeface="Times New Roman"/>
                        </a:rPr>
                        <a:t>    </a:t>
                      </a:r>
                      <a:r>
                        <a:rPr sz="1100" b="1" i="0">
                          <a:solidFill>
                            <a:srgbClr val="000000"/>
                          </a:solidFill>
                          <a:latin typeface="Calibri"/>
                        </a:rPr>
                        <a:t>Company Profile- Regional</a:t>
                      </a:r>
                      <a:endParaRPr sz="1100"/>
                    </a:p>
                  </a:txBody>
                  <a:tcPr marL="171450" marR="9525" marT="9525" marB="0" anchor="ctr"/>
                </a:tc>
              </a:tr>
              <a:tr h="175260">
                <a:tc>
                  <a:txBody>
                    <a:bodyPr wrap="square"/>
                    <a:lstStyle/>
                    <a:p>
                      <a:pPr algn="l"/>
                      <a:r>
                        <a:rPr sz="1100" b="0" i="0">
                          <a:solidFill>
                            <a:srgbClr val="0070C0"/>
                          </a:solidFill>
                          <a:latin typeface="Calibri"/>
                        </a:rPr>
                        <a:t>29.1.</a:t>
                      </a:r>
                      <a:r>
                        <a:rPr sz="700" b="0" i="0">
                          <a:solidFill>
                            <a:srgbClr val="0070C0"/>
                          </a:solidFill>
                          <a:latin typeface="Times New Roman"/>
                        </a:rPr>
                        <a:t>  </a:t>
                      </a:r>
                      <a:r>
                        <a:rPr sz="1100" b="0" i="0">
                          <a:solidFill>
                            <a:srgbClr val="0070C0"/>
                          </a:solidFill>
                          <a:latin typeface="Calibri"/>
                        </a:rPr>
                        <a:t>Dong Hai Ben Tre JSC (DOHACO)</a:t>
                      </a:r>
                      <a:endParaRPr sz="1100"/>
                    </a:p>
                  </a:txBody>
                  <a:tcPr marL="428625" marR="9525" marT="9525" marB="0" anchor="ctr"/>
                </a:tc>
              </a:tr>
              <a:tr h="175260">
                <a:tc>
                  <a:txBody>
                    <a:bodyPr wrap="square"/>
                    <a:lstStyle/>
                    <a:p>
                      <a:pPr algn="l"/>
                      <a:r>
                        <a:rPr sz="1100" b="0" i="0">
                          <a:solidFill>
                            <a:srgbClr val="0070C0"/>
                          </a:solidFill>
                          <a:latin typeface="Calibri"/>
                        </a:rPr>
                        <a:t>29.2.</a:t>
                      </a:r>
                      <a:r>
                        <a:rPr sz="700" b="0" i="0">
                          <a:solidFill>
                            <a:srgbClr val="0070C0"/>
                          </a:solidFill>
                          <a:latin typeface="Times New Roman"/>
                        </a:rPr>
                        <a:t>  </a:t>
                      </a:r>
                      <a:r>
                        <a:rPr sz="1100" b="0" i="0">
                          <a:solidFill>
                            <a:srgbClr val="0070C0"/>
                          </a:solidFill>
                          <a:latin typeface="Calibri"/>
                        </a:rPr>
                        <a:t>Sunrise Printing &amp; Packaging Co., Ltd.</a:t>
                      </a:r>
                      <a:endParaRPr sz="1100"/>
                    </a:p>
                  </a:txBody>
                  <a:tcPr marL="428625" marR="9525" marT="9525" marB="0" anchor="ctr"/>
                </a:tc>
              </a:tr>
              <a:tr h="175260">
                <a:tc>
                  <a:txBody>
                    <a:bodyPr wrap="square"/>
                    <a:lstStyle/>
                    <a:p>
                      <a:pPr algn="l"/>
                      <a:r>
                        <a:rPr sz="1100" b="0" i="0">
                          <a:solidFill>
                            <a:srgbClr val="0070C0"/>
                          </a:solidFill>
                          <a:latin typeface="Calibri"/>
                        </a:rPr>
                        <a:t>29.3.</a:t>
                      </a:r>
                      <a:r>
                        <a:rPr sz="700" b="0" i="0">
                          <a:solidFill>
                            <a:srgbClr val="0070C0"/>
                          </a:solidFill>
                          <a:latin typeface="Times New Roman"/>
                        </a:rPr>
                        <a:t>  </a:t>
                      </a:r>
                      <a:r>
                        <a:rPr sz="1100" b="0" i="0">
                          <a:solidFill>
                            <a:srgbClr val="0070C0"/>
                          </a:solidFill>
                          <a:latin typeface="Calibri"/>
                        </a:rPr>
                        <a:t>Minh Dung Company Limited</a:t>
                      </a:r>
                      <a:endParaRPr sz="1100"/>
                    </a:p>
                  </a:txBody>
                  <a:tcPr marL="428625" marR="9525" marT="9525" marB="0" anchor="ctr"/>
                </a:tc>
              </a:tr>
              <a:tr h="175260">
                <a:tc>
                  <a:txBody>
                    <a:bodyPr wrap="square"/>
                    <a:lstStyle/>
                    <a:p>
                      <a:pPr algn="l"/>
                      <a:r>
                        <a:rPr sz="1100" b="0" i="0">
                          <a:solidFill>
                            <a:srgbClr val="0070C0"/>
                          </a:solidFill>
                          <a:latin typeface="Calibri"/>
                        </a:rPr>
                        <a:t>29.4.</a:t>
                      </a:r>
                      <a:r>
                        <a:rPr sz="700" b="0" i="0">
                          <a:solidFill>
                            <a:srgbClr val="0070C0"/>
                          </a:solidFill>
                          <a:latin typeface="Times New Roman"/>
                        </a:rPr>
                        <a:t>  </a:t>
                      </a:r>
                      <a:r>
                        <a:rPr sz="1100" b="0" i="0">
                          <a:solidFill>
                            <a:srgbClr val="0070C0"/>
                          </a:solidFill>
                          <a:latin typeface="Calibri"/>
                        </a:rPr>
                        <a:t>Trung Tin Phat Packaging JSC</a:t>
                      </a:r>
                      <a:endParaRPr sz="1100"/>
                    </a:p>
                  </a:txBody>
                  <a:tcPr marL="428625" marR="9525" marT="9525" marB="0" anchor="ctr"/>
                </a:tc>
              </a:tr>
              <a:tr h="175260">
                <a:tc>
                  <a:txBody>
                    <a:bodyPr wrap="square"/>
                    <a:lstStyle/>
                    <a:p>
                      <a:pPr algn="l"/>
                      <a:r>
                        <a:rPr sz="1100" b="0" i="0">
                          <a:solidFill>
                            <a:srgbClr val="0070C0"/>
                          </a:solidFill>
                          <a:latin typeface="Calibri"/>
                        </a:rPr>
                        <a:t>29.5.</a:t>
                      </a:r>
                      <a:r>
                        <a:rPr sz="700" b="0" i="0">
                          <a:solidFill>
                            <a:srgbClr val="0070C0"/>
                          </a:solidFill>
                          <a:latin typeface="Times New Roman"/>
                        </a:rPr>
                        <a:t>  </a:t>
                      </a:r>
                      <a:r>
                        <a:rPr sz="1100" b="0" i="0">
                          <a:solidFill>
                            <a:srgbClr val="0070C0"/>
                          </a:solidFill>
                          <a:latin typeface="Calibri"/>
                        </a:rPr>
                        <a:t>Global Packaging JSC (Bao Bi Toan Cau)</a:t>
                      </a:r>
                      <a:endParaRPr sz="1100"/>
                    </a:p>
                  </a:txBody>
                  <a:tcPr marL="428625" marR="9525" marT="9525" marB="0" anchor="ctr"/>
                </a:tc>
              </a:tr>
              <a:tr h="175260">
                <a:tc>
                  <a:txBody>
                    <a:bodyPr wrap="square"/>
                    <a:lstStyle/>
                    <a:p>
                      <a:pPr algn="l"/>
                      <a:r>
                        <a:rPr sz="1100" b="0" i="0">
                          <a:solidFill>
                            <a:srgbClr val="0070C0"/>
                          </a:solidFill>
                          <a:latin typeface="Calibri"/>
                        </a:rPr>
                        <a:t>29.6.</a:t>
                      </a:r>
                      <a:r>
                        <a:rPr sz="700" b="0" i="0">
                          <a:solidFill>
                            <a:srgbClr val="0070C0"/>
                          </a:solidFill>
                          <a:latin typeface="Times New Roman"/>
                        </a:rPr>
                        <a:t>  </a:t>
                      </a:r>
                      <a:r>
                        <a:rPr sz="1100" b="0" i="0">
                          <a:solidFill>
                            <a:srgbClr val="0070C0"/>
                          </a:solidFill>
                          <a:latin typeface="Calibri"/>
                        </a:rPr>
                        <a:t>Thai Kobashi Co., Ltd.</a:t>
                      </a:r>
                      <a:endParaRPr sz="1100"/>
                    </a:p>
                  </a:txBody>
                  <a:tcPr marL="428625" marR="9525" marT="9525" marB="0" anchor="ctr"/>
                </a:tc>
              </a:tr>
              <a:tr h="175260">
                <a:tc>
                  <a:txBody>
                    <a:bodyPr wrap="square"/>
                    <a:lstStyle/>
                    <a:p>
                      <a:pPr algn="l"/>
                      <a:r>
                        <a:rPr sz="1100" b="0" i="0">
                          <a:solidFill>
                            <a:srgbClr val="0070C0"/>
                          </a:solidFill>
                          <a:latin typeface="Calibri"/>
                        </a:rPr>
                        <a:t>29.7.</a:t>
                      </a:r>
                      <a:r>
                        <a:rPr sz="700" b="0" i="0">
                          <a:solidFill>
                            <a:srgbClr val="0070C0"/>
                          </a:solidFill>
                          <a:latin typeface="Times New Roman"/>
                        </a:rPr>
                        <a:t>  </a:t>
                      </a:r>
                      <a:r>
                        <a:rPr sz="1100" b="0" i="0">
                          <a:solidFill>
                            <a:srgbClr val="0070C0"/>
                          </a:solidFill>
                          <a:latin typeface="Calibri"/>
                        </a:rPr>
                        <a:t>Kaizen Packaging Co., Ltd.</a:t>
                      </a:r>
                      <a:endParaRPr sz="1100"/>
                    </a:p>
                  </a:txBody>
                  <a:tcPr marL="428625" marR="9525" marT="9525" marB="0" anchor="ctr"/>
                </a:tc>
              </a:tr>
              <a:tr h="175260">
                <a:tc>
                  <a:txBody>
                    <a:bodyPr wrap="square"/>
                    <a:lstStyle/>
                    <a:p>
                      <a:pPr algn="l"/>
                      <a:r>
                        <a:rPr sz="1100" b="0" i="0">
                          <a:solidFill>
                            <a:srgbClr val="0070C0"/>
                          </a:solidFill>
                          <a:latin typeface="Calibri"/>
                        </a:rPr>
                        <a:t>29.8.</a:t>
                      </a:r>
                      <a:r>
                        <a:rPr sz="700" b="0" i="0">
                          <a:solidFill>
                            <a:srgbClr val="0070C0"/>
                          </a:solidFill>
                          <a:latin typeface="Times New Roman"/>
                        </a:rPr>
                        <a:t>  </a:t>
                      </a:r>
                      <a:r>
                        <a:rPr sz="1100" b="0" i="0">
                          <a:solidFill>
                            <a:srgbClr val="0070C0"/>
                          </a:solidFill>
                          <a:latin typeface="Calibri"/>
                        </a:rPr>
                        <a:t>Shoon Teet Paper Boxes Manufacturer Sdn. Bhd.</a:t>
                      </a:r>
                      <a:endParaRPr sz="1100"/>
                    </a:p>
                  </a:txBody>
                  <a:tcPr marL="428625" marR="9525" marT="9525" marB="0" anchor="ctr"/>
                </a:tc>
              </a:tr>
              <a:tr h="175260">
                <a:tc>
                  <a:txBody>
                    <a:bodyPr wrap="square"/>
                    <a:lstStyle/>
                    <a:p>
                      <a:pPr algn="l"/>
                      <a:r>
                        <a:rPr sz="1100" b="0" i="0">
                          <a:solidFill>
                            <a:srgbClr val="0070C0"/>
                          </a:solidFill>
                          <a:latin typeface="Calibri"/>
                        </a:rPr>
                        <a:t>29.9.</a:t>
                      </a:r>
                      <a:r>
                        <a:rPr sz="700" b="0" i="0">
                          <a:solidFill>
                            <a:srgbClr val="0070C0"/>
                          </a:solidFill>
                          <a:latin typeface="Times New Roman"/>
                        </a:rPr>
                        <a:t>  </a:t>
                      </a:r>
                      <a:r>
                        <a:rPr sz="1100" b="0" i="0">
                          <a:solidFill>
                            <a:srgbClr val="0070C0"/>
                          </a:solidFill>
                          <a:latin typeface="Calibri"/>
                        </a:rPr>
                        <a:t>MD Pack Industries Sdn. Bhd.</a:t>
                      </a:r>
                      <a:endParaRPr sz="1100"/>
                    </a:p>
                  </a:txBody>
                  <a:tcPr marL="428625" marR="9525" marT="9525" marB="0" anchor="ctr"/>
                </a:tc>
              </a:tr>
              <a:tr h="175260">
                <a:tc>
                  <a:txBody>
                    <a:bodyPr wrap="square"/>
                    <a:lstStyle/>
                    <a:p>
                      <a:pPr algn="l"/>
                      <a:r>
                        <a:rPr sz="1100" b="0" i="0">
                          <a:solidFill>
                            <a:srgbClr val="0070C0"/>
                          </a:solidFill>
                          <a:latin typeface="Calibri"/>
                        </a:rPr>
                        <a:t>29.10.</a:t>
                      </a:r>
                      <a:r>
                        <a:rPr sz="700" b="0" i="0">
                          <a:solidFill>
                            <a:srgbClr val="0070C0"/>
                          </a:solidFill>
                          <a:latin typeface="Times New Roman"/>
                        </a:rPr>
                        <a:t> </a:t>
                      </a:r>
                      <a:r>
                        <a:rPr sz="1100" b="0" i="0">
                          <a:solidFill>
                            <a:srgbClr val="0070C0"/>
                          </a:solidFill>
                          <a:latin typeface="Calibri"/>
                        </a:rPr>
                        <a:t>PT SuryaTITIA Makmur</a:t>
                      </a:r>
                      <a:endParaRPr sz="1100"/>
                    </a:p>
                  </a:txBody>
                  <a:tcPr marL="428625" marR="9525" marT="9525" marB="0" anchor="ctr"/>
                </a:tc>
              </a:tr>
              <a:tr h="175260">
                <a:tc>
                  <a:txBody>
                    <a:bodyPr wrap="square"/>
                    <a:lstStyle/>
                    <a:p>
                      <a:pPr algn="l"/>
                      <a:r>
                        <a:rPr sz="1100" b="1" i="0">
                          <a:solidFill>
                            <a:srgbClr val="000000"/>
                          </a:solidFill>
                          <a:latin typeface="Calibri"/>
                        </a:rPr>
                        <a:t>Section 7: White Space Opportunity Assessment</a:t>
                      </a:r>
                      <a:endParaRPr sz="1100"/>
                    </a:p>
                  </a:txBody>
                  <a:tcPr marL="9525" marR="9525" marT="9525" marB="0" anchor="ctr"/>
                </a:tc>
              </a:tr>
              <a:tr h="175260">
                <a:tc>
                  <a:txBody>
                    <a:bodyPr wrap="square"/>
                    <a:lstStyle/>
                    <a:p>
                      <a:pPr algn="l"/>
                      <a:r>
                        <a:rPr sz="1100" b="1" i="0">
                          <a:solidFill>
                            <a:srgbClr val="000000"/>
                          </a:solidFill>
                          <a:latin typeface="Calibri"/>
                        </a:rPr>
                        <a:t>30.</a:t>
                      </a:r>
                      <a:r>
                        <a:rPr sz="700" b="1" i="0">
                          <a:solidFill>
                            <a:srgbClr val="000000"/>
                          </a:solidFill>
                          <a:latin typeface="Times New Roman"/>
                        </a:rPr>
                        <a:t>    </a:t>
                      </a:r>
                      <a:r>
                        <a:rPr sz="1100" b="1" i="0">
                          <a:solidFill>
                            <a:srgbClr val="000000"/>
                          </a:solidFill>
                          <a:latin typeface="Calibri"/>
                        </a:rPr>
                        <a:t>Strategic Market Entry, Downstream Integration, and Investment Opportunity Assessment</a:t>
                      </a:r>
                      <a:endParaRPr sz="1100"/>
                    </a:p>
                  </a:txBody>
                  <a:tcPr marL="171450" marR="9525" marT="9525" marB="0" anchor="ctr"/>
                </a:tc>
              </a:tr>
              <a:tr h="350520">
                <a:tc>
                  <a:txBody>
                    <a:bodyPr wrap="square"/>
                    <a:lstStyle/>
                    <a:p>
                      <a:pPr algn="l"/>
                      <a:r>
                        <a:rPr sz="1100" b="0" i="0">
                          <a:solidFill>
                            <a:srgbClr val="0070C0"/>
                          </a:solidFill>
                          <a:latin typeface="Calibri"/>
                        </a:rPr>
                        <a:t>30.1.</a:t>
                      </a:r>
                      <a:r>
                        <a:rPr sz="700" b="0" i="0">
                          <a:solidFill>
                            <a:srgbClr val="0070C0"/>
                          </a:solidFill>
                          <a:latin typeface="Times New Roman"/>
                        </a:rPr>
                        <a:t>  </a:t>
                      </a:r>
                      <a:r>
                        <a:rPr sz="1100" b="0" i="0">
                          <a:solidFill>
                            <a:srgbClr val="0070C0"/>
                          </a:solidFill>
                          <a:latin typeface="Calibri"/>
                        </a:rPr>
                        <a:t>Saigon Paper Addressable Market by Paper Supply versus Finished-partition Conversion - MT / USD Mn</a:t>
                      </a:r>
                      <a:endParaRPr sz="1100"/>
                    </a:p>
                  </a:txBody>
                  <a:tcPr marL="428625" marR="9525" marT="9525" marB="0" anchor="ctr"/>
                </a:tc>
              </a:tr>
              <a:tr h="350520">
                <a:tc>
                  <a:txBody>
                    <a:bodyPr wrap="square"/>
                    <a:lstStyle/>
                    <a:p>
                      <a:pPr algn="l"/>
                      <a:r>
                        <a:rPr sz="1100" b="0" i="0">
                          <a:solidFill>
                            <a:srgbClr val="0070C0"/>
                          </a:solidFill>
                          <a:latin typeface="Calibri"/>
                        </a:rPr>
                        <a:t>30.2.</a:t>
                      </a:r>
                      <a:r>
                        <a:rPr sz="700" b="0" i="0">
                          <a:solidFill>
                            <a:srgbClr val="0070C0"/>
                          </a:solidFill>
                          <a:latin typeface="Times New Roman"/>
                        </a:rPr>
                        <a:t>  </a:t>
                      </a:r>
                      <a:r>
                        <a:rPr sz="1100" b="0" i="0">
                          <a:solidFill>
                            <a:srgbClr val="0070C0"/>
                          </a:solidFill>
                          <a:latin typeface="Calibri"/>
                        </a:rPr>
                        <a:t>Priority End-use Application Ranking by Demand, Growth, and Gross Margin - MT / CAGR % / Margin %</a:t>
                      </a:r>
                      <a:endParaRPr sz="1100"/>
                    </a:p>
                  </a:txBody>
                  <a:tcPr marL="428625" marR="9525" marT="9525" marB="0" anchor="ctr"/>
                </a:tc>
              </a:tr>
              <a:tr h="350520">
                <a:tc>
                  <a:txBody>
                    <a:bodyPr wrap="square"/>
                    <a:lstStyle/>
                    <a:p>
                      <a:pPr algn="l"/>
                      <a:r>
                        <a:rPr sz="1100" b="0" i="0">
                          <a:solidFill>
                            <a:srgbClr val="0070C0"/>
                          </a:solidFill>
                          <a:latin typeface="Calibri"/>
                        </a:rPr>
                        <a:t>30.3.</a:t>
                      </a:r>
                      <a:r>
                        <a:rPr sz="700" b="0" i="0">
                          <a:solidFill>
                            <a:srgbClr val="0070C0"/>
                          </a:solidFill>
                          <a:latin typeface="Times New Roman"/>
                        </a:rPr>
                        <a:t>  </a:t>
                      </a:r>
                      <a:r>
                        <a:rPr sz="1100" b="0" i="0">
                          <a:solidFill>
                            <a:srgbClr val="0070C0"/>
                          </a:solidFill>
                          <a:latin typeface="Calibri"/>
                        </a:rPr>
                        <a:t>Potential Paper Customers, Partition Converters, and OEM Partnership Targets - Number of Targets / Estimated MT Demand</a:t>
                      </a:r>
                      <a:endParaRPr sz="1100"/>
                    </a:p>
                  </a:txBody>
                  <a:tcPr marL="428625" marR="9525" marT="9525" marB="0" anchor="ctr"/>
                </a:tc>
              </a:tr>
              <a:tr h="350520">
                <a:tc>
                  <a:txBody>
                    <a:bodyPr wrap="square"/>
                    <a:lstStyle/>
                    <a:p>
                      <a:pPr algn="l"/>
                      <a:r>
                        <a:rPr sz="1100" b="0" i="0">
                          <a:solidFill>
                            <a:srgbClr val="0070C0"/>
                          </a:solidFill>
                          <a:latin typeface="Calibri"/>
                        </a:rPr>
                        <a:t>30.4.</a:t>
                      </a:r>
                      <a:r>
                        <a:rPr sz="700" b="0" i="0">
                          <a:solidFill>
                            <a:srgbClr val="0070C0"/>
                          </a:solidFill>
                          <a:latin typeface="Times New Roman"/>
                        </a:rPr>
                        <a:t>  </a:t>
                      </a:r>
                      <a:r>
                        <a:rPr sz="1100" b="0" i="0">
                          <a:solidFill>
                            <a:srgbClr val="0070C0"/>
                          </a:solidFill>
                          <a:latin typeface="Calibri"/>
                        </a:rPr>
                        <a:t>Vietnam Industrial Cluster Investment Attractiveness - Demand Density / Logistics Cost / Supply Gap</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(7/7)</a:t>
            </a:r>
          </a:p>
        </p:txBody>
      </p:sp>
      <p:graphicFrame>
        <p:nvGraphicFramePr>
          <p:cNvPr id="9" name="FMI Contents Table"/>
          <p:cNvGraphicFramePr>
            <a:graphicFrameLocks noGrp="1"/>
          </p:cNvGraphicFramePr>
          <p:nvPr/>
        </p:nvGraphicFramePr>
        <p:xfrm>
          <a:off x="142875" y="981075"/>
          <a:ext cx="5876925" cy="1051560"/>
        </p:xfrm>
        <a:graphic>
          <a:graphicData uri="http://schemas.openxmlformats.org/drawingml/2006/table">
            <a:tbl>
              <a:tblPr>
                <a:tableStyleId>{3B4B98B0-60AC-42C2-AFA5-B58CD77FA1E5}</a:tableStyleId>
              </a:tblPr>
              <a:tblGrid>
                <a:gridCol w="5876925"/>
              </a:tblGrid>
              <a:tr h="350520">
                <a:tc>
                  <a:txBody>
                    <a:bodyPr wrap="square"/>
                    <a:lstStyle/>
                    <a:p>
                      <a:pPr algn="l"/>
                      <a:r>
                        <a:rPr sz="1100" b="0" i="0">
                          <a:solidFill>
                            <a:srgbClr val="0070C0"/>
                          </a:solidFill>
                          <a:latin typeface="Calibri"/>
                        </a:rPr>
                        <a:t>30.5.</a:t>
                      </a:r>
                      <a:r>
                        <a:rPr sz="700" b="0" i="0">
                          <a:solidFill>
                            <a:srgbClr val="0070C0"/>
                          </a:solidFill>
                          <a:latin typeface="Times New Roman"/>
                        </a:rPr>
                        <a:t>  </a:t>
                      </a:r>
                      <a:r>
                        <a:rPr sz="1100" b="0" i="0">
                          <a:solidFill>
                            <a:srgbClr val="0070C0"/>
                          </a:solidFill>
                          <a:latin typeface="Calibri"/>
                        </a:rPr>
                        <a:t>Product Innovation Opportunities by High-strength, Lightweight, and Customized Partition Formats - GSM / Cost Premium % / Addressable MT</a:t>
                      </a:r>
                      <a:endParaRPr sz="1100"/>
                    </a:p>
                  </a:txBody>
                  <a:tcPr marL="428625" marR="9525" marT="9525" marB="0" anchor="ctr"/>
                </a:tc>
              </a:tr>
              <a:tr h="350520">
                <a:tc>
                  <a:txBody>
                    <a:bodyPr wrap="square"/>
                    <a:lstStyle/>
                    <a:p>
                      <a:pPr algn="l"/>
                      <a:r>
                        <a:rPr sz="1100" b="0" i="0">
                          <a:solidFill>
                            <a:srgbClr val="0070C0"/>
                          </a:solidFill>
                          <a:latin typeface="Calibri"/>
                        </a:rPr>
                        <a:t>30.6.</a:t>
                      </a:r>
                      <a:r>
                        <a:rPr sz="700" b="0" i="0">
                          <a:solidFill>
                            <a:srgbClr val="0070C0"/>
                          </a:solidFill>
                          <a:latin typeface="Times New Roman"/>
                        </a:rPr>
                        <a:t>  </a:t>
                      </a:r>
                      <a:r>
                        <a:rPr sz="1100" b="0" i="0">
                          <a:solidFill>
                            <a:srgbClr val="0070C0"/>
                          </a:solidFill>
                          <a:latin typeface="Calibri"/>
                        </a:rPr>
                        <a:t>Strategic Opportunity Prioritization by Market Size, Investment, Profitability, and Execution Risk - Weighted Opportunity Score</a:t>
                      </a:r>
                      <a:endParaRPr sz="1100"/>
                    </a:p>
                  </a:txBody>
                  <a:tcPr marL="428625" marR="9525" marT="9525" marB="0" anchor="ctr"/>
                </a:tc>
              </a:tr>
              <a:tr h="175260">
                <a:tc>
                  <a:txBody>
                    <a:bodyPr wrap="square"/>
                    <a:lstStyle/>
                    <a:p>
                      <a:pPr algn="l"/>
                      <a:r>
                        <a:rPr sz="1100" b="1" i="0">
                          <a:solidFill>
                            <a:srgbClr val="000000"/>
                          </a:solidFill>
                          <a:latin typeface="Calibri"/>
                        </a:rPr>
                        <a:t>31.</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32.</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Partition Type,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Board Construction,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Material Source,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Cell Configuration,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Customization,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Share by End Use, %, 2026</a:t>
                      </a:r>
                      <a:endParaRPr sz="1050"/>
                    </a:p>
                  </a:txBody>
                  <a:tcPr marL="9525" marR="9525" marT="9525" marB="0" anchor="ctr"/>
                </a:tc>
              </a:tr>
              <a:tr h="169606">
                <a:tc>
                  <a:txBody>
                    <a:bodyPr wrap="square"/>
                    <a:lstStyle/>
                    <a:p>
                      <a:pPr algn="l"/>
                      <a:r>
                        <a:rPr sz="1050" b="0" i="0">
                          <a:solidFill>
                            <a:srgbClr val="000000"/>
                          </a:solidFill>
                          <a:latin typeface="Calibri"/>
                        </a:rPr>
                        <a:t>Figure 10: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11: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and YoY Growth, MT and %, 2021–2036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Partition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Board Construction,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Material Source,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Cell Configuration,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Customization,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End Use,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Value by Sales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Partition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Board Construction,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Material Source,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Cell Configuration,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Share by Customization, %, 2026 and 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Share by End Use, %, 2026 and 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Share by Sales Channel, %, 2026 and 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Absolute $ Opportunity by Partition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Absolute $ Opportunity by Board Construction, US$ Mn, 2026–2036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Absolute $ Opportunity by Material Source, US$ Mn, 2026–2036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Absolute $ Opportunity by Cell Configuration, US$ Mn, 2026–2036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Absolute $ Opportunity by Customization, US$ Mn, 2026–2036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Absolute $ Opportunity by End Use, US$ Mn, 2026–2036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Absolute $ Opportunity by Sales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BPS Share Change by Partition Type, 2026–2036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BPS Share Change by Board Construction, 2026–2036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BPS Share Change by Material Source, 2026–2036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BPS Share Change by Cell Configuration, 2026–2036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BPS Share Change by Customization, 2026–2036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BPS Share Change by End Use, 2026–2036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BPS Share Change by Sales Channel, 2026–2036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YoY Growth by Partition Type, %, 2026–2036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YoY Growth by Board Construction, %, 2026–2036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YoY Growth by Material Source, %, 2026–2036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YoY Growth by Cell Configuration, %, 2026–2036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YoY Growth by Customization, %,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YoY Growth by End Use, %,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YoY Growth by Sales Channel, %,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Attractiveness by Partition Type,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Attractiveness by Board Construction, 2026–2036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Attractiveness by Material Source, 2026–2036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Attractiveness by Cell Configuration, 2026–2036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Attractiveness by Customization, 2026–2036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Attractiveness by End Use, 2026–2036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Attractiveness by Sales Channel,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Volume by Partition Type, MT, 2021–2036</a:t>
                      </a:r>
                      <a:endParaRPr sz="1050"/>
                    </a:p>
                  </a:txBody>
                  <a:tcPr marL="9525" marR="9525" marT="9525" marB="0" anchor="ctr"/>
                </a:tc>
              </a:tr>
              <a:tr h="169606">
                <a:tc>
                  <a:txBody>
                    <a:bodyPr wrap="square"/>
                    <a:lstStyle/>
                    <a:p>
                      <a:pPr algn="l"/>
                      <a:r>
                        <a:rPr sz="1050" b="0" i="0">
                          <a:solidFill>
                            <a:srgbClr val="000000"/>
                          </a:solidFill>
                          <a:latin typeface="Calibri"/>
                        </a:rPr>
                        <a:t>Figure 64: Global Market Volume by Board Construction, MT, 2021–2036</a:t>
                      </a:r>
                      <a:endParaRPr sz="1050"/>
                    </a:p>
                  </a:txBody>
                  <a:tcPr marL="9525" marR="9525" marT="9525" marB="0" anchor="ctr"/>
                </a:tc>
              </a:tr>
              <a:tr h="169606">
                <a:tc>
                  <a:txBody>
                    <a:bodyPr wrap="square"/>
                    <a:lstStyle/>
                    <a:p>
                      <a:pPr algn="l"/>
                      <a:r>
                        <a:rPr sz="1050" b="0" i="0">
                          <a:solidFill>
                            <a:srgbClr val="000000"/>
                          </a:solidFill>
                          <a:latin typeface="Calibri"/>
                        </a:rPr>
                        <a:t>Figure 65: Global Market Volume by Material Source, MT, 2021–2036</a:t>
                      </a:r>
                      <a:endParaRPr sz="1050"/>
                    </a:p>
                  </a:txBody>
                  <a:tcPr marL="9525" marR="9525" marT="9525" marB="0" anchor="ctr"/>
                </a:tc>
              </a:tr>
              <a:tr h="169606">
                <a:tc>
                  <a:txBody>
                    <a:bodyPr wrap="square"/>
                    <a:lstStyle/>
                    <a:p>
                      <a:pPr algn="l"/>
                      <a:r>
                        <a:rPr sz="1050" b="0" i="0">
                          <a:solidFill>
                            <a:srgbClr val="000000"/>
                          </a:solidFill>
                          <a:latin typeface="Calibri"/>
                        </a:rPr>
                        <a:t>Figure 66: Global Market Volume by Cell Configuration, MT, 2021–2036</a:t>
                      </a:r>
                      <a:endParaRPr sz="1050"/>
                    </a:p>
                  </a:txBody>
                  <a:tcPr marL="9525" marR="9525" marT="9525" marB="0" anchor="ctr"/>
                </a:tc>
              </a:tr>
              <a:tr h="169606">
                <a:tc>
                  <a:txBody>
                    <a:bodyPr wrap="square"/>
                    <a:lstStyle/>
                    <a:p>
                      <a:pPr algn="l"/>
                      <a:r>
                        <a:rPr sz="1050" b="0" i="0">
                          <a:solidFill>
                            <a:srgbClr val="000000"/>
                          </a:solidFill>
                          <a:latin typeface="Calibri"/>
                        </a:rPr>
                        <a:t>Figure 67: Global Market Volume by Customization, MT, 2021–2036</a:t>
                      </a:r>
                      <a:endParaRPr sz="1050"/>
                    </a:p>
                  </a:txBody>
                  <a:tcPr marL="9525" marR="9525" marT="9525" marB="0" anchor="ctr"/>
                </a:tc>
              </a:tr>
              <a:tr h="169606">
                <a:tc>
                  <a:txBody>
                    <a:bodyPr wrap="square"/>
                    <a:lstStyle/>
                    <a:p>
                      <a:pPr algn="l"/>
                      <a:r>
                        <a:rPr sz="1050" b="0" i="0">
                          <a:solidFill>
                            <a:srgbClr val="000000"/>
                          </a:solidFill>
                          <a:latin typeface="Calibri"/>
                        </a:rPr>
                        <a:t>Figure 68: Partition Type × Board Construction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69: Partition Type × Material Source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70: Partition Type × Cell Configuration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71: Partition Type × Customization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72: Partition Type × End Use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73: Partition Type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74: Board Construction × Material Source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75: Board Construction × Cell Configuration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76: Board Construction × Customization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Board Construction × End Use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Board Construction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Material Source × Cell Configuration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Material Source × Customization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Material Source × End Use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Material Source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Cell Configuration × Customization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Cell Configuration × End Use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Cell Configuration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86: Customization × End Use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87: Customization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88: End Use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89: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90: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91: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92: Global Market Absolute $ Opportunity by Region, US$ Mn, 2026–2036</a:t>
                      </a:r>
                      <a:endParaRPr sz="1050"/>
                    </a:p>
                  </a:txBody>
                  <a:tcPr marL="9525" marR="9525" marT="9525" marB="0" anchor="ctr"/>
                </a:tc>
              </a:tr>
              <a:tr h="169606">
                <a:tc>
                  <a:txBody>
                    <a:bodyPr wrap="square"/>
                    <a:lstStyle/>
                    <a:p>
                      <a:pPr algn="l"/>
                      <a:r>
                        <a:rPr sz="1050" b="0" i="0">
                          <a:solidFill>
                            <a:srgbClr val="000000"/>
                          </a:solidFill>
                          <a:latin typeface="Calibri"/>
                        </a:rPr>
                        <a:t>Figure 93: Global Market Attractiveness by Region,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95: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96: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97: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98: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99: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100: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101: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102: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103: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104: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105: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106: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107: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108: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109: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110: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111: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112: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113: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114: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115: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116: U.S. Market Value by Partition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117: U.S. Market Value by End Use,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118: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119: U.S. Market Value by Board Construction,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U.S. Market Value by Material Source,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121: U.S. Market Value by Cell Configuration,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122: U.S. Market Value by Customization,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124: Germany Market Value by Partition Type, US$ Mn,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Germany Market Value by End Use,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127: Germany Market Value by Board Construction,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Germany Market Value by Material Source,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Germany Market Value by Cell Configuration,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Germany Market Value by Customization,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132: Canada Market Value by Partition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Canada Market Value by End Use,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135: Canada Market Value by Board Construction,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Canada Market Value by Material Source,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Canada Market Value by Cell Configuration,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138: Canada Market Value by Customization,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139: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140: China Market Value by Partition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141: China Market Value by End Use,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143: India Market Value by Partition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145: Brazil Market Value by Partition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146: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147: U.K. Market Value by Partition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Japan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149: Japan Market Value by Partition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150: Global Market Average Selling Price Trend, US$/MT, 2021–2036</a:t>
                      </a:r>
                      <a:endParaRPr sz="1050"/>
                    </a:p>
                  </a:txBody>
                  <a:tcPr marL="9525" marR="9525" marT="9525" marB="0" anchor="ctr"/>
                </a:tc>
              </a:tr>
              <a:tr h="169606">
                <a:tc>
                  <a:txBody>
                    <a:bodyPr wrap="square"/>
                    <a:lstStyle/>
                    <a:p>
                      <a:pPr algn="l"/>
                      <a:r>
                        <a:rPr sz="1050" b="0" i="0">
                          <a:solidFill>
                            <a:srgbClr val="000000"/>
                          </a:solidFill>
                          <a:latin typeface="Calibri"/>
                        </a:rPr>
                        <a:t>Figure 151: Global Market Average Selling Price by Region,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152: Global Market Average Selling Price by Partition Type,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153: Global Market Average Selling Price by Board Construction,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by Material Source,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Cell Configuration, US$/MT,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Figure 156: Global Market Average Selling Price by Customization, US$/MT, 2026 and 2036</a:t>
                      </a:r>
                      <a:endParaRPr sz="1050"/>
                    </a:p>
                  </a:txBody>
                  <a:tcPr marL="9525" marR="9525" marT="9525" marB="0" anchor="ctr"/>
                </a:tc>
              </a:tr>
              <a:tr h="170266">
                <a:tc>
                  <a:txBody>
                    <a:bodyPr wrap="square"/>
                    <a:lstStyle/>
                    <a:p>
                      <a:pPr algn="l"/>
                      <a:r>
                        <a:rPr sz="1050" b="0" i="0">
                          <a:solidFill>
                            <a:srgbClr val="000000"/>
                          </a:solidFill>
                          <a:latin typeface="Calibri"/>
                        </a:rPr>
                        <a:t>Figure 157: Global Market Average Selling Price by End Use, US$/MT, 2026 and 2036</a:t>
                      </a:r>
                      <a:endParaRPr sz="1050"/>
                    </a:p>
                  </a:txBody>
                  <a:tcPr marL="9525" marR="9525" marT="9525" marB="0" anchor="ctr"/>
                </a:tc>
              </a:tr>
              <a:tr h="170266">
                <a:tc>
                  <a:txBody>
                    <a:bodyPr wrap="square"/>
                    <a:lstStyle/>
                    <a:p>
                      <a:pPr algn="l"/>
                      <a:r>
                        <a:rPr sz="1050" b="0" i="0">
                          <a:solidFill>
                            <a:srgbClr val="000000"/>
                          </a:solidFill>
                          <a:latin typeface="Calibri"/>
                        </a:rPr>
                        <a:t>Figure 158: Global Market Average Selling Price by Sales Channel, US$/MT, 2026 and 2036</a:t>
                      </a:r>
                      <a:endParaRPr sz="1050"/>
                    </a:p>
                  </a:txBody>
                  <a:tcPr marL="9525" marR="9525" marT="9525" marB="0" anchor="ctr"/>
                </a:tc>
              </a:tr>
              <a:tr h="170266">
                <a:tc>
                  <a:txBody>
                    <a:bodyPr wrap="square"/>
                    <a:lstStyle/>
                    <a:p>
                      <a:pPr algn="l"/>
                      <a:r>
                        <a:rPr sz="1050" b="0" i="0">
                          <a:solidFill>
                            <a:srgbClr val="000000"/>
                          </a:solidFill>
                          <a:latin typeface="Calibri"/>
                        </a:rPr>
                        <a:t>Figure 159: Global Market Value Chain Structure, 2026</a:t>
                      </a:r>
                      <a:endParaRPr sz="1050"/>
                    </a:p>
                  </a:txBody>
                  <a:tcPr marL="9525" marR="9525" marT="9525" marB="0" anchor="ctr"/>
                </a:tc>
              </a:tr>
              <a:tr h="170266">
                <a:tc>
                  <a:txBody>
                    <a:bodyPr wrap="square"/>
                    <a:lstStyle/>
                    <a:p>
                      <a:pPr algn="l"/>
                      <a:r>
                        <a:rPr sz="1050" b="0" i="0">
                          <a:solidFill>
                            <a:srgbClr val="000000"/>
                          </a:solidFill>
                          <a:latin typeface="Calibri"/>
                        </a:rPr>
                        <a:t>Figure 160: Global Market Margin Distribution across the Value Chain, %, 2026</a:t>
                      </a:r>
                      <a:endParaRPr sz="1050"/>
                    </a:p>
                  </a:txBody>
                  <a:tcPr marL="9525" marR="9525" marT="9525" marB="0" anchor="ctr"/>
                </a:tc>
              </a:tr>
              <a:tr h="170266">
                <a:tc>
                  <a:txBody>
                    <a:bodyPr wrap="square"/>
                    <a:lstStyle/>
                    <a:p>
                      <a:pPr algn="l"/>
                      <a:r>
                        <a:rPr sz="1050" b="0" i="0">
                          <a:solidFill>
                            <a:srgbClr val="000000"/>
                          </a:solidFill>
                          <a:latin typeface="Calibri"/>
                        </a:rPr>
                        <a:t>Figure 161: Global Market Cost Structure Breakdown, %, 2026</a:t>
                      </a:r>
                      <a:endParaRPr sz="1050"/>
                    </a:p>
                  </a:txBody>
                  <a:tcPr marL="9525" marR="9525" marT="9525" marB="0" anchor="ctr"/>
                </a:tc>
              </a:tr>
              <a:tr h="170266">
                <a:tc>
                  <a:txBody>
                    <a:bodyPr wrap="square"/>
                    <a:lstStyle/>
                    <a:p>
                      <a:pPr algn="l"/>
                      <a:r>
                        <a:rPr sz="1050" b="0" i="0">
                          <a:solidFill>
                            <a:srgbClr val="000000"/>
                          </a:solidFill>
                          <a:latin typeface="Calibri"/>
                        </a:rPr>
                        <a:t>Figure 162: Global Market Pricing Pressure Assessment by Partition Type, 2026–2036</a:t>
                      </a:r>
                      <a:endParaRPr sz="1050"/>
                    </a:p>
                  </a:txBody>
                  <a:tcPr marL="9525" marR="9525" marT="9525" marB="0" anchor="ctr"/>
                </a:tc>
              </a:tr>
              <a:tr h="170266">
                <a:tc>
                  <a:txBody>
                    <a:bodyPr wrap="square"/>
                    <a:lstStyle/>
                    <a:p>
                      <a:pPr algn="l"/>
                      <a:r>
                        <a:rPr sz="1050" b="0" i="0">
                          <a:solidFill>
                            <a:srgbClr val="000000"/>
                          </a:solidFill>
                          <a:latin typeface="Calibri"/>
                        </a:rPr>
                        <a:t>Figure 163: Company Market Share in the Global Market, %, 2026</a:t>
                      </a:r>
                      <a:endParaRPr sz="1050"/>
                    </a:p>
                  </a:txBody>
                  <a:tcPr marL="9525" marR="9525" marT="9525" marB="0" anchor="ctr"/>
                </a:tc>
              </a:tr>
              <a:tr h="170266">
                <a:tc>
                  <a:txBody>
                    <a:bodyPr wrap="square"/>
                    <a:lstStyle/>
                    <a:p>
                      <a:pPr algn="l"/>
                      <a:r>
                        <a:rPr sz="1050" b="0" i="0">
                          <a:solidFill>
                            <a:srgbClr val="000000"/>
                          </a:solidFill>
                          <a:latin typeface="Calibri"/>
                        </a:rPr>
                        <a:t>Figure 164: Competitive Positioning of Leading Corrugated Partition Manufacturers, 2026</a:t>
                      </a:r>
                      <a:endParaRPr sz="1050"/>
                    </a:p>
                  </a:txBody>
                  <a:tcPr marL="9525" marR="9525" marT="9525" marB="0" anchor="ctr"/>
                </a:tc>
              </a:tr>
              <a:tr h="170266">
                <a:tc>
                  <a:txBody>
                    <a:bodyPr wrap="square"/>
                    <a:lstStyle/>
                    <a:p>
                      <a:pPr algn="l"/>
                      <a:r>
                        <a:rPr sz="1050" b="0" i="0">
                          <a:solidFill>
                            <a:srgbClr val="000000"/>
                          </a:solidFill>
                          <a:latin typeface="Calibri"/>
                        </a:rPr>
                        <a:t>Figure 165: Company Revenue from the Global Market, US$ Mn, 2026</a:t>
                      </a:r>
                      <a:endParaRPr sz="1050"/>
                    </a:p>
                  </a:txBody>
                  <a:tcPr marL="9525" marR="9525" marT="9525" marB="0" anchor="ctr"/>
                </a:tc>
              </a:tr>
              <a:tr h="170266">
                <a:tc>
                  <a:txBody>
                    <a:bodyPr wrap="square"/>
                    <a:lstStyle/>
                    <a:p>
                      <a:pPr algn="l"/>
                      <a:r>
                        <a:rPr sz="1050" b="0" i="0">
                          <a:solidFill>
                            <a:srgbClr val="000000"/>
                          </a:solidFill>
                          <a:latin typeface="Calibri"/>
                        </a:rPr>
                        <a:t>Figure 166: Global Market Concentration by Company Tier, %, 2026</a:t>
                      </a:r>
                      <a:endParaRPr sz="1050"/>
                    </a:p>
                  </a:txBody>
                  <a:tcPr marL="9525" marR="9525" marT="9525" marB="0" anchor="ctr"/>
                </a:tc>
              </a:tr>
              <a:tr h="170266">
                <a:tc>
                  <a:txBody>
                    <a:bodyPr wrap="square"/>
                    <a:lstStyle/>
                    <a:p>
                      <a:pPr algn="l"/>
                      <a:r>
                        <a:rPr sz="1050" b="0" i="0">
                          <a:solidFill>
                            <a:srgbClr val="000000"/>
                          </a:solidFill>
                          <a:latin typeface="Calibri"/>
                        </a:rPr>
                        <a:t>Figure 167: Global Market Competitive Intensity Assessment, 2026</a:t>
                      </a:r>
                      <a:endParaRPr sz="1050"/>
                    </a:p>
                  </a:txBody>
                  <a:tcPr marL="9525" marR="9525" marT="9525" marB="0" anchor="ctr"/>
                </a:tc>
              </a:tr>
              <a:tr h="170266">
                <a:tc>
                  <a:txBody>
                    <a:bodyPr wrap="square"/>
                    <a:lstStyle/>
                    <a:p>
                      <a:pPr algn="l"/>
                      <a:r>
                        <a:rPr sz="1050" b="0" i="0">
                          <a:solidFill>
                            <a:srgbClr val="000000"/>
                          </a:solidFill>
                          <a:latin typeface="Calibri"/>
                        </a:rPr>
                        <a:t>Figure 168: Company Market Share in the North America Market, %, 2026</a:t>
                      </a:r>
                      <a:endParaRPr sz="1050"/>
                    </a:p>
                  </a:txBody>
                  <a:tcPr marL="9525" marR="9525" marT="9525" marB="0" anchor="ctr"/>
                </a:tc>
              </a:tr>
              <a:tr h="170266">
                <a:tc>
                  <a:txBody>
                    <a:bodyPr wrap="square"/>
                    <a:lstStyle/>
                    <a:p>
                      <a:pPr algn="l"/>
                      <a:r>
                        <a:rPr sz="1050" b="0" i="0">
                          <a:solidFill>
                            <a:srgbClr val="000000"/>
                          </a:solidFill>
                          <a:latin typeface="Calibri"/>
                        </a:rPr>
                        <a:t>Figure 169: Company Market Share in the Latin America Market, %, 2026</a:t>
                      </a:r>
                      <a:endParaRPr sz="1050"/>
                    </a:p>
                  </a:txBody>
                  <a:tcPr marL="9525" marR="9525" marT="9525" marB="0" anchor="ctr"/>
                </a:tc>
              </a:tr>
              <a:tr h="170266">
                <a:tc>
                  <a:txBody>
                    <a:bodyPr wrap="square"/>
                    <a:lstStyle/>
                    <a:p>
                      <a:pPr algn="l"/>
                      <a:r>
                        <a:rPr sz="1050" b="0" i="0">
                          <a:solidFill>
                            <a:srgbClr val="000000"/>
                          </a:solidFill>
                          <a:latin typeface="Calibri"/>
                        </a:rPr>
                        <a:t>Figure 170: Company Market Share in the Europe Market, %, 2026</a:t>
                      </a:r>
                      <a:endParaRPr sz="1050"/>
                    </a:p>
                  </a:txBody>
                  <a:tcPr marL="9525" marR="9525" marT="9525" marB="0" anchor="ctr"/>
                </a:tc>
              </a:tr>
              <a:tr h="170266">
                <a:tc>
                  <a:txBody>
                    <a:bodyPr wrap="square"/>
                    <a:lstStyle/>
                    <a:p>
                      <a:pPr algn="l"/>
                      <a:r>
                        <a:rPr sz="1050" b="0" i="0">
                          <a:solidFill>
                            <a:srgbClr val="000000"/>
                          </a:solidFill>
                          <a:latin typeface="Calibri"/>
                        </a:rPr>
                        <a:t>Figure 171: Company Market Share in the East Asia Market, %, 2026</a:t>
                      </a:r>
                      <a:endParaRPr sz="1050"/>
                    </a:p>
                  </a:txBody>
                  <a:tcPr marL="9525" marR="9525" marT="9525" marB="0" anchor="ctr"/>
                </a:tc>
              </a:tr>
              <a:tr h="170266">
                <a:tc>
                  <a:txBody>
                    <a:bodyPr wrap="square"/>
                    <a:lstStyle/>
                    <a:p>
                      <a:pPr algn="l"/>
                      <a:r>
                        <a:rPr sz="1050" b="0" i="0">
                          <a:solidFill>
                            <a:srgbClr val="000000"/>
                          </a:solidFill>
                          <a:latin typeface="Calibri"/>
                        </a:rPr>
                        <a:t>Figure 172: Company Market Share in the South Asia &amp; Pacific Market, %, 2026</a:t>
                      </a:r>
                      <a:endParaRPr sz="1050"/>
                    </a:p>
                  </a:txBody>
                  <a:tcPr marL="9525" marR="9525" marT="9525" marB="0" anchor="ctr"/>
                </a:tc>
              </a:tr>
              <a:tr h="170266">
                <a:tc>
                  <a:txBody>
                    <a:bodyPr wrap="square"/>
                    <a:lstStyle/>
                    <a:p>
                      <a:pPr algn="l"/>
                      <a:r>
                        <a:rPr sz="1050" b="0" i="0">
                          <a:solidFill>
                            <a:srgbClr val="000000"/>
                          </a:solidFill>
                          <a:latin typeface="Calibri"/>
                        </a:rPr>
                        <a:t>Figure 173: Company Market Share in the Middle East &amp; Africa Market, %, 2026</a:t>
                      </a:r>
                      <a:endParaRPr sz="1050"/>
                    </a:p>
                  </a:txBody>
                  <a:tcPr marL="9525" marR="9525" marT="9525" marB="0" anchor="ctr"/>
                </a:tc>
              </a:tr>
              <a:tr h="170266">
                <a:tc>
                  <a:txBody>
                    <a:bodyPr wrap="square"/>
                    <a:lstStyle/>
                    <a:p>
                      <a:pPr algn="l"/>
                      <a:r>
                        <a:rPr sz="1050" b="0" i="0">
                          <a:solidFill>
                            <a:srgbClr val="000000"/>
                          </a:solidFill>
                          <a:latin typeface="Calibri"/>
                        </a:rPr>
                        <a:t>Figure 174: Multicell Packaging Inc.: Revenue from the Global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175: Company: Revenue from the Global Market and Share, US$ Mn and %, 2026</a:t>
                      </a:r>
                      <a:endParaRPr sz="1050"/>
                    </a:p>
                  </a:txBody>
                  <a:tcPr marL="9525" marR="9525" marT="9525" marB="0" anchor="ctr"/>
                </a:tc>
              </a:tr>
              <a:tr h="333720">
                <a:tc>
                  <a:txBody>
                    <a:bodyPr wrap="square"/>
                    <a:lstStyle/>
                    <a:p>
                      <a:pPr algn="l"/>
                      <a:r>
                        <a:rPr sz="1050" b="0" i="0">
                          <a:solidFill>
                            <a:srgbClr val="000000"/>
                          </a:solidFill>
                          <a:latin typeface="Calibri"/>
                        </a:rPr>
                        <a:t>Figure 176: Great American Paper Inc.: Revenue from the Global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177: Interpack Inc.: Revenue from the Global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178: Caps Cases Ltd.: Revenue from the Global Market and Share, US$ Mn and %, 2026</a:t>
                      </a:r>
                      <a:endParaRPr sz="1050"/>
                    </a:p>
                  </a:txBody>
                  <a:tcPr marL="9525" marR="9525" marT="9525" marB="0" anchor="ctr"/>
                </a:tc>
              </a:tr>
              <a:tr h="333720">
                <a:tc>
                  <a:txBody>
                    <a:bodyPr wrap="square"/>
                    <a:lstStyle/>
                    <a:p>
                      <a:pPr algn="l"/>
                      <a:r>
                        <a:rPr sz="1050" b="0" i="0">
                          <a:solidFill>
                            <a:srgbClr val="000000"/>
                          </a:solidFill>
                          <a:latin typeface="Calibri"/>
                        </a:rPr>
                        <a:t>Figure 179: M &amp; M Box &amp; Partitions Co.: Revenue from the Global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180: Martin Partitions: Revenue from the Global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181: Buckeye Corrugated Inc.: Revenue from the Global Market and Share, US$ Mn and %, 2026</a:t>
                      </a:r>
                      <a:endParaRPr sz="1050"/>
                    </a:p>
                  </a:txBody>
                  <a:tcPr marL="9525" marR="9525" marT="9525" marB="0" anchor="ctr"/>
                </a:tc>
              </a:tr>
              <a:tr h="333720">
                <a:tc>
                  <a:txBody>
                    <a:bodyPr wrap="square"/>
                    <a:lstStyle/>
                    <a:p>
                      <a:pPr algn="l"/>
                      <a:r>
                        <a:rPr sz="1050" b="0" i="0">
                          <a:solidFill>
                            <a:srgbClr val="000000"/>
                          </a:solidFill>
                          <a:latin typeface="Calibri"/>
                        </a:rPr>
                        <a:t>Figure 182: Cactus Corrugated Containers Inc.: Revenue from the Global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183: Jarrett Industries Inc.: Revenue from the Global Market and Share, US$ Mn and %,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833696"/>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184: Global Market Strategic Developments by Type, %, 2025–2026</a:t>
                      </a:r>
                      <a:endParaRPr sz="1050"/>
                    </a:p>
                  </a:txBody>
                  <a:tcPr marL="9525" marR="9525" marT="9525" marB="0" anchor="ctr"/>
                </a:tc>
              </a:tr>
              <a:tr h="166688">
                <a:tc>
                  <a:txBody>
                    <a:bodyPr wrap="square"/>
                    <a:lstStyle/>
                    <a:p>
                      <a:pPr algn="l"/>
                      <a:r>
                        <a:rPr sz="1050" b="0" i="0">
                          <a:solidFill>
                            <a:srgbClr val="000000"/>
                          </a:solidFill>
                          <a:latin typeface="Calibri"/>
                        </a:rPr>
                        <a:t>Figure 185: Global Market Value Forecast by Scenario, US$ Mn, 2026–2036</a:t>
                      </a:r>
                      <a:endParaRPr sz="1050"/>
                    </a:p>
                  </a:txBody>
                  <a:tcPr marL="9525" marR="9525" marT="9525" marB="0" anchor="ctr"/>
                </a:tc>
              </a:tr>
              <a:tr h="166688">
                <a:tc>
                  <a:txBody>
                    <a:bodyPr wrap="square"/>
                    <a:lstStyle/>
                    <a:p>
                      <a:pPr algn="l"/>
                      <a:r>
                        <a:rPr sz="1050" b="0" i="0">
                          <a:solidFill>
                            <a:srgbClr val="000000"/>
                          </a:solidFill>
                          <a:latin typeface="Calibri"/>
                        </a:rPr>
                        <a:t>Figure 186: Global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187: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Opportunity Map by Region and Partition Type,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Emerging Opportunity Pockets by Partition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Partition Type,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69826">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69826">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69826">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69826">
                <a:tc>
                  <a:txBody>
                    <a:bodyPr wrap="square"/>
                    <a:lstStyle/>
                    <a:p>
                      <a:pPr algn="l"/>
                      <a:r>
                        <a:rPr sz="1050" b="0" i="0">
                          <a:solidFill>
                            <a:srgbClr val="000000"/>
                          </a:solidFill>
                          <a:latin typeface="Calibri"/>
                        </a:rPr>
                        <a:t>Table 7: Global Market Key Market Signals and Data Points, 2026</a:t>
                      </a:r>
                      <a:endParaRPr sz="1050"/>
                    </a:p>
                  </a:txBody>
                  <a:tcPr marL="9525" marR="9525" marT="9525" marB="0" anchor="ctr"/>
                </a:tc>
              </a:tr>
              <a:tr h="169826">
                <a:tc>
                  <a:txBody>
                    <a:bodyPr wrap="square"/>
                    <a:lstStyle/>
                    <a:p>
                      <a:pPr algn="l"/>
                      <a:r>
                        <a:rPr sz="1050" b="0" i="0">
                          <a:solidFill>
                            <a:srgbClr val="000000"/>
                          </a:solidFill>
                          <a:latin typeface="Calibri"/>
                        </a:rPr>
                        <a:t>Table 8: Global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Table 9: Global Market Historical Value Analysis, US$ Mn, 2021–2025</a:t>
                      </a:r>
                      <a:endParaRPr sz="1050"/>
                    </a:p>
                  </a:txBody>
                  <a:tcPr marL="9525" marR="9525" marT="9525" marB="0" anchor="ctr"/>
                </a:tc>
              </a:tr>
              <a:tr h="169826">
                <a:tc>
                  <a:txBody>
                    <a:bodyPr wrap="square"/>
                    <a:lstStyle/>
                    <a:p>
                      <a:pPr algn="l"/>
                      <a:r>
                        <a:rPr sz="1050" b="0" i="0">
                          <a:solidFill>
                            <a:srgbClr val="000000"/>
                          </a:solidFill>
                          <a:latin typeface="Calibri"/>
                        </a:rPr>
                        <a:t>Table 10: Global Market Forecast Value Analysis, US$ Mn, 2026–2036</a:t>
                      </a:r>
                      <a:endParaRPr sz="1050"/>
                    </a:p>
                  </a:txBody>
                  <a:tcPr marL="9525" marR="9525" marT="9525" marB="0" anchor="ctr"/>
                </a:tc>
              </a:tr>
              <a:tr h="169826">
                <a:tc>
                  <a:txBody>
                    <a:bodyPr wrap="square"/>
                    <a:lstStyle/>
                    <a:p>
                      <a:pPr algn="l"/>
                      <a:r>
                        <a:rPr sz="1050" b="0" i="0">
                          <a:solidFill>
                            <a:srgbClr val="000000"/>
                          </a:solidFill>
                          <a:latin typeface="Calibri"/>
                        </a:rPr>
                        <a:t>Table 11: Global Market Volume and YoY Growth, MT and %, 2021–2036</a:t>
                      </a:r>
                      <a:endParaRPr sz="1050"/>
                    </a:p>
                  </a:txBody>
                  <a:tcPr marL="9525" marR="9525" marT="9525" marB="0" anchor="ctr"/>
                </a:tc>
              </a:tr>
              <a:tr h="169826">
                <a:tc>
                  <a:txBody>
                    <a:bodyPr wrap="square"/>
                    <a:lstStyle/>
                    <a:p>
                      <a:pPr algn="l"/>
                      <a:r>
                        <a:rPr sz="1050" b="0" i="0">
                          <a:solidFill>
                            <a:srgbClr val="000000"/>
                          </a:solidFill>
                          <a:latin typeface="Calibri"/>
                        </a:rPr>
                        <a:t>Table 12: Global Market Volume Forecast, MT, 2026–2036</a:t>
                      </a:r>
                      <a:endParaRPr sz="1050"/>
                    </a:p>
                  </a:txBody>
                  <a:tcPr marL="9525" marR="9525" marT="9525" marB="0" anchor="ctr"/>
                </a:tc>
              </a:tr>
              <a:tr h="169826">
                <a:tc>
                  <a:txBody>
                    <a:bodyPr wrap="square"/>
                    <a:lstStyle/>
                    <a:p>
                      <a:pPr algn="l"/>
                      <a:r>
                        <a:rPr sz="1050" b="0" i="0">
                          <a:solidFill>
                            <a:srgbClr val="000000"/>
                          </a:solidFill>
                          <a:latin typeface="Calibri"/>
                        </a:rPr>
                        <a:t>Table 13: Global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Table 14: Global Market Average Selling Price YoY Change, %, 2026–2036</a:t>
                      </a:r>
                      <a:endParaRPr sz="1050"/>
                    </a:p>
                  </a:txBody>
                  <a:tcPr marL="9525" marR="9525" marT="9525" marB="0" anchor="ctr"/>
                </a:tc>
              </a:tr>
              <a:tr h="169826">
                <a:tc>
                  <a:txBody>
                    <a:bodyPr wrap="square"/>
                    <a:lstStyle/>
                    <a:p>
                      <a:pPr algn="l"/>
                      <a:r>
                        <a:rPr sz="1050" b="0" i="0">
                          <a:solidFill>
                            <a:srgbClr val="000000"/>
                          </a:solidFill>
                          <a:latin typeface="Calibri"/>
                        </a:rPr>
                        <a:t>Table 15: Global Market CAGR and Absolute $ Opportunity, %, US$ Mn, 2026–2036</a:t>
                      </a:r>
                      <a:endParaRPr sz="1050"/>
                    </a:p>
                  </a:txBody>
                  <a:tcPr marL="9525" marR="9525" marT="9525" marB="0" anchor="ctr"/>
                </a:tc>
              </a:tr>
              <a:tr h="169826">
                <a:tc>
                  <a:txBody>
                    <a:bodyPr wrap="square"/>
                    <a:lstStyle/>
                    <a:p>
                      <a:pPr algn="l"/>
                      <a:r>
                        <a:rPr sz="1050" b="0" i="0">
                          <a:solidFill>
                            <a:srgbClr val="000000"/>
                          </a:solidFill>
                          <a:latin typeface="Calibri"/>
                        </a:rPr>
                        <a:t>Table 16: Global Market Absolute $ Opportunity by Year, US$ Mn, 2026–2036</a:t>
                      </a:r>
                      <a:endParaRPr sz="1050"/>
                    </a:p>
                  </a:txBody>
                  <a:tcPr marL="9525" marR="9525" marT="9525" marB="0" anchor="ctr"/>
                </a:tc>
              </a:tr>
              <a:tr h="169826">
                <a:tc>
                  <a:txBody>
                    <a:bodyPr wrap="square"/>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tr>
              <a:tr h="169826">
                <a:tc>
                  <a:txBody>
                    <a:bodyPr wrap="square"/>
                    <a:lstStyle/>
                    <a:p>
                      <a:pPr algn="l"/>
                      <a:r>
                        <a:rPr sz="1050" b="0" i="0">
                          <a:solidFill>
                            <a:srgbClr val="000000"/>
                          </a:solidFill>
                          <a:latin typeface="Calibri"/>
                        </a:rPr>
                        <a:t>Table 18: Global Market Scenario CAGR Comparison, %, 2026–2036</a:t>
                      </a:r>
                      <a:endParaRPr sz="1050"/>
                    </a:p>
                  </a:txBody>
                  <a:tcPr marL="9525" marR="9525" marT="9525" marB="0" anchor="ctr"/>
                </a:tc>
              </a:tr>
              <a:tr h="169826">
                <a:tc>
                  <a:txBody>
                    <a:bodyPr wrap="square"/>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tr>
              <a:tr h="169826">
                <a:tc>
                  <a:txBody>
                    <a:bodyPr wrap="square"/>
                    <a:lstStyle/>
                    <a:p>
                      <a:pPr algn="l"/>
                      <a:r>
                        <a:rPr sz="1050" b="0" i="0">
                          <a:solidFill>
                            <a:srgbClr val="000000"/>
                          </a:solidFill>
                          <a:latin typeface="Calibri"/>
                        </a:rPr>
                        <a:t>Table 20: Global Market Five-Year Block Value Summary, US$ Mn, 2021–2036</a:t>
                      </a:r>
                      <a:endParaRPr sz="1050"/>
                    </a:p>
                  </a:txBody>
                  <a:tcPr marL="9525" marR="9525" marT="9525" marB="0" anchor="ctr"/>
                </a:tc>
              </a:tr>
              <a:tr h="169826">
                <a:tc>
                  <a:txBody>
                    <a:bodyPr wrap="square"/>
                    <a:lstStyle/>
                    <a:p>
                      <a:pPr algn="l"/>
                      <a:r>
                        <a:rPr sz="1050" b="0" i="0">
                          <a:solidFill>
                            <a:srgbClr val="000000"/>
                          </a:solidFill>
                          <a:latin typeface="Calibri"/>
                        </a:rPr>
                        <a:t>Table 21: Global Market Value by Partition Type, US$ Mn, 2021–2036</a:t>
                      </a:r>
                      <a:endParaRPr sz="1050"/>
                    </a:p>
                  </a:txBody>
                  <a:tcPr marL="9525" marR="9525" marT="9525" marB="0" anchor="ctr"/>
                </a:tc>
              </a:tr>
              <a:tr h="169826">
                <a:tc>
                  <a:txBody>
                    <a:bodyPr wrap="square"/>
                    <a:lstStyle/>
                    <a:p>
                      <a:pPr algn="l"/>
                      <a:r>
                        <a:rPr sz="1050" b="0" i="0">
                          <a:solidFill>
                            <a:srgbClr val="000000"/>
                          </a:solidFill>
                          <a:latin typeface="Calibri"/>
                        </a:rPr>
                        <a:t>Table 22: Global Market Value by Board Construction, US$ Mn, 2021–2036</a:t>
                      </a:r>
                      <a:endParaRPr sz="1050"/>
                    </a:p>
                  </a:txBody>
                  <a:tcPr marL="9525" marR="9525" marT="9525" marB="0" anchor="ctr"/>
                </a:tc>
              </a:tr>
              <a:tr h="169826">
                <a:tc>
                  <a:txBody>
                    <a:bodyPr wrap="square"/>
                    <a:lstStyle/>
                    <a:p>
                      <a:pPr algn="l"/>
                      <a:r>
                        <a:rPr sz="1050" b="0" i="0">
                          <a:solidFill>
                            <a:srgbClr val="000000"/>
                          </a:solidFill>
                          <a:latin typeface="Calibri"/>
                        </a:rPr>
                        <a:t>Table 23: Global Market Value by Material Source, US$ Mn, 2021–2036</a:t>
                      </a:r>
                      <a:endParaRPr sz="1050"/>
                    </a:p>
                  </a:txBody>
                  <a:tcPr marL="9525" marR="9525" marT="9525" marB="0" anchor="ctr"/>
                </a:tc>
              </a:tr>
              <a:tr h="169826">
                <a:tc>
                  <a:txBody>
                    <a:bodyPr wrap="square"/>
                    <a:lstStyle/>
                    <a:p>
                      <a:pPr algn="l"/>
                      <a:r>
                        <a:rPr sz="1050" b="0" i="0">
                          <a:solidFill>
                            <a:srgbClr val="000000"/>
                          </a:solidFill>
                          <a:latin typeface="Calibri"/>
                        </a:rPr>
                        <a:t>Table 24: Global Market Value by Cell Configuration, US$ Mn, 2021–2036</a:t>
                      </a:r>
                      <a:endParaRPr sz="1050"/>
                    </a:p>
                  </a:txBody>
                  <a:tcPr marL="9525" marR="9525" marT="9525" marB="0" anchor="ctr"/>
                </a:tc>
              </a:tr>
              <a:tr h="169826">
                <a:tc>
                  <a:txBody>
                    <a:bodyPr wrap="square"/>
                    <a:lstStyle/>
                    <a:p>
                      <a:pPr algn="l"/>
                      <a:r>
                        <a:rPr sz="1050" b="0" i="0">
                          <a:solidFill>
                            <a:srgbClr val="000000"/>
                          </a:solidFill>
                          <a:latin typeface="Calibri"/>
                        </a:rPr>
                        <a:t>Table 25: Global Market Value by Customization, US$ Mn, 2021–2036</a:t>
                      </a:r>
                      <a:endParaRPr sz="1050"/>
                    </a:p>
                  </a:txBody>
                  <a:tcPr marL="9525" marR="9525" marT="9525" marB="0" anchor="ctr"/>
                </a:tc>
              </a:tr>
              <a:tr h="169826">
                <a:tc>
                  <a:txBody>
                    <a:bodyPr wrap="square"/>
                    <a:lstStyle/>
                    <a:p>
                      <a:pPr algn="l"/>
                      <a:r>
                        <a:rPr sz="1050" b="0" i="0">
                          <a:solidFill>
                            <a:srgbClr val="000000"/>
                          </a:solidFill>
                          <a:latin typeface="Calibri"/>
                        </a:rPr>
                        <a:t>Table 26: Global Market Value by End Use, US$ Mn, 2021–2036</a:t>
                      </a:r>
                      <a:endParaRPr sz="1050"/>
                    </a:p>
                  </a:txBody>
                  <a:tcPr marL="9525" marR="9525" marT="9525" marB="0" anchor="ctr"/>
                </a:tc>
              </a:tr>
              <a:tr h="169826">
                <a:tc>
                  <a:txBody>
                    <a:bodyPr wrap="square"/>
                    <a:lstStyle/>
                    <a:p>
                      <a:pPr algn="l"/>
                      <a:r>
                        <a:rPr sz="1050" b="0" i="0">
                          <a:solidFill>
                            <a:srgbClr val="000000"/>
                          </a:solidFill>
                          <a:latin typeface="Calibri"/>
                        </a:rPr>
                        <a:t>Table 27: Global Market Value by Sales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28: Global Market CAGR and Absolute $ Opportunity by Partition Type, %, US$ Mn, 2026–2036</a:t>
                      </a:r>
                      <a:endParaRPr sz="1050"/>
                    </a:p>
                  </a:txBody>
                  <a:tcPr marL="9525" marR="9525" marT="9525" marB="0" anchor="ctr"/>
                </a:tc>
              </a:tr>
              <a:tr h="332858">
                <a:tc>
                  <a:txBody>
                    <a:bodyPr wrap="square"/>
                    <a:lstStyle/>
                    <a:p>
                      <a:pPr algn="l"/>
                      <a:r>
                        <a:rPr sz="1050" b="0" i="0">
                          <a:solidFill>
                            <a:srgbClr val="000000"/>
                          </a:solidFill>
                          <a:latin typeface="Calibri"/>
                        </a:rPr>
                        <a:t>Table 29: Global Market CAGR and Absolute $ Opportunity by Board Construction, %, US$ Mn, 2026–2036</a:t>
                      </a:r>
                      <a:endParaRPr sz="1050"/>
                    </a:p>
                  </a:txBody>
                  <a:tcPr marL="9525" marR="9525" marT="9525" marB="0" anchor="ctr"/>
                </a:tc>
              </a:tr>
              <a:tr h="169826">
                <a:tc>
                  <a:txBody>
                    <a:bodyPr wrap="square"/>
                    <a:lstStyle/>
                    <a:p>
                      <a:pPr algn="l"/>
                      <a:r>
                        <a:rPr sz="1050" b="0" i="0">
                          <a:solidFill>
                            <a:srgbClr val="000000"/>
                          </a:solidFill>
                          <a:latin typeface="Calibri"/>
                        </a:rPr>
                        <a:t>Table 30: Global Market CAGR and Absolute $ Opportunity by Material Source,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332858">
                <a:tc>
                  <a:txBody>
                    <a:bodyPr wrap="square"/>
                    <a:lstStyle/>
                    <a:p>
                      <a:pPr algn="l"/>
                      <a:r>
                        <a:rPr sz="1050" b="0" i="0">
                          <a:solidFill>
                            <a:srgbClr val="000000"/>
                          </a:solidFill>
                          <a:latin typeface="Calibri"/>
                        </a:rPr>
                        <a:t>Table 31: Global Market CAGR and Absolute $ Opportunity by Cell Configuration, %, US$ Mn, 2026–2036</a:t>
                      </a:r>
                      <a:endParaRPr sz="1050"/>
                    </a:p>
                  </a:txBody>
                  <a:tcPr marL="9525" marR="9525" marT="9525" marB="0" anchor="ctr"/>
                </a:tc>
              </a:tr>
              <a:tr h="169826">
                <a:tc>
                  <a:txBody>
                    <a:bodyPr wrap="square"/>
                    <a:lstStyle/>
                    <a:p>
                      <a:pPr algn="l"/>
                      <a:r>
                        <a:rPr sz="1050" b="0" i="0">
                          <a:solidFill>
                            <a:srgbClr val="000000"/>
                          </a:solidFill>
                          <a:latin typeface="Calibri"/>
                        </a:rPr>
                        <a:t>Table 32: Global Market CAGR and Absolute $ Opportunity by Customization, %, US$ Mn, 2026–2036</a:t>
                      </a:r>
                      <a:endParaRPr sz="1050"/>
                    </a:p>
                  </a:txBody>
                  <a:tcPr marL="9525" marR="9525" marT="9525" marB="0" anchor="ctr"/>
                </a:tc>
              </a:tr>
              <a:tr h="169826">
                <a:tc>
                  <a:txBody>
                    <a:bodyPr wrap="square"/>
                    <a:lstStyle/>
                    <a:p>
                      <a:pPr algn="l"/>
                      <a:r>
                        <a:rPr sz="1050" b="0" i="0">
                          <a:solidFill>
                            <a:srgbClr val="000000"/>
                          </a:solidFill>
                          <a:latin typeface="Calibri"/>
                        </a:rPr>
                        <a:t>Table 33: Global Market CAGR and Absolute $ Opportunity by End Use, %, US$ Mn, 2026–2036</a:t>
                      </a:r>
                      <a:endParaRPr sz="1050"/>
                    </a:p>
                  </a:txBody>
                  <a:tcPr marL="9525" marR="9525" marT="9525" marB="0" anchor="ctr"/>
                </a:tc>
              </a:tr>
              <a:tr h="169826">
                <a:tc>
                  <a:txBody>
                    <a:bodyPr wrap="square"/>
                    <a:lstStyle/>
                    <a:p>
                      <a:pPr algn="l"/>
                      <a:r>
                        <a:rPr sz="1050" b="0" i="0">
                          <a:solidFill>
                            <a:srgbClr val="000000"/>
                          </a:solidFill>
                          <a:latin typeface="Calibri"/>
                        </a:rPr>
                        <a:t>Table 34: Global Market CAGR and Absolute $ Opportunity by Sales Channel, %, US$ Mn, 2026–2036</a:t>
                      </a:r>
                      <a:endParaRPr sz="1050"/>
                    </a:p>
                  </a:txBody>
                  <a:tcPr marL="9525" marR="9525" marT="9525" marB="0" anchor="ctr"/>
                </a:tc>
              </a:tr>
              <a:tr h="169826">
                <a:tc>
                  <a:txBody>
                    <a:bodyPr wrap="square"/>
                    <a:lstStyle/>
                    <a:p>
                      <a:pPr algn="l"/>
                      <a:r>
                        <a:rPr sz="1050" b="0" i="0">
                          <a:solidFill>
                            <a:srgbClr val="000000"/>
                          </a:solidFill>
                          <a:latin typeface="Calibri"/>
                        </a:rPr>
                        <a:t>Table 35: Global Market Share and BPS Change by Partition Type, %, 2025, 2026 and 2036</a:t>
                      </a:r>
                      <a:endParaRPr sz="1050"/>
                    </a:p>
                  </a:txBody>
                  <a:tcPr marL="9525" marR="9525" marT="9525" marB="0" anchor="ctr"/>
                </a:tc>
              </a:tr>
              <a:tr h="169826">
                <a:tc>
                  <a:txBody>
                    <a:bodyPr wrap="square"/>
                    <a:lstStyle/>
                    <a:p>
                      <a:pPr algn="l"/>
                      <a:r>
                        <a:rPr sz="1050" b="0" i="0">
                          <a:solidFill>
                            <a:srgbClr val="000000"/>
                          </a:solidFill>
                          <a:latin typeface="Calibri"/>
                        </a:rPr>
                        <a:t>Table 36: Global Market Share and BPS Change by Board Construction, %, 2025, 2026 and 2036</a:t>
                      </a:r>
                      <a:endParaRPr sz="1050"/>
                    </a:p>
                  </a:txBody>
                  <a:tcPr marL="9525" marR="9525" marT="9525" marB="0" anchor="ctr"/>
                </a:tc>
              </a:tr>
              <a:tr h="169826">
                <a:tc>
                  <a:txBody>
                    <a:bodyPr wrap="square"/>
                    <a:lstStyle/>
                    <a:p>
                      <a:pPr algn="l"/>
                      <a:r>
                        <a:rPr sz="1050" b="0" i="0">
                          <a:solidFill>
                            <a:srgbClr val="000000"/>
                          </a:solidFill>
                          <a:latin typeface="Calibri"/>
                        </a:rPr>
                        <a:t>Table 37: Global Market Share and BPS Change by Material Source, %, 2025, 2026 and 2036</a:t>
                      </a:r>
                      <a:endParaRPr sz="1050"/>
                    </a:p>
                  </a:txBody>
                  <a:tcPr marL="9525" marR="9525" marT="9525" marB="0" anchor="ctr"/>
                </a:tc>
              </a:tr>
              <a:tr h="169826">
                <a:tc>
                  <a:txBody>
                    <a:bodyPr wrap="square"/>
                    <a:lstStyle/>
                    <a:p>
                      <a:pPr algn="l"/>
                      <a:r>
                        <a:rPr sz="1050" b="0" i="0">
                          <a:solidFill>
                            <a:srgbClr val="000000"/>
                          </a:solidFill>
                          <a:latin typeface="Calibri"/>
                        </a:rPr>
                        <a:t>Table 38: Global Market Share and BPS Change by Cell Configuration, %, 2025, 2026 and 2036</a:t>
                      </a:r>
                      <a:endParaRPr sz="1050"/>
                    </a:p>
                  </a:txBody>
                  <a:tcPr marL="9525" marR="9525" marT="9525" marB="0" anchor="ctr"/>
                </a:tc>
              </a:tr>
              <a:tr h="169826">
                <a:tc>
                  <a:txBody>
                    <a:bodyPr wrap="square"/>
                    <a:lstStyle/>
                    <a:p>
                      <a:pPr algn="l"/>
                      <a:r>
                        <a:rPr sz="1050" b="0" i="0">
                          <a:solidFill>
                            <a:srgbClr val="000000"/>
                          </a:solidFill>
                          <a:latin typeface="Calibri"/>
                        </a:rPr>
                        <a:t>Table 39: Global Market Share and BPS Change by Customization, %, 2025, 2026 and 2036</a:t>
                      </a:r>
                      <a:endParaRPr sz="1050"/>
                    </a:p>
                  </a:txBody>
                  <a:tcPr marL="9525" marR="9525" marT="9525" marB="0" anchor="ctr"/>
                </a:tc>
              </a:tr>
              <a:tr h="169826">
                <a:tc>
                  <a:txBody>
                    <a:bodyPr wrap="square"/>
                    <a:lstStyle/>
                    <a:p>
                      <a:pPr algn="l"/>
                      <a:r>
                        <a:rPr sz="1050" b="0" i="0">
                          <a:solidFill>
                            <a:srgbClr val="000000"/>
                          </a:solidFill>
                          <a:latin typeface="Calibri"/>
                        </a:rPr>
                        <a:t>Table 40: Global Market Share and BPS Change by End Use, %, 2025, 2026 and 2036</a:t>
                      </a:r>
                      <a:endParaRPr sz="1050"/>
                    </a:p>
                  </a:txBody>
                  <a:tcPr marL="9525" marR="9525" marT="9525" marB="0" anchor="ctr"/>
                </a:tc>
              </a:tr>
              <a:tr h="169826">
                <a:tc>
                  <a:txBody>
                    <a:bodyPr wrap="square"/>
                    <a:lstStyle/>
                    <a:p>
                      <a:pPr algn="l"/>
                      <a:r>
                        <a:rPr sz="1050" b="0" i="0">
                          <a:solidFill>
                            <a:srgbClr val="000000"/>
                          </a:solidFill>
                          <a:latin typeface="Calibri"/>
                        </a:rPr>
                        <a:t>Table 41: Global Market Share and BPS Change by Sales Channel, %, 2025, 2026 and 2036</a:t>
                      </a:r>
                      <a:endParaRPr sz="1050"/>
                    </a:p>
                  </a:txBody>
                  <a:tcPr marL="9525" marR="9525" marT="9525" marB="0" anchor="ctr"/>
                </a:tc>
              </a:tr>
              <a:tr h="169826">
                <a:tc>
                  <a:txBody>
                    <a:bodyPr wrap="square"/>
                    <a:lstStyle/>
                    <a:p>
                      <a:pPr algn="l"/>
                      <a:r>
                        <a:rPr sz="1050" b="0" i="0">
                          <a:solidFill>
                            <a:srgbClr val="000000"/>
                          </a:solidFill>
                          <a:latin typeface="Calibri"/>
                        </a:rPr>
                        <a:t>Table 42: Global Market YoY Growth by Partition Type, %, 2026–2036</a:t>
                      </a:r>
                      <a:endParaRPr sz="1050"/>
                    </a:p>
                  </a:txBody>
                  <a:tcPr marL="9525" marR="9525" marT="9525" marB="0" anchor="ctr"/>
                </a:tc>
              </a:tr>
              <a:tr h="169826">
                <a:tc>
                  <a:txBody>
                    <a:bodyPr wrap="square"/>
                    <a:lstStyle/>
                    <a:p>
                      <a:pPr algn="l"/>
                      <a:r>
                        <a:rPr sz="1050" b="0" i="0">
                          <a:solidFill>
                            <a:srgbClr val="000000"/>
                          </a:solidFill>
                          <a:latin typeface="Calibri"/>
                        </a:rPr>
                        <a:t>Table 43: Global Market YoY Growth by Board Construction, %, 2026–2036</a:t>
                      </a:r>
                      <a:endParaRPr sz="1050"/>
                    </a:p>
                  </a:txBody>
                  <a:tcPr marL="9525" marR="9525" marT="9525" marB="0" anchor="ctr"/>
                </a:tc>
              </a:tr>
              <a:tr h="169826">
                <a:tc>
                  <a:txBody>
                    <a:bodyPr wrap="square"/>
                    <a:lstStyle/>
                    <a:p>
                      <a:pPr algn="l"/>
                      <a:r>
                        <a:rPr sz="1050" b="0" i="0">
                          <a:solidFill>
                            <a:srgbClr val="000000"/>
                          </a:solidFill>
                          <a:latin typeface="Calibri"/>
                        </a:rPr>
                        <a:t>Table 44: Global Market YoY Growth by Material Source, %, 2026–2036</a:t>
                      </a:r>
                      <a:endParaRPr sz="1050"/>
                    </a:p>
                  </a:txBody>
                  <a:tcPr marL="9525" marR="9525" marT="9525" marB="0" anchor="ctr"/>
                </a:tc>
              </a:tr>
              <a:tr h="169826">
                <a:tc>
                  <a:txBody>
                    <a:bodyPr wrap="square"/>
                    <a:lstStyle/>
                    <a:p>
                      <a:pPr algn="l"/>
                      <a:r>
                        <a:rPr sz="1050" b="0" i="0">
                          <a:solidFill>
                            <a:srgbClr val="000000"/>
                          </a:solidFill>
                          <a:latin typeface="Calibri"/>
                        </a:rPr>
                        <a:t>Table 45: Global Market YoY Growth by Cell Configuration, %, 2026–2036</a:t>
                      </a:r>
                      <a:endParaRPr sz="1050"/>
                    </a:p>
                  </a:txBody>
                  <a:tcPr marL="9525" marR="9525" marT="9525" marB="0" anchor="ctr"/>
                </a:tc>
              </a:tr>
              <a:tr h="169826">
                <a:tc>
                  <a:txBody>
                    <a:bodyPr wrap="square"/>
                    <a:lstStyle/>
                    <a:p>
                      <a:pPr algn="l"/>
                      <a:r>
                        <a:rPr sz="1050" b="0" i="0">
                          <a:solidFill>
                            <a:srgbClr val="000000"/>
                          </a:solidFill>
                          <a:latin typeface="Calibri"/>
                        </a:rPr>
                        <a:t>Table 46: Global Market YoY Growth by Customization, %, 2026–2036</a:t>
                      </a:r>
                      <a:endParaRPr sz="1050"/>
                    </a:p>
                  </a:txBody>
                  <a:tcPr marL="9525" marR="9525" marT="9525" marB="0" anchor="ctr"/>
                </a:tc>
              </a:tr>
              <a:tr h="169826">
                <a:tc>
                  <a:txBody>
                    <a:bodyPr wrap="square"/>
                    <a:lstStyle/>
                    <a:p>
                      <a:pPr algn="l"/>
                      <a:r>
                        <a:rPr sz="1050" b="0" i="0">
                          <a:solidFill>
                            <a:srgbClr val="000000"/>
                          </a:solidFill>
                          <a:latin typeface="Calibri"/>
                        </a:rPr>
                        <a:t>Table 47: Global Market YoY Growth by End Use, %, 2026–2036</a:t>
                      </a:r>
                      <a:endParaRPr sz="1050"/>
                    </a:p>
                  </a:txBody>
                  <a:tcPr marL="9525" marR="9525" marT="9525" marB="0" anchor="ctr"/>
                </a:tc>
              </a:tr>
              <a:tr h="169826">
                <a:tc>
                  <a:txBody>
                    <a:bodyPr wrap="square"/>
                    <a:lstStyle/>
                    <a:p>
                      <a:pPr algn="l"/>
                      <a:r>
                        <a:rPr sz="1050" b="0" i="0">
                          <a:solidFill>
                            <a:srgbClr val="000000"/>
                          </a:solidFill>
                          <a:latin typeface="Calibri"/>
                        </a:rPr>
                        <a:t>Table 48: Global Market YoY Growth by Sales Channel, %, 2026–2036</a:t>
                      </a:r>
                      <a:endParaRPr sz="1050"/>
                    </a:p>
                  </a:txBody>
                  <a:tcPr marL="9525" marR="9525" marT="9525" marB="0" anchor="ctr"/>
                </a:tc>
              </a:tr>
              <a:tr h="169826">
                <a:tc>
                  <a:txBody>
                    <a:bodyPr wrap="square"/>
                    <a:lstStyle/>
                    <a:p>
                      <a:pPr algn="l"/>
                      <a:r>
                        <a:rPr sz="1050" b="0" i="0">
                          <a:solidFill>
                            <a:srgbClr val="000000"/>
                          </a:solidFill>
                          <a:latin typeface="Calibri"/>
                        </a:rPr>
                        <a:t>Table 49: Global Market Volume by Partition Type, MT, 2021–2036</a:t>
                      </a:r>
                      <a:endParaRPr sz="1050"/>
                    </a:p>
                  </a:txBody>
                  <a:tcPr marL="9525" marR="9525" marT="9525" marB="0" anchor="ctr"/>
                </a:tc>
              </a:tr>
              <a:tr h="169826">
                <a:tc>
                  <a:txBody>
                    <a:bodyPr wrap="square"/>
                    <a:lstStyle/>
                    <a:p>
                      <a:pPr algn="l"/>
                      <a:r>
                        <a:rPr sz="1050" b="0" i="0">
                          <a:solidFill>
                            <a:srgbClr val="000000"/>
                          </a:solidFill>
                          <a:latin typeface="Calibri"/>
                        </a:rPr>
                        <a:t>Table 50: Global Market Volume by Board Construction, MT, 2021–2036</a:t>
                      </a:r>
                      <a:endParaRPr sz="1050"/>
                    </a:p>
                  </a:txBody>
                  <a:tcPr marL="9525" marR="9525" marT="9525" marB="0" anchor="ctr"/>
                </a:tc>
              </a:tr>
              <a:tr h="169826">
                <a:tc>
                  <a:txBody>
                    <a:bodyPr wrap="square"/>
                    <a:lstStyle/>
                    <a:p>
                      <a:pPr algn="l"/>
                      <a:r>
                        <a:rPr sz="1050" b="0" i="0">
                          <a:solidFill>
                            <a:srgbClr val="000000"/>
                          </a:solidFill>
                          <a:latin typeface="Calibri"/>
                        </a:rPr>
                        <a:t>Table 51: Global Market Volume by Material Source, MT, 2021–2036</a:t>
                      </a:r>
                      <a:endParaRPr sz="1050"/>
                    </a:p>
                  </a:txBody>
                  <a:tcPr marL="9525" marR="9525" marT="9525" marB="0" anchor="ctr"/>
                </a:tc>
              </a:tr>
              <a:tr h="169826">
                <a:tc>
                  <a:txBody>
                    <a:bodyPr wrap="square"/>
                    <a:lstStyle/>
                    <a:p>
                      <a:pPr algn="l"/>
                      <a:r>
                        <a:rPr sz="1050" b="0" i="0">
                          <a:solidFill>
                            <a:srgbClr val="000000"/>
                          </a:solidFill>
                          <a:latin typeface="Calibri"/>
                        </a:rPr>
                        <a:t>Table 52: Global Market Volume by Cell Configuration, MT, 2021–2036</a:t>
                      </a:r>
                      <a:endParaRPr sz="1050"/>
                    </a:p>
                  </a:txBody>
                  <a:tcPr marL="9525" marR="9525" marT="9525" marB="0" anchor="ctr"/>
                </a:tc>
              </a:tr>
              <a:tr h="169826">
                <a:tc>
                  <a:txBody>
                    <a:bodyPr wrap="square"/>
                    <a:lstStyle/>
                    <a:p>
                      <a:pPr algn="l"/>
                      <a:r>
                        <a:rPr sz="1050" b="0" i="0">
                          <a:solidFill>
                            <a:srgbClr val="000000"/>
                          </a:solidFill>
                          <a:latin typeface="Calibri"/>
                        </a:rPr>
                        <a:t>Table 53: Global Market Volume by Customization, MT, 2021–2036</a:t>
                      </a:r>
                      <a:endParaRPr sz="1050"/>
                    </a:p>
                  </a:txBody>
                  <a:tcPr marL="9525" marR="9525" marT="9525" marB="0" anchor="ctr"/>
                </a:tc>
              </a:tr>
              <a:tr h="169826">
                <a:tc>
                  <a:txBody>
                    <a:bodyPr wrap="square"/>
                    <a:lstStyle/>
                    <a:p>
                      <a:pPr algn="l"/>
                      <a:r>
                        <a:rPr sz="1050" b="0" i="0">
                          <a:solidFill>
                            <a:srgbClr val="000000"/>
                          </a:solidFill>
                          <a:latin typeface="Calibri"/>
                        </a:rPr>
                        <a:t>Table 54: Global Market Volume by End Use, MT, 2021–2036</a:t>
                      </a:r>
                      <a:endParaRPr sz="1050"/>
                    </a:p>
                  </a:txBody>
                  <a:tcPr marL="9525" marR="9525" marT="9525" marB="0" anchor="ctr"/>
                </a:tc>
              </a:tr>
              <a:tr h="169826">
                <a:tc>
                  <a:txBody>
                    <a:bodyPr wrap="square"/>
                    <a:lstStyle/>
                    <a:p>
                      <a:pPr algn="l"/>
                      <a:r>
                        <a:rPr sz="1050" b="0" i="0">
                          <a:solidFill>
                            <a:srgbClr val="000000"/>
                          </a:solidFill>
                          <a:latin typeface="Calibri"/>
                        </a:rPr>
                        <a:t>Table 55: Global Market Volume by Sales Channel, MT, 2021–2036</a:t>
                      </a:r>
                      <a:endParaRPr sz="1050"/>
                    </a:p>
                  </a:txBody>
                  <a:tcPr marL="9525" marR="9525" marT="9525" marB="0" anchor="ctr"/>
                </a:tc>
              </a:tr>
              <a:tr h="169826">
                <a:tc>
                  <a:txBody>
                    <a:bodyPr wrap="square"/>
                    <a:lstStyle/>
                    <a:p>
                      <a:pPr algn="l"/>
                      <a:r>
                        <a:rPr sz="1050" b="0" i="0">
                          <a:solidFill>
                            <a:srgbClr val="000000"/>
                          </a:solidFill>
                          <a:latin typeface="Calibri"/>
                        </a:rPr>
                        <a:t>Table 56: Global Market Average Selling Price by Partition Type, US$/MT, 2021–2036</a:t>
                      </a:r>
                      <a:endParaRPr sz="1050"/>
                    </a:p>
                  </a:txBody>
                  <a:tcPr marL="9525" marR="9525" marT="9525" marB="0" anchor="ctr"/>
                </a:tc>
              </a:tr>
              <a:tr h="169826">
                <a:tc>
                  <a:txBody>
                    <a:bodyPr wrap="square"/>
                    <a:lstStyle/>
                    <a:p>
                      <a:pPr algn="l"/>
                      <a:r>
                        <a:rPr sz="1050" b="0" i="0">
                          <a:solidFill>
                            <a:srgbClr val="000000"/>
                          </a:solidFill>
                          <a:latin typeface="Calibri"/>
                        </a:rPr>
                        <a:t>Table 57: Global Market Average Selling Price by Board Construction, US$/MT, 2021–2036</a:t>
                      </a:r>
                      <a:endParaRPr sz="1050"/>
                    </a:p>
                  </a:txBody>
                  <a:tcPr marL="9525" marR="9525" marT="9525" marB="0" anchor="ctr"/>
                </a:tc>
              </a:tr>
              <a:tr h="169826">
                <a:tc>
                  <a:txBody>
                    <a:bodyPr wrap="square"/>
                    <a:lstStyle/>
                    <a:p>
                      <a:pPr algn="l"/>
                      <a:r>
                        <a:rPr sz="1050" b="0" i="0">
                          <a:solidFill>
                            <a:srgbClr val="000000"/>
                          </a:solidFill>
                          <a:latin typeface="Calibri"/>
                        </a:rPr>
                        <a:t>Table 58: Global Market Average Selling Price by Material Source, US$/MT, 2021–2036</a:t>
                      </a:r>
                      <a:endParaRPr sz="1050"/>
                    </a:p>
                  </a:txBody>
                  <a:tcPr marL="9525" marR="9525" marT="9525" marB="0" anchor="ctr"/>
                </a:tc>
              </a:tr>
              <a:tr h="169826">
                <a:tc>
                  <a:txBody>
                    <a:bodyPr wrap="square"/>
                    <a:lstStyle/>
                    <a:p>
                      <a:pPr algn="l"/>
                      <a:r>
                        <a:rPr sz="1050" b="0" i="0">
                          <a:solidFill>
                            <a:srgbClr val="000000"/>
                          </a:solidFill>
                          <a:latin typeface="Calibri"/>
                        </a:rPr>
                        <a:t>Table 59: Global Market Average Selling Price by Cell Configuration, US$/MT, 2021–2036</a:t>
                      </a:r>
                      <a:endParaRPr sz="1050"/>
                    </a:p>
                  </a:txBody>
                  <a:tcPr marL="9525" marR="9525" marT="9525" marB="0" anchor="ctr"/>
                </a:tc>
              </a:tr>
              <a:tr h="169826">
                <a:tc>
                  <a:txBody>
                    <a:bodyPr wrap="square"/>
                    <a:lstStyle/>
                    <a:p>
                      <a:pPr algn="l"/>
                      <a:r>
                        <a:rPr sz="1050" b="0" i="0">
                          <a:solidFill>
                            <a:srgbClr val="000000"/>
                          </a:solidFill>
                          <a:latin typeface="Calibri"/>
                        </a:rPr>
                        <a:t>Table 60: Global Market Average Selling Price by Customization, US$/MT,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Table 61: Global Market Average Selling Price by End Use, US$/MT, 2021–2036</a:t>
                      </a:r>
                      <a:endParaRPr sz="1050"/>
                    </a:p>
                  </a:txBody>
                  <a:tcPr marL="9525" marR="9525" marT="9525" marB="0" anchor="ctr"/>
                </a:tc>
              </a:tr>
              <a:tr h="170045">
                <a:tc>
                  <a:txBody>
                    <a:bodyPr wrap="square"/>
                    <a:lstStyle/>
                    <a:p>
                      <a:pPr algn="l"/>
                      <a:r>
                        <a:rPr sz="1050" b="0" i="0">
                          <a:solidFill>
                            <a:srgbClr val="000000"/>
                          </a:solidFill>
                          <a:latin typeface="Calibri"/>
                        </a:rPr>
                        <a:t>Table 62: Global Market Average Selling Price by Sales Channel, US$/MT, 2021–2036</a:t>
                      </a:r>
                      <a:endParaRPr sz="1050"/>
                    </a:p>
                  </a:txBody>
                  <a:tcPr marL="9525" marR="9525" marT="9525" marB="0" anchor="ctr"/>
                </a:tc>
              </a:tr>
              <a:tr h="170045">
                <a:tc>
                  <a:txBody>
                    <a:bodyPr wrap="square"/>
                    <a:lstStyle/>
                    <a:p>
                      <a:pPr algn="l"/>
                      <a:r>
                        <a:rPr sz="1050" b="0" i="0">
                          <a:solidFill>
                            <a:srgbClr val="000000"/>
                          </a:solidFill>
                          <a:latin typeface="Calibri"/>
                        </a:rPr>
                        <a:t>Table 63: Global Market Attractiveness Index by Partition Type, 2026–2036</a:t>
                      </a:r>
                      <a:endParaRPr sz="1050"/>
                    </a:p>
                  </a:txBody>
                  <a:tcPr marL="9525" marR="9525" marT="9525" marB="0" anchor="ctr"/>
                </a:tc>
              </a:tr>
              <a:tr h="170045">
                <a:tc>
                  <a:txBody>
                    <a:bodyPr wrap="square"/>
                    <a:lstStyle/>
                    <a:p>
                      <a:pPr algn="l"/>
                      <a:r>
                        <a:rPr sz="1050" b="0" i="0">
                          <a:solidFill>
                            <a:srgbClr val="000000"/>
                          </a:solidFill>
                          <a:latin typeface="Calibri"/>
                        </a:rPr>
                        <a:t>Table 64: Global Market Attractiveness Index by Board Construction, 2026–2036</a:t>
                      </a:r>
                      <a:endParaRPr sz="1050"/>
                    </a:p>
                  </a:txBody>
                  <a:tcPr marL="9525" marR="9525" marT="9525" marB="0" anchor="ctr"/>
                </a:tc>
              </a:tr>
              <a:tr h="170045">
                <a:tc>
                  <a:txBody>
                    <a:bodyPr wrap="square"/>
                    <a:lstStyle/>
                    <a:p>
                      <a:pPr algn="l"/>
                      <a:r>
                        <a:rPr sz="1050" b="0" i="0">
                          <a:solidFill>
                            <a:srgbClr val="000000"/>
                          </a:solidFill>
                          <a:latin typeface="Calibri"/>
                        </a:rPr>
                        <a:t>Table 65: Global Market Attractiveness Index by Material Source, 2026–2036</a:t>
                      </a:r>
                      <a:endParaRPr sz="1050"/>
                    </a:p>
                  </a:txBody>
                  <a:tcPr marL="9525" marR="9525" marT="9525" marB="0" anchor="ctr"/>
                </a:tc>
              </a:tr>
              <a:tr h="170045">
                <a:tc>
                  <a:txBody>
                    <a:bodyPr wrap="square"/>
                    <a:lstStyle/>
                    <a:p>
                      <a:pPr algn="l"/>
                      <a:r>
                        <a:rPr sz="1050" b="0" i="0">
                          <a:solidFill>
                            <a:srgbClr val="000000"/>
                          </a:solidFill>
                          <a:latin typeface="Calibri"/>
                        </a:rPr>
                        <a:t>Table 66: Global Market Attractiveness Index by Cell Configuration, 2026–2036</a:t>
                      </a:r>
                      <a:endParaRPr sz="1050"/>
                    </a:p>
                  </a:txBody>
                  <a:tcPr marL="9525" marR="9525" marT="9525" marB="0" anchor="ctr"/>
                </a:tc>
              </a:tr>
              <a:tr h="170045">
                <a:tc>
                  <a:txBody>
                    <a:bodyPr wrap="square"/>
                    <a:lstStyle/>
                    <a:p>
                      <a:pPr algn="l"/>
                      <a:r>
                        <a:rPr sz="1050" b="0" i="0">
                          <a:solidFill>
                            <a:srgbClr val="000000"/>
                          </a:solidFill>
                          <a:latin typeface="Calibri"/>
                        </a:rPr>
                        <a:t>Table 67: Global Market Attractiveness Index by Customization, 2026–2036</a:t>
                      </a:r>
                      <a:endParaRPr sz="1050"/>
                    </a:p>
                  </a:txBody>
                  <a:tcPr marL="9525" marR="9525" marT="9525" marB="0" anchor="ctr"/>
                </a:tc>
              </a:tr>
              <a:tr h="170045">
                <a:tc>
                  <a:txBody>
                    <a:bodyPr wrap="square"/>
                    <a:lstStyle/>
                    <a:p>
                      <a:pPr algn="l"/>
                      <a:r>
                        <a:rPr sz="1050" b="0" i="0">
                          <a:solidFill>
                            <a:srgbClr val="000000"/>
                          </a:solidFill>
                          <a:latin typeface="Calibri"/>
                        </a:rPr>
                        <a:t>Table 68: Global Market Attractiveness Index by End Use, 2026–2036</a:t>
                      </a:r>
                      <a:endParaRPr sz="1050"/>
                    </a:p>
                  </a:txBody>
                  <a:tcPr marL="9525" marR="9525" marT="9525" marB="0" anchor="ctr"/>
                </a:tc>
              </a:tr>
              <a:tr h="170045">
                <a:tc>
                  <a:txBody>
                    <a:bodyPr wrap="square"/>
                    <a:lstStyle/>
                    <a:p>
                      <a:pPr algn="l"/>
                      <a:r>
                        <a:rPr sz="1050" b="0" i="0">
                          <a:solidFill>
                            <a:srgbClr val="000000"/>
                          </a:solidFill>
                          <a:latin typeface="Calibri"/>
                        </a:rPr>
                        <a:t>Table 69: Global Market Attractiveness Index by Sales Channel, 2026–2036</a:t>
                      </a:r>
                      <a:endParaRPr sz="1050"/>
                    </a:p>
                  </a:txBody>
                  <a:tcPr marL="9525" marR="9525" marT="9525" marB="0" anchor="ctr"/>
                </a:tc>
              </a:tr>
              <a:tr h="170045">
                <a:tc>
                  <a:txBody>
                    <a:bodyPr wrap="square"/>
                    <a:lstStyle/>
                    <a:p>
                      <a:pPr algn="l"/>
                      <a:r>
                        <a:rPr sz="1050" b="0" i="0">
                          <a:solidFill>
                            <a:srgbClr val="000000"/>
                          </a:solidFill>
                          <a:latin typeface="Calibri"/>
                        </a:rPr>
                        <a:t>Table 70: Global Market Value of Slotted (Interlocking Grid) Partitions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71: Global Market Value of Single Wall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72: Global Market Value of Virgin Kraft Fibre-based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73: Global Market Value of Up to 4 Cells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74: Global Market Value of Standard / Stock Sizes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75: Global Market Value of Food &amp; Beverage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76: Global Market Value of Direct (to brand owners/OEMs) by Region, US$ Mn, 2021–2036</a:t>
                      </a:r>
                      <a:endParaRPr sz="1050"/>
                    </a:p>
                  </a:txBody>
                  <a:tcPr marL="9525" marR="9525" marT="9525" marB="0" anchor="ctr"/>
                </a:tc>
              </a:tr>
              <a:tr h="333289">
                <a:tc>
                  <a:txBody>
                    <a:bodyPr wrap="square"/>
                    <a:lstStyle/>
                    <a:p>
                      <a:pPr algn="l"/>
                      <a:r>
                        <a:rPr sz="1050" b="0" i="0">
                          <a:solidFill>
                            <a:srgbClr val="000000"/>
                          </a:solidFill>
                          <a:latin typeface="Calibri"/>
                        </a:rPr>
                        <a:t>Table 77: Global Market Value of Die-Cut &amp; Folded Partitions (H-dividers, tube/cell inserts)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78: Global Market Value of Double Wall by Region, US$ Mn, 2021–2036</a:t>
                      </a:r>
                      <a:endParaRPr sz="1050"/>
                    </a:p>
                  </a:txBody>
                  <a:tcPr marL="9525" marR="9525" marT="9525" marB="0" anchor="ctr"/>
                </a:tc>
              </a:tr>
              <a:tr h="333289">
                <a:tc>
                  <a:txBody>
                    <a:bodyPr wrap="square"/>
                    <a:lstStyle/>
                    <a:p>
                      <a:pPr algn="l"/>
                      <a:r>
                        <a:rPr sz="1050" b="0" i="0">
                          <a:solidFill>
                            <a:srgbClr val="000000"/>
                          </a:solidFill>
                          <a:latin typeface="Calibri"/>
                        </a:rPr>
                        <a:t>Table 79: Global Market Value of Recycled Fibre-based (testliner/recycled medium)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80: Global Market Value by Partition Type and Board Construction, US$ Mn, 2026–2036</a:t>
                      </a:r>
                      <a:endParaRPr sz="1050"/>
                    </a:p>
                  </a:txBody>
                  <a:tcPr marL="9525" marR="9525" marT="9525" marB="0" anchor="ctr"/>
                </a:tc>
              </a:tr>
              <a:tr h="170045">
                <a:tc>
                  <a:txBody>
                    <a:bodyPr wrap="square"/>
                    <a:lstStyle/>
                    <a:p>
                      <a:pPr algn="l"/>
                      <a:r>
                        <a:rPr sz="1050" b="0" i="0">
                          <a:solidFill>
                            <a:srgbClr val="000000"/>
                          </a:solidFill>
                          <a:latin typeface="Calibri"/>
                        </a:rPr>
                        <a:t>Table 81: Global Market Value by Partition Type and Material Source, US$ Mn, 2026–2036</a:t>
                      </a:r>
                      <a:endParaRPr sz="1050"/>
                    </a:p>
                  </a:txBody>
                  <a:tcPr marL="9525" marR="9525" marT="9525" marB="0" anchor="ctr"/>
                </a:tc>
              </a:tr>
              <a:tr h="170045">
                <a:tc>
                  <a:txBody>
                    <a:bodyPr wrap="square"/>
                    <a:lstStyle/>
                    <a:p>
                      <a:pPr algn="l"/>
                      <a:r>
                        <a:rPr sz="1050" b="0" i="0">
                          <a:solidFill>
                            <a:srgbClr val="000000"/>
                          </a:solidFill>
                          <a:latin typeface="Calibri"/>
                        </a:rPr>
                        <a:t>Table 82: Global Market Value by Partition Type and Cell Configuration, US$ Mn, 2026–2036</a:t>
                      </a:r>
                      <a:endParaRPr sz="1050"/>
                    </a:p>
                  </a:txBody>
                  <a:tcPr marL="9525" marR="9525" marT="9525" marB="0" anchor="ctr"/>
                </a:tc>
              </a:tr>
              <a:tr h="170045">
                <a:tc>
                  <a:txBody>
                    <a:bodyPr wrap="square"/>
                    <a:lstStyle/>
                    <a:p>
                      <a:pPr algn="l"/>
                      <a:r>
                        <a:rPr sz="1050" b="0" i="0">
                          <a:solidFill>
                            <a:srgbClr val="000000"/>
                          </a:solidFill>
                          <a:latin typeface="Calibri"/>
                        </a:rPr>
                        <a:t>Table 83: Global Market Value by Partition Type and Customization, US$ Mn, 2026–2036</a:t>
                      </a:r>
                      <a:endParaRPr sz="1050"/>
                    </a:p>
                  </a:txBody>
                  <a:tcPr marL="9525" marR="9525" marT="9525" marB="0" anchor="ctr"/>
                </a:tc>
              </a:tr>
              <a:tr h="170045">
                <a:tc>
                  <a:txBody>
                    <a:bodyPr wrap="square"/>
                    <a:lstStyle/>
                    <a:p>
                      <a:pPr algn="l"/>
                      <a:r>
                        <a:rPr sz="1050" b="0" i="0">
                          <a:solidFill>
                            <a:srgbClr val="000000"/>
                          </a:solidFill>
                          <a:latin typeface="Calibri"/>
                        </a:rPr>
                        <a:t>Table 84: Global Market Value by Partition Type and End Use, US$ Mn, 2026–2036</a:t>
                      </a:r>
                      <a:endParaRPr sz="1050"/>
                    </a:p>
                  </a:txBody>
                  <a:tcPr marL="9525" marR="9525" marT="9525" marB="0" anchor="ctr"/>
                </a:tc>
              </a:tr>
              <a:tr h="170045">
                <a:tc>
                  <a:txBody>
                    <a:bodyPr wrap="square"/>
                    <a:lstStyle/>
                    <a:p>
                      <a:pPr algn="l"/>
                      <a:r>
                        <a:rPr sz="1050" b="0" i="0">
                          <a:solidFill>
                            <a:srgbClr val="000000"/>
                          </a:solidFill>
                          <a:latin typeface="Calibri"/>
                        </a:rPr>
                        <a:t>Table 85: Global Market Value by Partition Type and Sales Channel, US$ Mn, 2026–2036</a:t>
                      </a:r>
                      <a:endParaRPr sz="1050"/>
                    </a:p>
                  </a:txBody>
                  <a:tcPr marL="9525" marR="9525" marT="9525" marB="0" anchor="ctr"/>
                </a:tc>
              </a:tr>
              <a:tr h="170045">
                <a:tc>
                  <a:txBody>
                    <a:bodyPr wrap="square"/>
                    <a:lstStyle/>
                    <a:p>
                      <a:pPr algn="l"/>
                      <a:r>
                        <a:rPr sz="1050" b="0" i="0">
                          <a:solidFill>
                            <a:srgbClr val="000000"/>
                          </a:solidFill>
                          <a:latin typeface="Calibri"/>
                        </a:rPr>
                        <a:t>Table 86: Global Market Value by Board Construction and Material Source, US$ Mn, 2026–2036</a:t>
                      </a:r>
                      <a:endParaRPr sz="1050"/>
                    </a:p>
                  </a:txBody>
                  <a:tcPr marL="9525" marR="9525" marT="9525" marB="0" anchor="ctr"/>
                </a:tc>
              </a:tr>
              <a:tr h="170045">
                <a:tc>
                  <a:txBody>
                    <a:bodyPr wrap="square"/>
                    <a:lstStyle/>
                    <a:p>
                      <a:pPr algn="l"/>
                      <a:r>
                        <a:rPr sz="1050" b="0" i="0">
                          <a:solidFill>
                            <a:srgbClr val="000000"/>
                          </a:solidFill>
                          <a:latin typeface="Calibri"/>
                        </a:rPr>
                        <a:t>Table 87: Global Market Value by Board Construction and Cell Configuration, US$ Mn, 2026–2036</a:t>
                      </a:r>
                      <a:endParaRPr sz="1050"/>
                    </a:p>
                  </a:txBody>
                  <a:tcPr marL="9525" marR="9525" marT="9525" marB="0" anchor="ctr"/>
                </a:tc>
              </a:tr>
              <a:tr h="170045">
                <a:tc>
                  <a:txBody>
                    <a:bodyPr wrap="square"/>
                    <a:lstStyle/>
                    <a:p>
                      <a:pPr algn="l"/>
                      <a:r>
                        <a:rPr sz="1050" b="0" i="0">
                          <a:solidFill>
                            <a:srgbClr val="000000"/>
                          </a:solidFill>
                          <a:latin typeface="Calibri"/>
                        </a:rPr>
                        <a:t>Table 88: Global Market Value by Board Construction and Customization, US$ Mn, 2026–2036</a:t>
                      </a:r>
                      <a:endParaRPr sz="1050"/>
                    </a:p>
                  </a:txBody>
                  <a:tcPr marL="9525" marR="9525" marT="9525" marB="0" anchor="ctr"/>
                </a:tc>
              </a:tr>
              <a:tr h="170045">
                <a:tc>
                  <a:txBody>
                    <a:bodyPr wrap="square"/>
                    <a:lstStyle/>
                    <a:p>
                      <a:pPr algn="l"/>
                      <a:r>
                        <a:rPr sz="1050" b="0" i="0">
                          <a:solidFill>
                            <a:srgbClr val="000000"/>
                          </a:solidFill>
                          <a:latin typeface="Calibri"/>
                        </a:rPr>
                        <a:t>Table 89: Global Market Value by Board Construction and End Use,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90: Global Market Value by Board Construction and Sales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91: Global Market Value by Material Source and Cell Configuration, US$ Mn, 2026–2036</a:t>
                      </a:r>
                      <a:endParaRPr sz="1050"/>
                    </a:p>
                  </a:txBody>
                  <a:tcPr marL="9525" marR="9525" marT="9525" marB="0" anchor="ctr"/>
                </a:tc>
              </a:tr>
              <a:tr h="169826">
                <a:tc>
                  <a:txBody>
                    <a:bodyPr wrap="square"/>
                    <a:lstStyle/>
                    <a:p>
                      <a:pPr algn="l"/>
                      <a:r>
                        <a:rPr sz="1050" b="0" i="0">
                          <a:solidFill>
                            <a:srgbClr val="000000"/>
                          </a:solidFill>
                          <a:latin typeface="Calibri"/>
                        </a:rPr>
                        <a:t>Table 92: Global Market Value by Material Source and Customization, US$ Mn, 2026–2036</a:t>
                      </a:r>
                      <a:endParaRPr sz="1050"/>
                    </a:p>
                  </a:txBody>
                  <a:tcPr marL="9525" marR="9525" marT="9525" marB="0" anchor="ctr"/>
                </a:tc>
              </a:tr>
              <a:tr h="169826">
                <a:tc>
                  <a:txBody>
                    <a:bodyPr wrap="square"/>
                    <a:lstStyle/>
                    <a:p>
                      <a:pPr algn="l"/>
                      <a:r>
                        <a:rPr sz="1050" b="0" i="0">
                          <a:solidFill>
                            <a:srgbClr val="000000"/>
                          </a:solidFill>
                          <a:latin typeface="Calibri"/>
                        </a:rPr>
                        <a:t>Table 93: Global Market Value by Material Source and End Use, US$ Mn, 2026–2036</a:t>
                      </a:r>
                      <a:endParaRPr sz="1050"/>
                    </a:p>
                  </a:txBody>
                  <a:tcPr marL="9525" marR="9525" marT="9525" marB="0" anchor="ctr"/>
                </a:tc>
              </a:tr>
              <a:tr h="169826">
                <a:tc>
                  <a:txBody>
                    <a:bodyPr wrap="square"/>
                    <a:lstStyle/>
                    <a:p>
                      <a:pPr algn="l"/>
                      <a:r>
                        <a:rPr sz="1050" b="0" i="0">
                          <a:solidFill>
                            <a:srgbClr val="000000"/>
                          </a:solidFill>
                          <a:latin typeface="Calibri"/>
                        </a:rPr>
                        <a:t>Table 94: Global Market Value by Material Source and Sales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95: Global Market Value by Cell Configuration and Customization, US$ Mn, 2026–2036</a:t>
                      </a:r>
                      <a:endParaRPr sz="1050"/>
                    </a:p>
                  </a:txBody>
                  <a:tcPr marL="9525" marR="9525" marT="9525" marB="0" anchor="ctr"/>
                </a:tc>
              </a:tr>
              <a:tr h="169826">
                <a:tc>
                  <a:txBody>
                    <a:bodyPr wrap="square"/>
                    <a:lstStyle/>
                    <a:p>
                      <a:pPr algn="l"/>
                      <a:r>
                        <a:rPr sz="1050" b="0" i="0">
                          <a:solidFill>
                            <a:srgbClr val="000000"/>
                          </a:solidFill>
                          <a:latin typeface="Calibri"/>
                        </a:rPr>
                        <a:t>Table 96: Global Market Value by Cell Configuration and End Use, US$ Mn, 2026–2036</a:t>
                      </a:r>
                      <a:endParaRPr sz="1050"/>
                    </a:p>
                  </a:txBody>
                  <a:tcPr marL="9525" marR="9525" marT="9525" marB="0" anchor="ctr"/>
                </a:tc>
              </a:tr>
              <a:tr h="169826">
                <a:tc>
                  <a:txBody>
                    <a:bodyPr wrap="square"/>
                    <a:lstStyle/>
                    <a:p>
                      <a:pPr algn="l"/>
                      <a:r>
                        <a:rPr sz="1050" b="0" i="0">
                          <a:solidFill>
                            <a:srgbClr val="000000"/>
                          </a:solidFill>
                          <a:latin typeface="Calibri"/>
                        </a:rPr>
                        <a:t>Table 97: Global Market Value by Cell Configuration and Sales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98: Global Market Value by Customization and End Use, US$ Mn, 2026–2036</a:t>
                      </a:r>
                      <a:endParaRPr sz="1050"/>
                    </a:p>
                  </a:txBody>
                  <a:tcPr marL="9525" marR="9525" marT="9525" marB="0" anchor="ctr"/>
                </a:tc>
              </a:tr>
              <a:tr h="169826">
                <a:tc>
                  <a:txBody>
                    <a:bodyPr wrap="square"/>
                    <a:lstStyle/>
                    <a:p>
                      <a:pPr algn="l"/>
                      <a:r>
                        <a:rPr sz="1050" b="0" i="0">
                          <a:solidFill>
                            <a:srgbClr val="000000"/>
                          </a:solidFill>
                          <a:latin typeface="Calibri"/>
                        </a:rPr>
                        <a:t>Table 99: Global Market Value by Customization and Sales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100: Global Market Value by End Use and Sales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101: Global Market Value by Region and Partition Type, US$ Mn, 2026–2036</a:t>
                      </a:r>
                      <a:endParaRPr sz="1050"/>
                    </a:p>
                  </a:txBody>
                  <a:tcPr marL="9525" marR="9525" marT="9525" marB="0" anchor="ctr"/>
                </a:tc>
              </a:tr>
              <a:tr h="169826">
                <a:tc>
                  <a:txBody>
                    <a:bodyPr wrap="square"/>
                    <a:lstStyle/>
                    <a:p>
                      <a:pPr algn="l"/>
                      <a:r>
                        <a:rPr sz="1050" b="0" i="0">
                          <a:solidFill>
                            <a:srgbClr val="000000"/>
                          </a:solidFill>
                          <a:latin typeface="Calibri"/>
                        </a:rPr>
                        <a:t>Table 102: Global Market Value by Region and Board Construction, US$ Mn, 2026–2036</a:t>
                      </a:r>
                      <a:endParaRPr sz="1050"/>
                    </a:p>
                  </a:txBody>
                  <a:tcPr marL="9525" marR="9525" marT="9525" marB="0" anchor="ctr"/>
                </a:tc>
              </a:tr>
              <a:tr h="169826">
                <a:tc>
                  <a:txBody>
                    <a:bodyPr wrap="square"/>
                    <a:lstStyle/>
                    <a:p>
                      <a:pPr algn="l"/>
                      <a:r>
                        <a:rPr sz="1050" b="0" i="0">
                          <a:solidFill>
                            <a:srgbClr val="000000"/>
                          </a:solidFill>
                          <a:latin typeface="Calibri"/>
                        </a:rPr>
                        <a:t>Table 103: Global Market Value by Region and Material Source, US$ Mn, 2026–2036</a:t>
                      </a:r>
                      <a:endParaRPr sz="1050"/>
                    </a:p>
                  </a:txBody>
                  <a:tcPr marL="9525" marR="9525" marT="9525" marB="0" anchor="ctr"/>
                </a:tc>
              </a:tr>
              <a:tr h="169826">
                <a:tc>
                  <a:txBody>
                    <a:bodyPr wrap="square"/>
                    <a:lstStyle/>
                    <a:p>
                      <a:pPr algn="l"/>
                      <a:r>
                        <a:rPr sz="1050" b="0" i="0">
                          <a:solidFill>
                            <a:srgbClr val="000000"/>
                          </a:solidFill>
                          <a:latin typeface="Calibri"/>
                        </a:rPr>
                        <a:t>Table 104: Global Market Value by Region and Cell Configuration, US$ Mn, 2026–2036</a:t>
                      </a:r>
                      <a:endParaRPr sz="1050"/>
                    </a:p>
                  </a:txBody>
                  <a:tcPr marL="9525" marR="9525" marT="9525" marB="0" anchor="ctr"/>
                </a:tc>
              </a:tr>
              <a:tr h="169826">
                <a:tc>
                  <a:txBody>
                    <a:bodyPr wrap="square"/>
                    <a:lstStyle/>
                    <a:p>
                      <a:pPr algn="l"/>
                      <a:r>
                        <a:rPr sz="1050" b="0" i="0">
                          <a:solidFill>
                            <a:srgbClr val="000000"/>
                          </a:solidFill>
                          <a:latin typeface="Calibri"/>
                        </a:rPr>
                        <a:t>Table 105: Global Market Value by Region and Customization, US$ Mn, 2026–2036</a:t>
                      </a:r>
                      <a:endParaRPr sz="1050"/>
                    </a:p>
                  </a:txBody>
                  <a:tcPr marL="9525" marR="9525" marT="9525" marB="0" anchor="ctr"/>
                </a:tc>
              </a:tr>
              <a:tr h="169826">
                <a:tc>
                  <a:txBody>
                    <a:bodyPr wrap="square"/>
                    <a:lstStyle/>
                    <a:p>
                      <a:pPr algn="l"/>
                      <a:r>
                        <a:rPr sz="1050" b="0" i="0">
                          <a:solidFill>
                            <a:srgbClr val="000000"/>
                          </a:solidFill>
                          <a:latin typeface="Calibri"/>
                        </a:rPr>
                        <a:t>Table 106: Global Market Value by Region and End Use, US$ Mn, 2026–2036</a:t>
                      </a:r>
                      <a:endParaRPr sz="1050"/>
                    </a:p>
                  </a:txBody>
                  <a:tcPr marL="9525" marR="9525" marT="9525" marB="0" anchor="ctr"/>
                </a:tc>
              </a:tr>
              <a:tr h="169826">
                <a:tc>
                  <a:txBody>
                    <a:bodyPr wrap="square"/>
                    <a:lstStyle/>
                    <a:p>
                      <a:pPr algn="l"/>
                      <a:r>
                        <a:rPr sz="1050" b="0" i="0">
                          <a:solidFill>
                            <a:srgbClr val="000000"/>
                          </a:solidFill>
                          <a:latin typeface="Calibri"/>
                        </a:rPr>
                        <a:t>Table 107: Global Market Value by Region and Sales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108: Global Market Value by Region, US$ Mn, 2021–2036</a:t>
                      </a:r>
                      <a:endParaRPr sz="1050"/>
                    </a:p>
                  </a:txBody>
                  <a:tcPr marL="9525" marR="9525" marT="9525" marB="0" anchor="ctr"/>
                </a:tc>
              </a:tr>
              <a:tr h="169826">
                <a:tc>
                  <a:txBody>
                    <a:bodyPr wrap="square"/>
                    <a:lstStyle/>
                    <a:p>
                      <a:pPr algn="l"/>
                      <a:r>
                        <a:rPr sz="1050" b="0" i="0">
                          <a:solidFill>
                            <a:srgbClr val="000000"/>
                          </a:solidFill>
                          <a:latin typeface="Calibri"/>
                        </a:rPr>
                        <a:t>Table 109: Global Market CAGR and Absolute $ Opportunity by Region, %, US$ Mn, 2026–2036</a:t>
                      </a:r>
                      <a:endParaRPr sz="1050"/>
                    </a:p>
                  </a:txBody>
                  <a:tcPr marL="9525" marR="9525" marT="9525" marB="0" anchor="ctr"/>
                </a:tc>
              </a:tr>
              <a:tr h="169826">
                <a:tc>
                  <a:txBody>
                    <a:bodyPr wrap="square"/>
                    <a:lstStyle/>
                    <a:p>
                      <a:pPr algn="l"/>
                      <a:r>
                        <a:rPr sz="1050" b="0" i="0">
                          <a:solidFill>
                            <a:srgbClr val="000000"/>
                          </a:solidFill>
                          <a:latin typeface="Calibri"/>
                        </a:rPr>
                        <a:t>Table 110: Global Market Share and BPS Change by Region, %, 2026 and 2036</a:t>
                      </a:r>
                      <a:endParaRPr sz="1050"/>
                    </a:p>
                  </a:txBody>
                  <a:tcPr marL="9525" marR="9525" marT="9525" marB="0" anchor="ctr"/>
                </a:tc>
              </a:tr>
              <a:tr h="169826">
                <a:tc>
                  <a:txBody>
                    <a:bodyPr wrap="square"/>
                    <a:lstStyle/>
                    <a:p>
                      <a:pPr algn="l"/>
                      <a:r>
                        <a:rPr sz="1050" b="0" i="0">
                          <a:solidFill>
                            <a:srgbClr val="000000"/>
                          </a:solidFill>
                          <a:latin typeface="Calibri"/>
                        </a:rPr>
                        <a:t>Table 111: Global Market Volume by Region, MT, 2021–2036</a:t>
                      </a:r>
                      <a:endParaRPr sz="1050"/>
                    </a:p>
                  </a:txBody>
                  <a:tcPr marL="9525" marR="9525" marT="9525" marB="0" anchor="ctr"/>
                </a:tc>
              </a:tr>
              <a:tr h="169826">
                <a:tc>
                  <a:txBody>
                    <a:bodyPr wrap="square"/>
                    <a:lstStyle/>
                    <a:p>
                      <a:pPr algn="l"/>
                      <a:r>
                        <a:rPr sz="1050" b="0" i="0">
                          <a:solidFill>
                            <a:srgbClr val="000000"/>
                          </a:solidFill>
                          <a:latin typeface="Calibri"/>
                        </a:rPr>
                        <a:t>Table 112: North America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113: Latin America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114: Europe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115: East Asia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116: South Asia &amp; Pacific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117: Middle East &amp; Africa Market Value by Country, US$ Mn, 2021–2036</a:t>
                      </a:r>
                      <a:endParaRPr sz="1050"/>
                    </a:p>
                  </a:txBody>
                  <a:tcPr marL="9525" marR="9525" marT="9525" marB="0" anchor="ctr"/>
                </a:tc>
              </a:tr>
              <a:tr h="332858">
                <a:tc>
                  <a:txBody>
                    <a:bodyPr wrap="square"/>
                    <a:lstStyle/>
                    <a:p>
                      <a:pPr algn="l"/>
                      <a:r>
                        <a:rPr sz="1050" b="0" i="0">
                          <a:solidFill>
                            <a:srgbClr val="000000"/>
                          </a:solidFill>
                          <a:latin typeface="Calibri"/>
                        </a:rPr>
                        <a:t>Table 118: North America Market CAGR and Absolute $ Opportunity by Country, %, US$ Mn, 2026–2036</a:t>
                      </a:r>
                      <a:endParaRPr sz="1050"/>
                    </a:p>
                  </a:txBody>
                  <a:tcPr marL="9525" marR="9525" marT="9525" marB="0" anchor="ctr"/>
                </a:tc>
              </a:tr>
              <a:tr h="169826">
                <a:tc>
                  <a:txBody>
                    <a:bodyPr wrap="square"/>
                    <a:lstStyle/>
                    <a:p>
                      <a:pPr algn="l"/>
                      <a:r>
                        <a:rPr sz="1050" b="0" i="0">
                          <a:solidFill>
                            <a:srgbClr val="000000"/>
                          </a:solidFill>
                          <a:latin typeface="Calibri"/>
                        </a:rPr>
                        <a:t>Table 119: Latin America Market CAGR and Absolute $ Opportunity by Country,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Table 120: Europe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121: East Asia Market CAGR and Absolute $ Opportunity by Country, %, US$ Mn, 2026–2036</a:t>
                      </a:r>
                      <a:endParaRPr sz="1050"/>
                    </a:p>
                  </a:txBody>
                  <a:tcPr marL="9525" marR="9525" marT="9525" marB="0" anchor="ctr"/>
                </a:tc>
              </a:tr>
              <a:tr h="333289">
                <a:tc>
                  <a:txBody>
                    <a:bodyPr wrap="square"/>
                    <a:lstStyle/>
                    <a:p>
                      <a:pPr algn="l"/>
                      <a:r>
                        <a:rPr sz="1050" b="0" i="0">
                          <a:solidFill>
                            <a:srgbClr val="000000"/>
                          </a:solidFill>
                          <a:latin typeface="Calibri"/>
                        </a:rPr>
                        <a:t>Table 122: South Asia &amp; Pacific Market CAGR and Absolute $ Opportunity by Country, %, US$ Mn, 2026–2036</a:t>
                      </a:r>
                      <a:endParaRPr sz="1050"/>
                    </a:p>
                  </a:txBody>
                  <a:tcPr marL="9525" marR="9525" marT="9525" marB="0" anchor="ctr"/>
                </a:tc>
              </a:tr>
              <a:tr h="333289">
                <a:tc>
                  <a:txBody>
                    <a:bodyPr wrap="square"/>
                    <a:lstStyle/>
                    <a:p>
                      <a:pPr algn="l"/>
                      <a:r>
                        <a:rPr sz="1050" b="0" i="0">
                          <a:solidFill>
                            <a:srgbClr val="000000"/>
                          </a:solidFill>
                          <a:latin typeface="Calibri"/>
                        </a:rPr>
                        <a:t>Table 123: Middle East &amp; Africa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124: North America Market Value by Partition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125: Latin America Market Value by Partition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126: Europe Market Value by Partition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127: East Asia Market Value by Partition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128: South Asia &amp; Pacific Market Value by Partition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129: Middle East &amp; Africa Market Value by Partition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130: North America Market Value by Board Construction, US$ Mn, 2021–2036</a:t>
                      </a:r>
                      <a:endParaRPr sz="1050"/>
                    </a:p>
                  </a:txBody>
                  <a:tcPr marL="9525" marR="9525" marT="9525" marB="0" anchor="ctr"/>
                </a:tc>
              </a:tr>
              <a:tr h="170045">
                <a:tc>
                  <a:txBody>
                    <a:bodyPr wrap="square"/>
                    <a:lstStyle/>
                    <a:p>
                      <a:pPr algn="l"/>
                      <a:r>
                        <a:rPr sz="1050" b="0" i="0">
                          <a:solidFill>
                            <a:srgbClr val="000000"/>
                          </a:solidFill>
                          <a:latin typeface="Calibri"/>
                        </a:rPr>
                        <a:t>Table 131: Latin America Market Value by Board Construction, US$ Mn, 2021–2036</a:t>
                      </a:r>
                      <a:endParaRPr sz="1050"/>
                    </a:p>
                  </a:txBody>
                  <a:tcPr marL="9525" marR="9525" marT="9525" marB="0" anchor="ctr"/>
                </a:tc>
              </a:tr>
              <a:tr h="170045">
                <a:tc>
                  <a:txBody>
                    <a:bodyPr wrap="square"/>
                    <a:lstStyle/>
                    <a:p>
                      <a:pPr algn="l"/>
                      <a:r>
                        <a:rPr sz="1050" b="0" i="0">
                          <a:solidFill>
                            <a:srgbClr val="000000"/>
                          </a:solidFill>
                          <a:latin typeface="Calibri"/>
                        </a:rPr>
                        <a:t>Table 132: U.S. Market Value by Partition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133: U.S.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134: U.S. Market Value by End Use, US$ Mn, 2021–2036</a:t>
                      </a:r>
                      <a:endParaRPr sz="1050"/>
                    </a:p>
                  </a:txBody>
                  <a:tcPr marL="9525" marR="9525" marT="9525" marB="0" anchor="ctr"/>
                </a:tc>
              </a:tr>
              <a:tr h="170045">
                <a:tc>
                  <a:txBody>
                    <a:bodyPr wrap="square"/>
                    <a:lstStyle/>
                    <a:p>
                      <a:pPr algn="l"/>
                      <a:r>
                        <a:rPr sz="1050" b="0" i="0">
                          <a:solidFill>
                            <a:srgbClr val="000000"/>
                          </a:solidFill>
                          <a:latin typeface="Calibri"/>
                        </a:rPr>
                        <a:t>Table 135: U.S. Market Share within North America, %, 2025, 2026 and 2036</a:t>
                      </a:r>
                      <a:endParaRPr sz="1050"/>
                    </a:p>
                  </a:txBody>
                  <a:tcPr marL="9525" marR="9525" marT="9525" marB="0" anchor="ctr"/>
                </a:tc>
              </a:tr>
              <a:tr h="170045">
                <a:tc>
                  <a:txBody>
                    <a:bodyPr wrap="square"/>
                    <a:lstStyle/>
                    <a:p>
                      <a:pPr algn="l"/>
                      <a:r>
                        <a:rPr sz="1050" b="0" i="0">
                          <a:solidFill>
                            <a:srgbClr val="000000"/>
                          </a:solidFill>
                          <a:latin typeface="Calibri"/>
                        </a:rPr>
                        <a:t>Table 136: U.S. Market Value by Board Construction, US$ Mn, 2021–2036</a:t>
                      </a:r>
                      <a:endParaRPr sz="1050"/>
                    </a:p>
                  </a:txBody>
                  <a:tcPr marL="9525" marR="9525" marT="9525" marB="0" anchor="ctr"/>
                </a:tc>
              </a:tr>
              <a:tr h="170045">
                <a:tc>
                  <a:txBody>
                    <a:bodyPr wrap="square"/>
                    <a:lstStyle/>
                    <a:p>
                      <a:pPr algn="l"/>
                      <a:r>
                        <a:rPr sz="1050" b="0" i="0">
                          <a:solidFill>
                            <a:srgbClr val="000000"/>
                          </a:solidFill>
                          <a:latin typeface="Calibri"/>
                        </a:rPr>
                        <a:t>Table 137: U.S. Market Value by Material Source, US$ Mn, 2021–2036</a:t>
                      </a:r>
                      <a:endParaRPr sz="1050"/>
                    </a:p>
                  </a:txBody>
                  <a:tcPr marL="9525" marR="9525" marT="9525" marB="0" anchor="ctr"/>
                </a:tc>
              </a:tr>
              <a:tr h="170045">
                <a:tc>
                  <a:txBody>
                    <a:bodyPr wrap="square"/>
                    <a:lstStyle/>
                    <a:p>
                      <a:pPr algn="l"/>
                      <a:r>
                        <a:rPr sz="1050" b="0" i="0">
                          <a:solidFill>
                            <a:srgbClr val="000000"/>
                          </a:solidFill>
                          <a:latin typeface="Calibri"/>
                        </a:rPr>
                        <a:t>Table 138: U.S. Market Value by Cell Configuration, US$ Mn, 2021–2036</a:t>
                      </a:r>
                      <a:endParaRPr sz="1050"/>
                    </a:p>
                  </a:txBody>
                  <a:tcPr marL="9525" marR="9525" marT="9525" marB="0" anchor="ctr"/>
                </a:tc>
              </a:tr>
              <a:tr h="170045">
                <a:tc>
                  <a:txBody>
                    <a:bodyPr wrap="square"/>
                    <a:lstStyle/>
                    <a:p>
                      <a:pPr algn="l"/>
                      <a:r>
                        <a:rPr sz="1050" b="0" i="0">
                          <a:solidFill>
                            <a:srgbClr val="000000"/>
                          </a:solidFill>
                          <a:latin typeface="Calibri"/>
                        </a:rPr>
                        <a:t>Table 139: U.S. Market Value by Customization, US$ Mn, 2021–2036</a:t>
                      </a:r>
                      <a:endParaRPr sz="1050"/>
                    </a:p>
                  </a:txBody>
                  <a:tcPr marL="9525" marR="9525" marT="9525" marB="0" anchor="ctr"/>
                </a:tc>
              </a:tr>
              <a:tr h="170045">
                <a:tc>
                  <a:txBody>
                    <a:bodyPr wrap="square"/>
                    <a:lstStyle/>
                    <a:p>
                      <a:pPr algn="l"/>
                      <a:r>
                        <a:rPr sz="1050" b="0" i="0">
                          <a:solidFill>
                            <a:srgbClr val="000000"/>
                          </a:solidFill>
                          <a:latin typeface="Calibri"/>
                        </a:rPr>
                        <a:t>Table 140: Germany Market Value by Partition Type, US$ Mn, 2021–2036</a:t>
                      </a:r>
                      <a:endParaRPr sz="1050"/>
                    </a:p>
                  </a:txBody>
                  <a:tcPr marL="9525" marR="9525" marT="9525" marB="0" anchor="ctr"/>
                </a:tc>
              </a:tr>
              <a:tr h="170045">
                <a:tc>
                  <a:txBody>
                    <a:bodyPr wrap="square"/>
                    <a:lstStyle/>
                    <a:p>
                      <a:pPr algn="l"/>
                      <a:r>
                        <a:rPr sz="1050" b="0" i="0">
                          <a:solidFill>
                            <a:srgbClr val="000000"/>
                          </a:solidFill>
                          <a:latin typeface="Calibri"/>
                        </a:rPr>
                        <a:t>Table 141: Germany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142: Germany Market Value by End Use, US$ Mn, 2021–2036</a:t>
                      </a:r>
                      <a:endParaRPr sz="1050"/>
                    </a:p>
                  </a:txBody>
                  <a:tcPr marL="9525" marR="9525" marT="9525" marB="0" anchor="ctr"/>
                </a:tc>
              </a:tr>
              <a:tr h="170045">
                <a:tc>
                  <a:txBody>
                    <a:bodyPr wrap="square"/>
                    <a:lstStyle/>
                    <a:p>
                      <a:pPr algn="l"/>
                      <a:r>
                        <a:rPr sz="1050" b="0" i="0">
                          <a:solidFill>
                            <a:srgbClr val="000000"/>
                          </a:solidFill>
                          <a:latin typeface="Calibri"/>
                        </a:rPr>
                        <a:t>Table 143: Germany Market Share within Europe,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144: Germany Market Value by Board Construction, US$ Mn, 2021–2036</a:t>
                      </a:r>
                      <a:endParaRPr sz="1050"/>
                    </a:p>
                  </a:txBody>
                  <a:tcPr marL="9525" marR="9525" marT="9525" marB="0" anchor="ctr"/>
                </a:tc>
              </a:tr>
              <a:tr h="170045">
                <a:tc>
                  <a:txBody>
                    <a:bodyPr wrap="square"/>
                    <a:lstStyle/>
                    <a:p>
                      <a:pPr algn="l"/>
                      <a:r>
                        <a:rPr sz="1050" b="0" i="0">
                          <a:solidFill>
                            <a:srgbClr val="000000"/>
                          </a:solidFill>
                          <a:latin typeface="Calibri"/>
                        </a:rPr>
                        <a:t>Table 145: Germany Market Value by Material Source, US$ Mn, 2021–2036</a:t>
                      </a:r>
                      <a:endParaRPr sz="1050"/>
                    </a:p>
                  </a:txBody>
                  <a:tcPr marL="9525" marR="9525" marT="9525" marB="0" anchor="ctr"/>
                </a:tc>
              </a:tr>
              <a:tr h="170045">
                <a:tc>
                  <a:txBody>
                    <a:bodyPr wrap="square"/>
                    <a:lstStyle/>
                    <a:p>
                      <a:pPr algn="l"/>
                      <a:r>
                        <a:rPr sz="1050" b="0" i="0">
                          <a:solidFill>
                            <a:srgbClr val="000000"/>
                          </a:solidFill>
                          <a:latin typeface="Calibri"/>
                        </a:rPr>
                        <a:t>Table 146: Germany Market Value by Cell Configuration, US$ Mn, 2021–2036</a:t>
                      </a:r>
                      <a:endParaRPr sz="1050"/>
                    </a:p>
                  </a:txBody>
                  <a:tcPr marL="9525" marR="9525" marT="9525" marB="0" anchor="ctr"/>
                </a:tc>
              </a:tr>
              <a:tr h="170045">
                <a:tc>
                  <a:txBody>
                    <a:bodyPr wrap="square"/>
                    <a:lstStyle/>
                    <a:p>
                      <a:pPr algn="l"/>
                      <a:r>
                        <a:rPr sz="1050" b="0" i="0">
                          <a:solidFill>
                            <a:srgbClr val="000000"/>
                          </a:solidFill>
                          <a:latin typeface="Calibri"/>
                        </a:rPr>
                        <a:t>Table 147: Germany Market Value by Customization, US$ Mn, 2021–2036</a:t>
                      </a:r>
                      <a:endParaRPr sz="1050"/>
                    </a:p>
                  </a:txBody>
                  <a:tcPr marL="9525" marR="9525" marT="9525" marB="0" anchor="ctr"/>
                </a:tc>
              </a:tr>
              <a:tr h="170045">
                <a:tc>
                  <a:txBody>
                    <a:bodyPr wrap="square"/>
                    <a:lstStyle/>
                    <a:p>
                      <a:pPr algn="l"/>
                      <a:r>
                        <a:rPr sz="1050" b="0" i="0">
                          <a:solidFill>
                            <a:srgbClr val="000000"/>
                          </a:solidFill>
                          <a:latin typeface="Calibri"/>
                        </a:rPr>
                        <a:t>Table 148: Canada Market Value by Partition Type,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050" b="0" i="0">
                          <a:solidFill>
                            <a:srgbClr val="000000"/>
                          </a:solidFill>
                          <a:latin typeface="Calibri"/>
                        </a:rPr>
                        <a:t>Table 149: Canada Market Historical and Forecast Growth, %, 2021–2036</a:t>
                      </a:r>
                      <a:endParaRPr sz="1050"/>
                    </a:p>
                  </a:txBody>
                  <a:tcPr marL="9525" marR="9525" marT="9525" marB="0" anchor="ctr"/>
                </a:tc>
              </a:tr>
              <a:tr h="175260">
                <a:tc>
                  <a:txBody>
                    <a:bodyPr wrap="square"/>
                    <a:lstStyle/>
                    <a:p>
                      <a:pPr algn="l"/>
                      <a:r>
                        <a:rPr sz="1050" b="0" i="0">
                          <a:solidFill>
                            <a:srgbClr val="000000"/>
                          </a:solidFill>
                          <a:latin typeface="Calibri"/>
                        </a:rPr>
                        <a:t>Table 150: Canada Market Value by End Use, US$ Mn, 2021–2036</a:t>
                      </a:r>
                      <a:endParaRPr sz="1050"/>
                    </a:p>
                  </a:txBody>
                  <a:tcPr marL="9525" marR="9525" marT="9525" marB="0" anchor="ctr"/>
                </a:tc>
              </a:tr>
              <a:tr h="175260">
                <a:tc>
                  <a:txBody>
                    <a:bodyPr wrap="square"/>
                    <a:lstStyle/>
                    <a:p>
                      <a:pPr algn="l"/>
                      <a:r>
                        <a:rPr sz="1050" b="0" i="0">
                          <a:solidFill>
                            <a:srgbClr val="000000"/>
                          </a:solidFill>
                          <a:latin typeface="Calibri"/>
                        </a:rPr>
                        <a:t>Table 151: Canada Market Share within North America, %, 2025, 2026 and 2036</a:t>
                      </a:r>
                      <a:endParaRPr sz="1050"/>
                    </a:p>
                  </a:txBody>
                  <a:tcPr marL="9525" marR="9525" marT="9525" marB="0" anchor="ctr"/>
                </a:tc>
              </a:tr>
              <a:tr h="175260">
                <a:tc>
                  <a:txBody>
                    <a:bodyPr wrap="square"/>
                    <a:lstStyle/>
                    <a:p>
                      <a:pPr algn="l"/>
                      <a:r>
                        <a:rPr sz="1050" b="0" i="0">
                          <a:solidFill>
                            <a:srgbClr val="000000"/>
                          </a:solidFill>
                          <a:latin typeface="Calibri"/>
                        </a:rPr>
                        <a:t>Table 152: Canada Market Value by Board Construction, US$ Mn, 2021–2036</a:t>
                      </a:r>
                      <a:endParaRPr sz="1050"/>
                    </a:p>
                  </a:txBody>
                  <a:tcPr marL="9525" marR="9525" marT="9525" marB="0" anchor="ctr"/>
                </a:tc>
              </a:tr>
              <a:tr h="175260">
                <a:tc>
                  <a:txBody>
                    <a:bodyPr wrap="square"/>
                    <a:lstStyle/>
                    <a:p>
                      <a:pPr algn="l"/>
                      <a:r>
                        <a:rPr sz="1050" b="0" i="0">
                          <a:solidFill>
                            <a:srgbClr val="000000"/>
                          </a:solidFill>
                          <a:latin typeface="Calibri"/>
                        </a:rPr>
                        <a:t>Table 153: Canada Market Value by Material Source, US$ Mn, 2021–2036</a:t>
                      </a:r>
                      <a:endParaRPr sz="1050"/>
                    </a:p>
                  </a:txBody>
                  <a:tcPr marL="9525" marR="9525" marT="9525" marB="0" anchor="ctr"/>
                </a:tc>
              </a:tr>
              <a:tr h="175260">
                <a:tc>
                  <a:txBody>
                    <a:bodyPr wrap="square"/>
                    <a:lstStyle/>
                    <a:p>
                      <a:pPr algn="l"/>
                      <a:r>
                        <a:rPr sz="1050" b="0" i="0">
                          <a:solidFill>
                            <a:srgbClr val="000000"/>
                          </a:solidFill>
                          <a:latin typeface="Calibri"/>
                        </a:rPr>
                        <a:t>Table 154: Canada Market Value by Cell Configuration, US$ Mn, 2021–2036</a:t>
                      </a:r>
                      <a:endParaRPr sz="1050"/>
                    </a:p>
                  </a:txBody>
                  <a:tcPr marL="9525" marR="9525" marT="9525" marB="0" anchor="ctr"/>
                </a:tc>
              </a:tr>
              <a:tr h="175260">
                <a:tc>
                  <a:txBody>
                    <a:bodyPr wrap="square"/>
                    <a:lstStyle/>
                    <a:p>
                      <a:pPr algn="l"/>
                      <a:r>
                        <a:rPr sz="1050" b="0" i="0">
                          <a:solidFill>
                            <a:srgbClr val="000000"/>
                          </a:solidFill>
                          <a:latin typeface="Calibri"/>
                        </a:rPr>
                        <a:t>Table 155: Canada Market Value by Customization, US$ Mn, 2021–2036</a:t>
                      </a:r>
                      <a:endParaRPr sz="1050"/>
                    </a:p>
                  </a:txBody>
                  <a:tcPr marL="9525" marR="9525" marT="9525" marB="0" anchor="ctr"/>
                </a:tc>
              </a:tr>
              <a:tr h="175260">
                <a:tc>
                  <a:txBody>
                    <a:bodyPr wrap="square"/>
                    <a:lstStyle/>
                    <a:p>
                      <a:pPr algn="l"/>
                      <a:r>
                        <a:rPr sz="1050" b="0" i="0">
                          <a:solidFill>
                            <a:srgbClr val="000000"/>
                          </a:solidFill>
                          <a:latin typeface="Calibri"/>
                        </a:rPr>
                        <a:t>Table 156: China Market Value by Partition Type, US$ Mn, 2021–2036</a:t>
                      </a:r>
                      <a:endParaRPr sz="1050"/>
                    </a:p>
                  </a:txBody>
                  <a:tcPr marL="9525" marR="9525" marT="9525" marB="0" anchor="ctr"/>
                </a:tc>
              </a:tr>
              <a:tr h="175260">
                <a:tc>
                  <a:txBody>
                    <a:bodyPr wrap="square"/>
                    <a:lstStyle/>
                    <a:p>
                      <a:pPr algn="l"/>
                      <a:r>
                        <a:rPr sz="1050" b="0" i="0">
                          <a:solidFill>
                            <a:srgbClr val="000000"/>
                          </a:solidFill>
                          <a:latin typeface="Calibri"/>
                        </a:rPr>
                        <a:t>Table 157: China Market Historical and Forecast Growth, %, 2021–2036</a:t>
                      </a:r>
                      <a:endParaRPr sz="1050"/>
                    </a:p>
                  </a:txBody>
                  <a:tcPr marL="9525" marR="9525" marT="9525" marB="0" anchor="ctr"/>
                </a:tc>
              </a:tr>
              <a:tr h="175260">
                <a:tc>
                  <a:txBody>
                    <a:bodyPr wrap="square"/>
                    <a:lstStyle/>
                    <a:p>
                      <a:pPr algn="l"/>
                      <a:r>
                        <a:rPr sz="1050" b="0" i="0">
                          <a:solidFill>
                            <a:srgbClr val="000000"/>
                          </a:solidFill>
                          <a:latin typeface="Calibri"/>
                        </a:rPr>
                        <a:t>Table 158: India Market Value by Partition Type, US$ Mn, 2021–2036</a:t>
                      </a:r>
                      <a:endParaRPr sz="1050"/>
                    </a:p>
                  </a:txBody>
                  <a:tcPr marL="9525" marR="9525" marT="9525" marB="0" anchor="ctr"/>
                </a:tc>
              </a:tr>
              <a:tr h="175260">
                <a:tc>
                  <a:txBody>
                    <a:bodyPr wrap="square"/>
                    <a:lstStyle/>
                    <a:p>
                      <a:pPr algn="l"/>
                      <a:r>
                        <a:rPr sz="1050" b="0" i="0">
                          <a:solidFill>
                            <a:srgbClr val="000000"/>
                          </a:solidFill>
                          <a:latin typeface="Calibri"/>
                        </a:rPr>
                        <a:t>Table 159: India Market Historical and Forecast Growth, %, 2021–2036</a:t>
                      </a:r>
                      <a:endParaRPr sz="1050"/>
                    </a:p>
                  </a:txBody>
                  <a:tcPr marL="9525" marR="9525" marT="9525" marB="0" anchor="ctr"/>
                </a:tc>
              </a:tr>
              <a:tr h="175260">
                <a:tc>
                  <a:txBody>
                    <a:bodyPr wrap="square"/>
                    <a:lstStyle/>
                    <a:p>
                      <a:pPr algn="l"/>
                      <a:r>
                        <a:rPr sz="1050" b="0" i="0">
                          <a:solidFill>
                            <a:srgbClr val="000000"/>
                          </a:solidFill>
                          <a:latin typeface="Calibri"/>
                        </a:rPr>
                        <a:t>Table 160: Brazil Market Value by Partition Type, US$ Mn, 2021–2036</a:t>
                      </a:r>
                      <a:endParaRPr sz="1050"/>
                    </a:p>
                  </a:txBody>
                  <a:tcPr marL="9525" marR="9525" marT="9525" marB="0" anchor="ctr"/>
                </a:tc>
              </a:tr>
              <a:tr h="175260">
                <a:tc>
                  <a:txBody>
                    <a:bodyPr wrap="square"/>
                    <a:lstStyle/>
                    <a:p>
                      <a:pPr algn="l"/>
                      <a:r>
                        <a:rPr sz="1050" b="0" i="0">
                          <a:solidFill>
                            <a:srgbClr val="000000"/>
                          </a:solidFill>
                          <a:latin typeface="Calibri"/>
                        </a:rPr>
                        <a:t>Table 161: Brazil Market Historical and Forecast Growth, %, 2021–2036</a:t>
                      </a:r>
                      <a:endParaRPr sz="1050"/>
                    </a:p>
                  </a:txBody>
                  <a:tcPr marL="9525" marR="9525" marT="9525" marB="0" anchor="ctr"/>
                </a:tc>
              </a:tr>
              <a:tr h="175260">
                <a:tc>
                  <a:txBody>
                    <a:bodyPr wrap="square"/>
                    <a:lstStyle/>
                    <a:p>
                      <a:pPr algn="l"/>
                      <a:r>
                        <a:rPr sz="1050" b="0" i="0">
                          <a:solidFill>
                            <a:srgbClr val="000000"/>
                          </a:solidFill>
                          <a:latin typeface="Calibri"/>
                        </a:rPr>
                        <a:t>Table 162: U.K. Market Value by Partition Type, US$ Mn, 2021–2036</a:t>
                      </a:r>
                      <a:endParaRPr sz="1050"/>
                    </a:p>
                  </a:txBody>
                  <a:tcPr marL="9525" marR="9525" marT="9525" marB="0" anchor="ctr"/>
                </a:tc>
              </a:tr>
              <a:tr h="175260">
                <a:tc>
                  <a:txBody>
                    <a:bodyPr wrap="square"/>
                    <a:lstStyle/>
                    <a:p>
                      <a:pPr algn="l"/>
                      <a:r>
                        <a:rPr sz="1050" b="0" i="0">
                          <a:solidFill>
                            <a:srgbClr val="000000"/>
                          </a:solidFill>
                          <a:latin typeface="Calibri"/>
                        </a:rPr>
                        <a:t>Table 163: U.K. Market Historical and Forecast Growth, %, 2021–2036</a:t>
                      </a:r>
                      <a:endParaRPr sz="1050"/>
                    </a:p>
                  </a:txBody>
                  <a:tcPr marL="9525" marR="9525" marT="9525" marB="0" anchor="ctr"/>
                </a:tc>
              </a:tr>
              <a:tr h="175260">
                <a:tc>
                  <a:txBody>
                    <a:bodyPr wrap="square"/>
                    <a:lstStyle/>
                    <a:p>
                      <a:pPr algn="l"/>
                      <a:r>
                        <a:rPr sz="1050" b="0" i="0">
                          <a:solidFill>
                            <a:srgbClr val="000000"/>
                          </a:solidFill>
                          <a:latin typeface="Calibri"/>
                        </a:rPr>
                        <a:t>Table 164: Market Product Price Comparison by Company and Partition Type, US$/MT, 2026</a:t>
                      </a:r>
                      <a:endParaRPr sz="1050"/>
                    </a:p>
                  </a:txBody>
                  <a:tcPr marL="9525" marR="9525" marT="9525" marB="0" anchor="ctr"/>
                </a:tc>
              </a:tr>
              <a:tr h="175260">
                <a:tc>
                  <a:txBody>
                    <a:bodyPr wrap="square"/>
                    <a:lstStyle/>
                    <a:p>
                      <a:pPr algn="l"/>
                      <a:r>
                        <a:rPr sz="1050" b="0" i="0">
                          <a:solidFill>
                            <a:srgbClr val="000000"/>
                          </a:solidFill>
                          <a:latin typeface="Calibri"/>
                        </a:rPr>
                        <a:t>Table 165: Global Market Average Selling Price by Region, US$/MT, 2021–2036</a:t>
                      </a:r>
                      <a:endParaRPr sz="1050"/>
                    </a:p>
                  </a:txBody>
                  <a:tcPr marL="9525" marR="9525" marT="9525" marB="0" anchor="ctr"/>
                </a:tc>
              </a:tr>
              <a:tr h="175260">
                <a:tc>
                  <a:txBody>
                    <a:bodyPr wrap="square"/>
                    <a:lstStyle/>
                    <a:p>
                      <a:pPr algn="l"/>
                      <a:r>
                        <a:rPr sz="1050" b="0" i="0">
                          <a:solidFill>
                            <a:srgbClr val="000000"/>
                          </a:solidFill>
                          <a:latin typeface="Calibri"/>
                        </a:rPr>
                        <a:t>Table 166: Global Market Average Selling Price by Partition Type, US$/MT, 2021–2036</a:t>
                      </a:r>
                      <a:endParaRPr sz="1050"/>
                    </a:p>
                  </a:txBody>
                  <a:tcPr marL="9525" marR="9525" marT="9525" marB="0" anchor="ctr"/>
                </a:tc>
              </a:tr>
              <a:tr h="175260">
                <a:tc>
                  <a:txBody>
                    <a:bodyPr wrap="square"/>
                    <a:lstStyle/>
                    <a:p>
                      <a:pPr algn="l"/>
                      <a:r>
                        <a:rPr sz="1050" b="0" i="0">
                          <a:solidFill>
                            <a:srgbClr val="000000"/>
                          </a:solidFill>
                          <a:latin typeface="Calibri"/>
                        </a:rPr>
                        <a:t>Table 167: Global Market Average Selling Price by Board Construction, US$/MT, 2021–2036</a:t>
                      </a:r>
                      <a:endParaRPr sz="1050"/>
                    </a:p>
                  </a:txBody>
                  <a:tcPr marL="9525" marR="9525" marT="9525" marB="0" anchor="ctr"/>
                </a:tc>
              </a:tr>
              <a:tr h="175260">
                <a:tc>
                  <a:txBody>
                    <a:bodyPr wrap="square"/>
                    <a:lstStyle/>
                    <a:p>
                      <a:pPr algn="l"/>
                      <a:r>
                        <a:rPr sz="1050" b="0" i="0">
                          <a:solidFill>
                            <a:srgbClr val="000000"/>
                          </a:solidFill>
                          <a:latin typeface="Calibri"/>
                        </a:rPr>
                        <a:t>Table 168: Global Market Average Selling Price by Material Source, US$/MT, 2021–2036</a:t>
                      </a:r>
                      <a:endParaRPr sz="1050"/>
                    </a:p>
                  </a:txBody>
                  <a:tcPr marL="9525" marR="9525" marT="9525" marB="0" anchor="ctr"/>
                </a:tc>
              </a:tr>
              <a:tr h="175260">
                <a:tc>
                  <a:txBody>
                    <a:bodyPr wrap="square"/>
                    <a:lstStyle/>
                    <a:p>
                      <a:pPr algn="l"/>
                      <a:r>
                        <a:rPr sz="1050" b="0" i="0">
                          <a:solidFill>
                            <a:srgbClr val="000000"/>
                          </a:solidFill>
                          <a:latin typeface="Calibri"/>
                        </a:rPr>
                        <a:t>Table 169: Global Market Average Selling Price by Cell Configuration, US$/MT, 2021–2036</a:t>
                      </a:r>
                      <a:endParaRPr sz="1050"/>
                    </a:p>
                  </a:txBody>
                  <a:tcPr marL="9525" marR="9525" marT="9525" marB="0" anchor="ctr"/>
                </a:tc>
              </a:tr>
              <a:tr h="175260">
                <a:tc>
                  <a:txBody>
                    <a:bodyPr wrap="square"/>
                    <a:lstStyle/>
                    <a:p>
                      <a:pPr algn="l"/>
                      <a:r>
                        <a:rPr sz="1050" b="0" i="0">
                          <a:solidFill>
                            <a:srgbClr val="000000"/>
                          </a:solidFill>
                          <a:latin typeface="Calibri"/>
                        </a:rPr>
                        <a:t>Table 170: Global Market Average Selling Price by Customization, US$/MT, 2021–2036</a:t>
                      </a:r>
                      <a:endParaRPr sz="1050"/>
                    </a:p>
                  </a:txBody>
                  <a:tcPr marL="9525" marR="9525" marT="9525" marB="0" anchor="ctr"/>
                </a:tc>
              </a:tr>
              <a:tr h="175260">
                <a:tc>
                  <a:txBody>
                    <a:bodyPr wrap="square"/>
                    <a:lstStyle/>
                    <a:p>
                      <a:pPr algn="l"/>
                      <a:r>
                        <a:rPr sz="1050" b="0" i="0">
                          <a:solidFill>
                            <a:srgbClr val="000000"/>
                          </a:solidFill>
                          <a:latin typeface="Calibri"/>
                        </a:rPr>
                        <a:t>Table 171: Global Market Average Selling Price by End Use, US$/MT, 2021–2036</a:t>
                      </a:r>
                      <a:endParaRPr sz="1050"/>
                    </a:p>
                  </a:txBody>
                  <a:tcPr marL="9525" marR="9525" marT="9525" marB="0" anchor="ctr"/>
                </a:tc>
              </a:tr>
              <a:tr h="175260">
                <a:tc>
                  <a:txBody>
                    <a:bodyPr wrap="square"/>
                    <a:lstStyle/>
                    <a:p>
                      <a:pPr algn="l"/>
                      <a:r>
                        <a:rPr sz="1050" b="0" i="0">
                          <a:solidFill>
                            <a:srgbClr val="000000"/>
                          </a:solidFill>
                          <a:latin typeface="Calibri"/>
                        </a:rPr>
                        <a:t>Table 172: Global Market Average Selling Price by Sales Channel, US$/MT, 2021–2036</a:t>
                      </a:r>
                      <a:endParaRPr sz="1050"/>
                    </a:p>
                  </a:txBody>
                  <a:tcPr marL="9525" marR="9525" marT="9525" marB="0" anchor="ctr"/>
                </a:tc>
              </a:tr>
              <a:tr h="175260">
                <a:tc>
                  <a:txBody>
                    <a:bodyPr wrap="square"/>
                    <a:lstStyle/>
                    <a:p>
                      <a:pPr algn="l"/>
                      <a:r>
                        <a:rPr sz="1050" b="0" i="0">
                          <a:solidFill>
                            <a:srgbClr val="000000"/>
                          </a:solidFill>
                          <a:latin typeface="Calibri"/>
                        </a:rPr>
                        <a:t>Table 173: Supplier-to-Customer Relationship Mapping in U.S., 2026</a:t>
                      </a:r>
                      <a:endParaRPr sz="1050"/>
                    </a:p>
                  </a:txBody>
                  <a:tcPr marL="9525" marR="9525" marT="9525" marB="0" anchor="ctr"/>
                </a:tc>
              </a:tr>
              <a:tr h="175260">
                <a:tc>
                  <a:txBody>
                    <a:bodyPr wrap="square"/>
                    <a:lstStyle/>
                    <a:p>
                      <a:pPr algn="l"/>
                      <a:r>
                        <a:rPr sz="1050" b="0" i="0">
                          <a:solidFill>
                            <a:srgbClr val="000000"/>
                          </a:solidFill>
                          <a:latin typeface="Calibri"/>
                        </a:rPr>
                        <a:t>Table 174: Global Market Value Chain Participants by Stage, 2026</a:t>
                      </a:r>
                      <a:endParaRPr sz="1050"/>
                    </a:p>
                  </a:txBody>
                  <a:tcPr marL="9525" marR="9525" marT="9525" marB="0" anchor="ctr"/>
                </a:tc>
              </a:tr>
              <a:tr h="175260">
                <a:tc>
                  <a:txBody>
                    <a:bodyPr wrap="square"/>
                    <a:lstStyle/>
                    <a:p>
                      <a:pPr algn="l"/>
                      <a:r>
                        <a:rPr sz="1050" b="0" i="0">
                          <a:solidFill>
                            <a:srgbClr val="000000"/>
                          </a:solidFill>
                          <a:latin typeface="Calibri"/>
                        </a:rPr>
                        <a:t>Table 175: Global Market Margin Analysis by Value Chain Stage, %, 2026</a:t>
                      </a:r>
                      <a:endParaRPr sz="1050"/>
                    </a:p>
                  </a:txBody>
                  <a:tcPr marL="9525" marR="9525" marT="9525" marB="0" anchor="ctr"/>
                </a:tc>
              </a:tr>
              <a:tr h="175260">
                <a:tc>
                  <a:txBody>
                    <a:bodyPr wrap="square"/>
                    <a:lstStyle/>
                    <a:p>
                      <a:pPr algn="l"/>
                      <a:r>
                        <a:rPr sz="1050" b="0" i="0">
                          <a:solidFill>
                            <a:srgbClr val="000000"/>
                          </a:solidFill>
                          <a:latin typeface="Calibri"/>
                        </a:rPr>
                        <a:t>Table 176: Global Market Cost Structure by Component, %, 2026</a:t>
                      </a:r>
                      <a:endParaRPr sz="1050"/>
                    </a:p>
                  </a:txBody>
                  <a:tcPr marL="9525" marR="9525" marT="9525" marB="0" anchor="ctr"/>
                </a:tc>
              </a:tr>
              <a:tr h="175260">
                <a:tc>
                  <a:txBody>
                    <a:bodyPr wrap="square"/>
                    <a:lstStyle/>
                    <a:p>
                      <a:pPr algn="l"/>
                      <a:r>
                        <a:rPr sz="1050" b="0" i="0">
                          <a:solidFill>
                            <a:srgbClr val="000000"/>
                          </a:solidFill>
                          <a:latin typeface="Calibri"/>
                        </a:rPr>
                        <a:t>Table 177: Global Market Import Value by Leading Country, US$ Mn, 2021–2025</a:t>
                      </a:r>
                      <a:endParaRPr sz="1050"/>
                    </a:p>
                  </a:txBody>
                  <a:tcPr marL="9525" marR="9525" marT="9525" marB="0" anchor="ctr"/>
                </a:tc>
              </a:tr>
              <a:tr h="175260">
                <a:tc>
                  <a:txBody>
                    <a:bodyPr wrap="square"/>
                    <a:lstStyle/>
                    <a:p>
                      <a:pPr algn="l"/>
                      <a:r>
                        <a:rPr sz="1050" b="0" i="0">
                          <a:solidFill>
                            <a:srgbClr val="000000"/>
                          </a:solidFill>
                          <a:latin typeface="Calibri"/>
                        </a:rPr>
                        <a:t>Table 178: Global Market Export Value by Leading Country, US$ Mn, 2021–2025</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3827156"/>
        </p:xfrm>
        <a:graphic>
          <a:graphicData uri="http://schemas.openxmlformats.org/drawingml/2006/table">
            <a:tbl>
              <a:tblPr>
                <a:tableStyleId>{3B4B98B0-60AC-42C2-AFA5-B58CD77FA1E5}</a:tableStyleId>
              </a:tblPr>
              <a:tblGrid>
                <a:gridCol w="5876925"/>
              </a:tblGrid>
              <a:tr h="326708">
                <a:tc>
                  <a:txBody>
                    <a:bodyPr wrap="square"/>
                    <a:lstStyle/>
                    <a:p>
                      <a:pPr algn="l"/>
                      <a:r>
                        <a:rPr sz="1050" b="0" i="0">
                          <a:solidFill>
                            <a:srgbClr val="000000"/>
                          </a:solidFill>
                          <a:latin typeface="Calibri"/>
                        </a:rPr>
                        <a:t>Table 179: Leading Corrugated Partition Manufacturers: Product Portfolio and Geographic Presence, 2026</a:t>
                      </a:r>
                      <a:endParaRPr sz="1050"/>
                    </a:p>
                  </a:txBody>
                  <a:tcPr marL="9525" marR="9525" marT="9525" marB="0" anchor="ctr"/>
                </a:tc>
              </a:tr>
              <a:tr h="166688">
                <a:tc>
                  <a:txBody>
                    <a:bodyPr wrap="square"/>
                    <a:lstStyle/>
                    <a:p>
                      <a:pPr algn="l"/>
                      <a:r>
                        <a:rPr sz="1050" b="0" i="0">
                          <a:solidFill>
                            <a:srgbClr val="000000"/>
                          </a:solidFill>
                          <a:latin typeface="Calibri"/>
                        </a:rPr>
                        <a:t>Table 180: Company Revenue from the Global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181: Company Market Share in the Global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182: Global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183: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184: Multicell Packaging Inc.: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185: Company: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186: Great American Paper Inc.: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Interpack Inc.: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Caps Cases Ltd.: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M &amp; M Box &amp; Partitions Co.: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Martin Partitions: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Buckeye Corrugated Inc.: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Cactus Corrugated Containers Inc.: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Jarrett Industries Inc.: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195: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Opportunity Assessment by Partition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Client Opportunity Prioritisation by Partition Type,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Customer Purchase Criteria by Partition Type, 2026</a:t>
                      </a:r>
                      <a:endParaRPr sz="1050"/>
                    </a:p>
                  </a:txBody>
                  <a:tcPr marL="9525" marR="9525" marT="9525" marB="0" anchor="ctr"/>
                </a:tc>
              </a:tr>
              <a:tr h="166688">
                <a:tc>
                  <a:txBody>
                    <a:bodyPr wrap="square"/>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44919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2753995"/>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3458845"/>
            <a:ext cx="5067300" cy="237871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Partition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Board Construction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Source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Cell Configuration</a:t>
            </a:r>
          </a:p>
        </p:txBody>
      </p:sp>
      <p:sp>
        <p:nvSpPr>
          <p:cNvPr id="8" name="TextBox 7"/>
          <p:cNvSpPr txBox="1"/>
          <p:nvPr/>
        </p:nvSpPr>
        <p:spPr>
          <a:xfrm>
            <a:off x="6096000" y="3458845"/>
            <a:ext cx="5067300" cy="214249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Customization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Sales Channel</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Partition Type × End Use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Board Construction × End Use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Cell Configuration × End Use</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Summary, By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534618" cy="194310"/>
          </a:xfrm>
          <a:prstGeom prst="rect">
            <a:avLst/>
          </a:prstGeom>
          <a:noFill/>
        </p:spPr>
        <p:txBody>
          <a:bodyPr wrap="none" lIns="0" rIns="0" tIns="0" bIns="0">
            <a:spAutoFit/>
          </a:bodyPr>
          <a:lstStyle/>
          <a:p>
            <a:r>
              <a:rPr sz="1150" b="0">
                <a:solidFill>
                  <a:srgbClr val="2E2E2E"/>
                </a:solidFill>
                <a:latin typeface="Calibri"/>
              </a:rPr>
              <a:t>Global corrugated partition market is projected to register</a:t>
            </a:r>
          </a:p>
        </p:txBody>
      </p:sp>
      <p:pic>
        <p:nvPicPr>
          <p:cNvPr id="36" name="Picture 35" descr="lock.png"/>
          <p:cNvPicPr>
            <a:picLocks noChangeAspect="1"/>
          </p:cNvPicPr>
          <p:nvPr/>
        </p:nvPicPr>
        <p:blipFill>
          <a:blip r:embed="rId6"/>
          <a:stretch>
            <a:fillRect/>
          </a:stretch>
        </p:blipFill>
        <p:spPr>
          <a:xfrm>
            <a:off x="11532397" y="2036763"/>
            <a:ext cx="134549" cy="195707"/>
          </a:xfrm>
          <a:prstGeom prst="rect">
            <a:avLst/>
          </a:prstGeom>
        </p:spPr>
      </p:pic>
      <p:sp>
        <p:nvSpPr>
          <p:cNvPr id="37" name="TextBox 36"/>
          <p:cNvSpPr txBox="1"/>
          <p:nvPr/>
        </p:nvSpPr>
        <p:spPr>
          <a:xfrm>
            <a:off x="11707506" y="2046987"/>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8" name="TextBox 37"/>
          <p:cNvSpPr txBox="1"/>
          <p:nvPr/>
        </p:nvSpPr>
        <p:spPr>
          <a:xfrm>
            <a:off x="8048625" y="2222247"/>
            <a:ext cx="3769382" cy="194310"/>
          </a:xfrm>
          <a:prstGeom prst="rect">
            <a:avLst/>
          </a:prstGeom>
          <a:noFill/>
        </p:spPr>
        <p:txBody>
          <a:bodyPr wrap="none" lIns="0" rIns="0" tIns="0" bIns="0">
            <a:spAutoFit/>
          </a:bodyPr>
          <a:lstStyle/>
          <a:p>
            <a:r>
              <a:rPr sz="1150" b="0">
                <a:solidFill>
                  <a:srgbClr val="2E2E2E"/>
                </a:solidFill>
                <a:latin typeface="Calibri"/>
              </a:rPr>
              <a:t>increase in volume by the end of forecast period, 2036. Global</a:t>
            </a:r>
          </a:p>
        </p:txBody>
      </p:sp>
      <p:sp>
        <p:nvSpPr>
          <p:cNvPr id="39" name="TextBox 38"/>
          <p:cNvSpPr txBox="1"/>
          <p:nvPr/>
        </p:nvSpPr>
        <p:spPr>
          <a:xfrm>
            <a:off x="8048625" y="2397507"/>
            <a:ext cx="2737904" cy="194310"/>
          </a:xfrm>
          <a:prstGeom prst="rect">
            <a:avLst/>
          </a:prstGeom>
          <a:noFill/>
        </p:spPr>
        <p:txBody>
          <a:bodyPr wrap="none" lIns="0" rIns="0" tIns="0" bIns="0">
            <a:spAutoFit/>
          </a:bodyPr>
          <a:lstStyle/>
          <a:p>
            <a:r>
              <a:rPr sz="1150" b="0">
                <a:solidFill>
                  <a:srgbClr val="2E2E2E"/>
                </a:solidFill>
                <a:latin typeface="Calibri"/>
              </a:rPr>
              <a:t>corrugated partition market volume stood at</a:t>
            </a:r>
          </a:p>
        </p:txBody>
      </p:sp>
      <p:pic>
        <p:nvPicPr>
          <p:cNvPr id="40" name="Picture 39" descr="lock.png"/>
          <p:cNvPicPr>
            <a:picLocks noChangeAspect="1"/>
          </p:cNvPicPr>
          <p:nvPr/>
        </p:nvPicPr>
        <p:blipFill>
          <a:blip r:embed="rId6"/>
          <a:stretch>
            <a:fillRect/>
          </a:stretch>
        </p:blipFill>
        <p:spPr>
          <a:xfrm>
            <a:off x="10735683" y="2387283"/>
            <a:ext cx="134549" cy="195707"/>
          </a:xfrm>
          <a:prstGeom prst="rect">
            <a:avLst/>
          </a:prstGeom>
        </p:spPr>
      </p:pic>
      <p:sp>
        <p:nvSpPr>
          <p:cNvPr id="41" name="TextBox 40"/>
          <p:cNvSpPr txBox="1"/>
          <p:nvPr/>
        </p:nvSpPr>
        <p:spPr>
          <a:xfrm>
            <a:off x="10910792" y="2397507"/>
            <a:ext cx="745690" cy="194310"/>
          </a:xfrm>
          <a:prstGeom prst="rect">
            <a:avLst/>
          </a:prstGeom>
          <a:noFill/>
        </p:spPr>
        <p:txBody>
          <a:bodyPr wrap="none" lIns="0" rIns="0" tIns="0" bIns="0">
            <a:spAutoFit/>
          </a:bodyPr>
          <a:lstStyle/>
          <a:p>
            <a:r>
              <a:rPr sz="1150" b="0">
                <a:solidFill>
                  <a:srgbClr val="2E2E2E"/>
                </a:solidFill>
                <a:latin typeface="Calibri"/>
              </a:rPr>
              <a:t>MT in 2025</a:t>
            </a:r>
          </a:p>
        </p:txBody>
      </p:sp>
      <p:sp>
        <p:nvSpPr>
          <p:cNvPr id="42" name="TextBox 41"/>
          <p:cNvSpPr txBox="1"/>
          <p:nvPr/>
        </p:nvSpPr>
        <p:spPr>
          <a:xfrm>
            <a:off x="8048625" y="2572767"/>
            <a:ext cx="1527001" cy="194310"/>
          </a:xfrm>
          <a:prstGeom prst="rect">
            <a:avLst/>
          </a:prstGeom>
          <a:noFill/>
        </p:spPr>
        <p:txBody>
          <a:bodyPr wrap="none" lIns="0" rIns="0" tIns="0" bIns="0">
            <a:spAutoFit/>
          </a:bodyPr>
          <a:lstStyle/>
          <a:p>
            <a:r>
              <a:rPr sz="1150" b="0">
                <a:solidFill>
                  <a:srgbClr val="2E2E2E"/>
                </a:solidFill>
                <a:latin typeface="Calibri"/>
              </a:rPr>
              <a:t>and is expected to reach</a:t>
            </a:r>
          </a:p>
        </p:txBody>
      </p:sp>
      <p:pic>
        <p:nvPicPr>
          <p:cNvPr id="43" name="Picture 42" descr="lock.png"/>
          <p:cNvPicPr>
            <a:picLocks noChangeAspect="1"/>
          </p:cNvPicPr>
          <p:nvPr/>
        </p:nvPicPr>
        <p:blipFill>
          <a:blip r:embed="rId6"/>
          <a:stretch>
            <a:fillRect/>
          </a:stretch>
        </p:blipFill>
        <p:spPr>
          <a:xfrm>
            <a:off x="9524780" y="2562543"/>
            <a:ext cx="134549" cy="195707"/>
          </a:xfrm>
          <a:prstGeom prst="rect">
            <a:avLst/>
          </a:prstGeom>
        </p:spPr>
      </p:pic>
      <p:sp>
        <p:nvSpPr>
          <p:cNvPr id="44" name="TextBox 43"/>
          <p:cNvSpPr txBox="1"/>
          <p:nvPr/>
        </p:nvSpPr>
        <p:spPr>
          <a:xfrm>
            <a:off x="9699889" y="2572767"/>
            <a:ext cx="1850461" cy="194310"/>
          </a:xfrm>
          <a:prstGeom prst="rect">
            <a:avLst/>
          </a:prstGeom>
          <a:noFill/>
        </p:spPr>
        <p:txBody>
          <a:bodyPr wrap="none" lIns="0" rIns="0" tIns="0" bIns="0">
            <a:spAutoFit/>
          </a:bodyPr>
          <a:lstStyle/>
          <a:p>
            <a:r>
              <a:rPr sz="1150" b="0">
                <a:solidFill>
                  <a:srgbClr val="2E2E2E"/>
                </a:solidFill>
                <a:latin typeface="Calibri"/>
              </a:rPr>
              <a:t>MT by 2036 end, at a CAGR of</a:t>
            </a:r>
          </a:p>
        </p:txBody>
      </p:sp>
      <p:pic>
        <p:nvPicPr>
          <p:cNvPr id="45" name="Picture 44" descr="lock.png"/>
          <p:cNvPicPr>
            <a:picLocks noChangeAspect="1"/>
          </p:cNvPicPr>
          <p:nvPr/>
        </p:nvPicPr>
        <p:blipFill>
          <a:blip r:embed="rId6"/>
          <a:stretch>
            <a:fillRect/>
          </a:stretch>
        </p:blipFill>
        <p:spPr>
          <a:xfrm>
            <a:off x="8034545" y="2737803"/>
            <a:ext cx="134549" cy="195707"/>
          </a:xfrm>
          <a:prstGeom prst="rect">
            <a:avLst/>
          </a:prstGeom>
        </p:spPr>
      </p:pic>
      <p:sp>
        <p:nvSpPr>
          <p:cNvPr id="46" name="TextBox 45"/>
          <p:cNvSpPr txBox="1"/>
          <p:nvPr/>
        </p:nvSpPr>
        <p:spPr>
          <a:xfrm>
            <a:off x="8209654" y="274802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7" name="TextBox 46"/>
          <p:cNvSpPr txBox="1"/>
          <p:nvPr/>
        </p:nvSpPr>
        <p:spPr>
          <a:xfrm>
            <a:off x="8048625" y="2975864"/>
            <a:ext cx="3842122" cy="194310"/>
          </a:xfrm>
          <a:prstGeom prst="rect">
            <a:avLst/>
          </a:prstGeom>
          <a:noFill/>
        </p:spPr>
        <p:txBody>
          <a:bodyPr wrap="none" lIns="0" rIns="0" tIns="0" bIns="0">
            <a:spAutoFit/>
          </a:bodyPr>
          <a:lstStyle/>
          <a:p>
            <a:r>
              <a:rPr sz="1150" b="0">
                <a:solidFill>
                  <a:srgbClr val="2E2E2E"/>
                </a:solidFill>
                <a:latin typeface="Calibri"/>
              </a:rPr>
              <a:t>Value is projected to grow faster than volume over the forecast</a:t>
            </a:r>
          </a:p>
        </p:txBody>
      </p:sp>
      <p:sp>
        <p:nvSpPr>
          <p:cNvPr id="48" name="TextBox 47"/>
          <p:cNvSpPr txBox="1"/>
          <p:nvPr/>
        </p:nvSpPr>
        <p:spPr>
          <a:xfrm>
            <a:off x="8048625" y="3151124"/>
            <a:ext cx="3184897" cy="194310"/>
          </a:xfrm>
          <a:prstGeom prst="rect">
            <a:avLst/>
          </a:prstGeom>
          <a:noFill/>
        </p:spPr>
        <p:txBody>
          <a:bodyPr wrap="none" lIns="0" rIns="0" tIns="0" bIns="0">
            <a:spAutoFit/>
          </a:bodyPr>
          <a:lstStyle/>
          <a:p>
            <a:r>
              <a:rPr sz="1150" b="0">
                <a:solidFill>
                  <a:srgbClr val="2E2E2E"/>
                </a:solidFill>
                <a:latin typeface="Calibri"/>
              </a:rPr>
              <a:t>period, owing to an increase in average selling price.</a:t>
            </a:r>
          </a:p>
        </p:txBody>
      </p:sp>
      <p:sp>
        <p:nvSpPr>
          <p:cNvPr id="49" name="TextBox 48"/>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50" name="Picture 49" descr="lock.png"/>
          <p:cNvPicPr>
            <a:picLocks noChangeAspect="1"/>
          </p:cNvPicPr>
          <p:nvPr/>
        </p:nvPicPr>
        <p:blipFill>
          <a:blip r:embed="rId6"/>
          <a:stretch>
            <a:fillRect/>
          </a:stretch>
        </p:blipFill>
        <p:spPr>
          <a:xfrm>
            <a:off x="10866614" y="4446251"/>
            <a:ext cx="134549" cy="195707"/>
          </a:xfrm>
          <a:prstGeom prst="rect">
            <a:avLst/>
          </a:prstGeom>
        </p:spPr>
      </p:pic>
      <p:sp>
        <p:nvSpPr>
          <p:cNvPr id="51" name="TextBox 50"/>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2" name="TextBox 51"/>
          <p:cNvSpPr txBox="1"/>
          <p:nvPr/>
        </p:nvSpPr>
        <p:spPr>
          <a:xfrm>
            <a:off x="8048625" y="4684312"/>
            <a:ext cx="3653569" cy="194310"/>
          </a:xfrm>
          <a:prstGeom prst="rect">
            <a:avLst/>
          </a:prstGeom>
          <a:noFill/>
        </p:spPr>
        <p:txBody>
          <a:bodyPr wrap="none" lIns="0" rIns="0" tIns="0" bIns="0">
            <a:spAutoFit/>
          </a:bodyPr>
          <a:lstStyle/>
          <a:p>
            <a:r>
              <a:rPr sz="1150" b="0">
                <a:solidFill>
                  <a:srgbClr val="2E2E2E"/>
                </a:solidFill>
                <a:latin typeface="Calibri"/>
              </a:rPr>
              <a:t>▪ Demand concentrates in 'Flat Dividers &amp; Layer Pads' within</a:t>
            </a:r>
          </a:p>
        </p:txBody>
      </p:sp>
      <p:sp>
        <p:nvSpPr>
          <p:cNvPr id="53" name="TextBox 52"/>
          <p:cNvSpPr txBox="1"/>
          <p:nvPr/>
        </p:nvSpPr>
        <p:spPr>
          <a:xfrm>
            <a:off x="8048625" y="4859572"/>
            <a:ext cx="948791" cy="194310"/>
          </a:xfrm>
          <a:prstGeom prst="rect">
            <a:avLst/>
          </a:prstGeom>
          <a:noFill/>
        </p:spPr>
        <p:txBody>
          <a:bodyPr wrap="none" lIns="0" rIns="0" tIns="0" bIns="0">
            <a:spAutoFit/>
          </a:bodyPr>
          <a:lstStyle/>
          <a:p>
            <a:r>
              <a:rPr sz="1150" b="0">
                <a:solidFill>
                  <a:srgbClr val="2E2E2E"/>
                </a:solidFill>
                <a:latin typeface="Calibri"/>
              </a:rPr>
              <a:t>Partition Type.</a:t>
            </a:r>
          </a:p>
        </p:txBody>
      </p:sp>
      <p:sp>
        <p:nvSpPr>
          <p:cNvPr id="54" name="TextBox 53"/>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5" name="TextBox 54"/>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6"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Partition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7" name="Connector 26"/>
          <p:cNvCxnSpPr/>
          <p:nvPr/>
        </p:nvCxnSpPr>
        <p:spPr>
          <a:xfrm flipV="1">
            <a:off x="1825625" y="2680603"/>
            <a:ext cx="0" cy="43894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6941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694180" y="268060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606550" y="2794469"/>
            <a:ext cx="438150" cy="21928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606550" y="290545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528203"/>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4162425" y="1670329"/>
            <a:ext cx="0" cy="54977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4030980" y="222010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40309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943350" y="1812897"/>
            <a:ext cx="438150" cy="27463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943350" y="195189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994025" y="1517929"/>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6499225" y="2172796"/>
            <a:ext cx="0" cy="49436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6367780" y="266716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6367780" y="21727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6280150" y="2300996"/>
            <a:ext cx="438150" cy="24697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6280150" y="2425980"/>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5330825" y="2020396"/>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45" name="TextBox 44"/>
          <p:cNvSpPr txBox="1"/>
          <p:nvPr/>
        </p:nvSpPr>
        <p:spPr>
          <a:xfrm>
            <a:off x="6572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Slotted (Interlocking…</a:t>
            </a:r>
          </a:p>
        </p:txBody>
      </p:sp>
      <p:sp>
        <p:nvSpPr>
          <p:cNvPr id="46" name="TextBox 45"/>
          <p:cNvSpPr txBox="1"/>
          <p:nvPr/>
        </p:nvSpPr>
        <p:spPr>
          <a:xfrm>
            <a:off x="29940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Die-Cut &amp; Folded Part…</a:t>
            </a:r>
          </a:p>
        </p:txBody>
      </p:sp>
      <p:sp>
        <p:nvSpPr>
          <p:cNvPr id="47" name="TextBox 46"/>
          <p:cNvSpPr txBox="1"/>
          <p:nvPr/>
        </p:nvSpPr>
        <p:spPr>
          <a:xfrm>
            <a:off x="53308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Flat Dividers &amp; Layer…</a:t>
            </a:r>
          </a:p>
        </p:txBody>
      </p:sp>
      <p:sp>
        <p:nvSpPr>
          <p:cNvPr id="48" name="Rounded Rectangle 47"/>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50" name="Connector 49"/>
          <p:cNvCxnSpPr/>
          <p:nvPr/>
        </p:nvCxnSpPr>
        <p:spPr>
          <a:xfrm>
            <a:off x="619125" y="431557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619125" y="472767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619125" y="555187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619125" y="596397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619125" y="4315573"/>
            <a:ext cx="0" cy="164840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590550" y="43155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590550" y="472767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90550" y="555187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590550" y="596397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1" name="FMI Scale tick"/>
          <p:cNvSpPr txBox="1"/>
          <p:nvPr/>
        </p:nvSpPr>
        <p:spPr>
          <a:xfrm>
            <a:off x="138112" y="4248898"/>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+8.8%</a:t>
            </a:r>
          </a:p>
        </p:txBody>
      </p:sp>
      <p:sp>
        <p:nvSpPr>
          <p:cNvPr id="62" name="FMI Scale tick"/>
          <p:cNvSpPr txBox="1"/>
          <p:nvPr/>
        </p:nvSpPr>
        <p:spPr>
          <a:xfrm>
            <a:off x="138112" y="4660999"/>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+4.4%</a:t>
            </a:r>
          </a:p>
        </p:txBody>
      </p:sp>
      <p:sp>
        <p:nvSpPr>
          <p:cNvPr id="63"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64" name="FMI Scale tick"/>
          <p:cNvSpPr txBox="1"/>
          <p:nvPr/>
        </p:nvSpPr>
        <p:spPr>
          <a:xfrm>
            <a:off x="164306" y="5485202"/>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-4.4%</a:t>
            </a:r>
          </a:p>
        </p:txBody>
      </p:sp>
      <p:sp>
        <p:nvSpPr>
          <p:cNvPr id="65" name="FMI Scale tick"/>
          <p:cNvSpPr txBox="1"/>
          <p:nvPr/>
        </p:nvSpPr>
        <p:spPr>
          <a:xfrm>
            <a:off x="164306" y="5897304"/>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-8.8%</a:t>
            </a:r>
          </a:p>
        </p:txBody>
      </p:sp>
      <p:cxnSp>
        <p:nvCxnSpPr>
          <p:cNvPr id="66" name="Connector 65"/>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977900" y="5139776"/>
            <a:ext cx="457200" cy="689242"/>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619125" y="583854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9" name="Rectangle 68"/>
          <p:cNvSpPr/>
          <p:nvPr/>
        </p:nvSpPr>
        <p:spPr>
          <a:xfrm>
            <a:off x="2152650" y="5086029"/>
            <a:ext cx="457200" cy="5374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1793875" y="4943154"/>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1" name="Rectangle 70"/>
          <p:cNvSpPr/>
          <p:nvPr/>
        </p:nvSpPr>
        <p:spPr>
          <a:xfrm>
            <a:off x="3327400"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MI Data Label"/>
          <p:cNvSpPr txBox="1"/>
          <p:nvPr/>
        </p:nvSpPr>
        <p:spPr>
          <a:xfrm>
            <a:off x="2968625" y="428058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3" name="FMI Data Label"/>
          <p:cNvSpPr txBox="1"/>
          <p:nvPr/>
        </p:nvSpPr>
        <p:spPr>
          <a:xfrm>
            <a:off x="4143375" y="4988344"/>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4" name="Rectangle 73"/>
          <p:cNvSpPr/>
          <p:nvPr/>
        </p:nvSpPr>
        <p:spPr>
          <a:xfrm>
            <a:off x="5676900" y="4987586"/>
            <a:ext cx="457200" cy="15219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5318125" y="484471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6" name="Rectangle 75"/>
          <p:cNvSpPr/>
          <p:nvPr/>
        </p:nvSpPr>
        <p:spPr>
          <a:xfrm>
            <a:off x="6851650" y="4769944"/>
            <a:ext cx="457200" cy="36983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6492875" y="462706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8" name="TextBox 77"/>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79" name="TextBox 78"/>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80" name="TextBox 79"/>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81" name="TextBox 80"/>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82" name="TextBox 81"/>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83" name="TextBox 82"/>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84" name="Rounded Rectangle 83"/>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6" name="Rectangle 85"/>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88" name="TextBox 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9" name="Picture 88" descr="lock.png"/>
          <p:cNvPicPr>
            <a:picLocks noChangeAspect="1"/>
          </p:cNvPicPr>
          <p:nvPr/>
        </p:nvPicPr>
        <p:blipFill>
          <a:blip r:embed="rId4"/>
          <a:stretch>
            <a:fillRect/>
          </a:stretch>
        </p:blipFill>
        <p:spPr>
          <a:xfrm>
            <a:off x="1761275" y="2501279"/>
            <a:ext cx="128699" cy="187198"/>
          </a:xfrm>
          <a:prstGeom prst="rect">
            <a:avLst/>
          </a:prstGeom>
        </p:spPr>
      </p:pic>
      <p:pic>
        <p:nvPicPr>
          <p:cNvPr id="90" name="Picture 89" descr="lock.png"/>
          <p:cNvPicPr>
            <a:picLocks noChangeAspect="1"/>
          </p:cNvPicPr>
          <p:nvPr/>
        </p:nvPicPr>
        <p:blipFill>
          <a:blip r:embed="rId4"/>
          <a:stretch>
            <a:fillRect/>
          </a:stretch>
        </p:blipFill>
        <p:spPr>
          <a:xfrm>
            <a:off x="4098075" y="1491005"/>
            <a:ext cx="128699" cy="187198"/>
          </a:xfrm>
          <a:prstGeom prst="rect">
            <a:avLst/>
          </a:prstGeom>
        </p:spPr>
      </p:pic>
      <p:pic>
        <p:nvPicPr>
          <p:cNvPr id="91" name="Picture 90" descr="lock.png"/>
          <p:cNvPicPr>
            <a:picLocks noChangeAspect="1"/>
          </p:cNvPicPr>
          <p:nvPr/>
        </p:nvPicPr>
        <p:blipFill>
          <a:blip r:embed="rId4"/>
          <a:stretch>
            <a:fillRect/>
          </a:stretch>
        </p:blipFill>
        <p:spPr>
          <a:xfrm>
            <a:off x="6434875" y="1993472"/>
            <a:ext cx="128699" cy="187198"/>
          </a:xfrm>
          <a:prstGeom prst="rect">
            <a:avLst/>
          </a:prstGeom>
        </p:spPr>
      </p:pic>
      <p:pic>
        <p:nvPicPr>
          <p:cNvPr id="92" name="Picture 91" descr="lock.png"/>
          <p:cNvPicPr>
            <a:picLocks noChangeAspect="1"/>
          </p:cNvPicPr>
          <p:nvPr/>
        </p:nvPicPr>
        <p:blipFill>
          <a:blip r:embed="rId4"/>
          <a:stretch>
            <a:fillRect/>
          </a:stretch>
        </p:blipFill>
        <p:spPr>
          <a:xfrm>
            <a:off x="1142150" y="5811618"/>
            <a:ext cx="128699" cy="187198"/>
          </a:xfrm>
          <a:prstGeom prst="rect">
            <a:avLst/>
          </a:prstGeom>
        </p:spPr>
      </p:pic>
      <p:pic>
        <p:nvPicPr>
          <p:cNvPr id="93" name="Picture 92" descr="lock.png"/>
          <p:cNvPicPr>
            <a:picLocks noChangeAspect="1"/>
          </p:cNvPicPr>
          <p:nvPr/>
        </p:nvPicPr>
        <p:blipFill>
          <a:blip r:embed="rId4"/>
          <a:stretch>
            <a:fillRect/>
          </a:stretch>
        </p:blipFill>
        <p:spPr>
          <a:xfrm>
            <a:off x="2316900" y="4916229"/>
            <a:ext cx="128699" cy="187198"/>
          </a:xfrm>
          <a:prstGeom prst="rect">
            <a:avLst/>
          </a:prstGeom>
        </p:spPr>
      </p:pic>
      <p:pic>
        <p:nvPicPr>
          <p:cNvPr id="94" name="Picture 93" descr="lock.png"/>
          <p:cNvPicPr>
            <a:picLocks noChangeAspect="1"/>
          </p:cNvPicPr>
          <p:nvPr/>
        </p:nvPicPr>
        <p:blipFill>
          <a:blip r:embed="rId4"/>
          <a:stretch>
            <a:fillRect/>
          </a:stretch>
        </p:blipFill>
        <p:spPr>
          <a:xfrm>
            <a:off x="3491650" y="4253659"/>
            <a:ext cx="128699" cy="187198"/>
          </a:xfrm>
          <a:prstGeom prst="rect">
            <a:avLst/>
          </a:prstGeom>
        </p:spPr>
      </p:pic>
      <p:pic>
        <p:nvPicPr>
          <p:cNvPr id="95" name="Picture 94" descr="lock.png"/>
          <p:cNvPicPr>
            <a:picLocks noChangeAspect="1"/>
          </p:cNvPicPr>
          <p:nvPr/>
        </p:nvPicPr>
        <p:blipFill>
          <a:blip r:embed="rId4"/>
          <a:stretch>
            <a:fillRect/>
          </a:stretch>
        </p:blipFill>
        <p:spPr>
          <a:xfrm>
            <a:off x="4666400" y="4961419"/>
            <a:ext cx="128699" cy="187198"/>
          </a:xfrm>
          <a:prstGeom prst="rect">
            <a:avLst/>
          </a:prstGeom>
        </p:spPr>
      </p:pic>
      <p:pic>
        <p:nvPicPr>
          <p:cNvPr id="96" name="Picture 95" descr="lock.png"/>
          <p:cNvPicPr>
            <a:picLocks noChangeAspect="1"/>
          </p:cNvPicPr>
          <p:nvPr/>
        </p:nvPicPr>
        <p:blipFill>
          <a:blip r:embed="rId4"/>
          <a:stretch>
            <a:fillRect/>
          </a:stretch>
        </p:blipFill>
        <p:spPr>
          <a:xfrm>
            <a:off x="5841150" y="4817786"/>
            <a:ext cx="128699" cy="187198"/>
          </a:xfrm>
          <a:prstGeom prst="rect">
            <a:avLst/>
          </a:prstGeom>
        </p:spPr>
      </p:pic>
      <p:pic>
        <p:nvPicPr>
          <p:cNvPr id="97" name="Picture 96" descr="lock.png"/>
          <p:cNvPicPr>
            <a:picLocks noChangeAspect="1"/>
          </p:cNvPicPr>
          <p:nvPr/>
        </p:nvPicPr>
        <p:blipFill>
          <a:blip r:embed="rId4"/>
          <a:stretch>
            <a:fillRect/>
          </a:stretch>
        </p:blipFill>
        <p:spPr>
          <a:xfrm>
            <a:off x="7015900" y="4600145"/>
            <a:ext cx="128699" cy="187198"/>
          </a:xfrm>
          <a:prstGeom prst="rect">
            <a:avLst/>
          </a:prstGeom>
        </p:spPr>
      </p:pic>
      <p:sp>
        <p:nvSpPr>
          <p:cNvPr id="98" name="TextBox 97"/>
          <p:cNvSpPr txBox="1"/>
          <p:nvPr/>
        </p:nvSpPr>
        <p:spPr>
          <a:xfrm>
            <a:off x="8048625" y="1471995"/>
            <a:ext cx="3403401" cy="194310"/>
          </a:xfrm>
          <a:prstGeom prst="rect">
            <a:avLst/>
          </a:prstGeom>
          <a:noFill/>
        </p:spPr>
        <p:txBody>
          <a:bodyPr wrap="none" lIns="0" rIns="0" tIns="0" bIns="0">
            <a:spAutoFit/>
          </a:bodyPr>
          <a:lstStyle/>
          <a:p>
            <a:r>
              <a:rPr sz="1150" b="0">
                <a:solidFill>
                  <a:srgbClr val="2E2E2E"/>
                </a:solidFill>
                <a:latin typeface="Calibri"/>
              </a:rPr>
              <a:t>Die-cut &amp; folded partitions (h-dividers, tube/cell inserts)</a:t>
            </a:r>
          </a:p>
        </p:txBody>
      </p:sp>
      <p:sp>
        <p:nvSpPr>
          <p:cNvPr id="99" name="TextBox 98"/>
          <p:cNvSpPr txBox="1"/>
          <p:nvPr/>
        </p:nvSpPr>
        <p:spPr>
          <a:xfrm>
            <a:off x="8048625" y="1647255"/>
            <a:ext cx="3767956" cy="194310"/>
          </a:xfrm>
          <a:prstGeom prst="rect">
            <a:avLst/>
          </a:prstGeom>
          <a:noFill/>
        </p:spPr>
        <p:txBody>
          <a:bodyPr wrap="none" lIns="0" rIns="0" tIns="0" bIns="0">
            <a:spAutoFit/>
          </a:bodyPr>
          <a:lstStyle/>
          <a:p>
            <a:r>
              <a:rPr sz="1150" b="0">
                <a:solidFill>
                  <a:srgbClr val="2E2E2E"/>
                </a:solidFill>
                <a:latin typeface="Calibri"/>
              </a:rPr>
              <a:t>segment is expected to command the highest average price of</a:t>
            </a:r>
          </a:p>
        </p:txBody>
      </p:sp>
      <p:sp>
        <p:nvSpPr>
          <p:cNvPr id="100" name="TextBox 99"/>
          <p:cNvSpPr txBox="1"/>
          <p:nvPr/>
        </p:nvSpPr>
        <p:spPr>
          <a:xfrm>
            <a:off x="8048625" y="1822515"/>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101" name="Picture 100" descr="lock.png"/>
          <p:cNvPicPr>
            <a:picLocks noChangeAspect="1"/>
          </p:cNvPicPr>
          <p:nvPr/>
        </p:nvPicPr>
        <p:blipFill>
          <a:blip r:embed="rId4"/>
          <a:stretch>
            <a:fillRect/>
          </a:stretch>
        </p:blipFill>
        <p:spPr>
          <a:xfrm>
            <a:off x="8309028" y="1812291"/>
            <a:ext cx="134549" cy="195707"/>
          </a:xfrm>
          <a:prstGeom prst="rect">
            <a:avLst/>
          </a:prstGeom>
        </p:spPr>
      </p:pic>
      <p:sp>
        <p:nvSpPr>
          <p:cNvPr id="102" name="TextBox 101"/>
          <p:cNvSpPr txBox="1"/>
          <p:nvPr/>
        </p:nvSpPr>
        <p:spPr>
          <a:xfrm>
            <a:off x="8484137" y="1822515"/>
            <a:ext cx="3115825" cy="194310"/>
          </a:xfrm>
          <a:prstGeom prst="rect">
            <a:avLst/>
          </a:prstGeom>
          <a:noFill/>
        </p:spPr>
        <p:txBody>
          <a:bodyPr wrap="none" lIns="0" rIns="0" tIns="0" bIns="0">
            <a:spAutoFit/>
          </a:bodyPr>
          <a:lstStyle/>
          <a:p>
            <a:r>
              <a:rPr sz="1150" b="0">
                <a:solidFill>
                  <a:srgbClr val="2E2E2E"/>
                </a:solidFill>
                <a:latin typeface="Calibri"/>
              </a:rPr>
              <a:t>per MT in 2036. Average selling price of corrugated</a:t>
            </a:r>
          </a:p>
        </p:txBody>
      </p:sp>
      <p:sp>
        <p:nvSpPr>
          <p:cNvPr id="103" name="TextBox 102"/>
          <p:cNvSpPr txBox="1"/>
          <p:nvPr/>
        </p:nvSpPr>
        <p:spPr>
          <a:xfrm>
            <a:off x="8048625" y="1997775"/>
            <a:ext cx="1767755" cy="194310"/>
          </a:xfrm>
          <a:prstGeom prst="rect">
            <a:avLst/>
          </a:prstGeom>
          <a:noFill/>
        </p:spPr>
        <p:txBody>
          <a:bodyPr wrap="none" lIns="0" rIns="0" tIns="0" bIns="0">
            <a:spAutoFit/>
          </a:bodyPr>
          <a:lstStyle/>
          <a:p>
            <a:r>
              <a:rPr sz="1150" b="0">
                <a:solidFill>
                  <a:srgbClr val="2E2E2E"/>
                </a:solidFill>
                <a:latin typeface="Calibri"/>
              </a:rPr>
              <a:t>partition is estimated at US$</a:t>
            </a:r>
          </a:p>
        </p:txBody>
      </p:sp>
      <p:pic>
        <p:nvPicPr>
          <p:cNvPr id="104" name="Picture 103" descr="lock.png"/>
          <p:cNvPicPr>
            <a:picLocks noChangeAspect="1"/>
          </p:cNvPicPr>
          <p:nvPr/>
        </p:nvPicPr>
        <p:blipFill>
          <a:blip r:embed="rId4"/>
          <a:stretch>
            <a:fillRect/>
          </a:stretch>
        </p:blipFill>
        <p:spPr>
          <a:xfrm>
            <a:off x="9765534" y="1987551"/>
            <a:ext cx="134549" cy="195707"/>
          </a:xfrm>
          <a:prstGeom prst="rect">
            <a:avLst/>
          </a:prstGeom>
        </p:spPr>
      </p:pic>
      <p:sp>
        <p:nvSpPr>
          <p:cNvPr id="105" name="TextBox 104"/>
          <p:cNvSpPr txBox="1"/>
          <p:nvPr/>
        </p:nvSpPr>
        <p:spPr>
          <a:xfrm>
            <a:off x="9940643" y="1997775"/>
            <a:ext cx="1359557" cy="194310"/>
          </a:xfrm>
          <a:prstGeom prst="rect">
            <a:avLst/>
          </a:prstGeom>
          <a:noFill/>
        </p:spPr>
        <p:txBody>
          <a:bodyPr wrap="none" lIns="0" rIns="0" tIns="0" bIns="0">
            <a:spAutoFit/>
          </a:bodyPr>
          <a:lstStyle/>
          <a:p>
            <a:r>
              <a:rPr sz="1150" b="0">
                <a:solidFill>
                  <a:srgbClr val="2E2E2E"/>
                </a:solidFill>
                <a:latin typeface="Calibri"/>
              </a:rPr>
              <a:t>per MT in 2025 and is</a:t>
            </a:r>
          </a:p>
        </p:txBody>
      </p:sp>
      <p:sp>
        <p:nvSpPr>
          <p:cNvPr id="106" name="TextBox 105"/>
          <p:cNvSpPr txBox="1"/>
          <p:nvPr/>
        </p:nvSpPr>
        <p:spPr>
          <a:xfrm>
            <a:off x="8048625" y="2173035"/>
            <a:ext cx="1764617" cy="194310"/>
          </a:xfrm>
          <a:prstGeom prst="rect">
            <a:avLst/>
          </a:prstGeom>
          <a:noFill/>
        </p:spPr>
        <p:txBody>
          <a:bodyPr wrap="none" lIns="0" rIns="0" tIns="0" bIns="0">
            <a:spAutoFit/>
          </a:bodyPr>
          <a:lstStyle/>
          <a:p>
            <a:r>
              <a:rPr sz="1150" b="0">
                <a:solidFill>
                  <a:srgbClr val="2E2E2E"/>
                </a:solidFill>
                <a:latin typeface="Calibri"/>
              </a:rPr>
              <a:t>projected to increase to US$</a:t>
            </a:r>
          </a:p>
        </p:txBody>
      </p:sp>
      <p:pic>
        <p:nvPicPr>
          <p:cNvPr id="107" name="Picture 106" descr="lock.png"/>
          <p:cNvPicPr>
            <a:picLocks noChangeAspect="1"/>
          </p:cNvPicPr>
          <p:nvPr/>
        </p:nvPicPr>
        <p:blipFill>
          <a:blip r:embed="rId4"/>
          <a:stretch>
            <a:fillRect/>
          </a:stretch>
        </p:blipFill>
        <p:spPr>
          <a:xfrm>
            <a:off x="9762396" y="2162811"/>
            <a:ext cx="134549" cy="195707"/>
          </a:xfrm>
          <a:prstGeom prst="rect">
            <a:avLst/>
          </a:prstGeom>
        </p:spPr>
      </p:pic>
      <p:sp>
        <p:nvSpPr>
          <p:cNvPr id="108" name="TextBox 107"/>
          <p:cNvSpPr txBox="1"/>
          <p:nvPr/>
        </p:nvSpPr>
        <p:spPr>
          <a:xfrm>
            <a:off x="9937506" y="2173035"/>
            <a:ext cx="1048630" cy="194310"/>
          </a:xfrm>
          <a:prstGeom prst="rect">
            <a:avLst/>
          </a:prstGeom>
          <a:noFill/>
        </p:spPr>
        <p:txBody>
          <a:bodyPr wrap="none" lIns="0" rIns="0" tIns="0" bIns="0">
            <a:spAutoFit/>
          </a:bodyPr>
          <a:lstStyle/>
          <a:p>
            <a:r>
              <a:rPr sz="1150" b="0">
                <a:solidFill>
                  <a:srgbClr val="2E2E2E"/>
                </a:solidFill>
                <a:latin typeface="Calibri"/>
              </a:rPr>
              <a:t>per MT by 2036.</a:t>
            </a:r>
          </a:p>
        </p:txBody>
      </p:sp>
      <p:sp>
        <p:nvSpPr>
          <p:cNvPr id="109" name="TextBox 108"/>
          <p:cNvSpPr txBox="1"/>
          <p:nvPr/>
        </p:nvSpPr>
        <p:spPr>
          <a:xfrm>
            <a:off x="8048625" y="2400873"/>
            <a:ext cx="3806750" cy="194310"/>
          </a:xfrm>
          <a:prstGeom prst="rect">
            <a:avLst/>
          </a:prstGeom>
          <a:noFill/>
        </p:spPr>
        <p:txBody>
          <a:bodyPr wrap="none" lIns="0" rIns="0" tIns="0" bIns="0">
            <a:spAutoFit/>
          </a:bodyPr>
          <a:lstStyle/>
          <a:p>
            <a:r>
              <a:rPr sz="1150" b="0">
                <a:solidFill>
                  <a:srgbClr val="2E2E2E"/>
                </a:solidFill>
                <a:latin typeface="Calibri"/>
              </a:rPr>
              <a:t>Europe is the highest-priced region, while North America is the</a:t>
            </a:r>
          </a:p>
        </p:txBody>
      </p:sp>
      <p:sp>
        <p:nvSpPr>
          <p:cNvPr id="110" name="TextBox 109"/>
          <p:cNvSpPr txBox="1"/>
          <p:nvPr/>
        </p:nvSpPr>
        <p:spPr>
          <a:xfrm>
            <a:off x="8048625" y="2576133"/>
            <a:ext cx="3535759" cy="194310"/>
          </a:xfrm>
          <a:prstGeom prst="rect">
            <a:avLst/>
          </a:prstGeom>
          <a:noFill/>
        </p:spPr>
        <p:txBody>
          <a:bodyPr wrap="none" lIns="0" rIns="0" tIns="0" bIns="0">
            <a:spAutoFit/>
          </a:bodyPr>
          <a:lstStyle/>
          <a:p>
            <a:r>
              <a:rPr sz="1150" b="0">
                <a:solidFill>
                  <a:srgbClr val="2E2E2E"/>
                </a:solidFill>
                <a:latin typeface="Calibri"/>
              </a:rPr>
              <a:t>most price-competitive market. Against the global price of</a:t>
            </a:r>
          </a:p>
        </p:txBody>
      </p:sp>
      <p:pic>
        <p:nvPicPr>
          <p:cNvPr id="111" name="Picture 110" descr="lock.png"/>
          <p:cNvPicPr>
            <a:picLocks noChangeAspect="1"/>
          </p:cNvPicPr>
          <p:nvPr/>
        </p:nvPicPr>
        <p:blipFill>
          <a:blip r:embed="rId4"/>
          <a:stretch>
            <a:fillRect/>
          </a:stretch>
        </p:blipFill>
        <p:spPr>
          <a:xfrm>
            <a:off x="11533538" y="2565909"/>
            <a:ext cx="134549" cy="195707"/>
          </a:xfrm>
          <a:prstGeom prst="rect">
            <a:avLst/>
          </a:prstGeom>
        </p:spPr>
      </p:pic>
      <p:sp>
        <p:nvSpPr>
          <p:cNvPr id="112" name="TextBox 111"/>
          <p:cNvSpPr txBox="1"/>
          <p:nvPr/>
        </p:nvSpPr>
        <p:spPr>
          <a:xfrm>
            <a:off x="8048625" y="2751393"/>
            <a:ext cx="2962399" cy="194310"/>
          </a:xfrm>
          <a:prstGeom prst="rect">
            <a:avLst/>
          </a:prstGeom>
          <a:noFill/>
        </p:spPr>
        <p:txBody>
          <a:bodyPr wrap="none" lIns="0" rIns="0" tIns="0" bIns="0">
            <a:spAutoFit/>
          </a:bodyPr>
          <a:lstStyle/>
          <a:p>
            <a:r>
              <a:rPr sz="1150" b="0">
                <a:solidFill>
                  <a:srgbClr val="2E2E2E"/>
                </a:solidFill>
                <a:latin typeface="Calibri"/>
              </a:rPr>
              <a:t>US$/MT, 5 of 6 regions price above and 1 below.</a:t>
            </a:r>
          </a:p>
        </p:txBody>
      </p:sp>
      <p:sp>
        <p:nvSpPr>
          <p:cNvPr id="113" name="TextBox 112"/>
          <p:cNvSpPr txBox="1"/>
          <p:nvPr/>
        </p:nvSpPr>
        <p:spPr>
          <a:xfrm>
            <a:off x="8048625" y="2979230"/>
            <a:ext cx="1661926" cy="194310"/>
          </a:xfrm>
          <a:prstGeom prst="rect">
            <a:avLst/>
          </a:prstGeom>
          <a:noFill/>
        </p:spPr>
        <p:txBody>
          <a:bodyPr wrap="none" lIns="0" rIns="0" tIns="0" bIns="0">
            <a:spAutoFit/>
          </a:bodyPr>
          <a:lstStyle/>
          <a:p>
            <a:r>
              <a:rPr sz="1150" b="0">
                <a:solidFill>
                  <a:srgbClr val="2E2E2E"/>
                </a:solidFill>
                <a:latin typeface="Calibri"/>
              </a:rPr>
              <a:t>'Europe' is the dearest at +</a:t>
            </a:r>
          </a:p>
        </p:txBody>
      </p:sp>
      <p:pic>
        <p:nvPicPr>
          <p:cNvPr id="114" name="Picture 113" descr="lock.png"/>
          <p:cNvPicPr>
            <a:picLocks noChangeAspect="1"/>
          </p:cNvPicPr>
          <p:nvPr/>
        </p:nvPicPr>
        <p:blipFill>
          <a:blip r:embed="rId4"/>
          <a:stretch>
            <a:fillRect/>
          </a:stretch>
        </p:blipFill>
        <p:spPr>
          <a:xfrm>
            <a:off x="9659705" y="2969007"/>
            <a:ext cx="134549" cy="195707"/>
          </a:xfrm>
          <a:prstGeom prst="rect">
            <a:avLst/>
          </a:prstGeom>
        </p:spPr>
      </p:pic>
      <p:sp>
        <p:nvSpPr>
          <p:cNvPr id="115" name="TextBox 114"/>
          <p:cNvSpPr txBox="1"/>
          <p:nvPr/>
        </p:nvSpPr>
        <p:spPr>
          <a:xfrm>
            <a:off x="9834814" y="2979230"/>
            <a:ext cx="1878719" cy="194310"/>
          </a:xfrm>
          <a:prstGeom prst="rect">
            <a:avLst/>
          </a:prstGeom>
          <a:noFill/>
        </p:spPr>
        <p:txBody>
          <a:bodyPr wrap="none" lIns="0" rIns="0" tIns="0" bIns="0">
            <a:spAutoFit/>
          </a:bodyPr>
          <a:lstStyle/>
          <a:p>
            <a:r>
              <a:rPr sz="1150" b="0">
                <a:solidFill>
                  <a:srgbClr val="2E2E2E"/>
                </a:solidFill>
                <a:latin typeface="Calibri"/>
              </a:rPr>
              <a:t>versus Global, 'North America'</a:t>
            </a:r>
          </a:p>
        </p:txBody>
      </p:sp>
      <p:sp>
        <p:nvSpPr>
          <p:cNvPr id="116" name="TextBox 115"/>
          <p:cNvSpPr txBox="1"/>
          <p:nvPr/>
        </p:nvSpPr>
        <p:spPr>
          <a:xfrm>
            <a:off x="8048625" y="3154490"/>
            <a:ext cx="1074588" cy="194310"/>
          </a:xfrm>
          <a:prstGeom prst="rect">
            <a:avLst/>
          </a:prstGeom>
          <a:noFill/>
        </p:spPr>
        <p:txBody>
          <a:bodyPr wrap="none" lIns="0" rIns="0" tIns="0" bIns="0">
            <a:spAutoFit/>
          </a:bodyPr>
          <a:lstStyle/>
          <a:p>
            <a:r>
              <a:rPr sz="1150" b="0">
                <a:solidFill>
                  <a:srgbClr val="2E2E2E"/>
                </a:solidFill>
                <a:latin typeface="Calibri"/>
              </a:rPr>
              <a:t>the cheapest at -</a:t>
            </a:r>
          </a:p>
        </p:txBody>
      </p:sp>
      <p:pic>
        <p:nvPicPr>
          <p:cNvPr id="117" name="Picture 116" descr="lock.png"/>
          <p:cNvPicPr>
            <a:picLocks noChangeAspect="1"/>
          </p:cNvPicPr>
          <p:nvPr/>
        </p:nvPicPr>
        <p:blipFill>
          <a:blip r:embed="rId4"/>
          <a:stretch>
            <a:fillRect/>
          </a:stretch>
        </p:blipFill>
        <p:spPr>
          <a:xfrm>
            <a:off x="9072367" y="3144267"/>
            <a:ext cx="134549" cy="195707"/>
          </a:xfrm>
          <a:prstGeom prst="rect">
            <a:avLst/>
          </a:prstGeom>
        </p:spPr>
      </p:pic>
      <p:sp>
        <p:nvSpPr>
          <p:cNvPr id="118" name="TextBox 117"/>
          <p:cNvSpPr txBox="1"/>
          <p:nvPr/>
        </p:nvSpPr>
        <p:spPr>
          <a:xfrm>
            <a:off x="9247476" y="3154490"/>
            <a:ext cx="2496579" cy="194310"/>
          </a:xfrm>
          <a:prstGeom prst="rect">
            <a:avLst/>
          </a:prstGeom>
          <a:noFill/>
        </p:spPr>
        <p:txBody>
          <a:bodyPr wrap="none" lIns="0" rIns="0" tIns="0" bIns="0">
            <a:spAutoFit/>
          </a:bodyPr>
          <a:lstStyle/>
          <a:p>
            <a:r>
              <a:rPr sz="1150" b="0">
                <a:solidFill>
                  <a:srgbClr val="2E2E2E"/>
                </a:solidFill>
                <a:latin typeface="Calibri"/>
              </a:rPr>
              <a:t>pointing to premiumisation headroom in</a:t>
            </a:r>
          </a:p>
        </p:txBody>
      </p:sp>
      <p:sp>
        <p:nvSpPr>
          <p:cNvPr id="119" name="TextBox 118"/>
          <p:cNvSpPr txBox="1"/>
          <p:nvPr/>
        </p:nvSpPr>
        <p:spPr>
          <a:xfrm>
            <a:off x="8048625" y="3329750"/>
            <a:ext cx="1571215" cy="194310"/>
          </a:xfrm>
          <a:prstGeom prst="rect">
            <a:avLst/>
          </a:prstGeom>
          <a:noFill/>
        </p:spPr>
        <p:txBody>
          <a:bodyPr wrap="none" lIns="0" rIns="0" tIns="0" bIns="0">
            <a:spAutoFit/>
          </a:bodyPr>
          <a:lstStyle/>
          <a:p>
            <a:r>
              <a:rPr sz="1150" b="0">
                <a:solidFill>
                  <a:srgbClr val="2E2E2E"/>
                </a:solidFill>
                <a:latin typeface="Calibri"/>
              </a:rPr>
              <a:t>the lower-priced regions.</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134407" cy="194310"/>
          </a:xfrm>
          <a:prstGeom prst="rect">
            <a:avLst/>
          </a:prstGeom>
          <a:noFill/>
        </p:spPr>
        <p:txBody>
          <a:bodyPr wrap="none" lIns="0" rIns="0" tIns="0" bIns="0">
            <a:spAutoFit/>
          </a:bodyPr>
          <a:lstStyle/>
          <a:p>
            <a:r>
              <a:rPr sz="1150" b="0">
                <a:solidFill>
                  <a:srgbClr val="2E2E2E"/>
                </a:solidFill>
                <a:latin typeface="Calibri"/>
              </a:rPr>
              <a:t>Corrugated partition market is projected to register</a:t>
            </a:r>
          </a:p>
        </p:txBody>
      </p:sp>
      <p:pic>
        <p:nvPicPr>
          <p:cNvPr id="36" name="Picture 35" descr="lock.png"/>
          <p:cNvPicPr>
            <a:picLocks noChangeAspect="1"/>
          </p:cNvPicPr>
          <p:nvPr/>
        </p:nvPicPr>
        <p:blipFill>
          <a:blip r:embed="rId6"/>
          <a:stretch>
            <a:fillRect/>
          </a:stretch>
        </p:blipFill>
        <p:spPr>
          <a:xfrm>
            <a:off x="11132186" y="2036763"/>
            <a:ext cx="134549" cy="195707"/>
          </a:xfrm>
          <a:prstGeom prst="rect">
            <a:avLst/>
          </a:prstGeom>
        </p:spPr>
      </p:pic>
      <p:sp>
        <p:nvSpPr>
          <p:cNvPr id="37" name="TextBox 36"/>
          <p:cNvSpPr txBox="1"/>
          <p:nvPr/>
        </p:nvSpPr>
        <p:spPr>
          <a:xfrm>
            <a:off x="11307295" y="2046987"/>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8" name="TextBox 37"/>
          <p:cNvSpPr txBox="1"/>
          <p:nvPr/>
        </p:nvSpPr>
        <p:spPr>
          <a:xfrm>
            <a:off x="8048625" y="2222247"/>
            <a:ext cx="3571986" cy="194310"/>
          </a:xfrm>
          <a:prstGeom prst="rect">
            <a:avLst/>
          </a:prstGeom>
          <a:noFill/>
        </p:spPr>
        <p:txBody>
          <a:bodyPr wrap="none" lIns="0" rIns="0" tIns="0" bIns="0">
            <a:spAutoFit/>
          </a:bodyPr>
          <a:lstStyle/>
          <a:p>
            <a:r>
              <a:rPr sz="1150" b="0">
                <a:solidFill>
                  <a:srgbClr val="2E2E2E"/>
                </a:solidFill>
                <a:latin typeface="Calibri"/>
              </a:rPr>
              <a:t>increase in its revenue by the end of forecast period, 2036.</a:t>
            </a:r>
          </a:p>
        </p:txBody>
      </p:sp>
      <p:sp>
        <p:nvSpPr>
          <p:cNvPr id="39" name="TextBox 38"/>
          <p:cNvSpPr txBox="1"/>
          <p:nvPr/>
        </p:nvSpPr>
        <p:spPr>
          <a:xfrm>
            <a:off x="8048625" y="2397507"/>
            <a:ext cx="3781648" cy="194310"/>
          </a:xfrm>
          <a:prstGeom prst="rect">
            <a:avLst/>
          </a:prstGeom>
          <a:noFill/>
        </p:spPr>
        <p:txBody>
          <a:bodyPr wrap="none" lIns="0" rIns="0" tIns="0" bIns="0">
            <a:spAutoFit/>
          </a:bodyPr>
          <a:lstStyle/>
          <a:p>
            <a:r>
              <a:rPr sz="1150" b="0">
                <a:solidFill>
                  <a:srgbClr val="2E2E2E"/>
                </a:solidFill>
                <a:latin typeface="Calibri"/>
              </a:rPr>
              <a:t>Global corrugated partition market is expected to be valued at</a:t>
            </a:r>
          </a:p>
        </p:txBody>
      </p:sp>
      <p:sp>
        <p:nvSpPr>
          <p:cNvPr id="40" name="TextBox 39"/>
          <p:cNvSpPr txBox="1"/>
          <p:nvPr/>
        </p:nvSpPr>
        <p:spPr>
          <a:xfrm>
            <a:off x="8048625" y="257276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1" name="Picture 40" descr="lock.png"/>
          <p:cNvPicPr>
            <a:picLocks noChangeAspect="1"/>
          </p:cNvPicPr>
          <p:nvPr/>
        </p:nvPicPr>
        <p:blipFill>
          <a:blip r:embed="rId6"/>
          <a:stretch>
            <a:fillRect/>
          </a:stretch>
        </p:blipFill>
        <p:spPr>
          <a:xfrm>
            <a:off x="8309028" y="2562543"/>
            <a:ext cx="134549" cy="195707"/>
          </a:xfrm>
          <a:prstGeom prst="rect">
            <a:avLst/>
          </a:prstGeom>
        </p:spPr>
      </p:pic>
      <p:sp>
        <p:nvSpPr>
          <p:cNvPr id="42" name="TextBox 41"/>
          <p:cNvSpPr txBox="1"/>
          <p:nvPr/>
        </p:nvSpPr>
        <p:spPr>
          <a:xfrm>
            <a:off x="8484137" y="2572767"/>
            <a:ext cx="1079723" cy="194310"/>
          </a:xfrm>
          <a:prstGeom prst="rect">
            <a:avLst/>
          </a:prstGeom>
          <a:noFill/>
        </p:spPr>
        <p:txBody>
          <a:bodyPr wrap="none" lIns="0" rIns="0" tIns="0" bIns="0">
            <a:spAutoFit/>
          </a:bodyPr>
          <a:lstStyle/>
          <a:p>
            <a:r>
              <a:rPr sz="1150" b="0">
                <a:solidFill>
                  <a:srgbClr val="2E2E2E"/>
                </a:solidFill>
                <a:latin typeface="Calibri"/>
              </a:rPr>
              <a:t>Mn by 2036 end.</a:t>
            </a:r>
          </a:p>
        </p:txBody>
      </p:sp>
      <p:sp>
        <p:nvSpPr>
          <p:cNvPr id="43" name="TextBox 42"/>
          <p:cNvSpPr txBox="1"/>
          <p:nvPr/>
        </p:nvSpPr>
        <p:spPr>
          <a:xfrm>
            <a:off x="8048625" y="2800604"/>
            <a:ext cx="3812455" cy="194310"/>
          </a:xfrm>
          <a:prstGeom prst="rect">
            <a:avLst/>
          </a:prstGeom>
          <a:noFill/>
        </p:spPr>
        <p:txBody>
          <a:bodyPr wrap="none" lIns="0" rIns="0" tIns="0" bIns="0">
            <a:spAutoFit/>
          </a:bodyPr>
          <a:lstStyle/>
          <a:p>
            <a:r>
              <a:rPr sz="1150" b="0">
                <a:solidFill>
                  <a:srgbClr val="2E2E2E"/>
                </a:solidFill>
                <a:latin typeface="Calibri"/>
              </a:rPr>
              <a:t>It is projected to create overall incremental opportunity of US$</a:t>
            </a:r>
          </a:p>
        </p:txBody>
      </p:sp>
      <p:pic>
        <p:nvPicPr>
          <p:cNvPr id="44" name="Picture 43" descr="lock.png"/>
          <p:cNvPicPr>
            <a:picLocks noChangeAspect="1"/>
          </p:cNvPicPr>
          <p:nvPr/>
        </p:nvPicPr>
        <p:blipFill>
          <a:blip r:embed="rId6"/>
          <a:stretch>
            <a:fillRect/>
          </a:stretch>
        </p:blipFill>
        <p:spPr>
          <a:xfrm>
            <a:off x="8034545" y="2965641"/>
            <a:ext cx="134549" cy="195707"/>
          </a:xfrm>
          <a:prstGeom prst="rect">
            <a:avLst/>
          </a:prstGeom>
        </p:spPr>
      </p:pic>
      <p:sp>
        <p:nvSpPr>
          <p:cNvPr id="45" name="TextBox 44"/>
          <p:cNvSpPr txBox="1"/>
          <p:nvPr/>
        </p:nvSpPr>
        <p:spPr>
          <a:xfrm>
            <a:off x="8209654" y="2975864"/>
            <a:ext cx="3569989" cy="194310"/>
          </a:xfrm>
          <a:prstGeom prst="rect">
            <a:avLst/>
          </a:prstGeom>
          <a:noFill/>
        </p:spPr>
        <p:txBody>
          <a:bodyPr wrap="none" lIns="0" rIns="0" tIns="0" bIns="0">
            <a:spAutoFit/>
          </a:bodyPr>
          <a:lstStyle/>
          <a:p>
            <a:r>
              <a:rPr sz="1150" b="0">
                <a:solidFill>
                  <a:srgbClr val="2E2E2E"/>
                </a:solidFill>
                <a:latin typeface="Calibri"/>
              </a:rPr>
              <a:t>Mn from 2025 to 2036. Growth in end-use industries along</a:t>
            </a:r>
          </a:p>
        </p:txBody>
      </p:sp>
      <p:sp>
        <p:nvSpPr>
          <p:cNvPr id="46" name="TextBox 45"/>
          <p:cNvSpPr txBox="1"/>
          <p:nvPr/>
        </p:nvSpPr>
        <p:spPr>
          <a:xfrm>
            <a:off x="8048625" y="3151124"/>
            <a:ext cx="3848100" cy="194310"/>
          </a:xfrm>
          <a:prstGeom prst="rect">
            <a:avLst/>
          </a:prstGeom>
          <a:noFill/>
        </p:spPr>
        <p:txBody>
          <a:bodyPr wrap="none" lIns="0" rIns="0" tIns="0" bIns="0">
            <a:spAutoFit/>
          </a:bodyPr>
          <a:lstStyle/>
          <a:p>
            <a:r>
              <a:rPr sz="1150" b="0">
                <a:solidFill>
                  <a:srgbClr val="2E2E2E"/>
                </a:solidFill>
                <a:latin typeface="Calibri"/>
              </a:rPr>
              <a:t>with infrastructure investment is fuelling demand for corrugated</a:t>
            </a:r>
          </a:p>
        </p:txBody>
      </p:sp>
      <p:sp>
        <p:nvSpPr>
          <p:cNvPr id="47" name="TextBox 46"/>
          <p:cNvSpPr txBox="1"/>
          <p:nvPr/>
        </p:nvSpPr>
        <p:spPr>
          <a:xfrm>
            <a:off x="8048625" y="3326384"/>
            <a:ext cx="629877" cy="194310"/>
          </a:xfrm>
          <a:prstGeom prst="rect">
            <a:avLst/>
          </a:prstGeom>
          <a:noFill/>
        </p:spPr>
        <p:txBody>
          <a:bodyPr wrap="none" lIns="0" rIns="0" tIns="0" bIns="0">
            <a:spAutoFit/>
          </a:bodyPr>
          <a:lstStyle/>
          <a:p>
            <a:r>
              <a:rPr sz="1150" b="0">
                <a:solidFill>
                  <a:srgbClr val="2E2E2E"/>
                </a:solidFill>
                <a:latin typeface="Calibri"/>
              </a:rPr>
              <a:t>partition.</a:t>
            </a:r>
          </a:p>
        </p:txBody>
      </p:sp>
      <p:sp>
        <p:nvSpPr>
          <p:cNvPr id="48" name="TextBox 47"/>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9" name="Picture 48" descr="lock.png"/>
          <p:cNvPicPr>
            <a:picLocks noChangeAspect="1"/>
          </p:cNvPicPr>
          <p:nvPr/>
        </p:nvPicPr>
        <p:blipFill>
          <a:blip r:embed="rId6"/>
          <a:stretch>
            <a:fillRect/>
          </a:stretch>
        </p:blipFill>
        <p:spPr>
          <a:xfrm>
            <a:off x="10866614" y="4446251"/>
            <a:ext cx="134549" cy="195707"/>
          </a:xfrm>
          <a:prstGeom prst="rect">
            <a:avLst/>
          </a:prstGeom>
        </p:spPr>
      </p:pic>
      <p:sp>
        <p:nvSpPr>
          <p:cNvPr id="50" name="TextBox 49"/>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1" name="TextBox 50"/>
          <p:cNvSpPr txBox="1"/>
          <p:nvPr/>
        </p:nvSpPr>
        <p:spPr>
          <a:xfrm>
            <a:off x="8048625" y="4684312"/>
            <a:ext cx="3653569" cy="194310"/>
          </a:xfrm>
          <a:prstGeom prst="rect">
            <a:avLst/>
          </a:prstGeom>
          <a:noFill/>
        </p:spPr>
        <p:txBody>
          <a:bodyPr wrap="none" lIns="0" rIns="0" tIns="0" bIns="0">
            <a:spAutoFit/>
          </a:bodyPr>
          <a:lstStyle/>
          <a:p>
            <a:r>
              <a:rPr sz="1150" b="0">
                <a:solidFill>
                  <a:srgbClr val="2E2E2E"/>
                </a:solidFill>
                <a:latin typeface="Calibri"/>
              </a:rPr>
              <a:t>▪ Demand concentrates in 'Flat Dividers &amp; Layer Pads' within</a:t>
            </a:r>
          </a:p>
        </p:txBody>
      </p:sp>
      <p:sp>
        <p:nvSpPr>
          <p:cNvPr id="52" name="TextBox 51"/>
          <p:cNvSpPr txBox="1"/>
          <p:nvPr/>
        </p:nvSpPr>
        <p:spPr>
          <a:xfrm>
            <a:off x="8048625" y="4859572"/>
            <a:ext cx="948791" cy="194310"/>
          </a:xfrm>
          <a:prstGeom prst="rect">
            <a:avLst/>
          </a:prstGeom>
          <a:noFill/>
        </p:spPr>
        <p:txBody>
          <a:bodyPr wrap="none" lIns="0" rIns="0" tIns="0" bIns="0">
            <a:spAutoFit/>
          </a:bodyPr>
          <a:lstStyle/>
          <a:p>
            <a:r>
              <a:rPr sz="1150" b="0">
                <a:solidFill>
                  <a:srgbClr val="2E2E2E"/>
                </a:solidFill>
                <a:latin typeface="Calibri"/>
              </a:rPr>
              <a:t>Partition Type.</a:t>
            </a:r>
          </a:p>
        </p:txBody>
      </p:sp>
      <p:sp>
        <p:nvSpPr>
          <p:cNvPr id="53" name="TextBox 52"/>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4" name="TextBox 53"/>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5"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4022407"/>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4022407"/>
            <a:ext cx="157162" cy="228600"/>
          </a:xfrm>
          <a:prstGeom prst="rect">
            <a:avLst/>
          </a:prstGeom>
        </p:spPr>
      </p:pic>
      <p:sp>
        <p:nvSpPr>
          <p:cNvPr id="32" name="TextBox 31"/>
          <p:cNvSpPr txBox="1"/>
          <p:nvPr/>
        </p:nvSpPr>
        <p:spPr>
          <a:xfrm>
            <a:off x="276225" y="4972050"/>
            <a:ext cx="3134407" cy="194310"/>
          </a:xfrm>
          <a:prstGeom prst="rect">
            <a:avLst/>
          </a:prstGeom>
          <a:noFill/>
        </p:spPr>
        <p:txBody>
          <a:bodyPr wrap="none" lIns="0" rIns="0" tIns="0" bIns="0">
            <a:spAutoFit/>
          </a:bodyPr>
          <a:lstStyle/>
          <a:p>
            <a:r>
              <a:rPr sz="1150" b="0">
                <a:solidFill>
                  <a:srgbClr val="2E2E2E"/>
                </a:solidFill>
                <a:latin typeface="Calibri"/>
              </a:rPr>
              <a:t>Corrugated partition market is projected to register</a:t>
            </a:r>
          </a:p>
        </p:txBody>
      </p:sp>
      <p:pic>
        <p:nvPicPr>
          <p:cNvPr id="33" name="Picture 32" descr="lock.png"/>
          <p:cNvPicPr>
            <a:picLocks noChangeAspect="1"/>
          </p:cNvPicPr>
          <p:nvPr/>
        </p:nvPicPr>
        <p:blipFill>
          <a:blip r:embed="rId6"/>
          <a:stretch>
            <a:fillRect/>
          </a:stretch>
        </p:blipFill>
        <p:spPr>
          <a:xfrm>
            <a:off x="3359786" y="4961826"/>
            <a:ext cx="134549" cy="195707"/>
          </a:xfrm>
          <a:prstGeom prst="rect">
            <a:avLst/>
          </a:prstGeom>
        </p:spPr>
      </p:pic>
      <p:sp>
        <p:nvSpPr>
          <p:cNvPr id="34" name="TextBox 33"/>
          <p:cNvSpPr txBox="1"/>
          <p:nvPr/>
        </p:nvSpPr>
        <p:spPr>
          <a:xfrm>
            <a:off x="3534895" y="4972050"/>
            <a:ext cx="7687629" cy="194310"/>
          </a:xfrm>
          <a:prstGeom prst="rect">
            <a:avLst/>
          </a:prstGeom>
          <a:noFill/>
        </p:spPr>
        <p:txBody>
          <a:bodyPr wrap="none" lIns="0" rIns="0" tIns="0" bIns="0">
            <a:spAutoFit/>
          </a:bodyPr>
          <a:lstStyle/>
          <a:p>
            <a:r>
              <a:rPr sz="1150" b="0">
                <a:solidFill>
                  <a:srgbClr val="2E2E2E"/>
                </a:solidFill>
                <a:latin typeface="Calibri"/>
              </a:rPr>
              <a:t>X increase in its revenue by the end of forecast period, 2036. Global corrugated partition market is expected to be valued at US$</a:t>
            </a:r>
          </a:p>
        </p:txBody>
      </p:sp>
      <p:pic>
        <p:nvPicPr>
          <p:cNvPr id="35" name="Picture 34" descr="lock.png"/>
          <p:cNvPicPr>
            <a:picLocks noChangeAspect="1"/>
          </p:cNvPicPr>
          <p:nvPr/>
        </p:nvPicPr>
        <p:blipFill>
          <a:blip r:embed="rId6"/>
          <a:stretch>
            <a:fillRect/>
          </a:stretch>
        </p:blipFill>
        <p:spPr>
          <a:xfrm>
            <a:off x="11171679" y="4961826"/>
            <a:ext cx="134549" cy="195707"/>
          </a:xfrm>
          <a:prstGeom prst="rect">
            <a:avLst/>
          </a:prstGeom>
        </p:spPr>
      </p:pic>
      <p:sp>
        <p:nvSpPr>
          <p:cNvPr id="36" name="TextBox 35"/>
          <p:cNvSpPr txBox="1"/>
          <p:nvPr/>
        </p:nvSpPr>
        <p:spPr>
          <a:xfrm>
            <a:off x="11346788" y="4972050"/>
            <a:ext cx="453876" cy="194310"/>
          </a:xfrm>
          <a:prstGeom prst="rect">
            <a:avLst/>
          </a:prstGeom>
          <a:noFill/>
        </p:spPr>
        <p:txBody>
          <a:bodyPr wrap="none" lIns="0" rIns="0" tIns="0" bIns="0">
            <a:spAutoFit/>
          </a:bodyPr>
          <a:lstStyle/>
          <a:p>
            <a:r>
              <a:rPr sz="1150" b="0">
                <a:solidFill>
                  <a:srgbClr val="2E2E2E"/>
                </a:solidFill>
                <a:latin typeface="Calibri"/>
              </a:rPr>
              <a:t>Mn by</a:t>
            </a:r>
          </a:p>
        </p:txBody>
      </p:sp>
      <p:sp>
        <p:nvSpPr>
          <p:cNvPr id="37" name="TextBox 36"/>
          <p:cNvSpPr txBox="1"/>
          <p:nvPr/>
        </p:nvSpPr>
        <p:spPr>
          <a:xfrm>
            <a:off x="276225" y="5147310"/>
            <a:ext cx="4438302" cy="194310"/>
          </a:xfrm>
          <a:prstGeom prst="rect">
            <a:avLst/>
          </a:prstGeom>
          <a:noFill/>
        </p:spPr>
        <p:txBody>
          <a:bodyPr wrap="none" lIns="0" rIns="0" tIns="0" bIns="0">
            <a:spAutoFit/>
          </a:bodyPr>
          <a:lstStyle/>
          <a:p>
            <a:r>
              <a:rPr sz="1150" b="0">
                <a:solidFill>
                  <a:srgbClr val="2E2E2E"/>
                </a:solidFill>
                <a:latin typeface="Calibri"/>
              </a:rPr>
              <a:t>2036 end. It is projected to create overall incremental opportunity of US$</a:t>
            </a:r>
          </a:p>
        </p:txBody>
      </p:sp>
      <p:pic>
        <p:nvPicPr>
          <p:cNvPr id="38" name="Picture 37" descr="lock.png"/>
          <p:cNvPicPr>
            <a:picLocks noChangeAspect="1"/>
          </p:cNvPicPr>
          <p:nvPr/>
        </p:nvPicPr>
        <p:blipFill>
          <a:blip r:embed="rId6"/>
          <a:stretch>
            <a:fillRect/>
          </a:stretch>
        </p:blipFill>
        <p:spPr>
          <a:xfrm>
            <a:off x="4663681" y="5137086"/>
            <a:ext cx="134549" cy="195707"/>
          </a:xfrm>
          <a:prstGeom prst="rect">
            <a:avLst/>
          </a:prstGeom>
        </p:spPr>
      </p:pic>
      <p:sp>
        <p:nvSpPr>
          <p:cNvPr id="39" name="TextBox 38"/>
          <p:cNvSpPr txBox="1"/>
          <p:nvPr/>
        </p:nvSpPr>
        <p:spPr>
          <a:xfrm>
            <a:off x="4838790" y="5147310"/>
            <a:ext cx="1455687" cy="194310"/>
          </a:xfrm>
          <a:prstGeom prst="rect">
            <a:avLst/>
          </a:prstGeom>
          <a:noFill/>
        </p:spPr>
        <p:txBody>
          <a:bodyPr wrap="none" lIns="0" rIns="0" tIns="0" bIns="0">
            <a:spAutoFit/>
          </a:bodyPr>
          <a:lstStyle/>
          <a:p>
            <a:r>
              <a:rPr sz="1150" b="0">
                <a:solidFill>
                  <a:srgbClr val="2E2E2E"/>
                </a:solidFill>
                <a:latin typeface="Calibri"/>
              </a:rPr>
              <a:t>Mn from 2025 to 2036.</a:t>
            </a:r>
          </a:p>
        </p:txBody>
      </p:sp>
      <p:sp>
        <p:nvSpPr>
          <p:cNvPr id="40" name="TextBox 39"/>
          <p:cNvSpPr txBox="1"/>
          <p:nvPr/>
        </p:nvSpPr>
        <p:spPr>
          <a:xfrm>
            <a:off x="276225" y="5375147"/>
            <a:ext cx="10104015" cy="194310"/>
          </a:xfrm>
          <a:prstGeom prst="rect">
            <a:avLst/>
          </a:prstGeom>
          <a:noFill/>
        </p:spPr>
        <p:txBody>
          <a:bodyPr wrap="none" lIns="0" rIns="0" tIns="0" bIns="0">
            <a:spAutoFit/>
          </a:bodyPr>
          <a:lstStyle/>
          <a:p>
            <a:r>
              <a:rPr sz="1150" b="0">
                <a:solidFill>
                  <a:srgbClr val="2E2E2E"/>
                </a:solidFill>
                <a:latin typeface="Calibri"/>
              </a:rPr>
              <a:t>Growth in end-use industries along with infrastructure investment is fuelling demand for corrugated partition. Global corrugated partition market is projected to register</a:t>
            </a:r>
          </a:p>
        </p:txBody>
      </p:sp>
      <p:pic>
        <p:nvPicPr>
          <p:cNvPr id="41" name="Picture 40" descr="lock.png"/>
          <p:cNvPicPr>
            <a:picLocks noChangeAspect="1"/>
          </p:cNvPicPr>
          <p:nvPr/>
        </p:nvPicPr>
        <p:blipFill>
          <a:blip r:embed="rId6"/>
          <a:stretch>
            <a:fillRect/>
          </a:stretch>
        </p:blipFill>
        <p:spPr>
          <a:xfrm>
            <a:off x="10329394" y="5364924"/>
            <a:ext cx="134549" cy="195707"/>
          </a:xfrm>
          <a:prstGeom prst="rect">
            <a:avLst/>
          </a:prstGeom>
        </p:spPr>
      </p:pic>
      <p:sp>
        <p:nvSpPr>
          <p:cNvPr id="42" name="TextBox 41"/>
          <p:cNvSpPr txBox="1"/>
          <p:nvPr/>
        </p:nvSpPr>
        <p:spPr>
          <a:xfrm>
            <a:off x="10504504" y="5375147"/>
            <a:ext cx="1300224" cy="194310"/>
          </a:xfrm>
          <a:prstGeom prst="rect">
            <a:avLst/>
          </a:prstGeom>
          <a:noFill/>
        </p:spPr>
        <p:txBody>
          <a:bodyPr wrap="none" lIns="0" rIns="0" tIns="0" bIns="0">
            <a:spAutoFit/>
          </a:bodyPr>
          <a:lstStyle/>
          <a:p>
            <a:r>
              <a:rPr sz="1150" b="0">
                <a:solidFill>
                  <a:srgbClr val="2E2E2E"/>
                </a:solidFill>
                <a:latin typeface="Calibri"/>
              </a:rPr>
              <a:t>X increase in volume</a:t>
            </a:r>
          </a:p>
        </p:txBody>
      </p:sp>
      <p:sp>
        <p:nvSpPr>
          <p:cNvPr id="43" name="TextBox 42"/>
          <p:cNvSpPr txBox="1"/>
          <p:nvPr/>
        </p:nvSpPr>
        <p:spPr>
          <a:xfrm>
            <a:off x="276225" y="5550407"/>
            <a:ext cx="2205049" cy="194310"/>
          </a:xfrm>
          <a:prstGeom prst="rect">
            <a:avLst/>
          </a:prstGeom>
          <a:noFill/>
        </p:spPr>
        <p:txBody>
          <a:bodyPr wrap="none" lIns="0" rIns="0" tIns="0" bIns="0">
            <a:spAutoFit/>
          </a:bodyPr>
          <a:lstStyle/>
          <a:p>
            <a:r>
              <a:rPr sz="1150" b="0">
                <a:solidFill>
                  <a:srgbClr val="2E2E2E"/>
                </a:solidFill>
                <a:latin typeface="Calibri"/>
              </a:rPr>
              <a:t>by the end of forecast period, 2036.</a:t>
            </a:r>
          </a:p>
        </p:txBody>
      </p:sp>
      <p:sp>
        <p:nvSpPr>
          <p:cNvPr id="44" name="TextBox 43"/>
          <p:cNvSpPr txBox="1"/>
          <p:nvPr/>
        </p:nvSpPr>
        <p:spPr>
          <a:xfrm>
            <a:off x="276225" y="5778245"/>
            <a:ext cx="3154089" cy="194310"/>
          </a:xfrm>
          <a:prstGeom prst="rect">
            <a:avLst/>
          </a:prstGeom>
          <a:noFill/>
        </p:spPr>
        <p:txBody>
          <a:bodyPr wrap="none" lIns="0" rIns="0" tIns="0" bIns="0">
            <a:spAutoFit/>
          </a:bodyPr>
          <a:lstStyle/>
          <a:p>
            <a:r>
              <a:rPr sz="1150" b="0">
                <a:solidFill>
                  <a:srgbClr val="2E2E2E"/>
                </a:solidFill>
                <a:latin typeface="Calibri"/>
              </a:rPr>
              <a:t>Global corrugated partition market volume stood at</a:t>
            </a:r>
          </a:p>
        </p:txBody>
      </p:sp>
      <p:pic>
        <p:nvPicPr>
          <p:cNvPr id="45" name="Picture 44" descr="lock.png"/>
          <p:cNvPicPr>
            <a:picLocks noChangeAspect="1"/>
          </p:cNvPicPr>
          <p:nvPr/>
        </p:nvPicPr>
        <p:blipFill>
          <a:blip r:embed="rId6"/>
          <a:stretch>
            <a:fillRect/>
          </a:stretch>
        </p:blipFill>
        <p:spPr>
          <a:xfrm>
            <a:off x="3379468" y="5768022"/>
            <a:ext cx="134549" cy="195707"/>
          </a:xfrm>
          <a:prstGeom prst="rect">
            <a:avLst/>
          </a:prstGeom>
        </p:spPr>
      </p:pic>
      <p:sp>
        <p:nvSpPr>
          <p:cNvPr id="46" name="TextBox 45"/>
          <p:cNvSpPr txBox="1"/>
          <p:nvPr/>
        </p:nvSpPr>
        <p:spPr>
          <a:xfrm>
            <a:off x="3554577" y="5778245"/>
            <a:ext cx="2229581" cy="194310"/>
          </a:xfrm>
          <a:prstGeom prst="rect">
            <a:avLst/>
          </a:prstGeom>
          <a:noFill/>
        </p:spPr>
        <p:txBody>
          <a:bodyPr wrap="none" lIns="0" rIns="0" tIns="0" bIns="0">
            <a:spAutoFit/>
          </a:bodyPr>
          <a:lstStyle/>
          <a:p>
            <a:r>
              <a:rPr sz="1150" b="0">
                <a:solidFill>
                  <a:srgbClr val="2E2E2E"/>
                </a:solidFill>
                <a:latin typeface="Calibri"/>
              </a:rPr>
              <a:t>MT in 2025 and is expected to reach</a:t>
            </a:r>
          </a:p>
        </p:txBody>
      </p:sp>
      <p:pic>
        <p:nvPicPr>
          <p:cNvPr id="47" name="Picture 46" descr="lock.png"/>
          <p:cNvPicPr>
            <a:picLocks noChangeAspect="1"/>
          </p:cNvPicPr>
          <p:nvPr/>
        </p:nvPicPr>
        <p:blipFill>
          <a:blip r:embed="rId6"/>
          <a:stretch>
            <a:fillRect/>
          </a:stretch>
        </p:blipFill>
        <p:spPr>
          <a:xfrm>
            <a:off x="5733313" y="5768022"/>
            <a:ext cx="134549" cy="195707"/>
          </a:xfrm>
          <a:prstGeom prst="rect">
            <a:avLst/>
          </a:prstGeom>
        </p:spPr>
      </p:pic>
      <p:sp>
        <p:nvSpPr>
          <p:cNvPr id="48" name="TextBox 47"/>
          <p:cNvSpPr txBox="1"/>
          <p:nvPr/>
        </p:nvSpPr>
        <p:spPr>
          <a:xfrm>
            <a:off x="5908422" y="5778245"/>
            <a:ext cx="1850461" cy="194310"/>
          </a:xfrm>
          <a:prstGeom prst="rect">
            <a:avLst/>
          </a:prstGeom>
          <a:noFill/>
        </p:spPr>
        <p:txBody>
          <a:bodyPr wrap="none" lIns="0" rIns="0" tIns="0" bIns="0">
            <a:spAutoFit/>
          </a:bodyPr>
          <a:lstStyle/>
          <a:p>
            <a:r>
              <a:rPr sz="1150" b="0">
                <a:solidFill>
                  <a:srgbClr val="2E2E2E"/>
                </a:solidFill>
                <a:latin typeface="Calibri"/>
              </a:rPr>
              <a:t>MT by 2036 end, at a CAGR of</a:t>
            </a:r>
          </a:p>
        </p:txBody>
      </p:sp>
      <p:pic>
        <p:nvPicPr>
          <p:cNvPr id="49" name="Picture 48" descr="lock.png"/>
          <p:cNvPicPr>
            <a:picLocks noChangeAspect="1"/>
          </p:cNvPicPr>
          <p:nvPr/>
        </p:nvPicPr>
        <p:blipFill>
          <a:blip r:embed="rId6"/>
          <a:stretch>
            <a:fillRect/>
          </a:stretch>
        </p:blipFill>
        <p:spPr>
          <a:xfrm>
            <a:off x="7708038" y="5768022"/>
            <a:ext cx="134549" cy="195707"/>
          </a:xfrm>
          <a:prstGeom prst="rect">
            <a:avLst/>
          </a:prstGeom>
        </p:spPr>
      </p:pic>
      <p:sp>
        <p:nvSpPr>
          <p:cNvPr id="50" name="TextBox 49"/>
          <p:cNvSpPr txBox="1"/>
          <p:nvPr/>
        </p:nvSpPr>
        <p:spPr>
          <a:xfrm>
            <a:off x="7883147" y="5778245"/>
            <a:ext cx="3395699" cy="194310"/>
          </a:xfrm>
          <a:prstGeom prst="rect">
            <a:avLst/>
          </a:prstGeom>
          <a:noFill/>
        </p:spPr>
        <p:txBody>
          <a:bodyPr wrap="none" lIns="0" rIns="0" tIns="0" bIns="0">
            <a:spAutoFit/>
          </a:bodyPr>
          <a:lstStyle/>
          <a:p>
            <a:r>
              <a:rPr sz="1150" b="0">
                <a:solidFill>
                  <a:srgbClr val="2E2E2E"/>
                </a:solidFill>
                <a:latin typeface="Calibri"/>
              </a:rPr>
              <a:t>. Value is projected to grow faster than volume over the</a:t>
            </a:r>
          </a:p>
        </p:txBody>
      </p:sp>
      <p:sp>
        <p:nvSpPr>
          <p:cNvPr id="51" name="TextBox 50"/>
          <p:cNvSpPr txBox="1"/>
          <p:nvPr/>
        </p:nvSpPr>
        <p:spPr>
          <a:xfrm>
            <a:off x="276225" y="5953505"/>
            <a:ext cx="3701206" cy="194310"/>
          </a:xfrm>
          <a:prstGeom prst="rect">
            <a:avLst/>
          </a:prstGeom>
          <a:noFill/>
        </p:spPr>
        <p:txBody>
          <a:bodyPr wrap="none" lIns="0" rIns="0" tIns="0" bIns="0">
            <a:spAutoFit/>
          </a:bodyPr>
          <a:lstStyle/>
          <a:p>
            <a:r>
              <a:rPr sz="1150" b="0">
                <a:solidFill>
                  <a:srgbClr val="2E2E2E"/>
                </a:solidFill>
                <a:latin typeface="Calibri"/>
              </a:rPr>
              <a:t>forecast period, owing to an increase in average selling price.</a:t>
            </a:r>
          </a:p>
        </p:txBody>
      </p:sp>
      <p:sp>
        <p:nvSpPr>
          <p:cNvPr id="52"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1"/>
        </p:xfrm>
        <a:graphic>
          <a:graphicData uri="http://schemas.openxmlformats.org/drawingml/2006/table">
            <a:tbl>
              <a:tblPr>
                <a:tableStyleId>{5C22544A-7EE6-4342-B048-85BDC9FD1C3A}</a:tableStyleId>
              </a:tblPr>
              <a:tblGrid>
                <a:gridCol w="1026891"/>
                <a:gridCol w="965533"/>
                <a:gridCol w="658971"/>
                <a:gridCol w="12633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77189">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Netherlands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2" cy="2006502"/>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2" y="1293011"/>
            <a:ext cx="1369293" cy="200650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99513"/>
            <a:ext cx="1578545" cy="1457892"/>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57405"/>
            <a:ext cx="1578545" cy="1121205"/>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88595" y="3299513"/>
            <a:ext cx="1171896" cy="111672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960491" y="3299513"/>
            <a:ext cx="992884" cy="111672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88595" y="4416242"/>
            <a:ext cx="1177393" cy="815964"/>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88595" y="5232205"/>
            <a:ext cx="1177393" cy="646404"/>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65988" y="4416242"/>
            <a:ext cx="987387" cy="75735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65988" y="5173599"/>
            <a:ext cx="987387" cy="705010"/>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1"/>
        </p:xfrm>
        <a:graphic>
          <a:graphicData uri="http://schemas.openxmlformats.org/drawingml/2006/table">
            <a:tbl>
              <a:tblPr>
                <a:tableStyleId>{5C22544A-7EE6-4342-B048-85BDC9FD1C3A}</a:tableStyleId>
              </a:tblPr>
              <a:tblGrid>
                <a:gridCol w="671383"/>
                <a:gridCol w="1081131"/>
                <a:gridCol w="1081131"/>
                <a:gridCol w="10811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82665">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454153" y="4513519"/>
            <a:ext cx="332122" cy="483086"/>
          </a:xfrm>
          <a:prstGeom prst="rect">
            <a:avLst/>
          </a:prstGeom>
        </p:spPr>
      </p:pic>
      <p:pic>
        <p:nvPicPr>
          <p:cNvPr id="38" name="Picture 37" descr="lock.png"/>
          <p:cNvPicPr>
            <a:picLocks noChangeAspect="1"/>
          </p:cNvPicPr>
          <p:nvPr/>
        </p:nvPicPr>
        <p:blipFill>
          <a:blip r:embed="rId6"/>
          <a:stretch>
            <a:fillRect/>
          </a:stretch>
        </p:blipFill>
        <p:spPr>
          <a:xfrm>
            <a:off x="5339440" y="2296262"/>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2" y="2296262"/>
            <a:ext cx="115252" cy="167639"/>
          </a:xfrm>
          <a:prstGeom prst="rect">
            <a:avLst/>
          </a:prstGeom>
        </p:spPr>
      </p:pic>
      <p:pic>
        <p:nvPicPr>
          <p:cNvPr id="40" name="Picture 39" descr="lock.png"/>
          <p:cNvPicPr>
            <a:picLocks noChangeAspect="1"/>
          </p:cNvPicPr>
          <p:nvPr/>
        </p:nvPicPr>
        <p:blipFill>
          <a:blip r:embed="rId6"/>
          <a:stretch>
            <a:fillRect/>
          </a:stretch>
        </p:blipFill>
        <p:spPr>
          <a:xfrm>
            <a:off x="4941696" y="4028459"/>
            <a:ext cx="115252" cy="167639"/>
          </a:xfrm>
          <a:prstGeom prst="rect">
            <a:avLst/>
          </a:prstGeom>
        </p:spPr>
      </p:pic>
      <p:pic>
        <p:nvPicPr>
          <p:cNvPr id="41" name="Picture 40" descr="lock.png"/>
          <p:cNvPicPr>
            <a:picLocks noChangeAspect="1"/>
          </p:cNvPicPr>
          <p:nvPr/>
        </p:nvPicPr>
        <p:blipFill>
          <a:blip r:embed="rId6"/>
          <a:stretch>
            <a:fillRect/>
          </a:stretch>
        </p:blipFill>
        <p:spPr>
          <a:xfrm>
            <a:off x="4941696" y="5318007"/>
            <a:ext cx="115252" cy="167639"/>
          </a:xfrm>
          <a:prstGeom prst="rect">
            <a:avLst/>
          </a:prstGeom>
        </p:spPr>
      </p:pic>
      <p:pic>
        <p:nvPicPr>
          <p:cNvPr id="42" name="Picture 41" descr="lock.png"/>
          <p:cNvPicPr>
            <a:picLocks noChangeAspect="1"/>
          </p:cNvPicPr>
          <p:nvPr/>
        </p:nvPicPr>
        <p:blipFill>
          <a:blip r:embed="rId6"/>
          <a:stretch>
            <a:fillRect/>
          </a:stretch>
        </p:blipFill>
        <p:spPr>
          <a:xfrm>
            <a:off x="6316917" y="3857877"/>
            <a:ext cx="115252" cy="167639"/>
          </a:xfrm>
          <a:prstGeom prst="rect">
            <a:avLst/>
          </a:prstGeom>
        </p:spPr>
      </p:pic>
      <p:pic>
        <p:nvPicPr>
          <p:cNvPr id="43" name="Picture 42" descr="lock.png"/>
          <p:cNvPicPr>
            <a:picLocks noChangeAspect="1"/>
          </p:cNvPicPr>
          <p:nvPr/>
        </p:nvPicPr>
        <p:blipFill>
          <a:blip r:embed="rId6"/>
          <a:stretch>
            <a:fillRect/>
          </a:stretch>
        </p:blipFill>
        <p:spPr>
          <a:xfrm>
            <a:off x="7399307" y="3857877"/>
            <a:ext cx="115252" cy="167639"/>
          </a:xfrm>
          <a:prstGeom prst="rect">
            <a:avLst/>
          </a:prstGeom>
        </p:spPr>
      </p:pic>
      <p:pic>
        <p:nvPicPr>
          <p:cNvPr id="44" name="Picture 43" descr="lock.png"/>
          <p:cNvPicPr>
            <a:picLocks noChangeAspect="1"/>
          </p:cNvPicPr>
          <p:nvPr/>
        </p:nvPicPr>
        <p:blipFill>
          <a:blip r:embed="rId6"/>
          <a:stretch>
            <a:fillRect/>
          </a:stretch>
        </p:blipFill>
        <p:spPr>
          <a:xfrm>
            <a:off x="6319665" y="4824224"/>
            <a:ext cx="115252" cy="167639"/>
          </a:xfrm>
          <a:prstGeom prst="rect">
            <a:avLst/>
          </a:prstGeom>
        </p:spPr>
      </p:pic>
      <p:pic>
        <p:nvPicPr>
          <p:cNvPr id="45" name="Picture 44" descr="lock.png"/>
          <p:cNvPicPr>
            <a:picLocks noChangeAspect="1"/>
          </p:cNvPicPr>
          <p:nvPr/>
        </p:nvPicPr>
        <p:blipFill>
          <a:blip r:embed="rId6"/>
          <a:stretch>
            <a:fillRect/>
          </a:stretch>
        </p:blipFill>
        <p:spPr>
          <a:xfrm>
            <a:off x="6319665" y="5555407"/>
            <a:ext cx="115252" cy="167639"/>
          </a:xfrm>
          <a:prstGeom prst="rect">
            <a:avLst/>
          </a:prstGeom>
        </p:spPr>
      </p:pic>
      <p:pic>
        <p:nvPicPr>
          <p:cNvPr id="46" name="Picture 45" descr="lock.png"/>
          <p:cNvPicPr>
            <a:picLocks noChangeAspect="1"/>
          </p:cNvPicPr>
          <p:nvPr/>
        </p:nvPicPr>
        <p:blipFill>
          <a:blip r:embed="rId6"/>
          <a:stretch>
            <a:fillRect/>
          </a:stretch>
        </p:blipFill>
        <p:spPr>
          <a:xfrm>
            <a:off x="7402055" y="4794921"/>
            <a:ext cx="115252" cy="167639"/>
          </a:xfrm>
          <a:prstGeom prst="rect">
            <a:avLst/>
          </a:prstGeom>
        </p:spPr>
      </p:pic>
      <p:pic>
        <p:nvPicPr>
          <p:cNvPr id="47" name="Picture 46" descr="lock.png"/>
          <p:cNvPicPr>
            <a:picLocks noChangeAspect="1"/>
          </p:cNvPicPr>
          <p:nvPr/>
        </p:nvPicPr>
        <p:blipFill>
          <a:blip r:embed="rId6"/>
          <a:stretch>
            <a:fillRect/>
          </a:stretch>
        </p:blipFill>
        <p:spPr>
          <a:xfrm>
            <a:off x="7402055" y="5526103"/>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3484934" cy="186689"/>
          </a:xfrm>
          <a:prstGeom prst="rect">
            <a:avLst/>
          </a:prstGeom>
          <a:noFill/>
        </p:spPr>
        <p:txBody>
          <a:bodyPr wrap="none" lIns="0" rIns="0" tIns="0" bIns="0">
            <a:spAutoFit/>
          </a:bodyPr>
          <a:lstStyle/>
          <a:p>
            <a:r>
              <a:rPr sz="1100" b="0">
                <a:solidFill>
                  <a:srgbClr val="2E2E2E"/>
                </a:solidFill>
                <a:latin typeface="Calibri"/>
              </a:rPr>
              <a:t>The U.S. corrugated partition market is projected to register</a:t>
            </a:r>
          </a:p>
        </p:txBody>
      </p:sp>
      <p:pic>
        <p:nvPicPr>
          <p:cNvPr id="51" name="Picture 50" descr="lock.png"/>
          <p:cNvPicPr>
            <a:picLocks noChangeAspect="1"/>
          </p:cNvPicPr>
          <p:nvPr/>
        </p:nvPicPr>
        <p:blipFill>
          <a:blip r:embed="rId6"/>
          <a:stretch>
            <a:fillRect/>
          </a:stretch>
        </p:blipFill>
        <p:spPr>
          <a:xfrm>
            <a:off x="3690161" y="6150795"/>
            <a:ext cx="128699" cy="187198"/>
          </a:xfrm>
          <a:prstGeom prst="rect">
            <a:avLst/>
          </a:prstGeom>
        </p:spPr>
      </p:pic>
      <p:sp>
        <p:nvSpPr>
          <p:cNvPr id="52" name="TextBox 51"/>
          <p:cNvSpPr txBox="1"/>
          <p:nvPr/>
        </p:nvSpPr>
        <p:spPr>
          <a:xfrm>
            <a:off x="3857656" y="6160574"/>
            <a:ext cx="4298833" cy="186689"/>
          </a:xfrm>
          <a:prstGeom prst="rect">
            <a:avLst/>
          </a:prstGeom>
          <a:noFill/>
        </p:spPr>
        <p:txBody>
          <a:bodyPr wrap="none" lIns="0" rIns="0" tIns="0" bIns="0">
            <a:spAutoFit/>
          </a:bodyPr>
          <a:lstStyle/>
          <a:p>
            <a:r>
              <a:rPr sz="1100" b="0">
                <a:solidFill>
                  <a:srgbClr val="2E2E2E"/>
                </a:solidFill>
                <a:latin typeface="Calibri"/>
              </a:rPr>
              <a:t>X higher value than Germany in 2036. India posts the highest CAGR Index (</a:t>
            </a:r>
          </a:p>
        </p:txBody>
      </p:sp>
      <p:pic>
        <p:nvPicPr>
          <p:cNvPr id="53" name="Picture 52" descr="lock.png"/>
          <p:cNvPicPr>
            <a:picLocks noChangeAspect="1"/>
          </p:cNvPicPr>
          <p:nvPr/>
        </p:nvPicPr>
        <p:blipFill>
          <a:blip r:embed="rId6"/>
          <a:stretch>
            <a:fillRect/>
          </a:stretch>
        </p:blipFill>
        <p:spPr>
          <a:xfrm>
            <a:off x="8104542" y="6150795"/>
            <a:ext cx="128699" cy="187198"/>
          </a:xfrm>
          <a:prstGeom prst="rect">
            <a:avLst/>
          </a:prstGeom>
        </p:spPr>
      </p:pic>
      <p:sp>
        <p:nvSpPr>
          <p:cNvPr id="54" name="TextBox 53"/>
          <p:cNvSpPr txBox="1"/>
          <p:nvPr/>
        </p:nvSpPr>
        <p:spPr>
          <a:xfrm>
            <a:off x="8272038"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55" name="Picture 54" descr="lock.png"/>
          <p:cNvPicPr>
            <a:picLocks noChangeAspect="1"/>
          </p:cNvPicPr>
          <p:nvPr/>
        </p:nvPicPr>
        <p:blipFill>
          <a:blip r:embed="rId6"/>
          <a:stretch>
            <a:fillRect/>
          </a:stretch>
        </p:blipFill>
        <p:spPr>
          <a:xfrm>
            <a:off x="9010069" y="6150795"/>
            <a:ext cx="128699" cy="187198"/>
          </a:xfrm>
          <a:prstGeom prst="rect">
            <a:avLst/>
          </a:prstGeom>
        </p:spPr>
      </p:pic>
      <p:sp>
        <p:nvSpPr>
          <p:cNvPr id="56" name="TextBox 55"/>
          <p:cNvSpPr txBox="1"/>
          <p:nvPr/>
        </p:nvSpPr>
        <p:spPr>
          <a:xfrm>
            <a:off x="9177565" y="6160574"/>
            <a:ext cx="1080020" cy="186689"/>
          </a:xfrm>
          <a:prstGeom prst="rect">
            <a:avLst/>
          </a:prstGeom>
          <a:noFill/>
        </p:spPr>
        <p:txBody>
          <a:bodyPr wrap="none" lIns="0" rIns="0" tIns="0" bIns="0">
            <a:spAutoFit/>
          </a:bodyPr>
          <a:lstStyle/>
          <a:p>
            <a:r>
              <a:rPr sz="1100" b="0">
                <a:solidFill>
                  <a:srgbClr val="2E2E2E"/>
                </a:solidFill>
                <a:latin typeface="Calibri"/>
              </a:rPr>
              <a:t>against the global</a:t>
            </a:r>
          </a:p>
        </p:txBody>
      </p:sp>
      <p:sp>
        <p:nvSpPr>
          <p:cNvPr id="57" name="TextBox 56"/>
          <p:cNvSpPr txBox="1"/>
          <p:nvPr/>
        </p:nvSpPr>
        <p:spPr>
          <a:xfrm>
            <a:off x="257175" y="6328214"/>
            <a:ext cx="3580159" cy="186689"/>
          </a:xfrm>
          <a:prstGeom prst="rect">
            <a:avLst/>
          </a:prstGeom>
          <a:noFill/>
        </p:spPr>
        <p:txBody>
          <a:bodyPr wrap="none" lIns="0" rIns="0" tIns="0" bIns="0">
            <a:spAutoFit/>
          </a:bodyPr>
          <a:lstStyle/>
          <a:p>
            <a:r>
              <a:rPr sz="1100" b="0">
                <a:solidFill>
                  <a:srgbClr val="2E2E2E"/>
                </a:solidFill>
                <a:latin typeface="Calibri"/>
              </a:rPr>
              <a:t>benchmark, while U.S. offers the largest absolute opportunity</a:t>
            </a:r>
          </a:p>
        </p:txBody>
      </p:sp>
      <p:pic>
        <p:nvPicPr>
          <p:cNvPr id="58" name="Picture 57" descr="lock.png"/>
          <p:cNvPicPr>
            <a:picLocks noChangeAspect="1"/>
          </p:cNvPicPr>
          <p:nvPr/>
        </p:nvPicPr>
        <p:blipFill>
          <a:blip r:embed="rId6"/>
          <a:stretch>
            <a:fillRect/>
          </a:stretch>
        </p:blipFill>
        <p:spPr>
          <a:xfrm>
            <a:off x="3785386" y="6318435"/>
            <a:ext cx="128699" cy="187198"/>
          </a:xfrm>
          <a:prstGeom prst="rect">
            <a:avLst/>
          </a:prstGeom>
        </p:spPr>
      </p:pic>
      <p:sp>
        <p:nvSpPr>
          <p:cNvPr id="59" name="TextBox 58"/>
          <p:cNvSpPr txBox="1"/>
          <p:nvPr/>
        </p:nvSpPr>
        <p:spPr>
          <a:xfrm>
            <a:off x="3952882"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60" name="Picture 59" descr="lock.png"/>
          <p:cNvPicPr>
            <a:picLocks noChangeAspect="1"/>
          </p:cNvPicPr>
          <p:nvPr/>
        </p:nvPicPr>
        <p:blipFill>
          <a:blip r:embed="rId6"/>
          <a:stretch>
            <a:fillRect/>
          </a:stretch>
        </p:blipFill>
        <p:spPr>
          <a:xfrm>
            <a:off x="7212880" y="6318435"/>
            <a:ext cx="128699" cy="187198"/>
          </a:xfrm>
          <a:prstGeom prst="rect">
            <a:avLst/>
          </a:prstGeom>
        </p:spPr>
      </p:pic>
      <p:sp>
        <p:nvSpPr>
          <p:cNvPr id="61" name="TextBox 60"/>
          <p:cNvSpPr txBox="1"/>
          <p:nvPr/>
        </p:nvSpPr>
        <p:spPr>
          <a:xfrm>
            <a:off x="7380376" y="6328214"/>
            <a:ext cx="1483568" cy="186689"/>
          </a:xfrm>
          <a:prstGeom prst="rect">
            <a:avLst/>
          </a:prstGeom>
          <a:noFill/>
        </p:spPr>
        <p:txBody>
          <a:bodyPr wrap="none" lIns="0" rIns="0" tIns="0" bIns="0">
            <a:spAutoFit/>
          </a:bodyPr>
          <a:lstStyle/>
          <a:p>
            <a:r>
              <a:rPr sz="1100" b="0">
                <a:solidFill>
                  <a:srgbClr val="2E2E2E"/>
                </a:solidFill>
                <a:latin typeface="Calibri"/>
              </a:rPr>
              <a:t>of the global increment).</a:t>
            </a:r>
          </a:p>
        </p:txBody>
      </p:sp>
      <p:sp>
        <p:nvSpPr>
          <p:cNvPr id="62"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199" cy="1485896"/>
        </p:xfrm>
        <a:graphic>
          <a:graphicData uri="http://schemas.openxmlformats.org/drawingml/2006/table">
            <a:tbl>
              <a:tblPr>
                <a:tableStyleId>{5C22544A-7EE6-4342-B048-85BDC9FD1C3A}</a:tableStyleId>
              </a:tblPr>
              <a:tblGrid>
                <a:gridCol w="1994456"/>
                <a:gridCol w="3297581"/>
                <a:gridCol w="3297581"/>
                <a:gridCol w="3297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Malaysia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552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981325"/>
          <a:ext cx="11887200" cy="1485896"/>
        </p:xfrm>
        <a:graphic>
          <a:graphicData uri="http://schemas.openxmlformats.org/drawingml/2006/table">
            <a:tbl>
              <a:tblPr>
                <a:tableStyleId>{5C22544A-7EE6-4342-B048-85BDC9FD1C3A}</a:tableStyleId>
              </a:tblPr>
              <a:tblGrid>
                <a:gridCol w="1846407"/>
                <a:gridCol w="3346931"/>
                <a:gridCol w="3346931"/>
                <a:gridCol w="33469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6906537"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32513" y="3580638"/>
            <a:ext cx="366712" cy="533400"/>
          </a:xfrm>
          <a:prstGeom prst="rect">
            <a:avLst/>
          </a:prstGeom>
        </p:spPr>
      </p:pic>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00350"/>
            <a:ext cx="11906250"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88607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242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09925"/>
            <a:ext cx="11639550" cy="1085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505325"/>
            <a:ext cx="3943350"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5910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8291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914900"/>
            <a:ext cx="3676650"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5910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4914900"/>
            <a:ext cx="3552825"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5910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4914900"/>
            <a:ext cx="3552825"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'Flat Dividers &amp; Layer Pads'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3 partition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502099" cy="194310"/>
          </a:xfrm>
          <a:prstGeom prst="rect">
            <a:avLst/>
          </a:prstGeom>
          <a:noFill/>
        </p:spPr>
        <p:txBody>
          <a:bodyPr wrap="none" lIns="0" rIns="0" tIns="0" bIns="0">
            <a:spAutoFit/>
          </a:bodyPr>
          <a:lstStyle/>
          <a:p>
            <a:r>
              <a:rPr sz="1150" b="0">
                <a:solidFill>
                  <a:srgbClr val="2E2E2E"/>
                </a:solidFill>
                <a:latin typeface="Calibri"/>
              </a:rPr>
              <a:t>Global corrugated partition market is expected to witness</a:t>
            </a:r>
          </a:p>
        </p:txBody>
      </p:sp>
      <p:pic>
        <p:nvPicPr>
          <p:cNvPr id="32" name="Picture 31" descr="lock.png"/>
          <p:cNvPicPr>
            <a:picLocks noChangeAspect="1"/>
          </p:cNvPicPr>
          <p:nvPr/>
        </p:nvPicPr>
        <p:blipFill>
          <a:blip r:embed="rId4"/>
          <a:stretch>
            <a:fillRect/>
          </a:stretch>
        </p:blipFill>
        <p:spPr>
          <a:xfrm>
            <a:off x="3727478" y="1389951"/>
            <a:ext cx="134549" cy="195707"/>
          </a:xfrm>
          <a:prstGeom prst="rect">
            <a:avLst/>
          </a:prstGeom>
        </p:spPr>
      </p:pic>
      <p:sp>
        <p:nvSpPr>
          <p:cNvPr id="33" name="TextBox 32"/>
          <p:cNvSpPr txBox="1"/>
          <p:nvPr/>
        </p:nvSpPr>
        <p:spPr>
          <a:xfrm>
            <a:off x="3902587" y="1400175"/>
            <a:ext cx="5390765" cy="194310"/>
          </a:xfrm>
          <a:prstGeom prst="rect">
            <a:avLst/>
          </a:prstGeom>
          <a:noFill/>
        </p:spPr>
        <p:txBody>
          <a:bodyPr wrap="none" lIns="0" rIns="0" tIns="0" bIns="0">
            <a:spAutoFit/>
          </a:bodyPr>
          <a:lstStyle/>
          <a:p>
            <a:r>
              <a:rPr sz="1150" b="0">
                <a:solidFill>
                  <a:srgbClr val="2E2E2E"/>
                </a:solidFill>
                <a:latin typeface="Calibri"/>
              </a:rPr>
              <a:t>X increase in revenue by 2036 end. Global corrugated partition market accounted for US$</a:t>
            </a:r>
          </a:p>
        </p:txBody>
      </p:sp>
      <p:pic>
        <p:nvPicPr>
          <p:cNvPr id="34" name="Picture 33" descr="lock.png"/>
          <p:cNvPicPr>
            <a:picLocks noChangeAspect="1"/>
          </p:cNvPicPr>
          <p:nvPr/>
        </p:nvPicPr>
        <p:blipFill>
          <a:blip r:embed="rId4"/>
          <a:stretch>
            <a:fillRect/>
          </a:stretch>
        </p:blipFill>
        <p:spPr>
          <a:xfrm>
            <a:off x="9242507" y="1389951"/>
            <a:ext cx="134549" cy="195707"/>
          </a:xfrm>
          <a:prstGeom prst="rect">
            <a:avLst/>
          </a:prstGeom>
        </p:spPr>
      </p:pic>
      <p:sp>
        <p:nvSpPr>
          <p:cNvPr id="35" name="TextBox 34"/>
          <p:cNvSpPr txBox="1"/>
          <p:nvPr/>
        </p:nvSpPr>
        <p:spPr>
          <a:xfrm>
            <a:off x="9417616" y="1400175"/>
            <a:ext cx="2036179" cy="194310"/>
          </a:xfrm>
          <a:prstGeom prst="rect">
            <a:avLst/>
          </a:prstGeom>
          <a:noFill/>
        </p:spPr>
        <p:txBody>
          <a:bodyPr wrap="none" lIns="0" rIns="0" tIns="0" bIns="0">
            <a:spAutoFit/>
          </a:bodyPr>
          <a:lstStyle/>
          <a:p>
            <a:r>
              <a:rPr sz="1150" b="0">
                <a:solidFill>
                  <a:srgbClr val="2E2E2E"/>
                </a:solidFill>
                <a:latin typeface="Calibri"/>
              </a:rPr>
              <a:t>Mn in 2025, which is expected to</a:t>
            </a:r>
          </a:p>
        </p:txBody>
      </p:sp>
      <p:sp>
        <p:nvSpPr>
          <p:cNvPr id="36" name="TextBox 35"/>
          <p:cNvSpPr txBox="1"/>
          <p:nvPr/>
        </p:nvSpPr>
        <p:spPr>
          <a:xfrm>
            <a:off x="276225" y="1575435"/>
            <a:ext cx="999281" cy="194310"/>
          </a:xfrm>
          <a:prstGeom prst="rect">
            <a:avLst/>
          </a:prstGeom>
          <a:noFill/>
        </p:spPr>
        <p:txBody>
          <a:bodyPr wrap="none" lIns="0" rIns="0" tIns="0" bIns="0">
            <a:spAutoFit/>
          </a:bodyPr>
          <a:lstStyle/>
          <a:p>
            <a:r>
              <a:rPr sz="1150" b="0">
                <a:solidFill>
                  <a:srgbClr val="2E2E2E"/>
                </a:solidFill>
                <a:latin typeface="Calibri"/>
              </a:rPr>
              <a:t>increase to US$</a:t>
            </a:r>
          </a:p>
        </p:txBody>
      </p:sp>
      <p:pic>
        <p:nvPicPr>
          <p:cNvPr id="37" name="Picture 36" descr="lock.png"/>
          <p:cNvPicPr>
            <a:picLocks noChangeAspect="1"/>
          </p:cNvPicPr>
          <p:nvPr/>
        </p:nvPicPr>
        <p:blipFill>
          <a:blip r:embed="rId4"/>
          <a:stretch>
            <a:fillRect/>
          </a:stretch>
        </p:blipFill>
        <p:spPr>
          <a:xfrm>
            <a:off x="1224660" y="1565211"/>
            <a:ext cx="134549" cy="195707"/>
          </a:xfrm>
          <a:prstGeom prst="rect">
            <a:avLst/>
          </a:prstGeom>
        </p:spPr>
      </p:pic>
      <p:sp>
        <p:nvSpPr>
          <p:cNvPr id="38" name="TextBox 37"/>
          <p:cNvSpPr txBox="1"/>
          <p:nvPr/>
        </p:nvSpPr>
        <p:spPr>
          <a:xfrm>
            <a:off x="1399769" y="1575435"/>
            <a:ext cx="1527554" cy="194310"/>
          </a:xfrm>
          <a:prstGeom prst="rect">
            <a:avLst/>
          </a:prstGeom>
          <a:noFill/>
        </p:spPr>
        <p:txBody>
          <a:bodyPr wrap="none" lIns="0" rIns="0" tIns="0" bIns="0">
            <a:spAutoFit/>
          </a:bodyPr>
          <a:lstStyle/>
          <a:p>
            <a:r>
              <a:rPr sz="1150" b="0">
                <a:solidFill>
                  <a:srgbClr val="2E2E2E"/>
                </a:solidFill>
                <a:latin typeface="Calibri"/>
              </a:rPr>
              <a:t>Mn in 2036 at a CAGR of</a:t>
            </a:r>
          </a:p>
        </p:txBody>
      </p:sp>
      <p:pic>
        <p:nvPicPr>
          <p:cNvPr id="39" name="Picture 38" descr="lock.png"/>
          <p:cNvPicPr>
            <a:picLocks noChangeAspect="1"/>
          </p:cNvPicPr>
          <p:nvPr/>
        </p:nvPicPr>
        <p:blipFill>
          <a:blip r:embed="rId4"/>
          <a:stretch>
            <a:fillRect/>
          </a:stretch>
        </p:blipFill>
        <p:spPr>
          <a:xfrm>
            <a:off x="2876477" y="1565211"/>
            <a:ext cx="134549" cy="195707"/>
          </a:xfrm>
          <a:prstGeom prst="rect">
            <a:avLst/>
          </a:prstGeom>
        </p:spPr>
      </p:pic>
      <p:sp>
        <p:nvSpPr>
          <p:cNvPr id="40" name="TextBox 39"/>
          <p:cNvSpPr txBox="1"/>
          <p:nvPr/>
        </p:nvSpPr>
        <p:spPr>
          <a:xfrm>
            <a:off x="3051587" y="157543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1" name="TextBox 40"/>
          <p:cNvSpPr txBox="1"/>
          <p:nvPr/>
        </p:nvSpPr>
        <p:spPr>
          <a:xfrm>
            <a:off x="276225" y="1803273"/>
            <a:ext cx="11583342" cy="194310"/>
          </a:xfrm>
          <a:prstGeom prst="rect">
            <a:avLst/>
          </a:prstGeom>
          <a:noFill/>
        </p:spPr>
        <p:txBody>
          <a:bodyPr wrap="none" lIns="0" rIns="0" tIns="0" bIns="0">
            <a:spAutoFit/>
          </a:bodyPr>
          <a:lstStyle/>
          <a:p>
            <a:r>
              <a:rPr sz="1150" b="0">
                <a:solidFill>
                  <a:srgbClr val="2E2E2E"/>
                </a:solidFill>
                <a:latin typeface="Calibri"/>
              </a:rPr>
              <a:t>The global corrugated partition market has been analysed on the basis of partition type, board construction, material source and cell configuration across the globe. North America is expected to</a:t>
            </a:r>
          </a:p>
        </p:txBody>
      </p:sp>
      <p:sp>
        <p:nvSpPr>
          <p:cNvPr id="42" name="TextBox 41"/>
          <p:cNvSpPr txBox="1"/>
          <p:nvPr/>
        </p:nvSpPr>
        <p:spPr>
          <a:xfrm>
            <a:off x="276225" y="1978533"/>
            <a:ext cx="8118916" cy="194310"/>
          </a:xfrm>
          <a:prstGeom prst="rect">
            <a:avLst/>
          </a:prstGeom>
          <a:noFill/>
        </p:spPr>
        <p:txBody>
          <a:bodyPr wrap="none" lIns="0" rIns="0" tIns="0" bIns="0">
            <a:spAutoFit/>
          </a:bodyPr>
          <a:lstStyle/>
          <a:p>
            <a:r>
              <a:rPr sz="1150" b="0">
                <a:solidFill>
                  <a:srgbClr val="2E2E2E"/>
                </a:solidFill>
                <a:latin typeface="Calibri"/>
              </a:rPr>
              <a:t>remain the largest market for corrugated partition, while demand in South Asia &amp; Pacific is projected to increase at the highest CAGR of</a:t>
            </a:r>
          </a:p>
        </p:txBody>
      </p:sp>
      <p:pic>
        <p:nvPicPr>
          <p:cNvPr id="43" name="Picture 42" descr="lock.png"/>
          <p:cNvPicPr>
            <a:picLocks noChangeAspect="1"/>
          </p:cNvPicPr>
          <p:nvPr/>
        </p:nvPicPr>
        <p:blipFill>
          <a:blip r:embed="rId4"/>
          <a:stretch>
            <a:fillRect/>
          </a:stretch>
        </p:blipFill>
        <p:spPr>
          <a:xfrm>
            <a:off x="8344294" y="1968309"/>
            <a:ext cx="134549" cy="195707"/>
          </a:xfrm>
          <a:prstGeom prst="rect">
            <a:avLst/>
          </a:prstGeom>
        </p:spPr>
      </p:pic>
      <p:sp>
        <p:nvSpPr>
          <p:cNvPr id="44" name="TextBox 43"/>
          <p:cNvSpPr txBox="1"/>
          <p:nvPr/>
        </p:nvSpPr>
        <p:spPr>
          <a:xfrm>
            <a:off x="8519404"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19450"/>
            <a:ext cx="5877693" cy="194310"/>
          </a:xfrm>
          <a:prstGeom prst="rect">
            <a:avLst/>
          </a:prstGeom>
          <a:noFill/>
        </p:spPr>
        <p:txBody>
          <a:bodyPr wrap="none" lIns="0" rIns="0" tIns="0" bIns="0">
            <a:spAutoFit/>
          </a:bodyPr>
          <a:lstStyle/>
          <a:p>
            <a:r>
              <a:rPr sz="1150" b="0">
                <a:solidFill>
                  <a:srgbClr val="2E2E2E"/>
                </a:solidFill>
                <a:latin typeface="Calibri"/>
              </a:rPr>
              <a:t>▪ The market is consolidated: the leading partition type category 'Flat Dividers &amp; Layer Pads' holds</a:t>
            </a:r>
          </a:p>
        </p:txBody>
      </p:sp>
      <p:pic>
        <p:nvPicPr>
          <p:cNvPr id="46" name="Picture 45" descr="lock.png"/>
          <p:cNvPicPr>
            <a:picLocks noChangeAspect="1"/>
          </p:cNvPicPr>
          <p:nvPr/>
        </p:nvPicPr>
        <p:blipFill>
          <a:blip r:embed="rId4"/>
          <a:stretch>
            <a:fillRect/>
          </a:stretch>
        </p:blipFill>
        <p:spPr>
          <a:xfrm>
            <a:off x="6103072" y="3209226"/>
            <a:ext cx="134549" cy="195707"/>
          </a:xfrm>
          <a:prstGeom prst="rect">
            <a:avLst/>
          </a:prstGeom>
        </p:spPr>
      </p:pic>
      <p:sp>
        <p:nvSpPr>
          <p:cNvPr id="47" name="TextBox 46"/>
          <p:cNvSpPr txBox="1"/>
          <p:nvPr/>
        </p:nvSpPr>
        <p:spPr>
          <a:xfrm>
            <a:off x="6278182" y="321945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8" name="TextBox 47"/>
          <p:cNvSpPr txBox="1"/>
          <p:nvPr/>
        </p:nvSpPr>
        <p:spPr>
          <a:xfrm>
            <a:off x="276225" y="3447287"/>
            <a:ext cx="5032771" cy="194310"/>
          </a:xfrm>
          <a:prstGeom prst="rect">
            <a:avLst/>
          </a:prstGeom>
          <a:noFill/>
        </p:spPr>
        <p:txBody>
          <a:bodyPr wrap="none" lIns="0" rIns="0" tIns="0" bIns="0">
            <a:spAutoFit/>
          </a:bodyPr>
          <a:lstStyle/>
          <a:p>
            <a:r>
              <a:rPr sz="1150" b="0">
                <a:solidFill>
                  <a:srgbClr val="2E2E2E"/>
                </a:solidFill>
                <a:latin typeface="Calibri"/>
              </a:rPr>
              <a:t>▪ Demand spans 6 regions and 10 segmentation lenses (3 partition type categories).</a:t>
            </a:r>
          </a:p>
        </p:txBody>
      </p:sp>
      <p:sp>
        <p:nvSpPr>
          <p:cNvPr id="49" name="TextBox 48"/>
          <p:cNvSpPr txBox="1"/>
          <p:nvPr/>
        </p:nvSpPr>
        <p:spPr>
          <a:xfrm>
            <a:off x="276225" y="3675125"/>
            <a:ext cx="2950988" cy="194310"/>
          </a:xfrm>
          <a:prstGeom prst="rect">
            <a:avLst/>
          </a:prstGeom>
          <a:noFill/>
        </p:spPr>
        <p:txBody>
          <a:bodyPr wrap="none" lIns="0" rIns="0" tIns="0" bIns="0">
            <a:spAutoFit/>
          </a:bodyPr>
          <a:lstStyle/>
          <a:p>
            <a:r>
              <a:rPr sz="1150" b="0">
                <a:solidFill>
                  <a:srgbClr val="2E2E2E"/>
                </a:solidFill>
                <a:latin typeface="Calibri"/>
              </a:rPr>
              <a:t>▪ North America is the largest regional market at</a:t>
            </a:r>
          </a:p>
        </p:txBody>
      </p:sp>
      <p:pic>
        <p:nvPicPr>
          <p:cNvPr id="50" name="Picture 49" descr="lock.png"/>
          <p:cNvPicPr>
            <a:picLocks noChangeAspect="1"/>
          </p:cNvPicPr>
          <p:nvPr/>
        </p:nvPicPr>
        <p:blipFill>
          <a:blip r:embed="rId4"/>
          <a:stretch>
            <a:fillRect/>
          </a:stretch>
        </p:blipFill>
        <p:spPr>
          <a:xfrm>
            <a:off x="3176367" y="3664902"/>
            <a:ext cx="134549" cy="195707"/>
          </a:xfrm>
          <a:prstGeom prst="rect">
            <a:avLst/>
          </a:prstGeom>
        </p:spPr>
      </p:pic>
      <p:sp>
        <p:nvSpPr>
          <p:cNvPr id="51" name="TextBox 50"/>
          <p:cNvSpPr txBox="1"/>
          <p:nvPr/>
        </p:nvSpPr>
        <p:spPr>
          <a:xfrm>
            <a:off x="3351477" y="367512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2" name="TextBox 51"/>
          <p:cNvSpPr txBox="1"/>
          <p:nvPr/>
        </p:nvSpPr>
        <p:spPr>
          <a:xfrm>
            <a:off x="276225" y="4924425"/>
            <a:ext cx="3204294" cy="194310"/>
          </a:xfrm>
          <a:prstGeom prst="rect">
            <a:avLst/>
          </a:prstGeom>
          <a:noFill/>
        </p:spPr>
        <p:txBody>
          <a:bodyPr wrap="none" lIns="0" rIns="0" tIns="0" bIns="0">
            <a:spAutoFit/>
          </a:bodyPr>
          <a:lstStyle/>
          <a:p>
            <a:r>
              <a:rPr sz="1150" b="0">
                <a:solidFill>
                  <a:srgbClr val="2E2E2E"/>
                </a:solidFill>
                <a:latin typeface="Calibri"/>
              </a:rPr>
              <a:t>▪ Accelerating uptake of 'Flat Dividers &amp; Layer Pads' (</a:t>
            </a:r>
          </a:p>
        </p:txBody>
      </p:sp>
      <p:pic>
        <p:nvPicPr>
          <p:cNvPr id="53" name="Picture 52" descr="lock.png"/>
          <p:cNvPicPr>
            <a:picLocks noChangeAspect="1"/>
          </p:cNvPicPr>
          <p:nvPr/>
        </p:nvPicPr>
        <p:blipFill>
          <a:blip r:embed="rId4"/>
          <a:stretch>
            <a:fillRect/>
          </a:stretch>
        </p:blipFill>
        <p:spPr>
          <a:xfrm>
            <a:off x="3429673" y="4914201"/>
            <a:ext cx="134549" cy="195707"/>
          </a:xfrm>
          <a:prstGeom prst="rect">
            <a:avLst/>
          </a:prstGeom>
        </p:spPr>
      </p:pic>
      <p:sp>
        <p:nvSpPr>
          <p:cNvPr id="54" name="TextBox 53"/>
          <p:cNvSpPr txBox="1"/>
          <p:nvPr/>
        </p:nvSpPr>
        <p:spPr>
          <a:xfrm>
            <a:off x="276225" y="50996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5" name="TextBox 54"/>
          <p:cNvSpPr txBox="1"/>
          <p:nvPr/>
        </p:nvSpPr>
        <p:spPr>
          <a:xfrm>
            <a:off x="276225" y="5327522"/>
            <a:ext cx="2877045" cy="194310"/>
          </a:xfrm>
          <a:prstGeom prst="rect">
            <a:avLst/>
          </a:prstGeom>
          <a:noFill/>
        </p:spPr>
        <p:txBody>
          <a:bodyPr wrap="none" lIns="0" rIns="0" tIns="0" bIns="0">
            <a:spAutoFit/>
          </a:bodyPr>
          <a:lstStyle/>
          <a:p>
            <a:r>
              <a:rPr sz="1150" b="0">
                <a:solidFill>
                  <a:srgbClr val="2E2E2E"/>
                </a:solidFill>
                <a:latin typeface="Calibri"/>
              </a:rPr>
              <a:t>▪ Fast-growing demand in South Asia &amp; Pacific (</a:t>
            </a:r>
          </a:p>
        </p:txBody>
      </p:sp>
      <p:pic>
        <p:nvPicPr>
          <p:cNvPr id="56" name="Picture 55" descr="lock.png"/>
          <p:cNvPicPr>
            <a:picLocks noChangeAspect="1"/>
          </p:cNvPicPr>
          <p:nvPr/>
        </p:nvPicPr>
        <p:blipFill>
          <a:blip r:embed="rId4"/>
          <a:stretch>
            <a:fillRect/>
          </a:stretch>
        </p:blipFill>
        <p:spPr>
          <a:xfrm>
            <a:off x="3102424" y="5317299"/>
            <a:ext cx="134549" cy="195707"/>
          </a:xfrm>
          <a:prstGeom prst="rect">
            <a:avLst/>
          </a:prstGeom>
        </p:spPr>
      </p:pic>
      <p:sp>
        <p:nvSpPr>
          <p:cNvPr id="57" name="TextBox 56"/>
          <p:cNvSpPr txBox="1"/>
          <p:nvPr/>
        </p:nvSpPr>
        <p:spPr>
          <a:xfrm>
            <a:off x="3277533" y="53275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276225" y="5555360"/>
            <a:ext cx="3382292" cy="194310"/>
          </a:xfrm>
          <a:prstGeom prst="rect">
            <a:avLst/>
          </a:prstGeom>
          <a:noFill/>
        </p:spPr>
        <p:txBody>
          <a:bodyPr wrap="none" lIns="0" rIns="0" tIns="0" bIns="0">
            <a:spAutoFit/>
          </a:bodyPr>
          <a:lstStyle/>
          <a:p>
            <a:r>
              <a:rPr sz="1150" b="0">
                <a:solidFill>
                  <a:srgbClr val="2E2E2E"/>
                </a:solidFill>
                <a:latin typeface="Calibri"/>
              </a:rPr>
              <a:t>▪ Momentum in Electronics &amp; Electrical within end use (</a:t>
            </a:r>
          </a:p>
        </p:txBody>
      </p:sp>
      <p:pic>
        <p:nvPicPr>
          <p:cNvPr id="59" name="Picture 58" descr="lock.png"/>
          <p:cNvPicPr>
            <a:picLocks noChangeAspect="1"/>
          </p:cNvPicPr>
          <p:nvPr/>
        </p:nvPicPr>
        <p:blipFill>
          <a:blip r:embed="rId4"/>
          <a:stretch>
            <a:fillRect/>
          </a:stretch>
        </p:blipFill>
        <p:spPr>
          <a:xfrm>
            <a:off x="3607671" y="5545137"/>
            <a:ext cx="134549" cy="195707"/>
          </a:xfrm>
          <a:prstGeom prst="rect">
            <a:avLst/>
          </a:prstGeom>
        </p:spPr>
      </p:pic>
      <p:sp>
        <p:nvSpPr>
          <p:cNvPr id="60" name="TextBox 59"/>
          <p:cNvSpPr txBox="1"/>
          <p:nvPr/>
        </p:nvSpPr>
        <p:spPr>
          <a:xfrm>
            <a:off x="3782780" y="5555360"/>
            <a:ext cx="151044" cy="194310"/>
          </a:xfrm>
          <a:prstGeom prst="rect">
            <a:avLst/>
          </a:prstGeom>
          <a:noFill/>
        </p:spPr>
        <p:txBody>
          <a:bodyPr wrap="none" lIns="0" rIns="0" tIns="0" bIns="0">
            <a:spAutoFit/>
          </a:bodyPr>
          <a:lstStyle/>
          <a:p>
            <a:r>
              <a:rPr sz="1150" b="0">
                <a:solidFill>
                  <a:srgbClr val="2E2E2E"/>
                </a:solidFill>
                <a:latin typeface="Calibri"/>
              </a:rPr>
              <a:t>).</a:t>
            </a:r>
          </a:p>
        </p:txBody>
      </p:sp>
      <p:sp>
        <p:nvSpPr>
          <p:cNvPr id="61" name="TextBox 60"/>
          <p:cNvSpPr txBox="1"/>
          <p:nvPr/>
        </p:nvSpPr>
        <p:spPr>
          <a:xfrm>
            <a:off x="4371975" y="4924425"/>
            <a:ext cx="3131238" cy="194310"/>
          </a:xfrm>
          <a:prstGeom prst="rect">
            <a:avLst/>
          </a:prstGeom>
          <a:noFill/>
        </p:spPr>
        <p:txBody>
          <a:bodyPr wrap="none" lIns="0" rIns="0" tIns="0" bIns="0">
            <a:spAutoFit/>
          </a:bodyPr>
          <a:lstStyle/>
          <a:p>
            <a:r>
              <a:rPr sz="1150" b="0">
                <a:solidFill>
                  <a:srgbClr val="2E2E2E"/>
                </a:solidFill>
                <a:latin typeface="Calibri"/>
              </a:rPr>
              <a:t>▪ Slower momentum in 'Die-Cut &amp; Folded Partitions</a:t>
            </a:r>
          </a:p>
        </p:txBody>
      </p:sp>
      <p:sp>
        <p:nvSpPr>
          <p:cNvPr id="62" name="TextBox 61"/>
          <p:cNvSpPr txBox="1"/>
          <p:nvPr/>
        </p:nvSpPr>
        <p:spPr>
          <a:xfrm>
            <a:off x="4371975" y="5099685"/>
            <a:ext cx="1911238" cy="194310"/>
          </a:xfrm>
          <a:prstGeom prst="rect">
            <a:avLst/>
          </a:prstGeom>
          <a:noFill/>
        </p:spPr>
        <p:txBody>
          <a:bodyPr wrap="none" lIns="0" rIns="0" tIns="0" bIns="0">
            <a:spAutoFit/>
          </a:bodyPr>
          <a:lstStyle/>
          <a:p>
            <a:r>
              <a:rPr sz="1150" b="0">
                <a:solidFill>
                  <a:srgbClr val="2E2E2E"/>
                </a:solidFill>
                <a:latin typeface="Calibri"/>
              </a:rPr>
              <a:t>(H-dividers, tube/cell inserts)' (</a:t>
            </a:r>
          </a:p>
        </p:txBody>
      </p:sp>
      <p:pic>
        <p:nvPicPr>
          <p:cNvPr id="63" name="Picture 62" descr="lock.png"/>
          <p:cNvPicPr>
            <a:picLocks noChangeAspect="1"/>
          </p:cNvPicPr>
          <p:nvPr/>
        </p:nvPicPr>
        <p:blipFill>
          <a:blip r:embed="rId4"/>
          <a:stretch>
            <a:fillRect/>
          </a:stretch>
        </p:blipFill>
        <p:spPr>
          <a:xfrm>
            <a:off x="6232367" y="5089461"/>
            <a:ext cx="134549" cy="195707"/>
          </a:xfrm>
          <a:prstGeom prst="rect">
            <a:avLst/>
          </a:prstGeom>
        </p:spPr>
      </p:pic>
      <p:sp>
        <p:nvSpPr>
          <p:cNvPr id="64" name="TextBox 63"/>
          <p:cNvSpPr txBox="1"/>
          <p:nvPr/>
        </p:nvSpPr>
        <p:spPr>
          <a:xfrm>
            <a:off x="6407476" y="509968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5" name="TextBox 64"/>
          <p:cNvSpPr txBox="1"/>
          <p:nvPr/>
        </p:nvSpPr>
        <p:spPr>
          <a:xfrm>
            <a:off x="4371975" y="5327522"/>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6" name="TextBox 65"/>
          <p:cNvSpPr txBox="1"/>
          <p:nvPr/>
        </p:nvSpPr>
        <p:spPr>
          <a:xfrm>
            <a:off x="4371975" y="550278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7" name="Picture 66" descr="lock.png"/>
          <p:cNvPicPr>
            <a:picLocks noChangeAspect="1"/>
          </p:cNvPicPr>
          <p:nvPr/>
        </p:nvPicPr>
        <p:blipFill>
          <a:blip r:embed="rId4"/>
          <a:stretch>
            <a:fillRect/>
          </a:stretch>
        </p:blipFill>
        <p:spPr>
          <a:xfrm>
            <a:off x="4883401" y="5492559"/>
            <a:ext cx="134549" cy="195707"/>
          </a:xfrm>
          <a:prstGeom prst="rect">
            <a:avLst/>
          </a:prstGeom>
        </p:spPr>
      </p:pic>
      <p:sp>
        <p:nvSpPr>
          <p:cNvPr id="68" name="TextBox 67"/>
          <p:cNvSpPr txBox="1"/>
          <p:nvPr/>
        </p:nvSpPr>
        <p:spPr>
          <a:xfrm>
            <a:off x="5058510" y="550278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9" name="TextBox 68"/>
          <p:cNvSpPr txBox="1"/>
          <p:nvPr/>
        </p:nvSpPr>
        <p:spPr>
          <a:xfrm>
            <a:off x="4371975" y="5730620"/>
            <a:ext cx="3511798" cy="194310"/>
          </a:xfrm>
          <a:prstGeom prst="rect">
            <a:avLst/>
          </a:prstGeom>
          <a:noFill/>
        </p:spPr>
        <p:txBody>
          <a:bodyPr wrap="none" lIns="0" rIns="0" tIns="0" bIns="0">
            <a:spAutoFit/>
          </a:bodyPr>
          <a:lstStyle/>
          <a:p>
            <a:r>
              <a:rPr sz="1150" b="0">
                <a:solidFill>
                  <a:srgbClr val="2E2E2E"/>
                </a:solidFill>
                <a:latin typeface="Calibri"/>
              </a:rPr>
              <a:t>▪ Value concentration in 'Flat Dividers &amp; Layer Pads' raises</a:t>
            </a:r>
          </a:p>
        </p:txBody>
      </p:sp>
      <p:sp>
        <p:nvSpPr>
          <p:cNvPr id="70" name="TextBox 69"/>
          <p:cNvSpPr txBox="1"/>
          <p:nvPr/>
        </p:nvSpPr>
        <p:spPr>
          <a:xfrm>
            <a:off x="4371975" y="5905880"/>
            <a:ext cx="1604305" cy="194310"/>
          </a:xfrm>
          <a:prstGeom prst="rect">
            <a:avLst/>
          </a:prstGeom>
          <a:noFill/>
        </p:spPr>
        <p:txBody>
          <a:bodyPr wrap="none" lIns="0" rIns="0" tIns="0" bIns="0">
            <a:spAutoFit/>
          </a:bodyPr>
          <a:lstStyle/>
          <a:p>
            <a:r>
              <a:rPr sz="1150" b="0">
                <a:solidFill>
                  <a:srgbClr val="2E2E2E"/>
                </a:solidFill>
                <a:latin typeface="Calibri"/>
              </a:rPr>
              <a:t>barriers for new entrants.</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'Flat Dividers &amp; Layer Pads' and South Asia &amp; Pacific.</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partition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North America and South Asia &amp; Pacific.</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partition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2510854" cy="186689"/>
          </a:xfrm>
          <a:prstGeom prst="rect">
            <a:avLst/>
          </a:prstGeom>
          <a:noFill/>
        </p:spPr>
        <p:txBody>
          <a:bodyPr wrap="none" lIns="0" rIns="0" tIns="0" bIns="0">
            <a:spAutoFit/>
          </a:bodyPr>
          <a:lstStyle/>
          <a:p>
            <a:r>
              <a:rPr sz="1100" b="0">
                <a:solidFill>
                  <a:srgbClr val="2E2E2E"/>
                </a:solidFill>
                <a:latin typeface="Calibri"/>
              </a:rPr>
              <a:t>▪ Lead category 'Flat Dividers &amp; Layer Pads'</a:t>
            </a:r>
          </a:p>
        </p:txBody>
      </p:sp>
      <p:pic>
        <p:nvPicPr>
          <p:cNvPr id="41" name="Picture 40" descr="lock.png"/>
          <p:cNvPicPr>
            <a:picLocks noChangeAspect="1"/>
          </p:cNvPicPr>
          <p:nvPr/>
        </p:nvPicPr>
        <p:blipFill>
          <a:blip r:embed="rId5"/>
          <a:stretch>
            <a:fillRect/>
          </a:stretch>
        </p:blipFill>
        <p:spPr>
          <a:xfrm>
            <a:off x="8764456" y="1826260"/>
            <a:ext cx="128699" cy="187198"/>
          </a:xfrm>
          <a:prstGeom prst="rect">
            <a:avLst/>
          </a:prstGeom>
        </p:spPr>
      </p:pic>
      <p:sp>
        <p:nvSpPr>
          <p:cNvPr id="42" name="TextBox 41"/>
          <p:cNvSpPr txBox="1"/>
          <p:nvPr/>
        </p:nvSpPr>
        <p:spPr>
          <a:xfrm>
            <a:off x="8931951"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686297" cy="186689"/>
          </a:xfrm>
          <a:prstGeom prst="rect">
            <a:avLst/>
          </a:prstGeom>
          <a:noFill/>
        </p:spPr>
        <p:txBody>
          <a:bodyPr wrap="none" lIns="0" rIns="0" tIns="0" bIns="0">
            <a:spAutoFit/>
          </a:bodyPr>
          <a:lstStyle/>
          <a:p>
            <a:r>
              <a:rPr sz="1100" b="0">
                <a:solidFill>
                  <a:srgbClr val="2E2E2E"/>
                </a:solidFill>
                <a:latin typeface="Calibri"/>
              </a:rPr>
              <a:t>▪ Lead region North America</a:t>
            </a:r>
          </a:p>
        </p:txBody>
      </p:sp>
      <p:pic>
        <p:nvPicPr>
          <p:cNvPr id="44" name="Picture 43" descr="lock.png"/>
          <p:cNvPicPr>
            <a:picLocks noChangeAspect="1"/>
          </p:cNvPicPr>
          <p:nvPr/>
        </p:nvPicPr>
        <p:blipFill>
          <a:blip r:embed="rId5"/>
          <a:stretch>
            <a:fillRect/>
          </a:stretch>
        </p:blipFill>
        <p:spPr>
          <a:xfrm>
            <a:off x="7939898" y="2044192"/>
            <a:ext cx="128699" cy="187198"/>
          </a:xfrm>
          <a:prstGeom prst="rect">
            <a:avLst/>
          </a:prstGeom>
        </p:spPr>
      </p:pic>
      <p:sp>
        <p:nvSpPr>
          <p:cNvPr id="45" name="TextBox 44"/>
          <p:cNvSpPr txBox="1"/>
          <p:nvPr/>
        </p:nvSpPr>
        <p:spPr>
          <a:xfrm>
            <a:off x="8107394"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812357" cy="186689"/>
          </a:xfrm>
          <a:prstGeom prst="rect">
            <a:avLst/>
          </a:prstGeom>
          <a:noFill/>
        </p:spPr>
        <p:txBody>
          <a:bodyPr wrap="none" lIns="0" rIns="0" tIns="0" bIns="0">
            <a:spAutoFit/>
          </a:bodyPr>
          <a:lstStyle/>
          <a:p>
            <a:r>
              <a:rPr sz="1100" b="0">
                <a:solidFill>
                  <a:srgbClr val="2E2E2E"/>
                </a:solidFill>
                <a:latin typeface="Calibri"/>
              </a:rPr>
              <a:t>▪ Investment is flowing toward the fastest-growing tier 'Flat Dividers &amp; Layer Pads' (</a:t>
            </a:r>
          </a:p>
        </p:txBody>
      </p:sp>
      <p:pic>
        <p:nvPicPr>
          <p:cNvPr id="50" name="Picture 49" descr="lock.png"/>
          <p:cNvPicPr>
            <a:picLocks noChangeAspect="1"/>
          </p:cNvPicPr>
          <p:nvPr/>
        </p:nvPicPr>
        <p:blipFill>
          <a:blip r:embed="rId5"/>
          <a:stretch>
            <a:fillRect/>
          </a:stretch>
        </p:blipFill>
        <p:spPr>
          <a:xfrm>
            <a:off x="5036634" y="3304921"/>
            <a:ext cx="128699" cy="187198"/>
          </a:xfrm>
          <a:prstGeom prst="rect">
            <a:avLst/>
          </a:prstGeom>
        </p:spPr>
      </p:pic>
      <p:sp>
        <p:nvSpPr>
          <p:cNvPr id="51" name="TextBox 50"/>
          <p:cNvSpPr txBox="1"/>
          <p:nvPr/>
        </p:nvSpPr>
        <p:spPr>
          <a:xfrm>
            <a:off x="5204129" y="33147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52" name="TextBox 51"/>
          <p:cNvSpPr txBox="1"/>
          <p:nvPr/>
        </p:nvSpPr>
        <p:spPr>
          <a:xfrm>
            <a:off x="276225" y="3532632"/>
            <a:ext cx="1351781" cy="186689"/>
          </a:xfrm>
          <a:prstGeom prst="rect">
            <a:avLst/>
          </a:prstGeom>
          <a:noFill/>
        </p:spPr>
        <p:txBody>
          <a:bodyPr wrap="none" lIns="0" rIns="0" tIns="0" bIns="0">
            <a:spAutoFit/>
          </a:bodyPr>
          <a:lstStyle/>
          <a:p>
            <a:r>
              <a:rPr sz="1100" b="0">
                <a:solidFill>
                  <a:srgbClr val="2E2E2E"/>
                </a:solidFill>
                <a:latin typeface="Calibri"/>
              </a:rPr>
              <a:t>▪ South Asia &amp; Pacific (</a:t>
            </a:r>
          </a:p>
        </p:txBody>
      </p:sp>
      <p:pic>
        <p:nvPicPr>
          <p:cNvPr id="53" name="Picture 52" descr="lock.png"/>
          <p:cNvPicPr>
            <a:picLocks noChangeAspect="1"/>
          </p:cNvPicPr>
          <p:nvPr/>
        </p:nvPicPr>
        <p:blipFill>
          <a:blip r:embed="rId5"/>
          <a:stretch>
            <a:fillRect/>
          </a:stretch>
        </p:blipFill>
        <p:spPr>
          <a:xfrm>
            <a:off x="1576057" y="3522853"/>
            <a:ext cx="128699" cy="187198"/>
          </a:xfrm>
          <a:prstGeom prst="rect">
            <a:avLst/>
          </a:prstGeom>
        </p:spPr>
      </p:pic>
      <p:sp>
        <p:nvSpPr>
          <p:cNvPr id="54" name="TextBox 53"/>
          <p:cNvSpPr txBox="1"/>
          <p:nvPr/>
        </p:nvSpPr>
        <p:spPr>
          <a:xfrm>
            <a:off x="1743553" y="3532632"/>
            <a:ext cx="2187525" cy="186689"/>
          </a:xfrm>
          <a:prstGeom prst="rect">
            <a:avLst/>
          </a:prstGeom>
          <a:noFill/>
        </p:spPr>
        <p:txBody>
          <a:bodyPr wrap="none" lIns="0" rIns="0" tIns="0" bIns="0">
            <a:spAutoFit/>
          </a:bodyPr>
          <a:lstStyle/>
          <a:p>
            <a:r>
              <a:rPr sz="1100" b="0">
                <a:solidFill>
                  <a:srgbClr val="2E2E2E"/>
                </a:solidFill>
                <a:latin typeface="Calibri"/>
              </a:rPr>
              <a:t>) is a priority region for new capacity.</a:t>
            </a:r>
          </a:p>
        </p:txBody>
      </p:sp>
      <p:sp>
        <p:nvSpPr>
          <p:cNvPr id="55" name="TextBox 54"/>
          <p:cNvSpPr txBox="1"/>
          <p:nvPr/>
        </p:nvSpPr>
        <p:spPr>
          <a:xfrm>
            <a:off x="276225" y="3750564"/>
            <a:ext cx="3391073" cy="186689"/>
          </a:xfrm>
          <a:prstGeom prst="rect">
            <a:avLst/>
          </a:prstGeom>
          <a:noFill/>
        </p:spPr>
        <p:txBody>
          <a:bodyPr wrap="none" lIns="0" rIns="0" tIns="0" bIns="0">
            <a:spAutoFit/>
          </a:bodyPr>
          <a:lstStyle/>
          <a:p>
            <a:r>
              <a:rPr sz="1100" b="0">
                <a:solidFill>
                  <a:srgbClr val="2E2E2E"/>
                </a:solidFill>
                <a:latin typeface="Calibri"/>
              </a:rPr>
              <a:t>▪ Scale players anchor around 'Flat Dividers &amp; Layer Pads' (</a:t>
            </a:r>
          </a:p>
        </p:txBody>
      </p:sp>
      <p:pic>
        <p:nvPicPr>
          <p:cNvPr id="56" name="Picture 55" descr="lock.png"/>
          <p:cNvPicPr>
            <a:picLocks noChangeAspect="1"/>
          </p:cNvPicPr>
          <p:nvPr/>
        </p:nvPicPr>
        <p:blipFill>
          <a:blip r:embed="rId5"/>
          <a:stretch>
            <a:fillRect/>
          </a:stretch>
        </p:blipFill>
        <p:spPr>
          <a:xfrm>
            <a:off x="3615350" y="3740785"/>
            <a:ext cx="128699" cy="187198"/>
          </a:xfrm>
          <a:prstGeom prst="rect">
            <a:avLst/>
          </a:prstGeom>
        </p:spPr>
      </p:pic>
      <p:sp>
        <p:nvSpPr>
          <p:cNvPr id="57" name="TextBox 56"/>
          <p:cNvSpPr txBox="1"/>
          <p:nvPr/>
        </p:nvSpPr>
        <p:spPr>
          <a:xfrm>
            <a:off x="3782846" y="3750564"/>
            <a:ext cx="466923"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58" name="TextBox 57"/>
          <p:cNvSpPr txBox="1"/>
          <p:nvPr/>
        </p:nvSpPr>
        <p:spPr>
          <a:xfrm>
            <a:off x="6305550" y="3314700"/>
            <a:ext cx="5209083" cy="186689"/>
          </a:xfrm>
          <a:prstGeom prst="rect">
            <a:avLst/>
          </a:prstGeom>
          <a:noFill/>
        </p:spPr>
        <p:txBody>
          <a:bodyPr wrap="none" lIns="0" rIns="0" tIns="0" bIns="0">
            <a:spAutoFit/>
          </a:bodyPr>
          <a:lstStyle/>
          <a:p>
            <a:r>
              <a:rPr sz="1100" b="0">
                <a:solidFill>
                  <a:srgbClr val="2E2E2E"/>
                </a:solidFill>
                <a:latin typeface="Calibri"/>
              </a:rPr>
              <a:t>▪ R&amp;D aligns with the migration to 'Flat Dividers &amp; Layer Pads' and adjacent premium tiers.</a:t>
            </a:r>
          </a:p>
        </p:txBody>
      </p:sp>
      <p:sp>
        <p:nvSpPr>
          <p:cNvPr id="59" name="TextBox 58"/>
          <p:cNvSpPr txBox="1"/>
          <p:nvPr/>
        </p:nvSpPr>
        <p:spPr>
          <a:xfrm>
            <a:off x="6305550" y="3532632"/>
            <a:ext cx="4451920" cy="186689"/>
          </a:xfrm>
          <a:prstGeom prst="rect">
            <a:avLst/>
          </a:prstGeom>
          <a:noFill/>
        </p:spPr>
        <p:txBody>
          <a:bodyPr wrap="none" lIns="0" rIns="0" tIns="0" bIns="0">
            <a:spAutoFit/>
          </a:bodyPr>
          <a:lstStyle/>
          <a:p>
            <a:r>
              <a:rPr sz="1100" b="0">
                <a:solidFill>
                  <a:srgbClr val="2E2E2E"/>
                </a:solidFill>
                <a:latin typeface="Calibri"/>
              </a:rPr>
              <a:t>▪ Development spend targets partition type categories gaining share to 2036.</a:t>
            </a:r>
          </a:p>
        </p:txBody>
      </p:sp>
      <p:sp>
        <p:nvSpPr>
          <p:cNvPr id="60" name="TextBox 59"/>
          <p:cNvSpPr txBox="1"/>
          <p:nvPr/>
        </p:nvSpPr>
        <p:spPr>
          <a:xfrm>
            <a:off x="6305550" y="3750564"/>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847947" y="3740785"/>
            <a:ext cx="128699" cy="187198"/>
          </a:xfrm>
          <a:prstGeom prst="rect">
            <a:avLst/>
          </a:prstGeom>
        </p:spPr>
      </p:pic>
      <p:sp>
        <p:nvSpPr>
          <p:cNvPr id="62" name="TextBox 61"/>
          <p:cNvSpPr txBox="1"/>
          <p:nvPr/>
        </p:nvSpPr>
        <p:spPr>
          <a:xfrm>
            <a:off x="8015443" y="3750564"/>
            <a:ext cx="924478"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'Flat Dividers &amp; Layer Pads' tier and Electronics &amp; Electrical within end use.</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05350"/>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029200"/>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456659" cy="194310"/>
          </a:xfrm>
          <a:prstGeom prst="rect">
            <a:avLst/>
          </a:prstGeom>
          <a:noFill/>
        </p:spPr>
        <p:txBody>
          <a:bodyPr wrap="none" lIns="0" rIns="0" tIns="0" bIns="0">
            <a:spAutoFit/>
          </a:bodyPr>
          <a:lstStyle/>
          <a:p>
            <a:r>
              <a:rPr sz="1150" b="0">
                <a:solidFill>
                  <a:srgbClr val="2E2E2E"/>
                </a:solidFill>
                <a:latin typeface="Calibri"/>
              </a:rPr>
              <a:t>▪ Balance scale in 'Flat Dividers &amp; Layer Pads' with targeted growth in 'Flat Dividers &amp; Layer</a:t>
            </a:r>
          </a:p>
        </p:txBody>
      </p:sp>
      <p:sp>
        <p:nvSpPr>
          <p:cNvPr id="32" name="TextBox 31"/>
          <p:cNvSpPr txBox="1"/>
          <p:nvPr/>
        </p:nvSpPr>
        <p:spPr>
          <a:xfrm>
            <a:off x="276225" y="1575435"/>
            <a:ext cx="1206375" cy="194310"/>
          </a:xfrm>
          <a:prstGeom prst="rect">
            <a:avLst/>
          </a:prstGeom>
          <a:noFill/>
        </p:spPr>
        <p:txBody>
          <a:bodyPr wrap="none" lIns="0" rIns="0" tIns="0" bIns="0">
            <a:spAutoFit/>
          </a:bodyPr>
          <a:lstStyle/>
          <a:p>
            <a:r>
              <a:rPr sz="1150" b="0">
                <a:solidFill>
                  <a:srgbClr val="2E2E2E"/>
                </a:solidFill>
                <a:latin typeface="Calibri"/>
              </a:rPr>
              <a:t>Pads', pursuing the</a:t>
            </a:r>
          </a:p>
        </p:txBody>
      </p:sp>
      <p:pic>
        <p:nvPicPr>
          <p:cNvPr id="33" name="Picture 32" descr="lock.png"/>
          <p:cNvPicPr>
            <a:picLocks noChangeAspect="1"/>
          </p:cNvPicPr>
          <p:nvPr/>
        </p:nvPicPr>
        <p:blipFill>
          <a:blip r:embed="rId4"/>
          <a:stretch>
            <a:fillRect/>
          </a:stretch>
        </p:blipFill>
        <p:spPr>
          <a:xfrm>
            <a:off x="1431754" y="1565211"/>
            <a:ext cx="134549" cy="195707"/>
          </a:xfrm>
          <a:prstGeom prst="rect">
            <a:avLst/>
          </a:prstGeom>
        </p:spPr>
      </p:pic>
      <p:sp>
        <p:nvSpPr>
          <p:cNvPr id="34" name="TextBox 33"/>
          <p:cNvSpPr txBox="1"/>
          <p:nvPr/>
        </p:nvSpPr>
        <p:spPr>
          <a:xfrm>
            <a:off x="1606864"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5" name="TextBox 34"/>
          <p:cNvSpPr txBox="1"/>
          <p:nvPr/>
        </p:nvSpPr>
        <p:spPr>
          <a:xfrm>
            <a:off x="276225" y="3219450"/>
            <a:ext cx="2403016" cy="194310"/>
          </a:xfrm>
          <a:prstGeom prst="rect">
            <a:avLst/>
          </a:prstGeom>
          <a:noFill/>
        </p:spPr>
        <p:txBody>
          <a:bodyPr wrap="none" lIns="0" rIns="0" tIns="0" bIns="0">
            <a:spAutoFit/>
          </a:bodyPr>
          <a:lstStyle/>
          <a:p>
            <a:r>
              <a:rPr sz="1150" b="0">
                <a:solidFill>
                  <a:srgbClr val="2E2E2E"/>
                </a:solidFill>
                <a:latin typeface="Calibri"/>
              </a:rPr>
              <a:t>▪ Prioritise 'Flat Dividers &amp; Layer Pads' (</a:t>
            </a:r>
          </a:p>
        </p:txBody>
      </p:sp>
      <p:pic>
        <p:nvPicPr>
          <p:cNvPr id="36" name="Picture 35" descr="lock.png"/>
          <p:cNvPicPr>
            <a:picLocks noChangeAspect="1"/>
          </p:cNvPicPr>
          <p:nvPr/>
        </p:nvPicPr>
        <p:blipFill>
          <a:blip r:embed="rId4"/>
          <a:stretch>
            <a:fillRect/>
          </a:stretch>
        </p:blipFill>
        <p:spPr>
          <a:xfrm>
            <a:off x="2628395" y="3209226"/>
            <a:ext cx="134549" cy="195707"/>
          </a:xfrm>
          <a:prstGeom prst="rect">
            <a:avLst/>
          </a:prstGeom>
        </p:spPr>
      </p:pic>
      <p:sp>
        <p:nvSpPr>
          <p:cNvPr id="37" name="TextBox 36"/>
          <p:cNvSpPr txBox="1"/>
          <p:nvPr/>
        </p:nvSpPr>
        <p:spPr>
          <a:xfrm>
            <a:off x="2803504" y="3219450"/>
            <a:ext cx="2293193" cy="194310"/>
          </a:xfrm>
          <a:prstGeom prst="rect">
            <a:avLst/>
          </a:prstGeom>
          <a:noFill/>
        </p:spPr>
        <p:txBody>
          <a:bodyPr wrap="none" lIns="0" rIns="0" tIns="0" bIns="0">
            <a:spAutoFit/>
          </a:bodyPr>
          <a:lstStyle/>
          <a:p>
            <a:r>
              <a:rPr sz="1150" b="0">
                <a:solidFill>
                  <a:srgbClr val="2E2E2E"/>
                </a:solidFill>
                <a:latin typeface="Calibri"/>
              </a:rPr>
              <a:t>); 'Flat Dividers &amp; Layer Pads' anchors</a:t>
            </a:r>
          </a:p>
        </p:txBody>
      </p:sp>
      <p:pic>
        <p:nvPicPr>
          <p:cNvPr id="38" name="Picture 37" descr="lock.png"/>
          <p:cNvPicPr>
            <a:picLocks noChangeAspect="1"/>
          </p:cNvPicPr>
          <p:nvPr/>
        </p:nvPicPr>
        <p:blipFill>
          <a:blip r:embed="rId4"/>
          <a:stretch>
            <a:fillRect/>
          </a:stretch>
        </p:blipFill>
        <p:spPr>
          <a:xfrm>
            <a:off x="5045851" y="3209226"/>
            <a:ext cx="134549" cy="195707"/>
          </a:xfrm>
          <a:prstGeom prst="rect">
            <a:avLst/>
          </a:prstGeom>
        </p:spPr>
      </p:pic>
      <p:sp>
        <p:nvSpPr>
          <p:cNvPr id="39" name="TextBox 38"/>
          <p:cNvSpPr txBox="1"/>
          <p:nvPr/>
        </p:nvSpPr>
        <p:spPr>
          <a:xfrm>
            <a:off x="5220960" y="3219450"/>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40" name="TextBox 39"/>
          <p:cNvSpPr txBox="1"/>
          <p:nvPr/>
        </p:nvSpPr>
        <p:spPr>
          <a:xfrm>
            <a:off x="276225" y="3394710"/>
            <a:ext cx="431911" cy="194310"/>
          </a:xfrm>
          <a:prstGeom prst="rect">
            <a:avLst/>
          </a:prstGeom>
          <a:noFill/>
        </p:spPr>
        <p:txBody>
          <a:bodyPr wrap="none" lIns="0" rIns="0" tIns="0" bIns="0">
            <a:spAutoFit/>
          </a:bodyPr>
          <a:lstStyle/>
          <a:p>
            <a:r>
              <a:rPr sz="1150" b="0">
                <a:solidFill>
                  <a:srgbClr val="2E2E2E"/>
                </a:solidFill>
                <a:latin typeface="Calibri"/>
              </a:rPr>
              <a:t>value.</a:t>
            </a:r>
          </a:p>
        </p:txBody>
      </p:sp>
      <p:sp>
        <p:nvSpPr>
          <p:cNvPr id="41" name="TextBox 40"/>
          <p:cNvSpPr txBox="1"/>
          <p:nvPr/>
        </p:nvSpPr>
        <p:spPr>
          <a:xfrm>
            <a:off x="6305550" y="3219450"/>
            <a:ext cx="1720688" cy="194310"/>
          </a:xfrm>
          <a:prstGeom prst="rect">
            <a:avLst/>
          </a:prstGeom>
          <a:noFill/>
        </p:spPr>
        <p:txBody>
          <a:bodyPr wrap="none" lIns="0" rIns="0" tIns="0" bIns="0">
            <a:spAutoFit/>
          </a:bodyPr>
          <a:lstStyle/>
          <a:p>
            <a:r>
              <a:rPr sz="1150" b="0">
                <a:solidFill>
                  <a:srgbClr val="2E2E2E"/>
                </a:solidFill>
                <a:latin typeface="Calibri"/>
              </a:rPr>
              <a:t>▪ Lead with North America (</a:t>
            </a:r>
          </a:p>
        </p:txBody>
      </p:sp>
      <p:pic>
        <p:nvPicPr>
          <p:cNvPr id="42" name="Picture 41" descr="lock.png"/>
          <p:cNvPicPr>
            <a:picLocks noChangeAspect="1"/>
          </p:cNvPicPr>
          <p:nvPr/>
        </p:nvPicPr>
        <p:blipFill>
          <a:blip r:embed="rId4"/>
          <a:stretch>
            <a:fillRect/>
          </a:stretch>
        </p:blipFill>
        <p:spPr>
          <a:xfrm>
            <a:off x="7975392" y="3209226"/>
            <a:ext cx="134549" cy="195707"/>
          </a:xfrm>
          <a:prstGeom prst="rect">
            <a:avLst/>
          </a:prstGeom>
        </p:spPr>
      </p:pic>
      <p:sp>
        <p:nvSpPr>
          <p:cNvPr id="43" name="TextBox 42"/>
          <p:cNvSpPr txBox="1"/>
          <p:nvPr/>
        </p:nvSpPr>
        <p:spPr>
          <a:xfrm>
            <a:off x="8150501" y="3219450"/>
            <a:ext cx="2502854" cy="194310"/>
          </a:xfrm>
          <a:prstGeom prst="rect">
            <a:avLst/>
          </a:prstGeom>
          <a:noFill/>
        </p:spPr>
        <p:txBody>
          <a:bodyPr wrap="none" lIns="0" rIns="0" tIns="0" bIns="0">
            <a:spAutoFit/>
          </a:bodyPr>
          <a:lstStyle/>
          <a:p>
            <a:r>
              <a:rPr sz="1150" b="0">
                <a:solidFill>
                  <a:srgbClr val="2E2E2E"/>
                </a:solidFill>
                <a:latin typeface="Calibri"/>
              </a:rPr>
              <a:t>); capture upside in South Asia &amp; Pacific (</a:t>
            </a:r>
          </a:p>
        </p:txBody>
      </p:sp>
      <p:pic>
        <p:nvPicPr>
          <p:cNvPr id="44" name="Picture 43" descr="lock.png"/>
          <p:cNvPicPr>
            <a:picLocks noChangeAspect="1"/>
          </p:cNvPicPr>
          <p:nvPr/>
        </p:nvPicPr>
        <p:blipFill>
          <a:blip r:embed="rId4"/>
          <a:stretch>
            <a:fillRect/>
          </a:stretch>
        </p:blipFill>
        <p:spPr>
          <a:xfrm>
            <a:off x="10602510" y="3209226"/>
            <a:ext cx="134549" cy="195707"/>
          </a:xfrm>
          <a:prstGeom prst="rect">
            <a:avLst/>
          </a:prstGeom>
        </p:spPr>
      </p:pic>
      <p:sp>
        <p:nvSpPr>
          <p:cNvPr id="45" name="TextBox 44"/>
          <p:cNvSpPr txBox="1"/>
          <p:nvPr/>
        </p:nvSpPr>
        <p:spPr>
          <a:xfrm>
            <a:off x="10777620" y="321945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038725"/>
            <a:ext cx="1694160" cy="194310"/>
          </a:xfrm>
          <a:prstGeom prst="rect">
            <a:avLst/>
          </a:prstGeom>
          <a:noFill/>
        </p:spPr>
        <p:txBody>
          <a:bodyPr wrap="none" lIns="0" rIns="0" tIns="0" bIns="0">
            <a:spAutoFit/>
          </a:bodyPr>
          <a:lstStyle/>
          <a:p>
            <a:r>
              <a:rPr sz="1150" b="0">
                <a:solidFill>
                  <a:srgbClr val="2E2E2E"/>
                </a:solidFill>
                <a:latin typeface="Calibri"/>
              </a:rPr>
              <a:t>▪ Corrugated Partition adds</a:t>
            </a:r>
          </a:p>
        </p:txBody>
      </p:sp>
      <p:pic>
        <p:nvPicPr>
          <p:cNvPr id="47" name="Picture 46" descr="lock.png"/>
          <p:cNvPicPr>
            <a:picLocks noChangeAspect="1"/>
          </p:cNvPicPr>
          <p:nvPr/>
        </p:nvPicPr>
        <p:blipFill>
          <a:blip r:embed="rId4"/>
          <a:stretch>
            <a:fillRect/>
          </a:stretch>
        </p:blipFill>
        <p:spPr>
          <a:xfrm>
            <a:off x="1919539" y="5028501"/>
            <a:ext cx="134549" cy="195707"/>
          </a:xfrm>
          <a:prstGeom prst="rect">
            <a:avLst/>
          </a:prstGeom>
        </p:spPr>
      </p:pic>
      <p:sp>
        <p:nvSpPr>
          <p:cNvPr id="48" name="TextBox 47"/>
          <p:cNvSpPr txBox="1"/>
          <p:nvPr/>
        </p:nvSpPr>
        <p:spPr>
          <a:xfrm>
            <a:off x="2094648" y="5038725"/>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9" name="Picture 48" descr="lock.png"/>
          <p:cNvPicPr>
            <a:picLocks noChangeAspect="1"/>
          </p:cNvPicPr>
          <p:nvPr/>
        </p:nvPicPr>
        <p:blipFill>
          <a:blip r:embed="rId4"/>
          <a:stretch>
            <a:fillRect/>
          </a:stretch>
        </p:blipFill>
        <p:spPr>
          <a:xfrm>
            <a:off x="3858910" y="5028501"/>
            <a:ext cx="134549" cy="195707"/>
          </a:xfrm>
          <a:prstGeom prst="rect">
            <a:avLst/>
          </a:prstGeom>
        </p:spPr>
      </p:pic>
      <p:sp>
        <p:nvSpPr>
          <p:cNvPr id="50" name="TextBox 49"/>
          <p:cNvSpPr txBox="1"/>
          <p:nvPr/>
        </p:nvSpPr>
        <p:spPr>
          <a:xfrm>
            <a:off x="4034019" y="5038725"/>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51" name="TextBox 50"/>
          <p:cNvSpPr txBox="1"/>
          <p:nvPr/>
        </p:nvSpPr>
        <p:spPr>
          <a:xfrm>
            <a:off x="276225" y="5266563"/>
            <a:ext cx="626563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segment/region while seeding the fastest-growing pockets early.</a:t>
            </a:r>
          </a:p>
        </p:txBody>
      </p:sp>
      <p:sp>
        <p:nvSpPr>
          <p:cNvPr id="52" name="TextBox 51"/>
          <p:cNvSpPr txBox="1"/>
          <p:nvPr/>
        </p:nvSpPr>
        <p:spPr>
          <a:xfrm>
            <a:off x="276225" y="5494400"/>
            <a:ext cx="4894423" cy="194310"/>
          </a:xfrm>
          <a:prstGeom prst="rect">
            <a:avLst/>
          </a:prstGeom>
          <a:noFill/>
        </p:spPr>
        <p:txBody>
          <a:bodyPr wrap="none" lIns="0" rIns="0" tIns="0" bIns="0">
            <a:spAutoFit/>
          </a:bodyPr>
          <a:lstStyle/>
          <a:p>
            <a:r>
              <a:rPr sz="1150" b="0">
                <a:solidFill>
                  <a:srgbClr val="2E2E2E"/>
                </a:solidFill>
                <a:latin typeface="Calibri"/>
              </a:rPr>
              <a:t>▪ Defend share in 'Flat Dividers &amp; Layer Pads' as the value anchor of the portfolio.</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Corrugated Partition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0212"/>
            <a:ext cx="635826" cy="835088"/>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65938"/>
            <a:ext cx="635826" cy="1239362"/>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95982"/>
            <a:ext cx="635826" cy="1409318"/>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705100"/>
            <a:ext cx="635826" cy="160020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32588"/>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27813"/>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75413"/>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70638"/>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418238"/>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13463"/>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Corrugated Partition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rIns="0" t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rIns="0" t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rIns="0" t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862179"/>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53964"/>
            <a:ext cx="108107" cy="157246"/>
          </a:xfrm>
          <a:prstGeom prst="rect">
            <a:avLst/>
          </a:prstGeom>
        </p:spPr>
      </p:pic>
      <p:sp>
        <p:nvSpPr>
          <p:cNvPr id="56" name="TextBox 55"/>
          <p:cNvSpPr txBox="1"/>
          <p:nvPr/>
        </p:nvSpPr>
        <p:spPr>
          <a:xfrm>
            <a:off x="2032418" y="2605004"/>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596789"/>
            <a:ext cx="108107" cy="157246"/>
          </a:xfrm>
          <a:prstGeom prst="rect">
            <a:avLst/>
          </a:prstGeom>
        </p:spPr>
      </p:pic>
      <p:sp>
        <p:nvSpPr>
          <p:cNvPr id="58" name="TextBox 57"/>
          <p:cNvSpPr txBox="1"/>
          <p:nvPr/>
        </p:nvSpPr>
        <p:spPr>
          <a:xfrm>
            <a:off x="2032418" y="2347829"/>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339614"/>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78"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Corrugated Partition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1_056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1_572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4_1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864_0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1_484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6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416_0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664_5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4_8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384_0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676_6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5_8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256_0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431_7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5_4__605E5C.png"/>
          <p:cNvPicPr>
            <a:picLocks noChangeAspect="1"/>
          </p:cNvPicPr>
          <p:nvPr/>
        </p:nvPicPr>
        <p:blipFill>
          <a:blip r:embed="rId18"/>
          <a:stretch>
            <a:fillRect/>
          </a:stretch>
        </p:blipFill>
        <p:spPr>
          <a:xfrm>
            <a:off x="8905194" y="3272281"/>
            <a:ext cx="982436" cy="361950"/>
          </a:xfrm>
          <a:prstGeom prst="rect">
            <a:avLst/>
          </a:prstGeom>
        </p:spPr>
      </p:pic>
      <p:pic>
        <p:nvPicPr>
          <p:cNvPr id="93" name="Picture 92" descr="224_0_605E5C.png"/>
          <p:cNvPicPr>
            <a:picLocks noChangeAspect="1"/>
          </p:cNvPicPr>
          <p:nvPr/>
        </p:nvPicPr>
        <p:blipFill>
          <a:blip r:embed="rId19"/>
          <a:stretch>
            <a:fillRect/>
          </a:stretch>
        </p:blipFill>
        <p:spPr>
          <a:xfrm>
            <a:off x="10484473" y="2286582"/>
            <a:ext cx="1195728" cy="361950"/>
          </a:xfrm>
          <a:prstGeom prst="rect">
            <a:avLst/>
          </a:prstGeom>
        </p:spPr>
      </p:pic>
      <p:pic>
        <p:nvPicPr>
          <p:cNvPr id="94" name="Picture 93" descr="360_0_605E5C.png"/>
          <p:cNvPicPr>
            <a:picLocks noChangeAspect="1"/>
          </p:cNvPicPr>
          <p:nvPr/>
        </p:nvPicPr>
        <p:blipFill>
          <a:blip r:embed="rId20"/>
          <a:stretch>
            <a:fillRect/>
          </a:stretch>
        </p:blipFill>
        <p:spPr>
          <a:xfrm>
            <a:off x="10484473" y="2779432"/>
            <a:ext cx="1195728" cy="361950"/>
          </a:xfrm>
          <a:prstGeom prst="rect">
            <a:avLst/>
          </a:prstGeom>
        </p:spPr>
      </p:pic>
      <p:pic>
        <p:nvPicPr>
          <p:cNvPr id="95" name="Picture 94" descr="4_9__605E5C.png"/>
          <p:cNvPicPr>
            <a:picLocks noChangeAspect="1"/>
          </p:cNvPicPr>
          <p:nvPr/>
        </p:nvPicPr>
        <p:blipFill>
          <a:blip r:embed="rId21"/>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2"/>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2"/>
          <a:stretch>
            <a:fillRect/>
          </a:stretch>
        </p:blipFill>
        <p:spPr>
          <a:xfrm>
            <a:off x="10988992" y="2827057"/>
            <a:ext cx="183356" cy="266700"/>
          </a:xfrm>
          <a:prstGeom prst="rect">
            <a:avLst/>
          </a:prstGeom>
        </p:spPr>
      </p:pic>
      <p:sp>
        <p:nvSpPr>
          <p:cNvPr id="102" name="TextBox 101"/>
          <p:cNvSpPr txBox="1"/>
          <p:nvPr/>
        </p:nvSpPr>
        <p:spPr>
          <a:xfrm>
            <a:off x="485775" y="4229437"/>
            <a:ext cx="2846189" cy="186689"/>
          </a:xfrm>
          <a:prstGeom prst="rect">
            <a:avLst/>
          </a:prstGeom>
          <a:noFill/>
        </p:spPr>
        <p:txBody>
          <a:bodyPr wrap="none" lIns="0" rIns="0" tIns="0" bIns="0">
            <a:spAutoFit/>
          </a:bodyPr>
          <a:lstStyle/>
          <a:p>
            <a:r>
              <a:rPr sz="1100" b="0">
                <a:solidFill>
                  <a:srgbClr val="2E2E2E"/>
                </a:solidFill>
                <a:latin typeface="Calibri"/>
              </a:rPr>
              <a:t>▪ ¶ North America corrugated partition market is</a:t>
            </a:r>
          </a:p>
        </p:txBody>
      </p:sp>
      <p:sp>
        <p:nvSpPr>
          <p:cNvPr id="103" name="TextBox 102"/>
          <p:cNvSpPr txBox="1"/>
          <p:nvPr/>
        </p:nvSpPr>
        <p:spPr>
          <a:xfrm>
            <a:off x="485775" y="4397077"/>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104" name="Picture 103" descr="lock.png"/>
          <p:cNvPicPr>
            <a:picLocks noChangeAspect="1"/>
          </p:cNvPicPr>
          <p:nvPr/>
        </p:nvPicPr>
        <p:blipFill>
          <a:blip r:embed="rId22"/>
          <a:stretch>
            <a:fillRect/>
          </a:stretch>
        </p:blipFill>
        <p:spPr>
          <a:xfrm>
            <a:off x="1678376" y="4387298"/>
            <a:ext cx="128699" cy="187198"/>
          </a:xfrm>
          <a:prstGeom prst="rect">
            <a:avLst/>
          </a:prstGeom>
        </p:spPr>
      </p:pic>
      <p:sp>
        <p:nvSpPr>
          <p:cNvPr id="105" name="TextBox 104"/>
          <p:cNvSpPr txBox="1"/>
          <p:nvPr/>
        </p:nvSpPr>
        <p:spPr>
          <a:xfrm>
            <a:off x="1845872" y="4397077"/>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106" name="TextBox 105"/>
          <p:cNvSpPr txBox="1"/>
          <p:nvPr/>
        </p:nvSpPr>
        <p:spPr>
          <a:xfrm>
            <a:off x="485775" y="4564717"/>
            <a:ext cx="2760513" cy="186689"/>
          </a:xfrm>
          <a:prstGeom prst="rect">
            <a:avLst/>
          </a:prstGeom>
          <a:noFill/>
        </p:spPr>
        <p:txBody>
          <a:bodyPr wrap="none" lIns="0" rIns="0" tIns="0" bIns="0">
            <a:spAutoFit/>
          </a:bodyPr>
          <a:lstStyle/>
          <a:p>
            <a:r>
              <a:rPr sz="1100" b="0">
                <a:solidFill>
                  <a:srgbClr val="2E2E2E"/>
                </a:solidFill>
                <a:latin typeface="Calibri"/>
              </a:rPr>
              <a:t>Europe in 2036. Among corrugated partition by</a:t>
            </a:r>
          </a:p>
        </p:txBody>
      </p:sp>
      <p:sp>
        <p:nvSpPr>
          <p:cNvPr id="107" name="TextBox 106"/>
          <p:cNvSpPr txBox="1"/>
          <p:nvPr/>
        </p:nvSpPr>
        <p:spPr>
          <a:xfrm>
            <a:off x="485775" y="4732357"/>
            <a:ext cx="2914129" cy="186689"/>
          </a:xfrm>
          <a:prstGeom prst="rect">
            <a:avLst/>
          </a:prstGeom>
          <a:noFill/>
        </p:spPr>
        <p:txBody>
          <a:bodyPr wrap="none" lIns="0" rIns="0" tIns="0" bIns="0">
            <a:spAutoFit/>
          </a:bodyPr>
          <a:lstStyle/>
          <a:p>
            <a:r>
              <a:rPr sz="1100" b="0">
                <a:solidFill>
                  <a:srgbClr val="2E2E2E"/>
                </a:solidFill>
                <a:latin typeface="Calibri"/>
              </a:rPr>
              <a:t>region, South Asia &amp; Pacific is expected to witness</a:t>
            </a:r>
          </a:p>
        </p:txBody>
      </p:sp>
      <p:sp>
        <p:nvSpPr>
          <p:cNvPr id="108" name="TextBox 107"/>
          <p:cNvSpPr txBox="1"/>
          <p:nvPr/>
        </p:nvSpPr>
        <p:spPr>
          <a:xfrm>
            <a:off x="485775" y="489999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109" name="Picture 108" descr="lock.png"/>
          <p:cNvPicPr>
            <a:picLocks noChangeAspect="1"/>
          </p:cNvPicPr>
          <p:nvPr/>
        </p:nvPicPr>
        <p:blipFill>
          <a:blip r:embed="rId22"/>
          <a:stretch>
            <a:fillRect/>
          </a:stretch>
        </p:blipFill>
        <p:spPr>
          <a:xfrm>
            <a:off x="1646163" y="4890217"/>
            <a:ext cx="128699" cy="187198"/>
          </a:xfrm>
          <a:prstGeom prst="rect">
            <a:avLst/>
          </a:prstGeom>
        </p:spPr>
      </p:pic>
      <p:sp>
        <p:nvSpPr>
          <p:cNvPr id="110" name="TextBox 109"/>
          <p:cNvSpPr txBox="1"/>
          <p:nvPr/>
        </p:nvSpPr>
        <p:spPr>
          <a:xfrm>
            <a:off x="1813659" y="489999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111" name="TextBox 110"/>
          <p:cNvSpPr txBox="1"/>
          <p:nvPr/>
        </p:nvSpPr>
        <p:spPr>
          <a:xfrm>
            <a:off x="485775" y="5117929"/>
            <a:ext cx="2535138" cy="186689"/>
          </a:xfrm>
          <a:prstGeom prst="rect">
            <a:avLst/>
          </a:prstGeom>
          <a:noFill/>
        </p:spPr>
        <p:txBody>
          <a:bodyPr wrap="none" lIns="0" rIns="0" tIns="0" bIns="0">
            <a:spAutoFit/>
          </a:bodyPr>
          <a:lstStyle/>
          <a:p>
            <a:r>
              <a:rPr sz="1100" b="0">
                <a:solidFill>
                  <a:srgbClr val="2E2E2E"/>
                </a:solidFill>
                <a:latin typeface="Calibri"/>
              </a:rPr>
              <a:t>▪ ¶ In terms of value share by region, North</a:t>
            </a:r>
          </a:p>
        </p:txBody>
      </p:sp>
      <p:sp>
        <p:nvSpPr>
          <p:cNvPr id="112" name="TextBox 111"/>
          <p:cNvSpPr txBox="1"/>
          <p:nvPr/>
        </p:nvSpPr>
        <p:spPr>
          <a:xfrm>
            <a:off x="485775" y="5285569"/>
            <a:ext cx="2644551" cy="186689"/>
          </a:xfrm>
          <a:prstGeom prst="rect">
            <a:avLst/>
          </a:prstGeom>
          <a:noFill/>
        </p:spPr>
        <p:txBody>
          <a:bodyPr wrap="none" lIns="0" rIns="0" tIns="0" bIns="0">
            <a:spAutoFit/>
          </a:bodyPr>
          <a:lstStyle/>
          <a:p>
            <a:r>
              <a:rPr sz="1100" b="0">
                <a:solidFill>
                  <a:srgbClr val="2E2E2E"/>
                </a:solidFill>
                <a:latin typeface="Calibri"/>
              </a:rPr>
              <a:t>America is expected to dominate the market,</a:t>
            </a:r>
          </a:p>
        </p:txBody>
      </p:sp>
      <p:sp>
        <p:nvSpPr>
          <p:cNvPr id="113" name="TextBox 112"/>
          <p:cNvSpPr txBox="1"/>
          <p:nvPr/>
        </p:nvSpPr>
        <p:spPr>
          <a:xfrm>
            <a:off x="485775" y="5453209"/>
            <a:ext cx="407987" cy="186689"/>
          </a:xfrm>
          <a:prstGeom prst="rect">
            <a:avLst/>
          </a:prstGeom>
          <a:noFill/>
        </p:spPr>
        <p:txBody>
          <a:bodyPr wrap="none" lIns="0" rIns="0" tIns="0" bIns="0">
            <a:spAutoFit/>
          </a:bodyPr>
          <a:lstStyle/>
          <a:p>
            <a:r>
              <a:rPr sz="1100" b="0">
                <a:solidFill>
                  <a:srgbClr val="2E2E2E"/>
                </a:solidFill>
                <a:latin typeface="Calibri"/>
              </a:rPr>
              <a:t>losing</a:t>
            </a:r>
          </a:p>
        </p:txBody>
      </p:sp>
      <p:pic>
        <p:nvPicPr>
          <p:cNvPr id="114" name="Picture 113" descr="lock.png"/>
          <p:cNvPicPr>
            <a:picLocks noChangeAspect="1"/>
          </p:cNvPicPr>
          <p:nvPr/>
        </p:nvPicPr>
        <p:blipFill>
          <a:blip r:embed="rId22"/>
          <a:stretch>
            <a:fillRect/>
          </a:stretch>
        </p:blipFill>
        <p:spPr>
          <a:xfrm>
            <a:off x="841814" y="5443430"/>
            <a:ext cx="128699" cy="187198"/>
          </a:xfrm>
          <a:prstGeom prst="rect">
            <a:avLst/>
          </a:prstGeom>
        </p:spPr>
      </p:pic>
      <p:sp>
        <p:nvSpPr>
          <p:cNvPr id="115" name="TextBox 114"/>
          <p:cNvSpPr txBox="1"/>
          <p:nvPr/>
        </p:nvSpPr>
        <p:spPr>
          <a:xfrm>
            <a:off x="1009309" y="5453209"/>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16" name="Picture 115" descr="lock.png"/>
          <p:cNvPicPr>
            <a:picLocks noChangeAspect="1"/>
          </p:cNvPicPr>
          <p:nvPr/>
        </p:nvPicPr>
        <p:blipFill>
          <a:blip r:embed="rId22"/>
          <a:stretch>
            <a:fillRect/>
          </a:stretch>
        </p:blipFill>
        <p:spPr>
          <a:xfrm>
            <a:off x="2343794" y="5443430"/>
            <a:ext cx="128699" cy="187198"/>
          </a:xfrm>
          <a:prstGeom prst="rect">
            <a:avLst/>
          </a:prstGeom>
        </p:spPr>
      </p:pic>
      <p:sp>
        <p:nvSpPr>
          <p:cNvPr id="117" name="TextBox 116"/>
          <p:cNvSpPr txBox="1"/>
          <p:nvPr/>
        </p:nvSpPr>
        <p:spPr>
          <a:xfrm>
            <a:off x="2511290" y="5453209"/>
            <a:ext cx="557783" cy="186689"/>
          </a:xfrm>
          <a:prstGeom prst="rect">
            <a:avLst/>
          </a:prstGeom>
          <a:noFill/>
        </p:spPr>
        <p:txBody>
          <a:bodyPr wrap="none" lIns="0" rIns="0" tIns="0" bIns="0">
            <a:spAutoFit/>
          </a:bodyPr>
          <a:lstStyle/>
          <a:p>
            <a:r>
              <a:rPr sz="1100" b="0">
                <a:solidFill>
                  <a:srgbClr val="2E2E2E"/>
                </a:solidFill>
                <a:latin typeface="Calibri"/>
              </a:rPr>
              <a:t>share by</a:t>
            </a:r>
          </a:p>
        </p:txBody>
      </p:sp>
      <p:sp>
        <p:nvSpPr>
          <p:cNvPr id="118" name="TextBox 117"/>
          <p:cNvSpPr txBox="1"/>
          <p:nvPr/>
        </p:nvSpPr>
        <p:spPr>
          <a:xfrm>
            <a:off x="485775" y="562084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119" name="TextBox 118"/>
          <p:cNvSpPr txBox="1"/>
          <p:nvPr/>
        </p:nvSpPr>
        <p:spPr>
          <a:xfrm>
            <a:off x="3838575" y="4229437"/>
            <a:ext cx="1063376" cy="186689"/>
          </a:xfrm>
          <a:prstGeom prst="rect">
            <a:avLst/>
          </a:prstGeom>
          <a:noFill/>
        </p:spPr>
        <p:txBody>
          <a:bodyPr wrap="none" lIns="0" rIns="0" tIns="0" bIns="0">
            <a:spAutoFit/>
          </a:bodyPr>
          <a:lstStyle/>
          <a:p>
            <a:r>
              <a:rPr sz="1100" b="0">
                <a:solidFill>
                  <a:srgbClr val="2E2E2E"/>
                </a:solidFill>
                <a:latin typeface="Calibri"/>
              </a:rPr>
              <a:t>● North America:</a:t>
            </a:r>
          </a:p>
        </p:txBody>
      </p:sp>
      <p:pic>
        <p:nvPicPr>
          <p:cNvPr id="120" name="Picture 119" descr="lock.png"/>
          <p:cNvPicPr>
            <a:picLocks noChangeAspect="1"/>
          </p:cNvPicPr>
          <p:nvPr/>
        </p:nvPicPr>
        <p:blipFill>
          <a:blip r:embed="rId22"/>
          <a:stretch>
            <a:fillRect/>
          </a:stretch>
        </p:blipFill>
        <p:spPr>
          <a:xfrm>
            <a:off x="4850003" y="4219658"/>
            <a:ext cx="128699" cy="187198"/>
          </a:xfrm>
          <a:prstGeom prst="rect">
            <a:avLst/>
          </a:prstGeom>
        </p:spPr>
      </p:pic>
      <p:sp>
        <p:nvSpPr>
          <p:cNvPr id="121" name="TextBox 120"/>
          <p:cNvSpPr txBox="1"/>
          <p:nvPr/>
        </p:nvSpPr>
        <p:spPr>
          <a:xfrm>
            <a:off x="50174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2" name="Picture 121" descr="lock.png"/>
          <p:cNvPicPr>
            <a:picLocks noChangeAspect="1"/>
          </p:cNvPicPr>
          <p:nvPr/>
        </p:nvPicPr>
        <p:blipFill>
          <a:blip r:embed="rId22"/>
          <a:stretch>
            <a:fillRect/>
          </a:stretch>
        </p:blipFill>
        <p:spPr>
          <a:xfrm>
            <a:off x="5876949" y="4219658"/>
            <a:ext cx="128699" cy="187198"/>
          </a:xfrm>
          <a:prstGeom prst="rect">
            <a:avLst/>
          </a:prstGeom>
        </p:spPr>
      </p:pic>
      <p:sp>
        <p:nvSpPr>
          <p:cNvPr id="123" name="TextBox 122"/>
          <p:cNvSpPr txBox="1"/>
          <p:nvPr/>
        </p:nvSpPr>
        <p:spPr>
          <a:xfrm>
            <a:off x="604444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124" name="TextBox 123"/>
          <p:cNvSpPr txBox="1"/>
          <p:nvPr/>
        </p:nvSpPr>
        <p:spPr>
          <a:xfrm>
            <a:off x="3838575" y="4447369"/>
            <a:ext cx="636637" cy="186689"/>
          </a:xfrm>
          <a:prstGeom prst="rect">
            <a:avLst/>
          </a:prstGeom>
          <a:noFill/>
        </p:spPr>
        <p:txBody>
          <a:bodyPr wrap="none" lIns="0" rIns="0" tIns="0" bIns="0">
            <a:spAutoFit/>
          </a:bodyPr>
          <a:lstStyle/>
          <a:p>
            <a:r>
              <a:rPr sz="1100" b="0">
                <a:solidFill>
                  <a:srgbClr val="2E2E2E"/>
                </a:solidFill>
                <a:latin typeface="Calibri"/>
              </a:rPr>
              <a:t>● Europe:</a:t>
            </a:r>
          </a:p>
        </p:txBody>
      </p:sp>
      <p:pic>
        <p:nvPicPr>
          <p:cNvPr id="125" name="Picture 124" descr="lock.png"/>
          <p:cNvPicPr>
            <a:picLocks noChangeAspect="1"/>
          </p:cNvPicPr>
          <p:nvPr/>
        </p:nvPicPr>
        <p:blipFill>
          <a:blip r:embed="rId22"/>
          <a:stretch>
            <a:fillRect/>
          </a:stretch>
        </p:blipFill>
        <p:spPr>
          <a:xfrm>
            <a:off x="4423263" y="4437590"/>
            <a:ext cx="128699" cy="187198"/>
          </a:xfrm>
          <a:prstGeom prst="rect">
            <a:avLst/>
          </a:prstGeom>
        </p:spPr>
      </p:pic>
      <p:sp>
        <p:nvSpPr>
          <p:cNvPr id="126" name="TextBox 125"/>
          <p:cNvSpPr txBox="1"/>
          <p:nvPr/>
        </p:nvSpPr>
        <p:spPr>
          <a:xfrm>
            <a:off x="459075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7" name="Picture 126" descr="lock.png"/>
          <p:cNvPicPr>
            <a:picLocks noChangeAspect="1"/>
          </p:cNvPicPr>
          <p:nvPr/>
        </p:nvPicPr>
        <p:blipFill>
          <a:blip r:embed="rId22"/>
          <a:stretch>
            <a:fillRect/>
          </a:stretch>
        </p:blipFill>
        <p:spPr>
          <a:xfrm>
            <a:off x="5450209" y="4437590"/>
            <a:ext cx="128699" cy="187198"/>
          </a:xfrm>
          <a:prstGeom prst="rect">
            <a:avLst/>
          </a:prstGeom>
        </p:spPr>
      </p:pic>
      <p:sp>
        <p:nvSpPr>
          <p:cNvPr id="128" name="TextBox 127"/>
          <p:cNvSpPr txBox="1"/>
          <p:nvPr/>
        </p:nvSpPr>
        <p:spPr>
          <a:xfrm>
            <a:off x="5617705" y="4447369"/>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29" name="TextBox 128"/>
          <p:cNvSpPr txBox="1"/>
          <p:nvPr/>
        </p:nvSpPr>
        <p:spPr>
          <a:xfrm>
            <a:off x="3838575" y="4665301"/>
            <a:ext cx="732101" cy="186689"/>
          </a:xfrm>
          <a:prstGeom prst="rect">
            <a:avLst/>
          </a:prstGeom>
          <a:noFill/>
        </p:spPr>
        <p:txBody>
          <a:bodyPr wrap="none" lIns="0" rIns="0" tIns="0" bIns="0">
            <a:spAutoFit/>
          </a:bodyPr>
          <a:lstStyle/>
          <a:p>
            <a:r>
              <a:rPr sz="1100" b="0">
                <a:solidFill>
                  <a:srgbClr val="2E2E2E"/>
                </a:solidFill>
                <a:latin typeface="Calibri"/>
              </a:rPr>
              <a:t>● East Asia:</a:t>
            </a:r>
          </a:p>
        </p:txBody>
      </p:sp>
      <p:pic>
        <p:nvPicPr>
          <p:cNvPr id="130" name="Picture 129" descr="lock.png"/>
          <p:cNvPicPr>
            <a:picLocks noChangeAspect="1"/>
          </p:cNvPicPr>
          <p:nvPr/>
        </p:nvPicPr>
        <p:blipFill>
          <a:blip r:embed="rId22"/>
          <a:stretch>
            <a:fillRect/>
          </a:stretch>
        </p:blipFill>
        <p:spPr>
          <a:xfrm>
            <a:off x="4518727" y="4655522"/>
            <a:ext cx="128699" cy="187198"/>
          </a:xfrm>
          <a:prstGeom prst="rect">
            <a:avLst/>
          </a:prstGeom>
        </p:spPr>
      </p:pic>
      <p:sp>
        <p:nvSpPr>
          <p:cNvPr id="131" name="TextBox 130"/>
          <p:cNvSpPr txBox="1"/>
          <p:nvPr/>
        </p:nvSpPr>
        <p:spPr>
          <a:xfrm>
            <a:off x="46862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2" name="Picture 131" descr="lock.png"/>
          <p:cNvPicPr>
            <a:picLocks noChangeAspect="1"/>
          </p:cNvPicPr>
          <p:nvPr/>
        </p:nvPicPr>
        <p:blipFill>
          <a:blip r:embed="rId22"/>
          <a:stretch>
            <a:fillRect/>
          </a:stretch>
        </p:blipFill>
        <p:spPr>
          <a:xfrm>
            <a:off x="5545673" y="4655522"/>
            <a:ext cx="128699" cy="187198"/>
          </a:xfrm>
          <a:prstGeom prst="rect">
            <a:avLst/>
          </a:prstGeom>
        </p:spPr>
      </p:pic>
      <p:sp>
        <p:nvSpPr>
          <p:cNvPr id="133" name="TextBox 132"/>
          <p:cNvSpPr txBox="1"/>
          <p:nvPr/>
        </p:nvSpPr>
        <p:spPr>
          <a:xfrm>
            <a:off x="5713169" y="4665301"/>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4" name="TextBox 133"/>
          <p:cNvSpPr txBox="1"/>
          <p:nvPr/>
        </p:nvSpPr>
        <p:spPr>
          <a:xfrm>
            <a:off x="3838575" y="4883233"/>
            <a:ext cx="1350143" cy="186689"/>
          </a:xfrm>
          <a:prstGeom prst="rect">
            <a:avLst/>
          </a:prstGeom>
          <a:noFill/>
        </p:spPr>
        <p:txBody>
          <a:bodyPr wrap="none" lIns="0" rIns="0" tIns="0" bIns="0">
            <a:spAutoFit/>
          </a:bodyPr>
          <a:lstStyle/>
          <a:p>
            <a:r>
              <a:rPr sz="1100" b="0">
                <a:solidFill>
                  <a:srgbClr val="2E2E2E"/>
                </a:solidFill>
                <a:latin typeface="Calibri"/>
              </a:rPr>
              <a:t>● South Asia &amp; Pacific:</a:t>
            </a:r>
          </a:p>
        </p:txBody>
      </p:sp>
      <p:pic>
        <p:nvPicPr>
          <p:cNvPr id="135" name="Picture 134" descr="lock.png"/>
          <p:cNvPicPr>
            <a:picLocks noChangeAspect="1"/>
          </p:cNvPicPr>
          <p:nvPr/>
        </p:nvPicPr>
        <p:blipFill>
          <a:blip r:embed="rId22"/>
          <a:stretch>
            <a:fillRect/>
          </a:stretch>
        </p:blipFill>
        <p:spPr>
          <a:xfrm>
            <a:off x="5136770" y="4873454"/>
            <a:ext cx="128699" cy="187198"/>
          </a:xfrm>
          <a:prstGeom prst="rect">
            <a:avLst/>
          </a:prstGeom>
        </p:spPr>
      </p:pic>
      <p:sp>
        <p:nvSpPr>
          <p:cNvPr id="136" name="TextBox 135"/>
          <p:cNvSpPr txBox="1"/>
          <p:nvPr/>
        </p:nvSpPr>
        <p:spPr>
          <a:xfrm>
            <a:off x="5304266"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7" name="Picture 136" descr="lock.png"/>
          <p:cNvPicPr>
            <a:picLocks noChangeAspect="1"/>
          </p:cNvPicPr>
          <p:nvPr/>
        </p:nvPicPr>
        <p:blipFill>
          <a:blip r:embed="rId22"/>
          <a:stretch>
            <a:fillRect/>
          </a:stretch>
        </p:blipFill>
        <p:spPr>
          <a:xfrm>
            <a:off x="6163716" y="4873454"/>
            <a:ext cx="128699" cy="187198"/>
          </a:xfrm>
          <a:prstGeom prst="rect">
            <a:avLst/>
          </a:prstGeom>
        </p:spPr>
      </p:pic>
      <p:sp>
        <p:nvSpPr>
          <p:cNvPr id="138" name="TextBox 137"/>
          <p:cNvSpPr txBox="1"/>
          <p:nvPr/>
        </p:nvSpPr>
        <p:spPr>
          <a:xfrm>
            <a:off x="6331212"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39" name="TextBox 138"/>
          <p:cNvSpPr txBox="1"/>
          <p:nvPr/>
        </p:nvSpPr>
        <p:spPr>
          <a:xfrm>
            <a:off x="3838575" y="5101165"/>
            <a:ext cx="1008260" cy="186689"/>
          </a:xfrm>
          <a:prstGeom prst="rect">
            <a:avLst/>
          </a:prstGeom>
          <a:noFill/>
        </p:spPr>
        <p:txBody>
          <a:bodyPr wrap="none" lIns="0" rIns="0" tIns="0" bIns="0">
            <a:spAutoFit/>
          </a:bodyPr>
          <a:lstStyle/>
          <a:p>
            <a:r>
              <a:rPr sz="1100" b="0">
                <a:solidFill>
                  <a:srgbClr val="2E2E2E"/>
                </a:solidFill>
                <a:latin typeface="Calibri"/>
              </a:rPr>
              <a:t>● Latin America:</a:t>
            </a:r>
          </a:p>
        </p:txBody>
      </p:sp>
      <p:pic>
        <p:nvPicPr>
          <p:cNvPr id="140" name="Picture 139" descr="lock.png"/>
          <p:cNvPicPr>
            <a:picLocks noChangeAspect="1"/>
          </p:cNvPicPr>
          <p:nvPr/>
        </p:nvPicPr>
        <p:blipFill>
          <a:blip r:embed="rId22"/>
          <a:stretch>
            <a:fillRect/>
          </a:stretch>
        </p:blipFill>
        <p:spPr>
          <a:xfrm>
            <a:off x="4794887" y="5091385"/>
            <a:ext cx="128699" cy="187198"/>
          </a:xfrm>
          <a:prstGeom prst="rect">
            <a:avLst/>
          </a:prstGeom>
        </p:spPr>
      </p:pic>
      <p:sp>
        <p:nvSpPr>
          <p:cNvPr id="141" name="TextBox 140"/>
          <p:cNvSpPr txBox="1"/>
          <p:nvPr/>
        </p:nvSpPr>
        <p:spPr>
          <a:xfrm>
            <a:off x="4962383"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2" name="Picture 141" descr="lock.png"/>
          <p:cNvPicPr>
            <a:picLocks noChangeAspect="1"/>
          </p:cNvPicPr>
          <p:nvPr/>
        </p:nvPicPr>
        <p:blipFill>
          <a:blip r:embed="rId22"/>
          <a:stretch>
            <a:fillRect/>
          </a:stretch>
        </p:blipFill>
        <p:spPr>
          <a:xfrm>
            <a:off x="5821833" y="5091385"/>
            <a:ext cx="128699" cy="187198"/>
          </a:xfrm>
          <a:prstGeom prst="rect">
            <a:avLst/>
          </a:prstGeom>
        </p:spPr>
      </p:pic>
      <p:sp>
        <p:nvSpPr>
          <p:cNvPr id="143" name="TextBox 142"/>
          <p:cNvSpPr txBox="1"/>
          <p:nvPr/>
        </p:nvSpPr>
        <p:spPr>
          <a:xfrm>
            <a:off x="5989329" y="5101165"/>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4" name="TextBox 143"/>
          <p:cNvSpPr txBox="1"/>
          <p:nvPr/>
        </p:nvSpPr>
        <p:spPr>
          <a:xfrm>
            <a:off x="3838575" y="5319097"/>
            <a:ext cx="1386944" cy="186689"/>
          </a:xfrm>
          <a:prstGeom prst="rect">
            <a:avLst/>
          </a:prstGeom>
          <a:noFill/>
        </p:spPr>
        <p:txBody>
          <a:bodyPr wrap="none" lIns="0" rIns="0" tIns="0" bIns="0">
            <a:spAutoFit/>
          </a:bodyPr>
          <a:lstStyle/>
          <a:p>
            <a:r>
              <a:rPr sz="1100" b="0">
                <a:solidFill>
                  <a:srgbClr val="2E2E2E"/>
                </a:solidFill>
                <a:latin typeface="Calibri"/>
              </a:rPr>
              <a:t>● Middle East &amp; Africa:</a:t>
            </a:r>
          </a:p>
        </p:txBody>
      </p:sp>
      <p:pic>
        <p:nvPicPr>
          <p:cNvPr id="145" name="Picture 144" descr="lock.png"/>
          <p:cNvPicPr>
            <a:picLocks noChangeAspect="1"/>
          </p:cNvPicPr>
          <p:nvPr/>
        </p:nvPicPr>
        <p:blipFill>
          <a:blip r:embed="rId22"/>
          <a:stretch>
            <a:fillRect/>
          </a:stretch>
        </p:blipFill>
        <p:spPr>
          <a:xfrm>
            <a:off x="5173571" y="5309317"/>
            <a:ext cx="128699" cy="187198"/>
          </a:xfrm>
          <a:prstGeom prst="rect">
            <a:avLst/>
          </a:prstGeom>
        </p:spPr>
      </p:pic>
      <p:sp>
        <p:nvSpPr>
          <p:cNvPr id="146" name="TextBox 145"/>
          <p:cNvSpPr txBox="1"/>
          <p:nvPr/>
        </p:nvSpPr>
        <p:spPr>
          <a:xfrm>
            <a:off x="5341067"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7" name="Picture 146" descr="lock.png"/>
          <p:cNvPicPr>
            <a:picLocks noChangeAspect="1"/>
          </p:cNvPicPr>
          <p:nvPr/>
        </p:nvPicPr>
        <p:blipFill>
          <a:blip r:embed="rId22"/>
          <a:stretch>
            <a:fillRect/>
          </a:stretch>
        </p:blipFill>
        <p:spPr>
          <a:xfrm>
            <a:off x="6200517" y="5309317"/>
            <a:ext cx="128699" cy="187198"/>
          </a:xfrm>
          <a:prstGeom prst="rect">
            <a:avLst/>
          </a:prstGeom>
        </p:spPr>
      </p:pic>
      <p:sp>
        <p:nvSpPr>
          <p:cNvPr id="148" name="TextBox 147"/>
          <p:cNvSpPr txBox="1"/>
          <p:nvPr/>
        </p:nvSpPr>
        <p:spPr>
          <a:xfrm>
            <a:off x="6368013" y="5319097"/>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9" name="TextBox 148"/>
          <p:cNvSpPr txBox="1"/>
          <p:nvPr/>
        </p:nvSpPr>
        <p:spPr>
          <a:xfrm>
            <a:off x="8524875" y="5842641"/>
            <a:ext cx="3081608" cy="194310"/>
          </a:xfrm>
          <a:prstGeom prst="rect">
            <a:avLst/>
          </a:prstGeom>
          <a:noFill/>
        </p:spPr>
        <p:txBody>
          <a:bodyPr wrap="none" lIns="0" rIns="0" tIns="0" bIns="0">
            <a:spAutoFit/>
          </a:bodyPr>
          <a:lstStyle/>
          <a:p>
            <a:r>
              <a:rPr sz="1150" b="1">
                <a:solidFill>
                  <a:srgbClr val="0B2E4A"/>
                </a:solidFill>
                <a:latin typeface="Calibri"/>
              </a:rPr>
              <a:t>The Global market is projected to grow at a CAGR</a:t>
            </a:r>
          </a:p>
        </p:txBody>
      </p:sp>
      <p:sp>
        <p:nvSpPr>
          <p:cNvPr id="150" name="TextBox 149"/>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151" name="Picture 150" descr="lock.png"/>
          <p:cNvPicPr>
            <a:picLocks noChangeAspect="1"/>
          </p:cNvPicPr>
          <p:nvPr/>
        </p:nvPicPr>
        <p:blipFill>
          <a:blip r:embed="rId22"/>
          <a:stretch>
            <a:fillRect/>
          </a:stretch>
        </p:blipFill>
        <p:spPr>
          <a:xfrm>
            <a:off x="8674884" y="6007677"/>
            <a:ext cx="134549" cy="195707"/>
          </a:xfrm>
          <a:prstGeom prst="rect">
            <a:avLst/>
          </a:prstGeom>
        </p:spPr>
      </p:pic>
      <p:sp>
        <p:nvSpPr>
          <p:cNvPr id="152" name="TextBox 151"/>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Analysis, By Region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472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7996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376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6567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5924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5447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7827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019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4640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24164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6544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27" name="BPS Value 3"/>
          <p:cNvSpPr txBox="1"/>
          <p:nvPr/>
        </p:nvSpPr>
        <p:spPr>
          <a:xfrm>
            <a:off x="6305550" y="222735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551045" y="271705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7122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3608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1" name="BPS Value 4"/>
          <p:cNvSpPr txBox="1"/>
          <p:nvPr/>
        </p:nvSpPr>
        <p:spPr>
          <a:xfrm>
            <a:off x="6305550" y="269800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551045" y="344063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358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35966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2158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2903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242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480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0998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4_2__605E5C.png"/>
          <p:cNvPicPr>
            <a:picLocks noChangeAspect="1"/>
          </p:cNvPicPr>
          <p:nvPr/>
        </p:nvPicPr>
        <p:blipFill>
          <a:blip r:embed="rId6"/>
          <a:stretch>
            <a:fillRect/>
          </a:stretch>
        </p:blipFill>
        <p:spPr>
          <a:xfrm>
            <a:off x="9465355" y="5897562"/>
            <a:ext cx="1309912" cy="482599"/>
          </a:xfrm>
          <a:prstGeom prst="rect">
            <a:avLst/>
          </a:prstGeom>
        </p:spPr>
      </p:pic>
      <p:pic>
        <p:nvPicPr>
          <p:cNvPr id="50" name="Picture 49" descr="lock.png"/>
          <p:cNvPicPr>
            <a:picLocks noChangeAspect="1"/>
          </p:cNvPicPr>
          <p:nvPr/>
        </p:nvPicPr>
        <p:blipFill>
          <a:blip r:embed="rId5"/>
          <a:stretch>
            <a:fillRect/>
          </a:stretch>
        </p:blipFill>
        <p:spPr>
          <a:xfrm>
            <a:off x="10003631" y="5972175"/>
            <a:ext cx="229195" cy="333375"/>
          </a:xfrm>
          <a:prstGeom prst="rect">
            <a:avLst/>
          </a:prstGeom>
        </p:spPr>
      </p:pic>
      <p:sp>
        <p:nvSpPr>
          <p:cNvPr id="51" name="TextBox 50"/>
          <p:cNvSpPr txBox="1"/>
          <p:nvPr/>
        </p:nvSpPr>
        <p:spPr>
          <a:xfrm>
            <a:off x="7239000" y="1400175"/>
            <a:ext cx="4023258" cy="194310"/>
          </a:xfrm>
          <a:prstGeom prst="rect">
            <a:avLst/>
          </a:prstGeom>
          <a:noFill/>
        </p:spPr>
        <p:txBody>
          <a:bodyPr wrap="none" lIns="0" rIns="0" tIns="0" bIns="0">
            <a:spAutoFit/>
          </a:bodyPr>
          <a:lstStyle/>
          <a:p>
            <a:r>
              <a:rPr sz="1150" b="0">
                <a:solidFill>
                  <a:srgbClr val="2E2E2E"/>
                </a:solidFill>
                <a:latin typeface="Calibri"/>
              </a:rPr>
              <a:t>North America corrugated partition market is projected to register</a:t>
            </a:r>
          </a:p>
        </p:txBody>
      </p:sp>
      <p:pic>
        <p:nvPicPr>
          <p:cNvPr id="52" name="Picture 51" descr="lock.png"/>
          <p:cNvPicPr>
            <a:picLocks noChangeAspect="1"/>
          </p:cNvPicPr>
          <p:nvPr/>
        </p:nvPicPr>
        <p:blipFill>
          <a:blip r:embed="rId5"/>
          <a:stretch>
            <a:fillRect/>
          </a:stretch>
        </p:blipFill>
        <p:spPr>
          <a:xfrm>
            <a:off x="11211412" y="1389951"/>
            <a:ext cx="134549" cy="195707"/>
          </a:xfrm>
          <a:prstGeom prst="rect">
            <a:avLst/>
          </a:prstGeom>
        </p:spPr>
      </p:pic>
      <p:sp>
        <p:nvSpPr>
          <p:cNvPr id="53" name="TextBox 52"/>
          <p:cNvSpPr txBox="1"/>
          <p:nvPr/>
        </p:nvSpPr>
        <p:spPr>
          <a:xfrm>
            <a:off x="11386521"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54" name="TextBox 53"/>
          <p:cNvSpPr txBox="1"/>
          <p:nvPr/>
        </p:nvSpPr>
        <p:spPr>
          <a:xfrm>
            <a:off x="7239000" y="1575435"/>
            <a:ext cx="4526160" cy="194310"/>
          </a:xfrm>
          <a:prstGeom prst="rect">
            <a:avLst/>
          </a:prstGeom>
          <a:noFill/>
        </p:spPr>
        <p:txBody>
          <a:bodyPr wrap="none" lIns="0" rIns="0" tIns="0" bIns="0">
            <a:spAutoFit/>
          </a:bodyPr>
          <a:lstStyle/>
          <a:p>
            <a:r>
              <a:rPr sz="1150" b="0">
                <a:solidFill>
                  <a:srgbClr val="2E2E2E"/>
                </a:solidFill>
                <a:latin typeface="Calibri"/>
              </a:rPr>
              <a:t>higher volume than Europe in 2036. Among corrugated partition by region,</a:t>
            </a:r>
          </a:p>
        </p:txBody>
      </p:sp>
      <p:sp>
        <p:nvSpPr>
          <p:cNvPr id="55" name="TextBox 54"/>
          <p:cNvSpPr txBox="1"/>
          <p:nvPr/>
        </p:nvSpPr>
        <p:spPr>
          <a:xfrm>
            <a:off x="7239000" y="1750695"/>
            <a:ext cx="3814434" cy="194310"/>
          </a:xfrm>
          <a:prstGeom prst="rect">
            <a:avLst/>
          </a:prstGeom>
          <a:noFill/>
        </p:spPr>
        <p:txBody>
          <a:bodyPr wrap="none" lIns="0" rIns="0" tIns="0" bIns="0">
            <a:spAutoFit/>
          </a:bodyPr>
          <a:lstStyle/>
          <a:p>
            <a:r>
              <a:rPr sz="1150" b="0">
                <a:solidFill>
                  <a:srgbClr val="2E2E2E"/>
                </a:solidFill>
                <a:latin typeface="Calibri"/>
              </a:rPr>
              <a:t>South Asia &amp; Pacific is expected to witness the highest CAGR of</a:t>
            </a:r>
          </a:p>
        </p:txBody>
      </p:sp>
      <p:pic>
        <p:nvPicPr>
          <p:cNvPr id="56" name="Picture 55" descr="lock.png"/>
          <p:cNvPicPr>
            <a:picLocks noChangeAspect="1"/>
          </p:cNvPicPr>
          <p:nvPr/>
        </p:nvPicPr>
        <p:blipFill>
          <a:blip r:embed="rId5"/>
          <a:stretch>
            <a:fillRect/>
          </a:stretch>
        </p:blipFill>
        <p:spPr>
          <a:xfrm>
            <a:off x="11002588" y="1740471"/>
            <a:ext cx="134549" cy="195707"/>
          </a:xfrm>
          <a:prstGeom prst="rect">
            <a:avLst/>
          </a:prstGeom>
        </p:spPr>
      </p:pic>
      <p:sp>
        <p:nvSpPr>
          <p:cNvPr id="57" name="TextBox 56"/>
          <p:cNvSpPr txBox="1"/>
          <p:nvPr/>
        </p:nvSpPr>
        <p:spPr>
          <a:xfrm>
            <a:off x="11177697"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58" name="TextBox 57"/>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59" name="TextBox 58"/>
          <p:cNvSpPr txBox="1"/>
          <p:nvPr/>
        </p:nvSpPr>
        <p:spPr>
          <a:xfrm>
            <a:off x="7239000" y="2153793"/>
            <a:ext cx="4558394" cy="194310"/>
          </a:xfrm>
          <a:prstGeom prst="rect">
            <a:avLst/>
          </a:prstGeom>
          <a:noFill/>
        </p:spPr>
        <p:txBody>
          <a:bodyPr wrap="none" lIns="0" rIns="0" tIns="0" bIns="0">
            <a:spAutoFit/>
          </a:bodyPr>
          <a:lstStyle/>
          <a:p>
            <a:r>
              <a:rPr sz="1150" b="0">
                <a:solidFill>
                  <a:srgbClr val="2E2E2E"/>
                </a:solidFill>
                <a:latin typeface="Calibri"/>
              </a:rPr>
              <a:t>In terms of volume share by region, North America is expected to dominate</a:t>
            </a:r>
          </a:p>
        </p:txBody>
      </p:sp>
      <p:sp>
        <p:nvSpPr>
          <p:cNvPr id="60" name="TextBox 59"/>
          <p:cNvSpPr txBox="1"/>
          <p:nvPr/>
        </p:nvSpPr>
        <p:spPr>
          <a:xfrm>
            <a:off x="7239000" y="2329053"/>
            <a:ext cx="1150180" cy="194310"/>
          </a:xfrm>
          <a:prstGeom prst="rect">
            <a:avLst/>
          </a:prstGeom>
          <a:noFill/>
        </p:spPr>
        <p:txBody>
          <a:bodyPr wrap="none" lIns="0" rIns="0" tIns="0" bIns="0">
            <a:spAutoFit/>
          </a:bodyPr>
          <a:lstStyle/>
          <a:p>
            <a:r>
              <a:rPr sz="1150" b="0">
                <a:solidFill>
                  <a:srgbClr val="2E2E2E"/>
                </a:solidFill>
                <a:latin typeface="Calibri"/>
              </a:rPr>
              <a:t>the market, losing</a:t>
            </a:r>
          </a:p>
        </p:txBody>
      </p:sp>
      <p:pic>
        <p:nvPicPr>
          <p:cNvPr id="61" name="Picture 60" descr="lock.png"/>
          <p:cNvPicPr>
            <a:picLocks noChangeAspect="1"/>
          </p:cNvPicPr>
          <p:nvPr/>
        </p:nvPicPr>
        <p:blipFill>
          <a:blip r:embed="rId5"/>
          <a:stretch>
            <a:fillRect/>
          </a:stretch>
        </p:blipFill>
        <p:spPr>
          <a:xfrm>
            <a:off x="8338334" y="2318829"/>
            <a:ext cx="134549" cy="195707"/>
          </a:xfrm>
          <a:prstGeom prst="rect">
            <a:avLst/>
          </a:prstGeom>
        </p:spPr>
      </p:pic>
      <p:sp>
        <p:nvSpPr>
          <p:cNvPr id="62" name="TextBox 61"/>
          <p:cNvSpPr txBox="1"/>
          <p:nvPr/>
        </p:nvSpPr>
        <p:spPr>
          <a:xfrm>
            <a:off x="8513444"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3" name="Picture 62" descr="lock.png"/>
          <p:cNvPicPr>
            <a:picLocks noChangeAspect="1"/>
          </p:cNvPicPr>
          <p:nvPr/>
        </p:nvPicPr>
        <p:blipFill>
          <a:blip r:embed="rId5"/>
          <a:stretch>
            <a:fillRect/>
          </a:stretch>
        </p:blipFill>
        <p:spPr>
          <a:xfrm>
            <a:off x="9908587" y="2318829"/>
            <a:ext cx="134549" cy="195707"/>
          </a:xfrm>
          <a:prstGeom prst="rect">
            <a:avLst/>
          </a:prstGeom>
        </p:spPr>
      </p:pic>
      <p:sp>
        <p:nvSpPr>
          <p:cNvPr id="64" name="TextBox 63"/>
          <p:cNvSpPr txBox="1"/>
          <p:nvPr/>
        </p:nvSpPr>
        <p:spPr>
          <a:xfrm>
            <a:off x="1008369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5" name="TextBox 64"/>
          <p:cNvSpPr txBox="1"/>
          <p:nvPr/>
        </p:nvSpPr>
        <p:spPr>
          <a:xfrm>
            <a:off x="1613208" y="5877496"/>
            <a:ext cx="1078882" cy="186689"/>
          </a:xfrm>
          <a:prstGeom prst="rect">
            <a:avLst/>
          </a:prstGeom>
          <a:noFill/>
        </p:spPr>
        <p:txBody>
          <a:bodyPr wrap="none" lIns="0" rIns="0" tIns="0" bIns="0">
            <a:spAutoFit/>
          </a:bodyPr>
          <a:lstStyle/>
          <a:p>
            <a:r>
              <a:rPr sz="1100" b="1">
                <a:solidFill>
                  <a:srgbClr val="6C7A89"/>
                </a:solidFill>
                <a:latin typeface="Calibri"/>
              </a:rPr>
              <a:t>2026 TOTAL (MT)</a:t>
            </a:r>
          </a:p>
        </p:txBody>
      </p:sp>
      <p:pic>
        <p:nvPicPr>
          <p:cNvPr id="66" name="Picture 65" descr="lock.png"/>
          <p:cNvPicPr>
            <a:picLocks noChangeAspect="1"/>
          </p:cNvPicPr>
          <p:nvPr/>
        </p:nvPicPr>
        <p:blipFill>
          <a:blip r:embed="rId5"/>
          <a:stretch>
            <a:fillRect/>
          </a:stretch>
        </p:blipFill>
        <p:spPr>
          <a:xfrm>
            <a:off x="1984327" y="6077648"/>
            <a:ext cx="233998" cy="340360"/>
          </a:xfrm>
          <a:prstGeom prst="rect">
            <a:avLst/>
          </a:prstGeom>
        </p:spPr>
      </p:pic>
      <p:sp>
        <p:nvSpPr>
          <p:cNvPr id="67" name="TextBox 66"/>
          <p:cNvSpPr txBox="1"/>
          <p:nvPr/>
        </p:nvSpPr>
        <p:spPr>
          <a:xfrm>
            <a:off x="5647046" y="5877496"/>
            <a:ext cx="1078882" cy="186689"/>
          </a:xfrm>
          <a:prstGeom prst="rect">
            <a:avLst/>
          </a:prstGeom>
          <a:noFill/>
        </p:spPr>
        <p:txBody>
          <a:bodyPr wrap="none" lIns="0" rIns="0" tIns="0" bIns="0">
            <a:spAutoFit/>
          </a:bodyPr>
          <a:lstStyle/>
          <a:p>
            <a:r>
              <a:rPr sz="1100" b="1">
                <a:solidFill>
                  <a:srgbClr val="6C7A89"/>
                </a:solidFill>
                <a:latin typeface="Calibri"/>
              </a:rPr>
              <a:t>2036 TOTAL (MT)</a:t>
            </a:r>
          </a:p>
        </p:txBody>
      </p:sp>
      <p:pic>
        <p:nvPicPr>
          <p:cNvPr id="68" name="Picture 67" descr="lock.png"/>
          <p:cNvPicPr>
            <a:picLocks noChangeAspect="1"/>
          </p:cNvPicPr>
          <p:nvPr/>
        </p:nvPicPr>
        <p:blipFill>
          <a:blip r:embed="rId5"/>
          <a:stretch>
            <a:fillRect/>
          </a:stretch>
        </p:blipFill>
        <p:spPr>
          <a:xfrm>
            <a:off x="6018165" y="6077648"/>
            <a:ext cx="233998" cy="340360"/>
          </a:xfrm>
          <a:prstGeom prst="rect">
            <a:avLst/>
          </a:prstGeom>
        </p:spPr>
      </p:pic>
      <p:sp>
        <p:nvSpPr>
          <p:cNvPr id="69"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9305"/>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454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834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25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6909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432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812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500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5651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5175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7555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23746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273050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7257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953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145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49398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892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41302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7493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7377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6901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9281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472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3_200_605E5C.png"/>
          <p:cNvPicPr>
            <a:picLocks noChangeAspect="1"/>
          </p:cNvPicPr>
          <p:nvPr/>
        </p:nvPicPr>
        <p:blipFill>
          <a:blip r:embed="rId6"/>
          <a:stretch>
            <a:fillRect/>
          </a:stretch>
        </p:blipFill>
        <p:spPr>
          <a:xfrm>
            <a:off x="1317398" y="5897562"/>
            <a:ext cx="1594300" cy="482599"/>
          </a:xfrm>
          <a:prstGeom prst="rect">
            <a:avLst/>
          </a:prstGeom>
        </p:spPr>
      </p:pic>
      <p:pic>
        <p:nvPicPr>
          <p:cNvPr id="50" name="Picture 49" descr="5_188_605E5C.png"/>
          <p:cNvPicPr>
            <a:picLocks noChangeAspect="1"/>
          </p:cNvPicPr>
          <p:nvPr/>
        </p:nvPicPr>
        <p:blipFill>
          <a:blip r:embed="rId7"/>
          <a:stretch>
            <a:fillRect/>
          </a:stretch>
        </p:blipFill>
        <p:spPr>
          <a:xfrm>
            <a:off x="5351235" y="5897562"/>
            <a:ext cx="1594300" cy="482599"/>
          </a:xfrm>
          <a:prstGeom prst="rect">
            <a:avLst/>
          </a:prstGeom>
        </p:spPr>
      </p:pic>
      <p:pic>
        <p:nvPicPr>
          <p:cNvPr id="51" name="Picture 50" descr="5_0__605E5C.png"/>
          <p:cNvPicPr>
            <a:picLocks noChangeAspect="1"/>
          </p:cNvPicPr>
          <p:nvPr/>
        </p:nvPicPr>
        <p:blipFill>
          <a:blip r:embed="rId8"/>
          <a:stretch>
            <a:fillRect/>
          </a:stretch>
        </p:blipFill>
        <p:spPr>
          <a:xfrm>
            <a:off x="9465355" y="5897562"/>
            <a:ext cx="1309912" cy="482599"/>
          </a:xfrm>
          <a:prstGeom prst="rect">
            <a:avLst/>
          </a:prstGeom>
        </p:spPr>
      </p:pic>
      <p:pic>
        <p:nvPicPr>
          <p:cNvPr id="52" name="Picture 51" descr="lock.png"/>
          <p:cNvPicPr>
            <a:picLocks noChangeAspect="1"/>
          </p:cNvPicPr>
          <p:nvPr/>
        </p:nvPicPr>
        <p:blipFill>
          <a:blip r:embed="rId5"/>
          <a:stretch>
            <a:fillRect/>
          </a:stretch>
        </p:blipFill>
        <p:spPr>
          <a:xfrm>
            <a:off x="5914657" y="5893409"/>
            <a:ext cx="337498" cy="490906"/>
          </a:xfrm>
          <a:prstGeom prst="rect">
            <a:avLst/>
          </a:prstGeom>
        </p:spPr>
      </p:pic>
      <p:sp>
        <p:nvSpPr>
          <p:cNvPr id="53" name="TextBox 52"/>
          <p:cNvSpPr txBox="1"/>
          <p:nvPr/>
        </p:nvSpPr>
        <p:spPr>
          <a:xfrm>
            <a:off x="7239000" y="1400175"/>
            <a:ext cx="4023258" cy="194310"/>
          </a:xfrm>
          <a:prstGeom prst="rect">
            <a:avLst/>
          </a:prstGeom>
          <a:noFill/>
        </p:spPr>
        <p:txBody>
          <a:bodyPr wrap="none" lIns="0" rIns="0" tIns="0" bIns="0">
            <a:spAutoFit/>
          </a:bodyPr>
          <a:lstStyle/>
          <a:p>
            <a:r>
              <a:rPr sz="1150" b="0">
                <a:solidFill>
                  <a:srgbClr val="2E2E2E"/>
                </a:solidFill>
                <a:latin typeface="Calibri"/>
              </a:rPr>
              <a:t>North America corrugated partition market is projected to register</a:t>
            </a:r>
          </a:p>
        </p:txBody>
      </p:sp>
      <p:pic>
        <p:nvPicPr>
          <p:cNvPr id="54" name="Picture 53" descr="lock.png"/>
          <p:cNvPicPr>
            <a:picLocks noChangeAspect="1"/>
          </p:cNvPicPr>
          <p:nvPr/>
        </p:nvPicPr>
        <p:blipFill>
          <a:blip r:embed="rId5"/>
          <a:stretch>
            <a:fillRect/>
          </a:stretch>
        </p:blipFill>
        <p:spPr>
          <a:xfrm>
            <a:off x="11211412" y="1389951"/>
            <a:ext cx="134549" cy="195707"/>
          </a:xfrm>
          <a:prstGeom prst="rect">
            <a:avLst/>
          </a:prstGeom>
        </p:spPr>
      </p:pic>
      <p:sp>
        <p:nvSpPr>
          <p:cNvPr id="55" name="TextBox 54"/>
          <p:cNvSpPr txBox="1"/>
          <p:nvPr/>
        </p:nvSpPr>
        <p:spPr>
          <a:xfrm>
            <a:off x="11386521"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56" name="TextBox 55"/>
          <p:cNvSpPr txBox="1"/>
          <p:nvPr/>
        </p:nvSpPr>
        <p:spPr>
          <a:xfrm>
            <a:off x="7239000" y="1575435"/>
            <a:ext cx="4402360" cy="194310"/>
          </a:xfrm>
          <a:prstGeom prst="rect">
            <a:avLst/>
          </a:prstGeom>
          <a:noFill/>
        </p:spPr>
        <p:txBody>
          <a:bodyPr wrap="none" lIns="0" rIns="0" tIns="0" bIns="0">
            <a:spAutoFit/>
          </a:bodyPr>
          <a:lstStyle/>
          <a:p>
            <a:r>
              <a:rPr sz="1150" b="0">
                <a:solidFill>
                  <a:srgbClr val="2E2E2E"/>
                </a:solidFill>
                <a:latin typeface="Calibri"/>
              </a:rPr>
              <a:t>higher value than Europe in 2036. Among corrugated partition by region,</a:t>
            </a:r>
          </a:p>
        </p:txBody>
      </p:sp>
      <p:sp>
        <p:nvSpPr>
          <p:cNvPr id="57" name="TextBox 56"/>
          <p:cNvSpPr txBox="1"/>
          <p:nvPr/>
        </p:nvSpPr>
        <p:spPr>
          <a:xfrm>
            <a:off x="7239000" y="1750695"/>
            <a:ext cx="3814434" cy="194310"/>
          </a:xfrm>
          <a:prstGeom prst="rect">
            <a:avLst/>
          </a:prstGeom>
          <a:noFill/>
        </p:spPr>
        <p:txBody>
          <a:bodyPr wrap="none" lIns="0" rIns="0" tIns="0" bIns="0">
            <a:spAutoFit/>
          </a:bodyPr>
          <a:lstStyle/>
          <a:p>
            <a:r>
              <a:rPr sz="1150" b="0">
                <a:solidFill>
                  <a:srgbClr val="2E2E2E"/>
                </a:solidFill>
                <a:latin typeface="Calibri"/>
              </a:rPr>
              <a:t>South Asia &amp; Pacific is expected to witness the highest CAGR of</a:t>
            </a:r>
          </a:p>
        </p:txBody>
      </p:sp>
      <p:pic>
        <p:nvPicPr>
          <p:cNvPr id="58" name="Picture 57" descr="lock.png"/>
          <p:cNvPicPr>
            <a:picLocks noChangeAspect="1"/>
          </p:cNvPicPr>
          <p:nvPr/>
        </p:nvPicPr>
        <p:blipFill>
          <a:blip r:embed="rId5"/>
          <a:stretch>
            <a:fillRect/>
          </a:stretch>
        </p:blipFill>
        <p:spPr>
          <a:xfrm>
            <a:off x="11002588" y="1740471"/>
            <a:ext cx="134549" cy="195707"/>
          </a:xfrm>
          <a:prstGeom prst="rect">
            <a:avLst/>
          </a:prstGeom>
        </p:spPr>
      </p:pic>
      <p:sp>
        <p:nvSpPr>
          <p:cNvPr id="59" name="TextBox 58"/>
          <p:cNvSpPr txBox="1"/>
          <p:nvPr/>
        </p:nvSpPr>
        <p:spPr>
          <a:xfrm>
            <a:off x="11177697"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60" name="TextBox 59"/>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61" name="TextBox 60"/>
          <p:cNvSpPr txBox="1"/>
          <p:nvPr/>
        </p:nvSpPr>
        <p:spPr>
          <a:xfrm>
            <a:off x="7239000" y="2153793"/>
            <a:ext cx="4648200"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a:t>
            </a:r>
          </a:p>
        </p:txBody>
      </p:sp>
      <p:sp>
        <p:nvSpPr>
          <p:cNvPr id="62" name="TextBox 61"/>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63" name="Picture 62" descr="lock.png"/>
          <p:cNvPicPr>
            <a:picLocks noChangeAspect="1"/>
          </p:cNvPicPr>
          <p:nvPr/>
        </p:nvPicPr>
        <p:blipFill>
          <a:blip r:embed="rId5"/>
          <a:stretch>
            <a:fillRect/>
          </a:stretch>
        </p:blipFill>
        <p:spPr>
          <a:xfrm>
            <a:off x="8106708" y="2318829"/>
            <a:ext cx="134549" cy="195707"/>
          </a:xfrm>
          <a:prstGeom prst="rect">
            <a:avLst/>
          </a:prstGeom>
        </p:spPr>
      </p:pic>
      <p:sp>
        <p:nvSpPr>
          <p:cNvPr id="64" name="TextBox 63"/>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5" name="Picture 64" descr="lock.png"/>
          <p:cNvPicPr>
            <a:picLocks noChangeAspect="1"/>
          </p:cNvPicPr>
          <p:nvPr/>
        </p:nvPicPr>
        <p:blipFill>
          <a:blip r:embed="rId5"/>
          <a:stretch>
            <a:fillRect/>
          </a:stretch>
        </p:blipFill>
        <p:spPr>
          <a:xfrm>
            <a:off x="9676961" y="2318829"/>
            <a:ext cx="134549" cy="195707"/>
          </a:xfrm>
          <a:prstGeom prst="rect">
            <a:avLst/>
          </a:prstGeom>
        </p:spPr>
      </p:pic>
      <p:sp>
        <p:nvSpPr>
          <p:cNvPr id="66" name="TextBox 65"/>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7"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Share Analysis, By Region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(MT)</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South Asia &amp;</a:t>
                      </a:r>
                      <a:endParaRPr sz="1100"/>
                    </a:p>
                    <a:p>
                      <a:pPr algn="l"/>
                      <a:r>
                        <a:rPr sz="1100" b="1">
                          <a:solidFill>
                            <a:srgbClr val="2E2E2E"/>
                          </a:solidFill>
                          <a:latin typeface="Calibri"/>
                        </a:rPr>
                        <a:t>Pacific</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Middle East &amp;</a:t>
                      </a:r>
                      <a:endParaRPr sz="1100"/>
                    </a:p>
                    <a:p>
                      <a:pPr algn="l"/>
                      <a:r>
                        <a:rPr sz="1100" b="1">
                          <a:solidFill>
                            <a:srgbClr val="2E2E2E"/>
                          </a:solidFill>
                          <a:latin typeface="Calibri"/>
                        </a:rPr>
                        <a:t>Africa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4023258" cy="194310"/>
          </a:xfrm>
          <a:prstGeom prst="rect">
            <a:avLst/>
          </a:prstGeom>
          <a:noFill/>
        </p:spPr>
        <p:txBody>
          <a:bodyPr wrap="none" lIns="0" rIns="0" tIns="0" bIns="0">
            <a:spAutoFit/>
          </a:bodyPr>
          <a:lstStyle/>
          <a:p>
            <a:r>
              <a:rPr sz="1150" b="0">
                <a:solidFill>
                  <a:srgbClr val="2E2E2E"/>
                </a:solidFill>
                <a:latin typeface="Calibri"/>
              </a:rPr>
              <a:t>North America corrugated partition market is projected to register</a:t>
            </a:r>
          </a:p>
        </p:txBody>
      </p:sp>
      <p:pic>
        <p:nvPicPr>
          <p:cNvPr id="22" name="Picture 21" descr="lock.png"/>
          <p:cNvPicPr>
            <a:picLocks noChangeAspect="1"/>
          </p:cNvPicPr>
          <p:nvPr/>
        </p:nvPicPr>
        <p:blipFill>
          <a:blip r:embed="rId4"/>
          <a:stretch>
            <a:fillRect/>
          </a:stretch>
        </p:blipFill>
        <p:spPr>
          <a:xfrm>
            <a:off x="4248637" y="4542726"/>
            <a:ext cx="134549" cy="195707"/>
          </a:xfrm>
          <a:prstGeom prst="rect">
            <a:avLst/>
          </a:prstGeom>
        </p:spPr>
      </p:pic>
      <p:sp>
        <p:nvSpPr>
          <p:cNvPr id="23" name="TextBox 22"/>
          <p:cNvSpPr txBox="1"/>
          <p:nvPr/>
        </p:nvSpPr>
        <p:spPr>
          <a:xfrm>
            <a:off x="4423746" y="4552950"/>
            <a:ext cx="7417209" cy="194310"/>
          </a:xfrm>
          <a:prstGeom prst="rect">
            <a:avLst/>
          </a:prstGeom>
          <a:noFill/>
        </p:spPr>
        <p:txBody>
          <a:bodyPr wrap="none" lIns="0" rIns="0" tIns="0" bIns="0">
            <a:spAutoFit/>
          </a:bodyPr>
          <a:lstStyle/>
          <a:p>
            <a:r>
              <a:rPr sz="1150" b="0">
                <a:solidFill>
                  <a:srgbClr val="2E2E2E"/>
                </a:solidFill>
                <a:latin typeface="Calibri"/>
              </a:rPr>
              <a:t>X higher volume than Europe in 2036. Among corrugated partition by region, South Asia &amp; Pacific is expected to witness the</a:t>
            </a:r>
          </a:p>
        </p:txBody>
      </p:sp>
      <p:sp>
        <p:nvSpPr>
          <p:cNvPr id="24" name="TextBox 23"/>
          <p:cNvSpPr txBox="1"/>
          <p:nvPr/>
        </p:nvSpPr>
        <p:spPr>
          <a:xfrm>
            <a:off x="276225" y="472821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4717986"/>
            <a:ext cx="134549" cy="195707"/>
          </a:xfrm>
          <a:prstGeom prst="rect">
            <a:avLst/>
          </a:prstGeom>
        </p:spPr>
      </p:pic>
      <p:sp>
        <p:nvSpPr>
          <p:cNvPr id="26" name="TextBox 25"/>
          <p:cNvSpPr txBox="1"/>
          <p:nvPr/>
        </p:nvSpPr>
        <p:spPr>
          <a:xfrm>
            <a:off x="1432841" y="47282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956047"/>
            <a:ext cx="5665465" cy="194310"/>
          </a:xfrm>
          <a:prstGeom prst="rect">
            <a:avLst/>
          </a:prstGeom>
          <a:noFill/>
        </p:spPr>
        <p:txBody>
          <a:bodyPr wrap="none" lIns="0" rIns="0" tIns="0" bIns="0">
            <a:spAutoFit/>
          </a:bodyPr>
          <a:lstStyle/>
          <a:p>
            <a:r>
              <a:rPr sz="1150" b="0">
                <a:solidFill>
                  <a:srgbClr val="2E2E2E"/>
                </a:solidFill>
                <a:latin typeface="Calibri"/>
              </a:rPr>
              <a:t>In terms of volume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890843" y="4945824"/>
            <a:ext cx="134549" cy="195707"/>
          </a:xfrm>
          <a:prstGeom prst="rect">
            <a:avLst/>
          </a:prstGeom>
        </p:spPr>
      </p:pic>
      <p:sp>
        <p:nvSpPr>
          <p:cNvPr id="29" name="TextBox 28"/>
          <p:cNvSpPr txBox="1"/>
          <p:nvPr/>
        </p:nvSpPr>
        <p:spPr>
          <a:xfrm>
            <a:off x="6065953" y="49560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461096" y="4945824"/>
            <a:ext cx="134549" cy="195707"/>
          </a:xfrm>
          <a:prstGeom prst="rect">
            <a:avLst/>
          </a:prstGeom>
        </p:spPr>
      </p:pic>
      <p:sp>
        <p:nvSpPr>
          <p:cNvPr id="31" name="TextBox 30"/>
          <p:cNvSpPr txBox="1"/>
          <p:nvPr/>
        </p:nvSpPr>
        <p:spPr>
          <a:xfrm>
            <a:off x="7636205" y="49560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6995" y="2080450"/>
            <a:ext cx="366712" cy="533400"/>
          </a:xfrm>
          <a:prstGeom prst="rect">
            <a:avLst/>
          </a:prstGeom>
        </p:spPr>
      </p:pic>
      <p:sp>
        <p:nvSpPr>
          <p:cNvPr id="21" name="TextBox 20"/>
          <p:cNvSpPr txBox="1"/>
          <p:nvPr/>
        </p:nvSpPr>
        <p:spPr>
          <a:xfrm>
            <a:off x="276225" y="3971925"/>
            <a:ext cx="4023258" cy="194310"/>
          </a:xfrm>
          <a:prstGeom prst="rect">
            <a:avLst/>
          </a:prstGeom>
          <a:noFill/>
        </p:spPr>
        <p:txBody>
          <a:bodyPr wrap="none" lIns="0" rIns="0" tIns="0" bIns="0">
            <a:spAutoFit/>
          </a:bodyPr>
          <a:lstStyle/>
          <a:p>
            <a:r>
              <a:rPr sz="1150" b="0">
                <a:solidFill>
                  <a:srgbClr val="2E2E2E"/>
                </a:solidFill>
                <a:latin typeface="Calibri"/>
              </a:rPr>
              <a:t>North America corrugated partition market is projected to register</a:t>
            </a:r>
          </a:p>
        </p:txBody>
      </p:sp>
      <p:pic>
        <p:nvPicPr>
          <p:cNvPr id="22" name="Picture 21" descr="lock.png"/>
          <p:cNvPicPr>
            <a:picLocks noChangeAspect="1"/>
          </p:cNvPicPr>
          <p:nvPr/>
        </p:nvPicPr>
        <p:blipFill>
          <a:blip r:embed="rId4"/>
          <a:stretch>
            <a:fillRect/>
          </a:stretch>
        </p:blipFill>
        <p:spPr>
          <a:xfrm>
            <a:off x="4248637" y="3961701"/>
            <a:ext cx="134549" cy="195707"/>
          </a:xfrm>
          <a:prstGeom prst="rect">
            <a:avLst/>
          </a:prstGeom>
        </p:spPr>
      </p:pic>
      <p:sp>
        <p:nvSpPr>
          <p:cNvPr id="23" name="TextBox 22"/>
          <p:cNvSpPr txBox="1"/>
          <p:nvPr/>
        </p:nvSpPr>
        <p:spPr>
          <a:xfrm>
            <a:off x="4423746" y="3971925"/>
            <a:ext cx="7293409" cy="194310"/>
          </a:xfrm>
          <a:prstGeom prst="rect">
            <a:avLst/>
          </a:prstGeom>
          <a:noFill/>
        </p:spPr>
        <p:txBody>
          <a:bodyPr wrap="none" lIns="0" rIns="0" tIns="0" bIns="0">
            <a:spAutoFit/>
          </a:bodyPr>
          <a:lstStyle/>
          <a:p>
            <a:r>
              <a:rPr sz="1150" b="0">
                <a:solidFill>
                  <a:srgbClr val="2E2E2E"/>
                </a:solidFill>
                <a:latin typeface="Calibri"/>
              </a:rPr>
              <a:t>X higher value than Europe in 2036. Among corrugated partition by region, South Asia &amp; Pacific is expected to witness the</a:t>
            </a:r>
          </a:p>
        </p:txBody>
      </p:sp>
      <p:sp>
        <p:nvSpPr>
          <p:cNvPr id="24" name="TextBox 23"/>
          <p:cNvSpPr txBox="1"/>
          <p:nvPr/>
        </p:nvSpPr>
        <p:spPr>
          <a:xfrm>
            <a:off x="276225" y="414718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4136961"/>
            <a:ext cx="134549" cy="195707"/>
          </a:xfrm>
          <a:prstGeom prst="rect">
            <a:avLst/>
          </a:prstGeom>
        </p:spPr>
      </p:pic>
      <p:sp>
        <p:nvSpPr>
          <p:cNvPr id="26" name="TextBox 25"/>
          <p:cNvSpPr txBox="1"/>
          <p:nvPr/>
        </p:nvSpPr>
        <p:spPr>
          <a:xfrm>
            <a:off x="1432841" y="41471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5541664"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767043" y="4364799"/>
            <a:ext cx="134549" cy="195707"/>
          </a:xfrm>
          <a:prstGeom prst="rect">
            <a:avLst/>
          </a:prstGeom>
        </p:spPr>
      </p:pic>
      <p:sp>
        <p:nvSpPr>
          <p:cNvPr id="29" name="TextBox 28"/>
          <p:cNvSpPr txBox="1"/>
          <p:nvPr/>
        </p:nvSpPr>
        <p:spPr>
          <a:xfrm>
            <a:off x="5942153"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337296" y="4364799"/>
            <a:ext cx="134549" cy="195707"/>
          </a:xfrm>
          <a:prstGeom prst="rect">
            <a:avLst/>
          </a:prstGeom>
        </p:spPr>
      </p:pic>
      <p:sp>
        <p:nvSpPr>
          <p:cNvPr id="31" name="TextBox 30"/>
          <p:cNvSpPr txBox="1"/>
          <p:nvPr/>
        </p:nvSpPr>
        <p:spPr>
          <a:xfrm>
            <a:off x="7512405"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(MT)</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pPr/>
            <a:r>
              <a:rPr sz="850" b="1">
                <a:solidFill>
                  <a:srgbClr val="6C7A89"/>
                </a:solidFill>
                <a:latin typeface="Calibri"/>
              </a:rPr>
              <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pPr/>
            <a:r>
              <a:rPr sz="850" b="1">
                <a:solidFill>
                  <a:srgbClr val="6C7A89"/>
                </a:solidFill>
                <a:latin typeface="Calibri"/>
              </a:rPr>
              <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4" name="TextBox 23"/>
          <p:cNvSpPr txBox="1"/>
          <p:nvPr/>
        </p:nvSpPr>
        <p:spPr>
          <a:xfrm>
            <a:off x="9930765" y="1407795"/>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5" name="TextBox 24"/>
          <p:cNvSpPr txBox="1"/>
          <p:nvPr/>
        </p:nvSpPr>
        <p:spPr>
          <a:xfrm>
            <a:off x="9930765" y="4293870"/>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6" name="lockshield_13"/>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9"/>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5119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3489317" y="1266825"/>
            <a:ext cx="3445941" cy="2887120"/>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5" name="Rectangle 14"/>
          <p:cNvSpPr/>
          <p:nvPr/>
        </p:nvSpPr>
        <p:spPr>
          <a:xfrm>
            <a:off x="3489317" y="4153945"/>
            <a:ext cx="3445941" cy="241830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6" name="Rectangle 15"/>
          <p:cNvSpPr/>
          <p:nvPr/>
        </p:nvSpPr>
        <p:spPr>
          <a:xfrm>
            <a:off x="6935259" y="1266825"/>
            <a:ext cx="2885214" cy="2221267"/>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17" name="Rectangle 16"/>
          <p:cNvSpPr/>
          <p:nvPr/>
        </p:nvSpPr>
        <p:spPr>
          <a:xfrm>
            <a:off x="9820472" y="1266825"/>
            <a:ext cx="2133403" cy="2221267"/>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18" name="Rectangle 17"/>
          <p:cNvSpPr/>
          <p:nvPr/>
        </p:nvSpPr>
        <p:spPr>
          <a:xfrm>
            <a:off x="6935259" y="3488092"/>
            <a:ext cx="2429762" cy="1652415"/>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9" name="Rectangle 18"/>
          <p:cNvSpPr/>
          <p:nvPr/>
        </p:nvSpPr>
        <p:spPr>
          <a:xfrm>
            <a:off x="6935259" y="5140507"/>
            <a:ext cx="2429762" cy="1431743"/>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0" name="Rectangle 19"/>
          <p:cNvSpPr/>
          <p:nvPr/>
        </p:nvSpPr>
        <p:spPr>
          <a:xfrm>
            <a:off x="9365021" y="3488092"/>
            <a:ext cx="1305808" cy="2110488"/>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1" name="Rectangle 20"/>
          <p:cNvSpPr/>
          <p:nvPr/>
        </p:nvSpPr>
        <p:spPr>
          <a:xfrm>
            <a:off x="10670828" y="3488092"/>
            <a:ext cx="1283047" cy="211048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2" name="Rectangle 21"/>
          <p:cNvSpPr/>
          <p:nvPr/>
        </p:nvSpPr>
        <p:spPr>
          <a:xfrm>
            <a:off x="9365021" y="5598580"/>
            <a:ext cx="2588854" cy="973670"/>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1709282" y="3919537"/>
            <a:ext cx="308877" cy="449275"/>
          </a:xfrm>
          <a:prstGeom prst="rect">
            <a:avLst/>
          </a:prstGeom>
        </p:spPr>
      </p:pic>
      <p:pic>
        <p:nvPicPr>
          <p:cNvPr id="25" name="Picture 24" descr="lock.png"/>
          <p:cNvPicPr>
            <a:picLocks noChangeAspect="1"/>
          </p:cNvPicPr>
          <p:nvPr/>
        </p:nvPicPr>
        <p:blipFill>
          <a:blip r:embed="rId4"/>
          <a:stretch>
            <a:fillRect/>
          </a:stretch>
        </p:blipFill>
        <p:spPr>
          <a:xfrm>
            <a:off x="5057849" y="2710385"/>
            <a:ext cx="308877" cy="449275"/>
          </a:xfrm>
          <a:prstGeom prst="rect">
            <a:avLst/>
          </a:prstGeom>
        </p:spPr>
      </p:pic>
      <p:pic>
        <p:nvPicPr>
          <p:cNvPr id="26" name="Picture 25" descr="lock.png"/>
          <p:cNvPicPr>
            <a:picLocks noChangeAspect="1"/>
          </p:cNvPicPr>
          <p:nvPr/>
        </p:nvPicPr>
        <p:blipFill>
          <a:blip r:embed="rId4"/>
          <a:stretch>
            <a:fillRect/>
          </a:stretch>
        </p:blipFill>
        <p:spPr>
          <a:xfrm>
            <a:off x="5057849" y="5363097"/>
            <a:ext cx="308877" cy="449275"/>
          </a:xfrm>
          <a:prstGeom prst="rect">
            <a:avLst/>
          </a:prstGeom>
        </p:spPr>
      </p:pic>
      <p:pic>
        <p:nvPicPr>
          <p:cNvPr id="27" name="Picture 26" descr="lock.png"/>
          <p:cNvPicPr>
            <a:picLocks noChangeAspect="1"/>
          </p:cNvPicPr>
          <p:nvPr/>
        </p:nvPicPr>
        <p:blipFill>
          <a:blip r:embed="rId4"/>
          <a:stretch>
            <a:fillRect/>
          </a:stretch>
        </p:blipFill>
        <p:spPr>
          <a:xfrm>
            <a:off x="8223427" y="2377458"/>
            <a:ext cx="308877" cy="449275"/>
          </a:xfrm>
          <a:prstGeom prst="rect">
            <a:avLst/>
          </a:prstGeom>
        </p:spPr>
      </p:pic>
      <p:pic>
        <p:nvPicPr>
          <p:cNvPr id="28" name="Picture 27" descr="lock.png"/>
          <p:cNvPicPr>
            <a:picLocks noChangeAspect="1"/>
          </p:cNvPicPr>
          <p:nvPr/>
        </p:nvPicPr>
        <p:blipFill>
          <a:blip r:embed="rId4"/>
          <a:stretch>
            <a:fillRect/>
          </a:stretch>
        </p:blipFill>
        <p:spPr>
          <a:xfrm>
            <a:off x="10732735" y="2377458"/>
            <a:ext cx="308877" cy="449275"/>
          </a:xfrm>
          <a:prstGeom prst="rect">
            <a:avLst/>
          </a:prstGeom>
        </p:spPr>
      </p:pic>
      <p:pic>
        <p:nvPicPr>
          <p:cNvPr id="29" name="Picture 28" descr="lock.png"/>
          <p:cNvPicPr>
            <a:picLocks noChangeAspect="1"/>
          </p:cNvPicPr>
          <p:nvPr/>
        </p:nvPicPr>
        <p:blipFill>
          <a:blip r:embed="rId4"/>
          <a:stretch>
            <a:fillRect/>
          </a:stretch>
        </p:blipFill>
        <p:spPr>
          <a:xfrm>
            <a:off x="7995701" y="4314299"/>
            <a:ext cx="308877" cy="449275"/>
          </a:xfrm>
          <a:prstGeom prst="rect">
            <a:avLst/>
          </a:prstGeom>
        </p:spPr>
      </p:pic>
      <p:pic>
        <p:nvPicPr>
          <p:cNvPr id="30" name="Picture 29" descr="lock.png"/>
          <p:cNvPicPr>
            <a:picLocks noChangeAspect="1"/>
          </p:cNvPicPr>
          <p:nvPr/>
        </p:nvPicPr>
        <p:blipFill>
          <a:blip r:embed="rId4"/>
          <a:stretch>
            <a:fillRect/>
          </a:stretch>
        </p:blipFill>
        <p:spPr>
          <a:xfrm>
            <a:off x="7995701" y="5856378"/>
            <a:ext cx="308877" cy="449275"/>
          </a:xfrm>
          <a:prstGeom prst="rect">
            <a:avLst/>
          </a:prstGeom>
        </p:spPr>
      </p:pic>
      <p:pic>
        <p:nvPicPr>
          <p:cNvPr id="31" name="Picture 30" descr="lock.png"/>
          <p:cNvPicPr>
            <a:picLocks noChangeAspect="1"/>
          </p:cNvPicPr>
          <p:nvPr/>
        </p:nvPicPr>
        <p:blipFill>
          <a:blip r:embed="rId4"/>
          <a:stretch>
            <a:fillRect/>
          </a:stretch>
        </p:blipFill>
        <p:spPr>
          <a:xfrm>
            <a:off x="9863486" y="4543336"/>
            <a:ext cx="308877" cy="449275"/>
          </a:xfrm>
          <a:prstGeom prst="rect">
            <a:avLst/>
          </a:prstGeom>
        </p:spPr>
      </p:pic>
      <p:pic>
        <p:nvPicPr>
          <p:cNvPr id="32" name="Picture 31" descr="lock.png"/>
          <p:cNvPicPr>
            <a:picLocks noChangeAspect="1"/>
          </p:cNvPicPr>
          <p:nvPr/>
        </p:nvPicPr>
        <p:blipFill>
          <a:blip r:embed="rId4"/>
          <a:stretch>
            <a:fillRect/>
          </a:stretch>
        </p:blipFill>
        <p:spPr>
          <a:xfrm>
            <a:off x="11157913" y="4543336"/>
            <a:ext cx="308877" cy="449275"/>
          </a:xfrm>
          <a:prstGeom prst="rect">
            <a:avLst/>
          </a:prstGeom>
        </p:spPr>
      </p:pic>
      <p:pic>
        <p:nvPicPr>
          <p:cNvPr id="33" name="Picture 32" descr="lock.png"/>
          <p:cNvPicPr>
            <a:picLocks noChangeAspect="1"/>
          </p:cNvPicPr>
          <p:nvPr/>
        </p:nvPicPr>
        <p:blipFill>
          <a:blip r:embed="rId4"/>
          <a:stretch>
            <a:fillRect/>
          </a:stretch>
        </p:blipFill>
        <p:spPr>
          <a:xfrm>
            <a:off x="10505009" y="6085415"/>
            <a:ext cx="308877" cy="449275"/>
          </a:xfrm>
          <a:prstGeom prst="rect">
            <a:avLst/>
          </a:prstGeom>
        </p:spPr>
      </p:pic>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Partition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Board Construction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Source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Cell Configuration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Customization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Partition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Partition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Partition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Partition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Partition Type segment categorizes the market by partition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Flat Dividers &amp; Layer Pads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Die-Cut &amp; Folded Partitions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Slotted (Interlocking Grid) Parti…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Partition Type split shows how demand is distributed across partition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719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3_025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5_8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994_8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1_408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3_5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486_4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755_1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5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74292" cy="186689"/>
          </a:xfrm>
          <a:prstGeom prst="rect">
            <a:avLst/>
          </a:prstGeom>
          <a:noFill/>
        </p:spPr>
        <p:txBody>
          <a:bodyPr wrap="none" lIns="0" rIns="0" tIns="0" bIns="0">
            <a:spAutoFit/>
          </a:bodyPr>
          <a:lstStyle/>
          <a:p>
            <a:r>
              <a:rPr sz="1100" b="0">
                <a:solidFill>
                  <a:srgbClr val="2E2E2E"/>
                </a:solidFill>
                <a:latin typeface="Calibri"/>
              </a:rPr>
              <a:t>▪ ¶ Among corrugated partition by partition type,</a:t>
            </a:r>
          </a:p>
        </p:txBody>
      </p:sp>
      <p:sp>
        <p:nvSpPr>
          <p:cNvPr id="70" name="TextBox 69"/>
          <p:cNvSpPr txBox="1"/>
          <p:nvPr/>
        </p:nvSpPr>
        <p:spPr>
          <a:xfrm>
            <a:off x="485775" y="4397077"/>
            <a:ext cx="2830363" cy="186689"/>
          </a:xfrm>
          <a:prstGeom prst="rect">
            <a:avLst/>
          </a:prstGeom>
          <a:noFill/>
        </p:spPr>
        <p:txBody>
          <a:bodyPr wrap="none" lIns="0" rIns="0" tIns="0" bIns="0">
            <a:spAutoFit/>
          </a:bodyPr>
          <a:lstStyle/>
          <a:p>
            <a:r>
              <a:rPr sz="1100" b="0">
                <a:solidFill>
                  <a:srgbClr val="2E2E2E"/>
                </a:solidFill>
                <a:latin typeface="Calibri"/>
              </a:rPr>
              <a:t>flat dividers &amp; layer pads segment is expected to</a:t>
            </a:r>
          </a:p>
        </p:txBody>
      </p:sp>
      <p:sp>
        <p:nvSpPr>
          <p:cNvPr id="71" name="TextBox 70"/>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72" name="Picture 71" descr="lock.png"/>
          <p:cNvPicPr>
            <a:picLocks noChangeAspect="1"/>
          </p:cNvPicPr>
          <p:nvPr/>
        </p:nvPicPr>
        <p:blipFill>
          <a:blip r:embed="rId13"/>
          <a:stretch>
            <a:fillRect/>
          </a:stretch>
        </p:blipFill>
        <p:spPr>
          <a:xfrm>
            <a:off x="2108919" y="4554938"/>
            <a:ext cx="128699" cy="187198"/>
          </a:xfrm>
          <a:prstGeom prst="rect">
            <a:avLst/>
          </a:prstGeom>
        </p:spPr>
      </p:pic>
      <p:sp>
        <p:nvSpPr>
          <p:cNvPr id="73" name="TextBox 72"/>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74" name="TextBox 73"/>
          <p:cNvSpPr txBox="1"/>
          <p:nvPr/>
        </p:nvSpPr>
        <p:spPr>
          <a:xfrm>
            <a:off x="485775" y="4732357"/>
            <a:ext cx="2829545" cy="186689"/>
          </a:xfrm>
          <a:prstGeom prst="rect">
            <a:avLst/>
          </a:prstGeom>
          <a:noFill/>
        </p:spPr>
        <p:txBody>
          <a:bodyPr wrap="none" lIns="0" rIns="0" tIns="0" bIns="0">
            <a:spAutoFit/>
          </a:bodyPr>
          <a:lstStyle/>
          <a:p>
            <a:r>
              <a:rPr sz="1100" b="0">
                <a:solidFill>
                  <a:srgbClr val="2E2E2E"/>
                </a:solidFill>
                <a:latin typeface="Calibri"/>
              </a:rPr>
              <a:t>period. In terms of value share by partition type,</a:t>
            </a:r>
          </a:p>
        </p:txBody>
      </p:sp>
      <p:sp>
        <p:nvSpPr>
          <p:cNvPr id="75" name="TextBox 74"/>
          <p:cNvSpPr txBox="1"/>
          <p:nvPr/>
        </p:nvSpPr>
        <p:spPr>
          <a:xfrm>
            <a:off x="485775" y="4899997"/>
            <a:ext cx="2899667" cy="186689"/>
          </a:xfrm>
          <a:prstGeom prst="rect">
            <a:avLst/>
          </a:prstGeom>
          <a:noFill/>
        </p:spPr>
        <p:txBody>
          <a:bodyPr wrap="none" lIns="0" rIns="0" tIns="0" bIns="0">
            <a:spAutoFit/>
          </a:bodyPr>
          <a:lstStyle/>
          <a:p>
            <a:r>
              <a:rPr sz="1100" b="0">
                <a:solidFill>
                  <a:srgbClr val="2E2E2E"/>
                </a:solidFill>
                <a:latin typeface="Calibri"/>
              </a:rPr>
              <a:t>the flat dividers &amp; layer pads segment is expected</a:t>
            </a:r>
          </a:p>
        </p:txBody>
      </p:sp>
      <p:sp>
        <p:nvSpPr>
          <p:cNvPr id="76" name="TextBox 75"/>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77" name="Picture 76" descr="lock.png"/>
          <p:cNvPicPr>
            <a:picLocks noChangeAspect="1"/>
          </p:cNvPicPr>
          <p:nvPr/>
        </p:nvPicPr>
        <p:blipFill>
          <a:blip r:embed="rId13"/>
          <a:stretch>
            <a:fillRect/>
          </a:stretch>
        </p:blipFill>
        <p:spPr>
          <a:xfrm>
            <a:off x="2346590" y="5057858"/>
            <a:ext cx="128699" cy="187198"/>
          </a:xfrm>
          <a:prstGeom prst="rect">
            <a:avLst/>
          </a:prstGeom>
        </p:spPr>
      </p:pic>
      <p:sp>
        <p:nvSpPr>
          <p:cNvPr id="78" name="TextBox 77"/>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453209"/>
            <a:ext cx="2914650" cy="186689"/>
          </a:xfrm>
          <a:prstGeom prst="rect">
            <a:avLst/>
          </a:prstGeom>
          <a:noFill/>
        </p:spPr>
        <p:txBody>
          <a:bodyPr wrap="none" lIns="0" rIns="0" tIns="0" bIns="0">
            <a:spAutoFit/>
          </a:bodyPr>
          <a:lstStyle/>
          <a:p>
            <a:r>
              <a:rPr sz="1100" b="0">
                <a:solidFill>
                  <a:srgbClr val="2E2E2E"/>
                </a:solidFill>
                <a:latin typeface="Calibri"/>
              </a:rPr>
              <a:t>▪ ¶ Flat dividers &amp; layer pads segment is projected</a:t>
            </a:r>
          </a:p>
        </p:txBody>
      </p:sp>
      <p:sp>
        <p:nvSpPr>
          <p:cNvPr id="83" name="TextBox 82"/>
          <p:cNvSpPr txBox="1"/>
          <p:nvPr/>
        </p:nvSpPr>
        <p:spPr>
          <a:xfrm>
            <a:off x="485775" y="5620849"/>
            <a:ext cx="664740" cy="186689"/>
          </a:xfrm>
          <a:prstGeom prst="rect">
            <a:avLst/>
          </a:prstGeom>
          <a:noFill/>
        </p:spPr>
        <p:txBody>
          <a:bodyPr wrap="none" lIns="0" rIns="0" tIns="0" bIns="0">
            <a:spAutoFit/>
          </a:bodyPr>
          <a:lstStyle/>
          <a:p>
            <a:r>
              <a:rPr sz="1100" b="0">
                <a:solidFill>
                  <a:srgbClr val="2E2E2E"/>
                </a:solidFill>
                <a:latin typeface="Calibri"/>
              </a:rPr>
              <a:t>to register</a:t>
            </a:r>
          </a:p>
        </p:txBody>
      </p:sp>
      <p:pic>
        <p:nvPicPr>
          <p:cNvPr id="84" name="Picture 83" descr="lock.png"/>
          <p:cNvPicPr>
            <a:picLocks noChangeAspect="1"/>
          </p:cNvPicPr>
          <p:nvPr/>
        </p:nvPicPr>
        <p:blipFill>
          <a:blip r:embed="rId13"/>
          <a:stretch>
            <a:fillRect/>
          </a:stretch>
        </p:blipFill>
        <p:spPr>
          <a:xfrm>
            <a:off x="1098567" y="5611070"/>
            <a:ext cx="128699" cy="187198"/>
          </a:xfrm>
          <a:prstGeom prst="rect">
            <a:avLst/>
          </a:prstGeom>
        </p:spPr>
      </p:pic>
      <p:sp>
        <p:nvSpPr>
          <p:cNvPr id="85" name="TextBox 84"/>
          <p:cNvSpPr txBox="1"/>
          <p:nvPr/>
        </p:nvSpPr>
        <p:spPr>
          <a:xfrm>
            <a:off x="1266063" y="5620849"/>
            <a:ext cx="2125042" cy="186689"/>
          </a:xfrm>
          <a:prstGeom prst="rect">
            <a:avLst/>
          </a:prstGeom>
          <a:noFill/>
        </p:spPr>
        <p:txBody>
          <a:bodyPr wrap="none" lIns="0" rIns="0" tIns="0" bIns="0">
            <a:spAutoFit/>
          </a:bodyPr>
          <a:lstStyle/>
          <a:p>
            <a:r>
              <a:rPr sz="1100" b="0">
                <a:solidFill>
                  <a:srgbClr val="2E2E2E"/>
                </a:solidFill>
                <a:latin typeface="Calibri"/>
              </a:rPr>
              <a:t>X higher value than die-cut &amp; folded</a:t>
            </a:r>
          </a:p>
        </p:txBody>
      </p:sp>
      <p:sp>
        <p:nvSpPr>
          <p:cNvPr id="86" name="TextBox 85"/>
          <p:cNvSpPr txBox="1"/>
          <p:nvPr/>
        </p:nvSpPr>
        <p:spPr>
          <a:xfrm>
            <a:off x="485775" y="5788489"/>
            <a:ext cx="2914650" cy="186689"/>
          </a:xfrm>
          <a:prstGeom prst="rect">
            <a:avLst/>
          </a:prstGeom>
          <a:noFill/>
        </p:spPr>
        <p:txBody>
          <a:bodyPr wrap="none" lIns="0" rIns="0" tIns="0" bIns="0">
            <a:spAutoFit/>
          </a:bodyPr>
          <a:lstStyle/>
          <a:p>
            <a:r>
              <a:rPr sz="1100" b="0">
                <a:solidFill>
                  <a:srgbClr val="2E2E2E"/>
                </a:solidFill>
                <a:latin typeface="Calibri"/>
              </a:rPr>
              <a:t>partitions (h-dividers, tube/cell inserts) segment in</a:t>
            </a:r>
          </a:p>
        </p:txBody>
      </p:sp>
      <p:sp>
        <p:nvSpPr>
          <p:cNvPr id="87" name="TextBox 86"/>
          <p:cNvSpPr txBox="1"/>
          <p:nvPr/>
        </p:nvSpPr>
        <p:spPr>
          <a:xfrm>
            <a:off x="485775" y="595612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8" name="TextBox 87"/>
          <p:cNvSpPr txBox="1"/>
          <p:nvPr/>
        </p:nvSpPr>
        <p:spPr>
          <a:xfrm>
            <a:off x="3838575" y="4229437"/>
            <a:ext cx="1695574" cy="186689"/>
          </a:xfrm>
          <a:prstGeom prst="rect">
            <a:avLst/>
          </a:prstGeom>
          <a:noFill/>
        </p:spPr>
        <p:txBody>
          <a:bodyPr wrap="none" lIns="0" rIns="0" tIns="0" bIns="0">
            <a:spAutoFit/>
          </a:bodyPr>
          <a:lstStyle/>
          <a:p>
            <a:r>
              <a:rPr sz="1100" b="0">
                <a:solidFill>
                  <a:srgbClr val="2E2E2E"/>
                </a:solidFill>
                <a:latin typeface="Calibri"/>
              </a:rPr>
              <a:t>● Flat Dividers &amp; Layer Pads:</a:t>
            </a:r>
          </a:p>
        </p:txBody>
      </p:sp>
      <p:pic>
        <p:nvPicPr>
          <p:cNvPr id="89" name="Picture 88" descr="lock.png"/>
          <p:cNvPicPr>
            <a:picLocks noChangeAspect="1"/>
          </p:cNvPicPr>
          <p:nvPr/>
        </p:nvPicPr>
        <p:blipFill>
          <a:blip r:embed="rId13"/>
          <a:stretch>
            <a:fillRect/>
          </a:stretch>
        </p:blipFill>
        <p:spPr>
          <a:xfrm>
            <a:off x="5482200" y="4219658"/>
            <a:ext cx="128699" cy="187198"/>
          </a:xfrm>
          <a:prstGeom prst="rect">
            <a:avLst/>
          </a:prstGeom>
        </p:spPr>
      </p:pic>
      <p:sp>
        <p:nvSpPr>
          <p:cNvPr id="90" name="TextBox 89"/>
          <p:cNvSpPr txBox="1"/>
          <p:nvPr/>
        </p:nvSpPr>
        <p:spPr>
          <a:xfrm>
            <a:off x="564969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1" name="Picture 90" descr="lock.png"/>
          <p:cNvPicPr>
            <a:picLocks noChangeAspect="1"/>
          </p:cNvPicPr>
          <p:nvPr/>
        </p:nvPicPr>
        <p:blipFill>
          <a:blip r:embed="rId13"/>
          <a:stretch>
            <a:fillRect/>
          </a:stretch>
        </p:blipFill>
        <p:spPr>
          <a:xfrm>
            <a:off x="6509146" y="4219658"/>
            <a:ext cx="128699" cy="187198"/>
          </a:xfrm>
          <a:prstGeom prst="rect">
            <a:avLst/>
          </a:prstGeom>
        </p:spPr>
      </p:pic>
      <p:sp>
        <p:nvSpPr>
          <p:cNvPr id="92" name="TextBox 91"/>
          <p:cNvSpPr txBox="1"/>
          <p:nvPr/>
        </p:nvSpPr>
        <p:spPr>
          <a:xfrm>
            <a:off x="667664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3" name="TextBox 92"/>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4" name="TextBox 93"/>
          <p:cNvSpPr txBox="1"/>
          <p:nvPr/>
        </p:nvSpPr>
        <p:spPr>
          <a:xfrm>
            <a:off x="3838575" y="4615009"/>
            <a:ext cx="3541934" cy="186689"/>
          </a:xfrm>
          <a:prstGeom prst="rect">
            <a:avLst/>
          </a:prstGeom>
          <a:noFill/>
        </p:spPr>
        <p:txBody>
          <a:bodyPr wrap="none" lIns="0" rIns="0" tIns="0" bIns="0">
            <a:spAutoFit/>
          </a:bodyPr>
          <a:lstStyle/>
          <a:p>
            <a:r>
              <a:rPr sz="1100" b="1">
                <a:solidFill>
                  <a:srgbClr val="0E72AE"/>
                </a:solidFill>
                <a:latin typeface="Calibri"/>
              </a:rPr>
              <a:t>● Die-Cut &amp; Folded Partitions (H-dividers, tube/cell inserts):</a:t>
            </a:r>
          </a:p>
        </p:txBody>
      </p:sp>
      <p:pic>
        <p:nvPicPr>
          <p:cNvPr id="95" name="Picture 94" descr="lock.png"/>
          <p:cNvPicPr>
            <a:picLocks noChangeAspect="1"/>
          </p:cNvPicPr>
          <p:nvPr/>
        </p:nvPicPr>
        <p:blipFill>
          <a:blip r:embed="rId13"/>
          <a:stretch>
            <a:fillRect/>
          </a:stretch>
        </p:blipFill>
        <p:spPr>
          <a:xfrm>
            <a:off x="7328561" y="4605230"/>
            <a:ext cx="128699" cy="187198"/>
          </a:xfrm>
          <a:prstGeom prst="rect">
            <a:avLst/>
          </a:prstGeom>
        </p:spPr>
      </p:pic>
      <p:sp>
        <p:nvSpPr>
          <p:cNvPr id="96" name="TextBox 95"/>
          <p:cNvSpPr txBox="1"/>
          <p:nvPr/>
        </p:nvSpPr>
        <p:spPr>
          <a:xfrm>
            <a:off x="7496057" y="4615009"/>
            <a:ext cx="195436" cy="186689"/>
          </a:xfrm>
          <a:prstGeom prst="rect">
            <a:avLst/>
          </a:prstGeom>
          <a:noFill/>
        </p:spPr>
        <p:txBody>
          <a:bodyPr wrap="none" lIns="0" rIns="0" tIns="0" bIns="0">
            <a:spAutoFit/>
          </a:bodyPr>
          <a:lstStyle/>
          <a:p>
            <a:r>
              <a:rPr sz="1100" b="1">
                <a:solidFill>
                  <a:srgbClr val="0E72AE"/>
                </a:solidFill>
                <a:latin typeface="Calibri"/>
              </a:rPr>
              <a:t>of</a:t>
            </a:r>
          </a:p>
        </p:txBody>
      </p:sp>
      <p:sp>
        <p:nvSpPr>
          <p:cNvPr id="97" name="TextBox 96"/>
          <p:cNvSpPr txBox="1"/>
          <p:nvPr/>
        </p:nvSpPr>
        <p:spPr>
          <a:xfrm>
            <a:off x="3838575" y="4782649"/>
            <a:ext cx="775518" cy="186689"/>
          </a:xfrm>
          <a:prstGeom prst="rect">
            <a:avLst/>
          </a:prstGeom>
          <a:noFill/>
        </p:spPr>
        <p:txBody>
          <a:bodyPr wrap="none" lIns="0" rIns="0" tIns="0" bIns="0">
            <a:spAutoFit/>
          </a:bodyPr>
          <a:lstStyle/>
          <a:p>
            <a:r>
              <a:rPr sz="1100" b="1">
                <a:solidFill>
                  <a:srgbClr val="0E72AE"/>
                </a:solidFill>
                <a:latin typeface="Calibri"/>
              </a:rPr>
              <a:t>2026 value ·</a:t>
            </a:r>
          </a:p>
        </p:txBody>
      </p:sp>
      <p:pic>
        <p:nvPicPr>
          <p:cNvPr id="98" name="Picture 97" descr="lock.png"/>
          <p:cNvPicPr>
            <a:picLocks noChangeAspect="1"/>
          </p:cNvPicPr>
          <p:nvPr/>
        </p:nvPicPr>
        <p:blipFill>
          <a:blip r:embed="rId13"/>
          <a:stretch>
            <a:fillRect/>
          </a:stretch>
        </p:blipFill>
        <p:spPr>
          <a:xfrm>
            <a:off x="4562145" y="4772870"/>
            <a:ext cx="128699" cy="187198"/>
          </a:xfrm>
          <a:prstGeom prst="rect">
            <a:avLst/>
          </a:prstGeom>
        </p:spPr>
      </p:pic>
      <p:sp>
        <p:nvSpPr>
          <p:cNvPr id="99" name="TextBox 98"/>
          <p:cNvSpPr txBox="1"/>
          <p:nvPr/>
        </p:nvSpPr>
        <p:spPr>
          <a:xfrm>
            <a:off x="4729640" y="4782649"/>
            <a:ext cx="1284633" cy="186689"/>
          </a:xfrm>
          <a:prstGeom prst="rect">
            <a:avLst/>
          </a:prstGeom>
          <a:noFill/>
        </p:spPr>
        <p:txBody>
          <a:bodyPr wrap="none" lIns="0" rIns="0" tIns="0" bIns="0">
            <a:spAutoFit/>
          </a:bodyPr>
          <a:lstStyle/>
          <a:p>
            <a:r>
              <a:rPr sz="1100" b="1">
                <a:solidFill>
                  <a:srgbClr val="0E72AE"/>
                </a:solidFill>
                <a:latin typeface="Calibri"/>
              </a:rPr>
              <a:t>CAGR serves a niche.</a:t>
            </a:r>
          </a:p>
        </p:txBody>
      </p:sp>
      <p:sp>
        <p:nvSpPr>
          <p:cNvPr id="100" name="TextBox 99"/>
          <p:cNvSpPr txBox="1"/>
          <p:nvPr/>
        </p:nvSpPr>
        <p:spPr>
          <a:xfrm>
            <a:off x="3838575" y="5000581"/>
            <a:ext cx="2280294" cy="186689"/>
          </a:xfrm>
          <a:prstGeom prst="rect">
            <a:avLst/>
          </a:prstGeom>
          <a:noFill/>
        </p:spPr>
        <p:txBody>
          <a:bodyPr wrap="none" lIns="0" rIns="0" tIns="0" bIns="0">
            <a:spAutoFit/>
          </a:bodyPr>
          <a:lstStyle/>
          <a:p>
            <a:r>
              <a:rPr sz="1100" b="0">
                <a:solidFill>
                  <a:srgbClr val="2E2E2E"/>
                </a:solidFill>
                <a:latin typeface="Calibri"/>
              </a:rPr>
              <a:t>● Slotted (Interlocking Grid) Partitions:</a:t>
            </a:r>
          </a:p>
        </p:txBody>
      </p:sp>
      <p:pic>
        <p:nvPicPr>
          <p:cNvPr id="101" name="Picture 100" descr="lock.png"/>
          <p:cNvPicPr>
            <a:picLocks noChangeAspect="1"/>
          </p:cNvPicPr>
          <p:nvPr/>
        </p:nvPicPr>
        <p:blipFill>
          <a:blip r:embed="rId13"/>
          <a:stretch>
            <a:fillRect/>
          </a:stretch>
        </p:blipFill>
        <p:spPr>
          <a:xfrm>
            <a:off x="6066921" y="4990801"/>
            <a:ext cx="128699" cy="187198"/>
          </a:xfrm>
          <a:prstGeom prst="rect">
            <a:avLst/>
          </a:prstGeom>
        </p:spPr>
      </p:pic>
      <p:sp>
        <p:nvSpPr>
          <p:cNvPr id="102" name="TextBox 101"/>
          <p:cNvSpPr txBox="1"/>
          <p:nvPr/>
        </p:nvSpPr>
        <p:spPr>
          <a:xfrm>
            <a:off x="6234417"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3"/>
          <a:stretch>
            <a:fillRect/>
          </a:stretch>
        </p:blipFill>
        <p:spPr>
          <a:xfrm>
            <a:off x="7093867" y="4990801"/>
            <a:ext cx="128699" cy="187198"/>
          </a:xfrm>
          <a:prstGeom prst="rect">
            <a:avLst/>
          </a:prstGeom>
        </p:spPr>
      </p:pic>
      <p:sp>
        <p:nvSpPr>
          <p:cNvPr id="104" name="TextBox 103"/>
          <p:cNvSpPr txBox="1"/>
          <p:nvPr/>
        </p:nvSpPr>
        <p:spPr>
          <a:xfrm>
            <a:off x="7261363" y="5000581"/>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05" name="TextBox 104"/>
          <p:cNvSpPr txBox="1"/>
          <p:nvPr/>
        </p:nvSpPr>
        <p:spPr>
          <a:xfrm>
            <a:off x="3838575" y="5168221"/>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06" name="TextBox 105"/>
          <p:cNvSpPr txBox="1"/>
          <p:nvPr/>
        </p:nvSpPr>
        <p:spPr>
          <a:xfrm>
            <a:off x="8524875" y="5842641"/>
            <a:ext cx="3152948" cy="194310"/>
          </a:xfrm>
          <a:prstGeom prst="rect">
            <a:avLst/>
          </a:prstGeom>
          <a:noFill/>
        </p:spPr>
        <p:txBody>
          <a:bodyPr wrap="none" lIns="0" rIns="0" tIns="0" bIns="0">
            <a:spAutoFit/>
          </a:bodyPr>
          <a:lstStyle/>
          <a:p>
            <a:r>
              <a:rPr sz="1150" b="1">
                <a:solidFill>
                  <a:srgbClr val="0B2E4A"/>
                </a:solidFill>
                <a:latin typeface="Calibri"/>
              </a:rPr>
              <a:t>The Partition Type segment is projected to grow at</a:t>
            </a:r>
          </a:p>
        </p:txBody>
      </p:sp>
      <p:sp>
        <p:nvSpPr>
          <p:cNvPr id="107" name="TextBox 106"/>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08" name="Picture 107" descr="lock.png"/>
          <p:cNvPicPr>
            <a:picLocks noChangeAspect="1"/>
          </p:cNvPicPr>
          <p:nvPr/>
        </p:nvPicPr>
        <p:blipFill>
          <a:blip r:embed="rId13"/>
          <a:stretch>
            <a:fillRect/>
          </a:stretch>
        </p:blipFill>
        <p:spPr>
          <a:xfrm>
            <a:off x="9154084" y="6007677"/>
            <a:ext cx="134549" cy="195707"/>
          </a:xfrm>
          <a:prstGeom prst="rect">
            <a:avLst/>
          </a:prstGeom>
        </p:spPr>
      </p:pic>
      <p:sp>
        <p:nvSpPr>
          <p:cNvPr id="109" name="TextBox 108"/>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Partition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Partition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Partition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Partition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18093" cy="186689"/>
          </a:xfrm>
          <a:prstGeom prst="rect">
            <a:avLst/>
          </a:prstGeom>
          <a:noFill/>
        </p:spPr>
        <p:txBody>
          <a:bodyPr wrap="none" lIns="0" rIns="0" tIns="0" bIns="0">
            <a:spAutoFit/>
          </a:bodyPr>
          <a:lstStyle/>
          <a:p>
            <a:r>
              <a:rPr sz="1100" b="0">
                <a:solidFill>
                  <a:srgbClr val="2E2E2E"/>
                </a:solidFill>
                <a:latin typeface="Calibri"/>
              </a:rPr>
              <a:t>Flat dividers &amp; layer pads followed by die-cut &amp; folded partitions (h-dividers, tube/cell inserts) are expected to be the two most attractive partition type segments in the global corrugated partition market</a:t>
            </a:r>
          </a:p>
        </p:txBody>
      </p:sp>
      <p:sp>
        <p:nvSpPr>
          <p:cNvPr id="21" name="TextBox 20"/>
          <p:cNvSpPr txBox="1"/>
          <p:nvPr/>
        </p:nvSpPr>
        <p:spPr>
          <a:xfrm>
            <a:off x="257175" y="5861685"/>
            <a:ext cx="8775782" cy="186689"/>
          </a:xfrm>
          <a:prstGeom prst="rect">
            <a:avLst/>
          </a:prstGeom>
          <a:noFill/>
        </p:spPr>
        <p:txBody>
          <a:bodyPr wrap="none" lIns="0" rIns="0" tIns="0" bIns="0">
            <a:spAutoFit/>
          </a:bodyPr>
          <a:lstStyle/>
          <a:p>
            <a:r>
              <a:rPr sz="1100" b="0">
                <a:solidFill>
                  <a:srgbClr val="2E2E2E"/>
                </a:solidFill>
                <a:latin typeface="Calibri"/>
              </a:rPr>
              <a:t>in terms of value over the forecast period. Flat dividers &amp; layer pads and Die-Cut &amp; folded partitions (H-dividers, tube/cell inserts) exhibit a CAGR index of</a:t>
            </a:r>
          </a:p>
        </p:txBody>
      </p:sp>
      <p:pic>
        <p:nvPicPr>
          <p:cNvPr id="22" name="Picture 21" descr="lock.png"/>
          <p:cNvPicPr>
            <a:picLocks noChangeAspect="1"/>
          </p:cNvPicPr>
          <p:nvPr/>
        </p:nvPicPr>
        <p:blipFill>
          <a:blip r:embed="rId6"/>
          <a:stretch>
            <a:fillRect/>
          </a:stretch>
        </p:blipFill>
        <p:spPr>
          <a:xfrm>
            <a:off x="8981008" y="5851905"/>
            <a:ext cx="128699" cy="187198"/>
          </a:xfrm>
          <a:prstGeom prst="rect">
            <a:avLst/>
          </a:prstGeom>
        </p:spPr>
      </p:pic>
      <p:sp>
        <p:nvSpPr>
          <p:cNvPr id="23" name="TextBox 22"/>
          <p:cNvSpPr txBox="1"/>
          <p:nvPr/>
        </p:nvSpPr>
        <p:spPr>
          <a:xfrm>
            <a:off x="9148504" y="5861685"/>
            <a:ext cx="2079749" cy="186689"/>
          </a:xfrm>
          <a:prstGeom prst="rect">
            <a:avLst/>
          </a:prstGeom>
          <a:noFill/>
        </p:spPr>
        <p:txBody>
          <a:bodyPr wrap="none" lIns="0" rIns="0" tIns="0" bIns="0">
            <a:spAutoFit/>
          </a:bodyPr>
          <a:lstStyle/>
          <a:p>
            <a:r>
              <a:rPr sz="1100" b="0">
                <a:solidFill>
                  <a:srgbClr val="2E2E2E"/>
                </a:solidFill>
                <a:latin typeface="Calibri"/>
              </a:rPr>
              <a:t>and 71 and a market share index of</a:t>
            </a:r>
          </a:p>
        </p:txBody>
      </p:sp>
      <p:pic>
        <p:nvPicPr>
          <p:cNvPr id="24" name="Picture 23" descr="lock.png"/>
          <p:cNvPicPr>
            <a:picLocks noChangeAspect="1"/>
          </p:cNvPicPr>
          <p:nvPr/>
        </p:nvPicPr>
        <p:blipFill>
          <a:blip r:embed="rId6"/>
          <a:stretch>
            <a:fillRect/>
          </a:stretch>
        </p:blipFill>
        <p:spPr>
          <a:xfrm>
            <a:off x="11176305" y="5851905"/>
            <a:ext cx="128699" cy="187198"/>
          </a:xfrm>
          <a:prstGeom prst="rect">
            <a:avLst/>
          </a:prstGeom>
        </p:spPr>
      </p:pic>
      <p:sp>
        <p:nvSpPr>
          <p:cNvPr id="25" name="TextBox 24"/>
          <p:cNvSpPr txBox="1"/>
          <p:nvPr/>
        </p:nvSpPr>
        <p:spPr>
          <a:xfrm>
            <a:off x="1134380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sp>
        <p:nvSpPr>
          <p:cNvPr id="26" name="TextBox 25"/>
          <p:cNvSpPr txBox="1"/>
          <p:nvPr/>
        </p:nvSpPr>
        <p:spPr>
          <a:xfrm>
            <a:off x="257175" y="6029325"/>
            <a:ext cx="2779886" cy="186689"/>
          </a:xfrm>
          <a:prstGeom prst="rect">
            <a:avLst/>
          </a:prstGeom>
          <a:noFill/>
        </p:spPr>
        <p:txBody>
          <a:bodyPr wrap="none" lIns="0" rIns="0" tIns="0" bIns="0">
            <a:spAutoFit/>
          </a:bodyPr>
          <a:lstStyle/>
          <a:p>
            <a:r>
              <a:rPr sz="1100" b="0">
                <a:solidFill>
                  <a:srgbClr val="2E2E2E"/>
                </a:solidFill>
                <a:latin typeface="Calibri"/>
              </a:rPr>
              <a:t>93 respectively, against the segment average of</a:t>
            </a:r>
          </a:p>
        </p:txBody>
      </p:sp>
      <p:pic>
        <p:nvPicPr>
          <p:cNvPr id="27" name="Picture 26" descr="lock.png"/>
          <p:cNvPicPr>
            <a:picLocks noChangeAspect="1"/>
          </p:cNvPicPr>
          <p:nvPr/>
        </p:nvPicPr>
        <p:blipFill>
          <a:blip r:embed="rId6"/>
          <a:stretch>
            <a:fillRect/>
          </a:stretch>
        </p:blipFill>
        <p:spPr>
          <a:xfrm>
            <a:off x="2985112" y="6019545"/>
            <a:ext cx="128699" cy="187198"/>
          </a:xfrm>
          <a:prstGeom prst="rect">
            <a:avLst/>
          </a:prstGeom>
        </p:spPr>
      </p:pic>
      <p:sp>
        <p:nvSpPr>
          <p:cNvPr id="28" name="TextBox 27"/>
          <p:cNvSpPr txBox="1"/>
          <p:nvPr/>
        </p:nvSpPr>
        <p:spPr>
          <a:xfrm>
            <a:off x="3152608" y="6029325"/>
            <a:ext cx="8715771" cy="186689"/>
          </a:xfrm>
          <a:prstGeom prst="rect">
            <a:avLst/>
          </a:prstGeom>
          <a:noFill/>
        </p:spPr>
        <p:txBody>
          <a:bodyPr wrap="none" lIns="0" rIns="0" tIns="0" bIns="0">
            <a:spAutoFit/>
          </a:bodyPr>
          <a:lstStyle/>
          <a:p>
            <a:r>
              <a:rPr sz="1100" b="0">
                <a:solidFill>
                  <a:srgbClr val="2E2E2E"/>
                </a:solidFill>
                <a:latin typeface="Calibri"/>
              </a:rPr>
              <a:t>. The slotted (interlocking grid) partitions segment is expected to be less attractive as compared to other segments over the forecast period, owing to its</a:t>
            </a:r>
          </a:p>
        </p:txBody>
      </p:sp>
      <p:sp>
        <p:nvSpPr>
          <p:cNvPr id="29" name="TextBox 28"/>
          <p:cNvSpPr txBox="1"/>
          <p:nvPr/>
        </p:nvSpPr>
        <p:spPr>
          <a:xfrm>
            <a:off x="257175" y="6196965"/>
            <a:ext cx="6790224" cy="186689"/>
          </a:xfrm>
          <a:prstGeom prst="rect">
            <a:avLst/>
          </a:prstGeom>
          <a:noFill/>
        </p:spPr>
        <p:txBody>
          <a:bodyPr wrap="none" lIns="0" rIns="0" tIns="0" bIns="0">
            <a:spAutoFit/>
          </a:bodyPr>
          <a:lstStyle/>
          <a:p>
            <a:r>
              <a:rPr sz="1100" b="0">
                <a:solidFill>
                  <a:srgbClr val="2E2E2E"/>
                </a:solidFill>
                <a:latin typeface="Calibri"/>
              </a:rPr>
              <a:t>lower CAGR and incremental opportunity. Bubbles right of the CAGR-Index line grow faster than the segment average.</a:t>
            </a:r>
          </a:p>
        </p:txBody>
      </p:sp>
      <p:sp>
        <p:nvSpPr>
          <p:cNvPr id="30"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Partition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Partition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Slotted (Interlocking Grid) Partitions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Die-Cut &amp; Folded Partitions (H-dividers, tube/cell inserts)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Flat Dividers &amp; Layer Pads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Partition Type</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971705" cy="194310"/>
          </a:xfrm>
          <a:prstGeom prst="rect">
            <a:avLst/>
          </a:prstGeom>
          <a:noFill/>
        </p:spPr>
        <p:txBody>
          <a:bodyPr wrap="none" lIns="0" rIns="0" tIns="0" bIns="0">
            <a:spAutoFit/>
          </a:bodyPr>
          <a:lstStyle/>
          <a:p>
            <a:r>
              <a:rPr sz="1150" b="0">
                <a:solidFill>
                  <a:srgbClr val="2E2E2E"/>
                </a:solidFill>
                <a:latin typeface="Calibri"/>
              </a:rPr>
              <a:t>By 2036, flat dividers &amp; layer pads segment is anticipated to witness an increase of</a:t>
            </a:r>
          </a:p>
        </p:txBody>
      </p:sp>
      <p:pic>
        <p:nvPicPr>
          <p:cNvPr id="29" name="Picture 28" descr="lock.png"/>
          <p:cNvPicPr>
            <a:picLocks noChangeAspect="1"/>
          </p:cNvPicPr>
          <p:nvPr/>
        </p:nvPicPr>
        <p:blipFill>
          <a:blip r:embed="rId7"/>
          <a:stretch>
            <a:fillRect/>
          </a:stretch>
        </p:blipFill>
        <p:spPr>
          <a:xfrm>
            <a:off x="11226409" y="4276026"/>
            <a:ext cx="134549" cy="195707"/>
          </a:xfrm>
          <a:prstGeom prst="rect">
            <a:avLst/>
          </a:prstGeom>
        </p:spPr>
      </p:pic>
      <p:sp>
        <p:nvSpPr>
          <p:cNvPr id="30" name="TextBox 29"/>
          <p:cNvSpPr txBox="1"/>
          <p:nvPr/>
        </p:nvSpPr>
        <p:spPr>
          <a:xfrm>
            <a:off x="11401518" y="4286250"/>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31" name="TextBox 30"/>
          <p:cNvSpPr txBox="1"/>
          <p:nvPr/>
        </p:nvSpPr>
        <p:spPr>
          <a:xfrm>
            <a:off x="6305550" y="4461510"/>
            <a:ext cx="5417294" cy="194310"/>
          </a:xfrm>
          <a:prstGeom prst="rect">
            <a:avLst/>
          </a:prstGeom>
          <a:noFill/>
        </p:spPr>
        <p:txBody>
          <a:bodyPr wrap="none" lIns="0" rIns="0" tIns="0" bIns="0">
            <a:spAutoFit/>
          </a:bodyPr>
          <a:lstStyle/>
          <a:p>
            <a:r>
              <a:rPr sz="1150" b="0">
                <a:solidFill>
                  <a:srgbClr val="2E2E2E"/>
                </a:solidFill>
                <a:latin typeface="Calibri"/>
              </a:rPr>
              <a:t>terms of value as compared to 2026. The flat dividers &amp; layer pads segment is expected to</a:t>
            </a:r>
          </a:p>
        </p:txBody>
      </p:sp>
      <p:sp>
        <p:nvSpPr>
          <p:cNvPr id="32" name="TextBox 31"/>
          <p:cNvSpPr txBox="1"/>
          <p:nvPr/>
        </p:nvSpPr>
        <p:spPr>
          <a:xfrm>
            <a:off x="6305550" y="4636770"/>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33" name="Picture 32" descr="lock.png"/>
          <p:cNvPicPr>
            <a:picLocks noChangeAspect="1"/>
          </p:cNvPicPr>
          <p:nvPr/>
        </p:nvPicPr>
        <p:blipFill>
          <a:blip r:embed="rId7"/>
          <a:stretch>
            <a:fillRect/>
          </a:stretch>
        </p:blipFill>
        <p:spPr>
          <a:xfrm>
            <a:off x="8801773" y="4626546"/>
            <a:ext cx="134549" cy="195707"/>
          </a:xfrm>
          <a:prstGeom prst="rect">
            <a:avLst/>
          </a:prstGeom>
        </p:spPr>
      </p:pic>
      <p:sp>
        <p:nvSpPr>
          <p:cNvPr id="34" name="TextBox 33"/>
          <p:cNvSpPr txBox="1"/>
          <p:nvPr/>
        </p:nvSpPr>
        <p:spPr>
          <a:xfrm>
            <a:off x="8976882" y="4636770"/>
            <a:ext cx="2849153"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a:t>
            </a:r>
          </a:p>
        </p:txBody>
      </p:sp>
      <p:sp>
        <p:nvSpPr>
          <p:cNvPr id="35" name="TextBox 34"/>
          <p:cNvSpPr txBox="1"/>
          <p:nvPr/>
        </p:nvSpPr>
        <p:spPr>
          <a:xfrm>
            <a:off x="6305550" y="4812029"/>
            <a:ext cx="1220923" cy="194310"/>
          </a:xfrm>
          <a:prstGeom prst="rect">
            <a:avLst/>
          </a:prstGeom>
          <a:noFill/>
        </p:spPr>
        <p:txBody>
          <a:bodyPr wrap="none" lIns="0" rIns="0" tIns="0" bIns="0">
            <a:spAutoFit/>
          </a:bodyPr>
          <a:lstStyle/>
          <a:p>
            <a:r>
              <a:rPr sz="1150" b="0">
                <a:solidFill>
                  <a:srgbClr val="2E2E2E"/>
                </a:solidFill>
                <a:latin typeface="Calibri"/>
              </a:rPr>
              <a:t>from 2026 to 2036.</a:t>
            </a:r>
          </a:p>
        </p:txBody>
      </p:sp>
      <p:sp>
        <p:nvSpPr>
          <p:cNvPr id="36" name="TextBox 35"/>
          <p:cNvSpPr txBox="1"/>
          <p:nvPr/>
        </p:nvSpPr>
        <p:spPr>
          <a:xfrm>
            <a:off x="6305550" y="5039867"/>
            <a:ext cx="5506863" cy="194310"/>
          </a:xfrm>
          <a:prstGeom prst="rect">
            <a:avLst/>
          </a:prstGeom>
          <a:noFill/>
        </p:spPr>
        <p:txBody>
          <a:bodyPr wrap="none" lIns="0" rIns="0" tIns="0" bIns="0">
            <a:spAutoFit/>
          </a:bodyPr>
          <a:lstStyle/>
          <a:p>
            <a:r>
              <a:rPr sz="1150" b="0">
                <a:solidFill>
                  <a:srgbClr val="2E2E2E"/>
                </a:solidFill>
                <a:latin typeface="Calibri"/>
              </a:rPr>
              <a:t>The Die-Cut &amp; folded partitions (H-dividers, tube/cell inserts) segment is expected to create</a:t>
            </a:r>
          </a:p>
        </p:txBody>
      </p:sp>
      <p:sp>
        <p:nvSpPr>
          <p:cNvPr id="37" name="TextBox 36"/>
          <p:cNvSpPr txBox="1"/>
          <p:nvPr/>
        </p:nvSpPr>
        <p:spPr>
          <a:xfrm>
            <a:off x="6305550" y="5215127"/>
            <a:ext cx="2136588" cy="194310"/>
          </a:xfrm>
          <a:prstGeom prst="rect">
            <a:avLst/>
          </a:prstGeom>
          <a:noFill/>
        </p:spPr>
        <p:txBody>
          <a:bodyPr wrap="none" lIns="0" rIns="0" tIns="0" bIns="0">
            <a:spAutoFit/>
          </a:bodyPr>
          <a:lstStyle/>
          <a:p>
            <a:r>
              <a:rPr sz="1150" b="0">
                <a:solidFill>
                  <a:srgbClr val="2E2E2E"/>
                </a:solidFill>
                <a:latin typeface="Calibri"/>
              </a:rPr>
              <a:t>an incremental opportunity of US$</a:t>
            </a:r>
          </a:p>
        </p:txBody>
      </p:sp>
      <p:pic>
        <p:nvPicPr>
          <p:cNvPr id="38" name="Picture 37" descr="lock.png"/>
          <p:cNvPicPr>
            <a:picLocks noChangeAspect="1"/>
          </p:cNvPicPr>
          <p:nvPr/>
        </p:nvPicPr>
        <p:blipFill>
          <a:blip r:embed="rId7"/>
          <a:stretch>
            <a:fillRect/>
          </a:stretch>
        </p:blipFill>
        <p:spPr>
          <a:xfrm>
            <a:off x="8391292" y="5204904"/>
            <a:ext cx="134549" cy="195707"/>
          </a:xfrm>
          <a:prstGeom prst="rect">
            <a:avLst/>
          </a:prstGeom>
        </p:spPr>
      </p:pic>
      <p:sp>
        <p:nvSpPr>
          <p:cNvPr id="39" name="TextBox 38"/>
          <p:cNvSpPr txBox="1"/>
          <p:nvPr/>
        </p:nvSpPr>
        <p:spPr>
          <a:xfrm>
            <a:off x="8566402" y="5215127"/>
            <a:ext cx="3171490"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a:t>
            </a:r>
          </a:p>
        </p:txBody>
      </p:sp>
      <p:sp>
        <p:nvSpPr>
          <p:cNvPr id="40" name="TextBox 39"/>
          <p:cNvSpPr txBox="1"/>
          <p:nvPr/>
        </p:nvSpPr>
        <p:spPr>
          <a:xfrm>
            <a:off x="6305550" y="5390387"/>
            <a:ext cx="5296346" cy="194310"/>
          </a:xfrm>
          <a:prstGeom prst="rect">
            <a:avLst/>
          </a:prstGeom>
          <a:noFill/>
        </p:spPr>
        <p:txBody>
          <a:bodyPr wrap="none" lIns="0" rIns="0" tIns="0" bIns="0">
            <a:spAutoFit/>
          </a:bodyPr>
          <a:lstStyle/>
          <a:p>
            <a:r>
              <a:rPr sz="1150" b="0">
                <a:solidFill>
                  <a:srgbClr val="2E2E2E"/>
                </a:solidFill>
                <a:latin typeface="Calibri"/>
              </a:rPr>
              <a:t>2026 to 2036. The slotted (Interlocking grid) partitions segment is expected to create an</a:t>
            </a:r>
          </a:p>
        </p:txBody>
      </p:sp>
      <p:sp>
        <p:nvSpPr>
          <p:cNvPr id="41" name="TextBox 40"/>
          <p:cNvSpPr txBox="1"/>
          <p:nvPr/>
        </p:nvSpPr>
        <p:spPr>
          <a:xfrm>
            <a:off x="6305550" y="5565647"/>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42" name="Picture 41" descr="lock.png"/>
          <p:cNvPicPr>
            <a:picLocks noChangeAspect="1"/>
          </p:cNvPicPr>
          <p:nvPr/>
        </p:nvPicPr>
        <p:blipFill>
          <a:blip r:embed="rId7"/>
          <a:stretch>
            <a:fillRect/>
          </a:stretch>
        </p:blipFill>
        <p:spPr>
          <a:xfrm>
            <a:off x="8211582" y="5555424"/>
            <a:ext cx="134549" cy="195707"/>
          </a:xfrm>
          <a:prstGeom prst="rect">
            <a:avLst/>
          </a:prstGeom>
        </p:spPr>
      </p:pic>
      <p:sp>
        <p:nvSpPr>
          <p:cNvPr id="43" name="TextBox 42"/>
          <p:cNvSpPr txBox="1"/>
          <p:nvPr/>
        </p:nvSpPr>
        <p:spPr>
          <a:xfrm>
            <a:off x="8386692" y="5565647"/>
            <a:ext cx="3501243"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a:t>
            </a:r>
          </a:p>
        </p:txBody>
      </p:sp>
      <p:sp>
        <p:nvSpPr>
          <p:cNvPr id="44" name="TextBox 43"/>
          <p:cNvSpPr txBox="1"/>
          <p:nvPr/>
        </p:nvSpPr>
        <p:spPr>
          <a:xfrm>
            <a:off x="6305550" y="5740907"/>
            <a:ext cx="568833" cy="194310"/>
          </a:xfrm>
          <a:prstGeom prst="rect">
            <a:avLst/>
          </a:prstGeom>
          <a:noFill/>
        </p:spPr>
        <p:txBody>
          <a:bodyPr wrap="none" lIns="0" rIns="0" tIns="0" bIns="0">
            <a:spAutoFit/>
          </a:bodyPr>
          <a:lstStyle/>
          <a:p>
            <a:r>
              <a:rPr sz="1150" b="0">
                <a:solidFill>
                  <a:srgbClr val="2E2E2E"/>
                </a:solidFill>
                <a:latin typeface="Calibri"/>
              </a:rPr>
              <a:t>to 2036.</a:t>
            </a:r>
          </a:p>
        </p:txBody>
      </p:sp>
      <p:sp>
        <p:nvSpPr>
          <p:cNvPr id="45"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Partition Type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Partition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48000"/>
          </a:xfrm>
          <a:prstGeom prst="roundRect">
            <a:avLst>
              <a:gd name="adj" fmla="val 25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Partition Type (MT)</a:t>
            </a:r>
          </a:p>
        </p:txBody>
      </p:sp>
      <p:graphicFrame>
        <p:nvGraphicFramePr>
          <p:cNvPr id="13" name="Table 12"/>
          <p:cNvGraphicFramePr>
            <a:graphicFrameLocks noGrp="1"/>
          </p:cNvGraphicFramePr>
          <p:nvPr/>
        </p:nvGraphicFramePr>
        <p:xfrm>
          <a:off x="152400" y="1238250"/>
          <a:ext cx="11887208" cy="2581276"/>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Partition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728377">
                <a:tc>
                  <a:txBody>
                    <a:bodyPr wrap="none"/>
                    <a:lstStyle/>
                    <a:p>
                      <a:pPr algn="l"/>
                      <a:r>
                        <a:rPr sz="1100" b="1">
                          <a:solidFill>
                            <a:srgbClr val="2E2E2E"/>
                          </a:solidFill>
                          <a:latin typeface="Calibri"/>
                        </a:rPr>
                        <a:t>Slotted</a:t>
                      </a:r>
                      <a:endParaRPr sz="1100"/>
                    </a:p>
                    <a:p>
                      <a:pPr algn="l"/>
                      <a:r>
                        <a:rPr sz="1100" b="1">
                          <a:solidFill>
                            <a:srgbClr val="2E2E2E"/>
                          </a:solidFill>
                          <a:latin typeface="Calibri"/>
                        </a:rPr>
                        <a:t>(Interlocking Grid)</a:t>
                      </a:r>
                      <a:endParaRPr sz="1100"/>
                    </a:p>
                    <a:p>
                      <a:pPr algn="l"/>
                      <a:r>
                        <a:rPr sz="1100" b="1">
                          <a:solidFill>
                            <a:srgbClr val="2E2E2E"/>
                          </a:solidFill>
                          <a:latin typeface="Calibri"/>
                        </a:rPr>
                        <a:t>Partitions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535591">
                <a:tc>
                  <a:txBody>
                    <a:bodyPr wrap="none"/>
                    <a:lstStyle/>
                    <a:p>
                      <a:pPr algn="l"/>
                      <a:r>
                        <a:rPr sz="1100" b="1">
                          <a:solidFill>
                            <a:srgbClr val="2E2E2E"/>
                          </a:solidFill>
                          <a:latin typeface="Calibri"/>
                        </a:rPr>
                        <a:t>Die-Cut &amp; Folded</a:t>
                      </a:r>
                      <a:endParaRPr sz="1100"/>
                    </a:p>
                    <a:p>
                      <a:pPr algn="l"/>
                      <a:r>
                        <a:rPr sz="1100" b="1">
                          <a:solidFill>
                            <a:srgbClr val="2E2E2E"/>
                          </a:solidFill>
                          <a:latin typeface="Calibri"/>
                        </a:rPr>
                        <a:t>Partitions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535591">
                <a:tc>
                  <a:txBody>
                    <a:bodyPr wrap="none"/>
                    <a:lstStyle/>
                    <a:p>
                      <a:pPr algn="l"/>
                      <a:r>
                        <a:rPr sz="1100" b="1">
                          <a:solidFill>
                            <a:srgbClr val="2E2E2E"/>
                          </a:solidFill>
                          <a:latin typeface="Calibri"/>
                        </a:rPr>
                        <a:t>Flat Dividers &amp;</a:t>
                      </a:r>
                      <a:endParaRPr sz="1100"/>
                    </a:p>
                    <a:p>
                      <a:pPr algn="l"/>
                      <a:r>
                        <a:rPr sz="1100" b="1">
                          <a:solidFill>
                            <a:srgbClr val="2E2E2E"/>
                          </a:solidFill>
                          <a:latin typeface="Calibri"/>
                        </a:rPr>
                        <a:t>Layer Pads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34280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62425"/>
            <a:ext cx="11906250" cy="2466975"/>
          </a:xfrm>
          <a:prstGeom prst="roundRect">
            <a:avLst>
              <a:gd name="adj" fmla="val 308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481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Partition Type</a:t>
            </a:r>
          </a:p>
        </p:txBody>
      </p:sp>
      <p:sp>
        <p:nvSpPr>
          <p:cNvPr id="17" name="Rectangle 16"/>
          <p:cNvSpPr/>
          <p:nvPr/>
        </p:nvSpPr>
        <p:spPr>
          <a:xfrm>
            <a:off x="276225" y="44862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72000"/>
            <a:ext cx="11639550" cy="19812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81644"/>
            <a:ext cx="366712" cy="533400"/>
          </a:xfrm>
          <a:prstGeom prst="rect">
            <a:avLst/>
          </a:prstGeom>
        </p:spPr>
      </p:pic>
      <p:sp>
        <p:nvSpPr>
          <p:cNvPr id="21" name="TextBox 20"/>
          <p:cNvSpPr txBox="1"/>
          <p:nvPr/>
        </p:nvSpPr>
        <p:spPr>
          <a:xfrm>
            <a:off x="276225" y="4581525"/>
            <a:ext cx="3494397" cy="194310"/>
          </a:xfrm>
          <a:prstGeom prst="rect">
            <a:avLst/>
          </a:prstGeom>
          <a:noFill/>
        </p:spPr>
        <p:txBody>
          <a:bodyPr wrap="none" lIns="0" rIns="0" tIns="0" bIns="0">
            <a:spAutoFit/>
          </a:bodyPr>
          <a:lstStyle/>
          <a:p>
            <a:r>
              <a:rPr sz="1150" b="0">
                <a:solidFill>
                  <a:srgbClr val="2E2E2E"/>
                </a:solidFill>
                <a:latin typeface="Calibri"/>
              </a:rPr>
              <a:t>Flat dividers &amp; layer pads segment is projected to register</a:t>
            </a:r>
          </a:p>
        </p:txBody>
      </p:sp>
      <p:pic>
        <p:nvPicPr>
          <p:cNvPr id="22" name="Picture 21" descr="lock.png"/>
          <p:cNvPicPr>
            <a:picLocks noChangeAspect="1"/>
          </p:cNvPicPr>
          <p:nvPr/>
        </p:nvPicPr>
        <p:blipFill>
          <a:blip r:embed="rId4"/>
          <a:stretch>
            <a:fillRect/>
          </a:stretch>
        </p:blipFill>
        <p:spPr>
          <a:xfrm>
            <a:off x="3719776" y="4571301"/>
            <a:ext cx="134549" cy="195707"/>
          </a:xfrm>
          <a:prstGeom prst="rect">
            <a:avLst/>
          </a:prstGeom>
        </p:spPr>
      </p:pic>
      <p:sp>
        <p:nvSpPr>
          <p:cNvPr id="23" name="TextBox 22"/>
          <p:cNvSpPr txBox="1"/>
          <p:nvPr/>
        </p:nvSpPr>
        <p:spPr>
          <a:xfrm>
            <a:off x="3894885" y="4581525"/>
            <a:ext cx="7620880" cy="194310"/>
          </a:xfrm>
          <a:prstGeom prst="rect">
            <a:avLst/>
          </a:prstGeom>
          <a:noFill/>
        </p:spPr>
        <p:txBody>
          <a:bodyPr wrap="none" lIns="0" rIns="0" tIns="0" bIns="0">
            <a:spAutoFit/>
          </a:bodyPr>
          <a:lstStyle/>
          <a:p>
            <a:r>
              <a:rPr sz="1150" b="0">
                <a:solidFill>
                  <a:srgbClr val="2E2E2E"/>
                </a:solidFill>
                <a:latin typeface="Calibri"/>
              </a:rPr>
              <a:t>X higher volume than die-cut &amp; folded partitions (h-dividers, tube/cell inserts) segment in 2036. Among corrugated partition by</a:t>
            </a:r>
          </a:p>
        </p:txBody>
      </p:sp>
      <p:sp>
        <p:nvSpPr>
          <p:cNvPr id="24" name="TextBox 23"/>
          <p:cNvSpPr txBox="1"/>
          <p:nvPr/>
        </p:nvSpPr>
        <p:spPr>
          <a:xfrm>
            <a:off x="276225" y="4756785"/>
            <a:ext cx="5544499" cy="194310"/>
          </a:xfrm>
          <a:prstGeom prst="rect">
            <a:avLst/>
          </a:prstGeom>
          <a:noFill/>
        </p:spPr>
        <p:txBody>
          <a:bodyPr wrap="none" lIns="0" rIns="0" tIns="0" bIns="0">
            <a:spAutoFit/>
          </a:bodyPr>
          <a:lstStyle/>
          <a:p>
            <a:r>
              <a:rPr sz="1150" b="0">
                <a:solidFill>
                  <a:srgbClr val="2E2E2E"/>
                </a:solidFill>
                <a:latin typeface="Calibri"/>
              </a:rPr>
              <a:t>partition type, flat dividers &amp; layer pads segment is expected to witness the highest CAGR of</a:t>
            </a:r>
          </a:p>
        </p:txBody>
      </p:sp>
      <p:pic>
        <p:nvPicPr>
          <p:cNvPr id="25" name="Picture 24" descr="lock.png"/>
          <p:cNvPicPr>
            <a:picLocks noChangeAspect="1"/>
          </p:cNvPicPr>
          <p:nvPr/>
        </p:nvPicPr>
        <p:blipFill>
          <a:blip r:embed="rId4"/>
          <a:stretch>
            <a:fillRect/>
          </a:stretch>
        </p:blipFill>
        <p:spPr>
          <a:xfrm>
            <a:off x="5769878" y="4746561"/>
            <a:ext cx="134549" cy="195707"/>
          </a:xfrm>
          <a:prstGeom prst="rect">
            <a:avLst/>
          </a:prstGeom>
        </p:spPr>
      </p:pic>
      <p:sp>
        <p:nvSpPr>
          <p:cNvPr id="26" name="TextBox 25"/>
          <p:cNvSpPr txBox="1"/>
          <p:nvPr/>
        </p:nvSpPr>
        <p:spPr>
          <a:xfrm>
            <a:off x="5944987" y="47567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984622"/>
            <a:ext cx="7558695" cy="194310"/>
          </a:xfrm>
          <a:prstGeom prst="rect">
            <a:avLst/>
          </a:prstGeom>
          <a:noFill/>
        </p:spPr>
        <p:txBody>
          <a:bodyPr wrap="none" lIns="0" rIns="0" tIns="0" bIns="0">
            <a:spAutoFit/>
          </a:bodyPr>
          <a:lstStyle/>
          <a:p>
            <a:r>
              <a:rPr sz="1150" b="0">
                <a:solidFill>
                  <a:srgbClr val="2E2E2E"/>
                </a:solidFill>
                <a:latin typeface="Calibri"/>
              </a:rPr>
              <a:t>In terms of volume share by partition type, the flat dividers &amp; layer pads segment is expected to dominate the market, gaining</a:t>
            </a:r>
          </a:p>
        </p:txBody>
      </p:sp>
      <p:pic>
        <p:nvPicPr>
          <p:cNvPr id="28" name="Picture 27" descr="lock.png"/>
          <p:cNvPicPr>
            <a:picLocks noChangeAspect="1"/>
          </p:cNvPicPr>
          <p:nvPr/>
        </p:nvPicPr>
        <p:blipFill>
          <a:blip r:embed="rId4"/>
          <a:stretch>
            <a:fillRect/>
          </a:stretch>
        </p:blipFill>
        <p:spPr>
          <a:xfrm>
            <a:off x="7784074" y="4974399"/>
            <a:ext cx="134549" cy="195707"/>
          </a:xfrm>
          <a:prstGeom prst="rect">
            <a:avLst/>
          </a:prstGeom>
        </p:spPr>
      </p:pic>
      <p:sp>
        <p:nvSpPr>
          <p:cNvPr id="29" name="TextBox 28"/>
          <p:cNvSpPr txBox="1"/>
          <p:nvPr/>
        </p:nvSpPr>
        <p:spPr>
          <a:xfrm>
            <a:off x="7959183" y="49846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354326" y="4974399"/>
            <a:ext cx="134549" cy="195707"/>
          </a:xfrm>
          <a:prstGeom prst="rect">
            <a:avLst/>
          </a:prstGeom>
        </p:spPr>
      </p:pic>
      <p:sp>
        <p:nvSpPr>
          <p:cNvPr id="31" name="TextBox 30"/>
          <p:cNvSpPr txBox="1"/>
          <p:nvPr/>
        </p:nvSpPr>
        <p:spPr>
          <a:xfrm>
            <a:off x="9529435" y="4984622"/>
            <a:ext cx="2195921" cy="194310"/>
          </a:xfrm>
          <a:prstGeom prst="rect">
            <a:avLst/>
          </a:prstGeom>
          <a:noFill/>
        </p:spPr>
        <p:txBody>
          <a:bodyPr wrap="none" lIns="0" rIns="0" tIns="0" bIns="0">
            <a:spAutoFit/>
          </a:bodyPr>
          <a:lstStyle/>
          <a:p>
            <a:r>
              <a:rPr sz="1150" b="0">
                <a:solidFill>
                  <a:srgbClr val="2E2E2E"/>
                </a:solidFill>
                <a:latin typeface="Calibri"/>
              </a:rPr>
              <a:t>share by 2036. The die-cut &amp; folded</a:t>
            </a:r>
          </a:p>
        </p:txBody>
      </p:sp>
      <p:sp>
        <p:nvSpPr>
          <p:cNvPr id="32" name="TextBox 31"/>
          <p:cNvSpPr txBox="1"/>
          <p:nvPr/>
        </p:nvSpPr>
        <p:spPr>
          <a:xfrm>
            <a:off x="276225" y="5159882"/>
            <a:ext cx="4076886" cy="194310"/>
          </a:xfrm>
          <a:prstGeom prst="rect">
            <a:avLst/>
          </a:prstGeom>
          <a:noFill/>
        </p:spPr>
        <p:txBody>
          <a:bodyPr wrap="none" lIns="0" rIns="0" tIns="0" bIns="0">
            <a:spAutoFit/>
          </a:bodyPr>
          <a:lstStyle/>
          <a:p>
            <a:r>
              <a:rPr sz="1150" b="0">
                <a:solidFill>
                  <a:srgbClr val="2E2E2E"/>
                </a:solidFill>
                <a:latin typeface="Calibri"/>
              </a:rPr>
              <a:t>partitions (h-dividers, tube/cell inserts) segment is expected to lose</a:t>
            </a:r>
          </a:p>
        </p:txBody>
      </p:sp>
      <p:pic>
        <p:nvPicPr>
          <p:cNvPr id="33" name="Picture 32" descr="lock.png"/>
          <p:cNvPicPr>
            <a:picLocks noChangeAspect="1"/>
          </p:cNvPicPr>
          <p:nvPr/>
        </p:nvPicPr>
        <p:blipFill>
          <a:blip r:embed="rId4"/>
          <a:stretch>
            <a:fillRect/>
          </a:stretch>
        </p:blipFill>
        <p:spPr>
          <a:xfrm>
            <a:off x="4302264" y="5149659"/>
            <a:ext cx="134549" cy="195707"/>
          </a:xfrm>
          <a:prstGeom prst="rect">
            <a:avLst/>
          </a:prstGeom>
        </p:spPr>
      </p:pic>
      <p:sp>
        <p:nvSpPr>
          <p:cNvPr id="34" name="TextBox 33"/>
          <p:cNvSpPr txBox="1"/>
          <p:nvPr/>
        </p:nvSpPr>
        <p:spPr>
          <a:xfrm>
            <a:off x="4477374" y="51598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7064878" y="5149659"/>
            <a:ext cx="134549" cy="195707"/>
          </a:xfrm>
          <a:prstGeom prst="rect">
            <a:avLst/>
          </a:prstGeom>
        </p:spPr>
      </p:pic>
      <p:sp>
        <p:nvSpPr>
          <p:cNvPr id="36" name="TextBox 35"/>
          <p:cNvSpPr txBox="1"/>
          <p:nvPr/>
        </p:nvSpPr>
        <p:spPr>
          <a:xfrm>
            <a:off x="7239988" y="51598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Partition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Partition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Partition Type (US$ Mn)</a:t>
            </a:r>
          </a:p>
        </p:txBody>
      </p:sp>
      <p:graphicFrame>
        <p:nvGraphicFramePr>
          <p:cNvPr id="13" name="Table 12"/>
          <p:cNvGraphicFramePr>
            <a:graphicFrameLocks noGrp="1"/>
          </p:cNvGraphicFramePr>
          <p:nvPr/>
        </p:nvGraphicFramePr>
        <p:xfrm>
          <a:off x="152400" y="1238250"/>
          <a:ext cx="11887198" cy="1238250"/>
        </p:xfrm>
        <a:graphic>
          <a:graphicData uri="http://schemas.openxmlformats.org/drawingml/2006/table">
            <a:tbl>
              <a:tblPr>
                <a:tableStyleId>{5C22544A-7EE6-4342-B048-85BDC9FD1C3A}</a:tableStyleId>
              </a:tblPr>
              <a:tblGrid>
                <a:gridCol w="2314532"/>
                <a:gridCol w="563098"/>
                <a:gridCol w="563098"/>
                <a:gridCol w="563098"/>
                <a:gridCol w="563098"/>
                <a:gridCol w="563098"/>
                <a:gridCol w="563098"/>
                <a:gridCol w="563098"/>
                <a:gridCol w="563098"/>
                <a:gridCol w="563098"/>
                <a:gridCol w="563098"/>
                <a:gridCol w="563098"/>
                <a:gridCol w="563098"/>
                <a:gridCol w="563098"/>
                <a:gridCol w="563098"/>
                <a:gridCol w="563098"/>
                <a:gridCol w="563098"/>
                <a:gridCol w="563098"/>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Partition Type</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66574" y="1713738"/>
            <a:ext cx="366712" cy="533400"/>
          </a:xfrm>
          <a:prstGeom prst="rect">
            <a:avLst/>
          </a:prstGeom>
        </p:spPr>
      </p:pic>
      <p:sp>
        <p:nvSpPr>
          <p:cNvPr id="21" name="TextBox 20"/>
          <p:cNvSpPr txBox="1"/>
          <p:nvPr/>
        </p:nvSpPr>
        <p:spPr>
          <a:xfrm>
            <a:off x="276225" y="3238500"/>
            <a:ext cx="3494397" cy="194310"/>
          </a:xfrm>
          <a:prstGeom prst="rect">
            <a:avLst/>
          </a:prstGeom>
          <a:noFill/>
        </p:spPr>
        <p:txBody>
          <a:bodyPr wrap="none" lIns="0" rIns="0" tIns="0" bIns="0">
            <a:spAutoFit/>
          </a:bodyPr>
          <a:lstStyle/>
          <a:p>
            <a:r>
              <a:rPr sz="1150" b="0">
                <a:solidFill>
                  <a:srgbClr val="2E2E2E"/>
                </a:solidFill>
                <a:latin typeface="Calibri"/>
              </a:rPr>
              <a:t>Flat dividers &amp; layer pads segment is projected to register</a:t>
            </a:r>
          </a:p>
        </p:txBody>
      </p:sp>
      <p:pic>
        <p:nvPicPr>
          <p:cNvPr id="22" name="Picture 21" descr="lock.png"/>
          <p:cNvPicPr>
            <a:picLocks noChangeAspect="1"/>
          </p:cNvPicPr>
          <p:nvPr/>
        </p:nvPicPr>
        <p:blipFill>
          <a:blip r:embed="rId4"/>
          <a:stretch>
            <a:fillRect/>
          </a:stretch>
        </p:blipFill>
        <p:spPr>
          <a:xfrm>
            <a:off x="3719776" y="3228276"/>
            <a:ext cx="134549" cy="195707"/>
          </a:xfrm>
          <a:prstGeom prst="rect">
            <a:avLst/>
          </a:prstGeom>
        </p:spPr>
      </p:pic>
      <p:sp>
        <p:nvSpPr>
          <p:cNvPr id="23" name="TextBox 22"/>
          <p:cNvSpPr txBox="1"/>
          <p:nvPr/>
        </p:nvSpPr>
        <p:spPr>
          <a:xfrm>
            <a:off x="3894885" y="3238500"/>
            <a:ext cx="7497080" cy="194310"/>
          </a:xfrm>
          <a:prstGeom prst="rect">
            <a:avLst/>
          </a:prstGeom>
          <a:noFill/>
        </p:spPr>
        <p:txBody>
          <a:bodyPr wrap="none" lIns="0" rIns="0" tIns="0" bIns="0">
            <a:spAutoFit/>
          </a:bodyPr>
          <a:lstStyle/>
          <a:p>
            <a:r>
              <a:rPr sz="1150" b="0">
                <a:solidFill>
                  <a:srgbClr val="2E2E2E"/>
                </a:solidFill>
                <a:latin typeface="Calibri"/>
              </a:rPr>
              <a:t>X higher value than die-cut &amp; folded partitions (h-dividers, tube/cell inserts) segment in 2036. Among corrugated partition by</a:t>
            </a:r>
          </a:p>
        </p:txBody>
      </p:sp>
      <p:sp>
        <p:nvSpPr>
          <p:cNvPr id="24" name="TextBox 23"/>
          <p:cNvSpPr txBox="1"/>
          <p:nvPr/>
        </p:nvSpPr>
        <p:spPr>
          <a:xfrm>
            <a:off x="276225" y="3413760"/>
            <a:ext cx="5544499" cy="194310"/>
          </a:xfrm>
          <a:prstGeom prst="rect">
            <a:avLst/>
          </a:prstGeom>
          <a:noFill/>
        </p:spPr>
        <p:txBody>
          <a:bodyPr wrap="none" lIns="0" rIns="0" tIns="0" bIns="0">
            <a:spAutoFit/>
          </a:bodyPr>
          <a:lstStyle/>
          <a:p>
            <a:r>
              <a:rPr sz="1150" b="0">
                <a:solidFill>
                  <a:srgbClr val="2E2E2E"/>
                </a:solidFill>
                <a:latin typeface="Calibri"/>
              </a:rPr>
              <a:t>partition type, flat dividers &amp; layer pads segment is expected to witness the highest CAGR of</a:t>
            </a:r>
          </a:p>
        </p:txBody>
      </p:sp>
      <p:pic>
        <p:nvPicPr>
          <p:cNvPr id="25" name="Picture 24" descr="lock.png"/>
          <p:cNvPicPr>
            <a:picLocks noChangeAspect="1"/>
          </p:cNvPicPr>
          <p:nvPr/>
        </p:nvPicPr>
        <p:blipFill>
          <a:blip r:embed="rId4"/>
          <a:stretch>
            <a:fillRect/>
          </a:stretch>
        </p:blipFill>
        <p:spPr>
          <a:xfrm>
            <a:off x="5769878" y="3403536"/>
            <a:ext cx="134549" cy="195707"/>
          </a:xfrm>
          <a:prstGeom prst="rect">
            <a:avLst/>
          </a:prstGeom>
        </p:spPr>
      </p:pic>
      <p:sp>
        <p:nvSpPr>
          <p:cNvPr id="26" name="TextBox 25"/>
          <p:cNvSpPr txBox="1"/>
          <p:nvPr/>
        </p:nvSpPr>
        <p:spPr>
          <a:xfrm>
            <a:off x="594498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434895" cy="194310"/>
          </a:xfrm>
          <a:prstGeom prst="rect">
            <a:avLst/>
          </a:prstGeom>
          <a:noFill/>
        </p:spPr>
        <p:txBody>
          <a:bodyPr wrap="none" lIns="0" rIns="0" tIns="0" bIns="0">
            <a:spAutoFit/>
          </a:bodyPr>
          <a:lstStyle/>
          <a:p>
            <a:r>
              <a:rPr sz="1150" b="0">
                <a:solidFill>
                  <a:srgbClr val="2E2E2E"/>
                </a:solidFill>
                <a:latin typeface="Calibri"/>
              </a:rPr>
              <a:t>In terms of value share by partition type, the flat dividers &amp; layer pads segment is expected to dominate the market, gaining</a:t>
            </a:r>
          </a:p>
        </p:txBody>
      </p:sp>
      <p:pic>
        <p:nvPicPr>
          <p:cNvPr id="28" name="Picture 27" descr="lock.png"/>
          <p:cNvPicPr>
            <a:picLocks noChangeAspect="1"/>
          </p:cNvPicPr>
          <p:nvPr/>
        </p:nvPicPr>
        <p:blipFill>
          <a:blip r:embed="rId4"/>
          <a:stretch>
            <a:fillRect/>
          </a:stretch>
        </p:blipFill>
        <p:spPr>
          <a:xfrm>
            <a:off x="7660273" y="3631374"/>
            <a:ext cx="134549" cy="195707"/>
          </a:xfrm>
          <a:prstGeom prst="rect">
            <a:avLst/>
          </a:prstGeom>
        </p:spPr>
      </p:pic>
      <p:sp>
        <p:nvSpPr>
          <p:cNvPr id="29" name="TextBox 28"/>
          <p:cNvSpPr txBox="1"/>
          <p:nvPr/>
        </p:nvSpPr>
        <p:spPr>
          <a:xfrm>
            <a:off x="7835383"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230526" y="3631374"/>
            <a:ext cx="134549" cy="195707"/>
          </a:xfrm>
          <a:prstGeom prst="rect">
            <a:avLst/>
          </a:prstGeom>
        </p:spPr>
      </p:pic>
      <p:sp>
        <p:nvSpPr>
          <p:cNvPr id="31" name="TextBox 30"/>
          <p:cNvSpPr txBox="1"/>
          <p:nvPr/>
        </p:nvSpPr>
        <p:spPr>
          <a:xfrm>
            <a:off x="9405635" y="3641597"/>
            <a:ext cx="2195921" cy="194310"/>
          </a:xfrm>
          <a:prstGeom prst="rect">
            <a:avLst/>
          </a:prstGeom>
          <a:noFill/>
        </p:spPr>
        <p:txBody>
          <a:bodyPr wrap="none" lIns="0" rIns="0" tIns="0" bIns="0">
            <a:spAutoFit/>
          </a:bodyPr>
          <a:lstStyle/>
          <a:p>
            <a:r>
              <a:rPr sz="1150" b="0">
                <a:solidFill>
                  <a:srgbClr val="2E2E2E"/>
                </a:solidFill>
                <a:latin typeface="Calibri"/>
              </a:rPr>
              <a:t>share by 2036. The die-cut &amp; folded</a:t>
            </a:r>
          </a:p>
        </p:txBody>
      </p:sp>
      <p:sp>
        <p:nvSpPr>
          <p:cNvPr id="32" name="TextBox 31"/>
          <p:cNvSpPr txBox="1"/>
          <p:nvPr/>
        </p:nvSpPr>
        <p:spPr>
          <a:xfrm>
            <a:off x="276225" y="3816857"/>
            <a:ext cx="4076886" cy="194310"/>
          </a:xfrm>
          <a:prstGeom prst="rect">
            <a:avLst/>
          </a:prstGeom>
          <a:noFill/>
        </p:spPr>
        <p:txBody>
          <a:bodyPr wrap="none" lIns="0" rIns="0" tIns="0" bIns="0">
            <a:spAutoFit/>
          </a:bodyPr>
          <a:lstStyle/>
          <a:p>
            <a:r>
              <a:rPr sz="1150" b="0">
                <a:solidFill>
                  <a:srgbClr val="2E2E2E"/>
                </a:solidFill>
                <a:latin typeface="Calibri"/>
              </a:rPr>
              <a:t>partitions (h-dividers, tube/cell inserts) segment is expected to lose</a:t>
            </a:r>
          </a:p>
        </p:txBody>
      </p:sp>
      <p:pic>
        <p:nvPicPr>
          <p:cNvPr id="33" name="Picture 32" descr="lock.png"/>
          <p:cNvPicPr>
            <a:picLocks noChangeAspect="1"/>
          </p:cNvPicPr>
          <p:nvPr/>
        </p:nvPicPr>
        <p:blipFill>
          <a:blip r:embed="rId4"/>
          <a:stretch>
            <a:fillRect/>
          </a:stretch>
        </p:blipFill>
        <p:spPr>
          <a:xfrm>
            <a:off x="4302264" y="3806634"/>
            <a:ext cx="134549" cy="195707"/>
          </a:xfrm>
          <a:prstGeom prst="rect">
            <a:avLst/>
          </a:prstGeom>
        </p:spPr>
      </p:pic>
      <p:sp>
        <p:nvSpPr>
          <p:cNvPr id="34" name="TextBox 33"/>
          <p:cNvSpPr txBox="1"/>
          <p:nvPr/>
        </p:nvSpPr>
        <p:spPr>
          <a:xfrm>
            <a:off x="4477374" y="38168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7064878" y="3806634"/>
            <a:ext cx="134549" cy="195707"/>
          </a:xfrm>
          <a:prstGeom prst="rect">
            <a:avLst/>
          </a:prstGeom>
        </p:spPr>
      </p:pic>
      <p:sp>
        <p:nvSpPr>
          <p:cNvPr id="36" name="TextBox 35"/>
          <p:cNvSpPr txBox="1"/>
          <p:nvPr/>
        </p:nvSpPr>
        <p:spPr>
          <a:xfrm>
            <a:off x="7239988" y="38168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Partition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Partition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Partition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0400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9924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2304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Slotted (Interlocking Grid) Partitions</a:t>
            </a:r>
          </a:p>
        </p:txBody>
      </p:sp>
      <p:sp>
        <p:nvSpPr>
          <p:cNvPr id="19" name="BPS Value 1"/>
          <p:cNvSpPr txBox="1"/>
          <p:nvPr/>
        </p:nvSpPr>
        <p:spPr>
          <a:xfrm>
            <a:off x="6896100" y="198495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5729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9525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763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Die-Cut &amp; Folded Partitions</a:t>
            </a:r>
          </a:p>
        </p:txBody>
      </p:sp>
      <p:sp>
        <p:nvSpPr>
          <p:cNvPr id="23" name="BPS Value 2"/>
          <p:cNvSpPr txBox="1"/>
          <p:nvPr/>
        </p:nvSpPr>
        <p:spPr>
          <a:xfrm>
            <a:off x="6896100" y="293824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91073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9059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297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Flat Dividers &amp; Layer Pads</a:t>
            </a:r>
          </a:p>
        </p:txBody>
      </p:sp>
      <p:sp>
        <p:nvSpPr>
          <p:cNvPr id="27" name="BPS Value 3"/>
          <p:cNvSpPr txBox="1"/>
          <p:nvPr/>
        </p:nvSpPr>
        <p:spPr>
          <a:xfrm>
            <a:off x="6896100" y="489168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Partition Type</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88172" cy="194310"/>
          </a:xfrm>
          <a:prstGeom prst="rect">
            <a:avLst/>
          </a:prstGeom>
          <a:noFill/>
        </p:spPr>
        <p:txBody>
          <a:bodyPr wrap="none" lIns="0" rIns="0" tIns="0" bIns="0">
            <a:spAutoFit/>
          </a:bodyPr>
          <a:lstStyle/>
          <a:p>
            <a:r>
              <a:rPr sz="1150" b="0">
                <a:solidFill>
                  <a:srgbClr val="2E2E2E"/>
                </a:solidFill>
                <a:latin typeface="Calibri"/>
              </a:rPr>
              <a:t>Among corrugated partition by partition type, flat dividers &amp; layer</a:t>
            </a:r>
          </a:p>
        </p:txBody>
      </p:sp>
      <p:sp>
        <p:nvSpPr>
          <p:cNvPr id="35" name="TextBox 34"/>
          <p:cNvSpPr txBox="1"/>
          <p:nvPr/>
        </p:nvSpPr>
        <p:spPr>
          <a:xfrm>
            <a:off x="7829550" y="1575435"/>
            <a:ext cx="3470133" cy="194310"/>
          </a:xfrm>
          <a:prstGeom prst="rect">
            <a:avLst/>
          </a:prstGeom>
          <a:noFill/>
        </p:spPr>
        <p:txBody>
          <a:bodyPr wrap="none" lIns="0" rIns="0" tIns="0" bIns="0">
            <a:spAutoFit/>
          </a:bodyPr>
          <a:lstStyle/>
          <a:p>
            <a:r>
              <a:rPr sz="1150" b="0">
                <a:solidFill>
                  <a:srgbClr val="2E2E2E"/>
                </a:solidFill>
                <a:latin typeface="Calibri"/>
              </a:rPr>
              <a:t>pads segment is expected to witness the highest CAGR of</a:t>
            </a:r>
          </a:p>
        </p:txBody>
      </p:sp>
      <p:pic>
        <p:nvPicPr>
          <p:cNvPr id="36" name="Picture 35" descr="lock.png"/>
          <p:cNvPicPr>
            <a:picLocks noChangeAspect="1"/>
          </p:cNvPicPr>
          <p:nvPr/>
        </p:nvPicPr>
        <p:blipFill>
          <a:blip r:embed="rId5"/>
          <a:stretch>
            <a:fillRect/>
          </a:stretch>
        </p:blipFill>
        <p:spPr>
          <a:xfrm>
            <a:off x="11248837" y="1565211"/>
            <a:ext cx="134549" cy="195707"/>
          </a:xfrm>
          <a:prstGeom prst="rect">
            <a:avLst/>
          </a:prstGeom>
        </p:spPr>
      </p:pic>
      <p:sp>
        <p:nvSpPr>
          <p:cNvPr id="37" name="TextBox 36"/>
          <p:cNvSpPr txBox="1"/>
          <p:nvPr/>
        </p:nvSpPr>
        <p:spPr>
          <a:xfrm>
            <a:off x="11423946" y="157543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8" name="TextBox 37"/>
          <p:cNvSpPr txBox="1"/>
          <p:nvPr/>
        </p:nvSpPr>
        <p:spPr>
          <a:xfrm>
            <a:off x="7829550" y="1750695"/>
            <a:ext cx="3934259" cy="194310"/>
          </a:xfrm>
          <a:prstGeom prst="rect">
            <a:avLst/>
          </a:prstGeom>
          <a:noFill/>
        </p:spPr>
        <p:txBody>
          <a:bodyPr wrap="none" lIns="0" rIns="0" tIns="0" bIns="0">
            <a:spAutoFit/>
          </a:bodyPr>
          <a:lstStyle/>
          <a:p>
            <a:r>
              <a:rPr sz="1150" b="0">
                <a:solidFill>
                  <a:srgbClr val="2E2E2E"/>
                </a:solidFill>
                <a:latin typeface="Calibri"/>
              </a:rPr>
              <a:t>the forecast period. In terms of value share by partition type, the</a:t>
            </a:r>
          </a:p>
        </p:txBody>
      </p:sp>
      <p:sp>
        <p:nvSpPr>
          <p:cNvPr id="39" name="TextBox 38"/>
          <p:cNvSpPr txBox="1"/>
          <p:nvPr/>
        </p:nvSpPr>
        <p:spPr>
          <a:xfrm>
            <a:off x="7829550" y="1925955"/>
            <a:ext cx="3792773" cy="194310"/>
          </a:xfrm>
          <a:prstGeom prst="rect">
            <a:avLst/>
          </a:prstGeom>
          <a:noFill/>
        </p:spPr>
        <p:txBody>
          <a:bodyPr wrap="none" lIns="0" rIns="0" tIns="0" bIns="0">
            <a:spAutoFit/>
          </a:bodyPr>
          <a:lstStyle/>
          <a:p>
            <a:r>
              <a:rPr sz="1150" b="0">
                <a:solidFill>
                  <a:srgbClr val="2E2E2E"/>
                </a:solidFill>
                <a:latin typeface="Calibri"/>
              </a:rPr>
              <a:t>flat dividers &amp; layer pads segment is expected to dominate the</a:t>
            </a:r>
          </a:p>
        </p:txBody>
      </p:sp>
      <p:sp>
        <p:nvSpPr>
          <p:cNvPr id="40" name="TextBox 39"/>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41" name="Picture 40" descr="lock.png"/>
          <p:cNvPicPr>
            <a:picLocks noChangeAspect="1"/>
          </p:cNvPicPr>
          <p:nvPr/>
        </p:nvPicPr>
        <p:blipFill>
          <a:blip r:embed="rId5"/>
          <a:stretch>
            <a:fillRect/>
          </a:stretch>
        </p:blipFill>
        <p:spPr>
          <a:xfrm>
            <a:off x="8778556" y="2090991"/>
            <a:ext cx="134549" cy="195707"/>
          </a:xfrm>
          <a:prstGeom prst="rect">
            <a:avLst/>
          </a:prstGeom>
        </p:spPr>
      </p:pic>
      <p:sp>
        <p:nvSpPr>
          <p:cNvPr id="42" name="TextBox 41"/>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10348808" y="2090991"/>
            <a:ext cx="134549" cy="195707"/>
          </a:xfrm>
          <a:prstGeom prst="rect">
            <a:avLst/>
          </a:prstGeom>
        </p:spPr>
      </p:pic>
      <p:sp>
        <p:nvSpPr>
          <p:cNvPr id="44" name="TextBox 43"/>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TextBox 44"/>
          <p:cNvSpPr txBox="1"/>
          <p:nvPr/>
        </p:nvSpPr>
        <p:spPr>
          <a:xfrm>
            <a:off x="7829550" y="2329053"/>
            <a:ext cx="3644155" cy="194310"/>
          </a:xfrm>
          <a:prstGeom prst="rect">
            <a:avLst/>
          </a:prstGeom>
          <a:noFill/>
        </p:spPr>
        <p:txBody>
          <a:bodyPr wrap="none" lIns="0" rIns="0" tIns="0" bIns="0">
            <a:spAutoFit/>
          </a:bodyPr>
          <a:lstStyle/>
          <a:p>
            <a:r>
              <a:rPr sz="1150" b="0">
                <a:solidFill>
                  <a:srgbClr val="2E2E2E"/>
                </a:solidFill>
                <a:latin typeface="Calibri"/>
              </a:rPr>
              <a:t>The die-cut &amp; folded partitions (h-dividers, tube/cell inserts)</a:t>
            </a:r>
          </a:p>
        </p:txBody>
      </p:sp>
      <p:sp>
        <p:nvSpPr>
          <p:cNvPr id="46" name="TextBox 45"/>
          <p:cNvSpPr txBox="1"/>
          <p:nvPr/>
        </p:nvSpPr>
        <p:spPr>
          <a:xfrm>
            <a:off x="7829550" y="2504313"/>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47" name="Picture 46" descr="lock.png"/>
          <p:cNvPicPr>
            <a:picLocks noChangeAspect="1"/>
          </p:cNvPicPr>
          <p:nvPr/>
        </p:nvPicPr>
        <p:blipFill>
          <a:blip r:embed="rId5"/>
          <a:stretch>
            <a:fillRect/>
          </a:stretch>
        </p:blipFill>
        <p:spPr>
          <a:xfrm>
            <a:off x="9504242" y="2494089"/>
            <a:ext cx="134549" cy="195707"/>
          </a:xfrm>
          <a:prstGeom prst="rect">
            <a:avLst/>
          </a:prstGeom>
        </p:spPr>
      </p:pic>
      <p:sp>
        <p:nvSpPr>
          <p:cNvPr id="48" name="TextBox 47"/>
          <p:cNvSpPr txBox="1"/>
          <p:nvPr/>
        </p:nvSpPr>
        <p:spPr>
          <a:xfrm>
            <a:off x="9679351" y="2504313"/>
            <a:ext cx="1926356" cy="194310"/>
          </a:xfrm>
          <a:prstGeom prst="rect">
            <a:avLst/>
          </a:prstGeom>
          <a:noFill/>
        </p:spPr>
        <p:txBody>
          <a:bodyPr wrap="none" lIns="0" rIns="0" tIns="0" bIns="0">
            <a:spAutoFit/>
          </a:bodyPr>
          <a:lstStyle/>
          <a:p>
            <a:r>
              <a:rPr sz="1150" b="0">
                <a:solidFill>
                  <a:srgbClr val="2E2E2E"/>
                </a:solidFill>
                <a:latin typeface="Calibri"/>
              </a:rPr>
              <a:t>BPS over the forecast period to</a:t>
            </a:r>
          </a:p>
        </p:txBody>
      </p:sp>
      <p:sp>
        <p:nvSpPr>
          <p:cNvPr id="49" name="TextBox 48"/>
          <p:cNvSpPr txBox="1"/>
          <p:nvPr/>
        </p:nvSpPr>
        <p:spPr>
          <a:xfrm>
            <a:off x="7829550" y="2679573"/>
            <a:ext cx="755104" cy="194310"/>
          </a:xfrm>
          <a:prstGeom prst="rect">
            <a:avLst/>
          </a:prstGeom>
          <a:noFill/>
        </p:spPr>
        <p:txBody>
          <a:bodyPr wrap="none" lIns="0" rIns="0" tIns="0" bIns="0">
            <a:spAutoFit/>
          </a:bodyPr>
          <a:lstStyle/>
          <a:p>
            <a:r>
              <a:rPr sz="1150" b="0">
                <a:solidFill>
                  <a:srgbClr val="2E2E2E"/>
                </a:solidFill>
                <a:latin typeface="Calibri"/>
              </a:rPr>
              <a:t>account for</a:t>
            </a:r>
          </a:p>
        </p:txBody>
      </p:sp>
      <p:pic>
        <p:nvPicPr>
          <p:cNvPr id="50" name="Picture 49" descr="lock.png"/>
          <p:cNvPicPr>
            <a:picLocks noChangeAspect="1"/>
          </p:cNvPicPr>
          <p:nvPr/>
        </p:nvPicPr>
        <p:blipFill>
          <a:blip r:embed="rId5"/>
          <a:stretch>
            <a:fillRect/>
          </a:stretch>
        </p:blipFill>
        <p:spPr>
          <a:xfrm>
            <a:off x="8533808" y="2669349"/>
            <a:ext cx="134549" cy="195707"/>
          </a:xfrm>
          <a:prstGeom prst="rect">
            <a:avLst/>
          </a:prstGeom>
        </p:spPr>
      </p:pic>
      <p:sp>
        <p:nvSpPr>
          <p:cNvPr id="51" name="TextBox 50"/>
          <p:cNvSpPr txBox="1"/>
          <p:nvPr/>
        </p:nvSpPr>
        <p:spPr>
          <a:xfrm>
            <a:off x="8708917"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Partition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Partition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gridCol w="624799"/>
                <a:gridCol w="624799"/>
                <a:gridCol w="624799"/>
                <a:gridCol w="624799"/>
                <a:gridCol w="624799"/>
                <a:gridCol w="624799"/>
                <a:gridCol w="624799"/>
                <a:gridCol w="624799"/>
                <a:gridCol w="624799"/>
                <a:gridCol w="624799"/>
                <a:gridCol w="624799"/>
                <a:gridCol w="624799"/>
                <a:gridCol w="624799"/>
                <a:gridCol w="624799"/>
                <a:gridCol w="624799"/>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Partition Type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Slotted (Interlocking Grid) Partitions</a:t>
            </a:r>
          </a:p>
        </p:txBody>
      </p:sp>
      <p:sp>
        <p:nvSpPr>
          <p:cNvPr id="33" name="Rectangle 32"/>
          <p:cNvSpPr/>
          <p:nvPr/>
        </p:nvSpPr>
        <p:spPr>
          <a:xfrm>
            <a:off x="185737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Die-Cut &amp; Folded Partitions (H-dividers, tube/cell inserts)</a:t>
            </a:r>
          </a:p>
        </p:txBody>
      </p:sp>
      <p:sp>
        <p:nvSpPr>
          <p:cNvPr id="49" name="Rectangle 48"/>
          <p:cNvSpPr/>
          <p:nvPr/>
        </p:nvSpPr>
        <p:spPr>
          <a:xfrm>
            <a:off x="185737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Flat Dividers &amp; Layer Pads</a:t>
            </a:r>
          </a:p>
        </p:txBody>
      </p:sp>
      <p:sp>
        <p:nvSpPr>
          <p:cNvPr id="65" name="Rectangle 64"/>
          <p:cNvSpPr/>
          <p:nvPr/>
        </p:nvSpPr>
        <p:spPr>
          <a:xfrm>
            <a:off x="1857375" y="5381625"/>
            <a:ext cx="643890" cy="1190625"/>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16692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Partition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Partition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gridCol w="624799"/>
                <a:gridCol w="624799"/>
                <a:gridCol w="624799"/>
                <a:gridCol w="624799"/>
                <a:gridCol w="624799"/>
                <a:gridCol w="624799"/>
                <a:gridCol w="624799"/>
                <a:gridCol w="624799"/>
                <a:gridCol w="624799"/>
                <a:gridCol w="624799"/>
                <a:gridCol w="624799"/>
                <a:gridCol w="624799"/>
                <a:gridCol w="624799"/>
                <a:gridCol w="624799"/>
                <a:gridCol w="624799"/>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Partition Type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Slotted (Interlocking Grid) Partitions</a:t>
            </a:r>
          </a:p>
        </p:txBody>
      </p:sp>
      <p:sp>
        <p:nvSpPr>
          <p:cNvPr id="33" name="Rectangle 32"/>
          <p:cNvSpPr/>
          <p:nvPr/>
        </p:nvSpPr>
        <p:spPr>
          <a:xfrm>
            <a:off x="185737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Die-Cut &amp; Folded Partitions (H-dividers, tube/cell inserts)</a:t>
            </a:r>
          </a:p>
        </p:txBody>
      </p:sp>
      <p:sp>
        <p:nvSpPr>
          <p:cNvPr id="49" name="Rectangle 48"/>
          <p:cNvSpPr/>
          <p:nvPr/>
        </p:nvSpPr>
        <p:spPr>
          <a:xfrm>
            <a:off x="185737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Flat Dividers &amp; Layer Pads</a:t>
            </a:r>
          </a:p>
        </p:txBody>
      </p:sp>
      <p:sp>
        <p:nvSpPr>
          <p:cNvPr id="65" name="Rectangle 64"/>
          <p:cNvSpPr/>
          <p:nvPr/>
        </p:nvSpPr>
        <p:spPr>
          <a:xfrm>
            <a:off x="1857375" y="5381625"/>
            <a:ext cx="643890" cy="119062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166923" y="1589913"/>
            <a:ext cx="366712" cy="533400"/>
          </a:xfrm>
          <a:prstGeom prst="rect">
            <a:avLst/>
          </a:prstGeom>
        </p:spPr>
      </p:pic>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Board Construction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Board Construction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Board Construction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Board Construction,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Board Construction segment categorizes the market by board construction.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Double Wall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Triple Wall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Single Wall</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Board Construction split shows how demand is distributed across board construction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312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_160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5_1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305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201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5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583_1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827_3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3_6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96256" cy="186689"/>
          </a:xfrm>
          <a:prstGeom prst="rect">
            <a:avLst/>
          </a:prstGeom>
          <a:noFill/>
        </p:spPr>
        <p:txBody>
          <a:bodyPr wrap="none" lIns="0" rIns="0" tIns="0" bIns="0">
            <a:spAutoFit/>
          </a:bodyPr>
          <a:lstStyle/>
          <a:p>
            <a:r>
              <a:rPr sz="1100" b="0">
                <a:solidFill>
                  <a:srgbClr val="2E2E2E"/>
                </a:solidFill>
                <a:latin typeface="Calibri"/>
              </a:rPr>
              <a:t>▪ ¶ Among corrugated partition by board</a:t>
            </a:r>
          </a:p>
        </p:txBody>
      </p:sp>
      <p:sp>
        <p:nvSpPr>
          <p:cNvPr id="70" name="TextBox 69"/>
          <p:cNvSpPr txBox="1"/>
          <p:nvPr/>
        </p:nvSpPr>
        <p:spPr>
          <a:xfrm>
            <a:off x="485775" y="4397077"/>
            <a:ext cx="2771700" cy="186689"/>
          </a:xfrm>
          <a:prstGeom prst="rect">
            <a:avLst/>
          </a:prstGeom>
          <a:noFill/>
        </p:spPr>
        <p:txBody>
          <a:bodyPr wrap="none" lIns="0" rIns="0" tIns="0" bIns="0">
            <a:spAutoFit/>
          </a:bodyPr>
          <a:lstStyle/>
          <a:p>
            <a:r>
              <a:rPr sz="1100" b="0">
                <a:solidFill>
                  <a:srgbClr val="2E2E2E"/>
                </a:solidFill>
                <a:latin typeface="Calibri"/>
              </a:rPr>
              <a:t>construction, triple wall segment is expected to</a:t>
            </a:r>
          </a:p>
        </p:txBody>
      </p:sp>
      <p:sp>
        <p:nvSpPr>
          <p:cNvPr id="71" name="TextBox 70"/>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72" name="Picture 71" descr="lock.png"/>
          <p:cNvPicPr>
            <a:picLocks noChangeAspect="1"/>
          </p:cNvPicPr>
          <p:nvPr/>
        </p:nvPicPr>
        <p:blipFill>
          <a:blip r:embed="rId13"/>
          <a:stretch>
            <a:fillRect/>
          </a:stretch>
        </p:blipFill>
        <p:spPr>
          <a:xfrm>
            <a:off x="2108919" y="4554938"/>
            <a:ext cx="128699" cy="187198"/>
          </a:xfrm>
          <a:prstGeom prst="rect">
            <a:avLst/>
          </a:prstGeom>
        </p:spPr>
      </p:pic>
      <p:sp>
        <p:nvSpPr>
          <p:cNvPr id="73" name="TextBox 72"/>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74" name="TextBox 73"/>
          <p:cNvSpPr txBox="1"/>
          <p:nvPr/>
        </p:nvSpPr>
        <p:spPr>
          <a:xfrm>
            <a:off x="485775" y="4732357"/>
            <a:ext cx="2351509" cy="186689"/>
          </a:xfrm>
          <a:prstGeom prst="rect">
            <a:avLst/>
          </a:prstGeom>
          <a:noFill/>
        </p:spPr>
        <p:txBody>
          <a:bodyPr wrap="none" lIns="0" rIns="0" tIns="0" bIns="0">
            <a:spAutoFit/>
          </a:bodyPr>
          <a:lstStyle/>
          <a:p>
            <a:r>
              <a:rPr sz="1100" b="0">
                <a:solidFill>
                  <a:srgbClr val="2E2E2E"/>
                </a:solidFill>
                <a:latin typeface="Calibri"/>
              </a:rPr>
              <a:t>period. In terms of value share by board</a:t>
            </a:r>
          </a:p>
        </p:txBody>
      </p:sp>
      <p:sp>
        <p:nvSpPr>
          <p:cNvPr id="75" name="TextBox 74"/>
          <p:cNvSpPr txBox="1"/>
          <p:nvPr/>
        </p:nvSpPr>
        <p:spPr>
          <a:xfrm>
            <a:off x="485775" y="4899997"/>
            <a:ext cx="2841004" cy="186689"/>
          </a:xfrm>
          <a:prstGeom prst="rect">
            <a:avLst/>
          </a:prstGeom>
          <a:noFill/>
        </p:spPr>
        <p:txBody>
          <a:bodyPr wrap="none" lIns="0" rIns="0" tIns="0" bIns="0">
            <a:spAutoFit/>
          </a:bodyPr>
          <a:lstStyle/>
          <a:p>
            <a:r>
              <a:rPr sz="1100" b="0">
                <a:solidFill>
                  <a:srgbClr val="2E2E2E"/>
                </a:solidFill>
                <a:latin typeface="Calibri"/>
              </a:rPr>
              <a:t>construction, the triple wall segment is expected</a:t>
            </a:r>
          </a:p>
        </p:txBody>
      </p:sp>
      <p:sp>
        <p:nvSpPr>
          <p:cNvPr id="76" name="TextBox 75"/>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77" name="Picture 76" descr="lock.png"/>
          <p:cNvPicPr>
            <a:picLocks noChangeAspect="1"/>
          </p:cNvPicPr>
          <p:nvPr/>
        </p:nvPicPr>
        <p:blipFill>
          <a:blip r:embed="rId13"/>
          <a:stretch>
            <a:fillRect/>
          </a:stretch>
        </p:blipFill>
        <p:spPr>
          <a:xfrm>
            <a:off x="2346590" y="5057858"/>
            <a:ext cx="128699" cy="187198"/>
          </a:xfrm>
          <a:prstGeom prst="rect">
            <a:avLst/>
          </a:prstGeom>
        </p:spPr>
      </p:pic>
      <p:sp>
        <p:nvSpPr>
          <p:cNvPr id="78" name="TextBox 77"/>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453209"/>
            <a:ext cx="2699394" cy="186689"/>
          </a:xfrm>
          <a:prstGeom prst="rect">
            <a:avLst/>
          </a:prstGeom>
          <a:noFill/>
        </p:spPr>
        <p:txBody>
          <a:bodyPr wrap="none" lIns="0" rIns="0" tIns="0" bIns="0">
            <a:spAutoFit/>
          </a:bodyPr>
          <a:lstStyle/>
          <a:p>
            <a:r>
              <a:rPr sz="1100" b="0">
                <a:solidFill>
                  <a:srgbClr val="2E2E2E"/>
                </a:solidFill>
                <a:latin typeface="Calibri"/>
              </a:rPr>
              <a:t>▪ ¶ Triple wall segment is projected to register</a:t>
            </a:r>
          </a:p>
        </p:txBody>
      </p:sp>
      <p:pic>
        <p:nvPicPr>
          <p:cNvPr id="83" name="Picture 82" descr="lock.png"/>
          <p:cNvPicPr>
            <a:picLocks noChangeAspect="1"/>
          </p:cNvPicPr>
          <p:nvPr/>
        </p:nvPicPr>
        <p:blipFill>
          <a:blip r:embed="rId13"/>
          <a:stretch>
            <a:fillRect/>
          </a:stretch>
        </p:blipFill>
        <p:spPr>
          <a:xfrm>
            <a:off x="472307" y="5611070"/>
            <a:ext cx="128699" cy="187198"/>
          </a:xfrm>
          <a:prstGeom prst="rect">
            <a:avLst/>
          </a:prstGeom>
        </p:spPr>
      </p:pic>
      <p:sp>
        <p:nvSpPr>
          <p:cNvPr id="84" name="TextBox 83"/>
          <p:cNvSpPr txBox="1"/>
          <p:nvPr/>
        </p:nvSpPr>
        <p:spPr>
          <a:xfrm>
            <a:off x="639803" y="5620849"/>
            <a:ext cx="2522859" cy="186689"/>
          </a:xfrm>
          <a:prstGeom prst="rect">
            <a:avLst/>
          </a:prstGeom>
          <a:noFill/>
        </p:spPr>
        <p:txBody>
          <a:bodyPr wrap="none" lIns="0" rIns="0" tIns="0" bIns="0">
            <a:spAutoFit/>
          </a:bodyPr>
          <a:lstStyle/>
          <a:p>
            <a:r>
              <a:rPr sz="1100" b="0">
                <a:solidFill>
                  <a:srgbClr val="2E2E2E"/>
                </a:solidFill>
                <a:latin typeface="Calibri"/>
              </a:rPr>
              <a:t>X higher value than double wall segment in</a:t>
            </a:r>
          </a:p>
        </p:txBody>
      </p:sp>
      <p:sp>
        <p:nvSpPr>
          <p:cNvPr id="85" name="TextBox 8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6" name="TextBox 85"/>
          <p:cNvSpPr txBox="1"/>
          <p:nvPr/>
        </p:nvSpPr>
        <p:spPr>
          <a:xfrm>
            <a:off x="3838575" y="4229437"/>
            <a:ext cx="925041" cy="186689"/>
          </a:xfrm>
          <a:prstGeom prst="rect">
            <a:avLst/>
          </a:prstGeom>
          <a:noFill/>
        </p:spPr>
        <p:txBody>
          <a:bodyPr wrap="none" lIns="0" rIns="0" tIns="0" bIns="0">
            <a:spAutoFit/>
          </a:bodyPr>
          <a:lstStyle/>
          <a:p>
            <a:r>
              <a:rPr sz="1100" b="0">
                <a:solidFill>
                  <a:srgbClr val="2E2E2E"/>
                </a:solidFill>
                <a:latin typeface="Calibri"/>
              </a:rPr>
              <a:t>● Double Wall:</a:t>
            </a:r>
          </a:p>
        </p:txBody>
      </p:sp>
      <p:pic>
        <p:nvPicPr>
          <p:cNvPr id="87" name="Picture 86" descr="lock.png"/>
          <p:cNvPicPr>
            <a:picLocks noChangeAspect="1"/>
          </p:cNvPicPr>
          <p:nvPr/>
        </p:nvPicPr>
        <p:blipFill>
          <a:blip r:embed="rId13"/>
          <a:stretch>
            <a:fillRect/>
          </a:stretch>
        </p:blipFill>
        <p:spPr>
          <a:xfrm>
            <a:off x="4711667" y="4219658"/>
            <a:ext cx="128699" cy="187198"/>
          </a:xfrm>
          <a:prstGeom prst="rect">
            <a:avLst/>
          </a:prstGeom>
        </p:spPr>
      </p:pic>
      <p:sp>
        <p:nvSpPr>
          <p:cNvPr id="88" name="TextBox 87"/>
          <p:cNvSpPr txBox="1"/>
          <p:nvPr/>
        </p:nvSpPr>
        <p:spPr>
          <a:xfrm>
            <a:off x="487916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5738613" y="4219658"/>
            <a:ext cx="128699" cy="187198"/>
          </a:xfrm>
          <a:prstGeom prst="rect">
            <a:avLst/>
          </a:prstGeom>
        </p:spPr>
      </p:pic>
      <p:sp>
        <p:nvSpPr>
          <p:cNvPr id="90" name="TextBox 89"/>
          <p:cNvSpPr txBox="1"/>
          <p:nvPr/>
        </p:nvSpPr>
        <p:spPr>
          <a:xfrm>
            <a:off x="5906109"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841275" cy="186689"/>
          </a:xfrm>
          <a:prstGeom prst="rect">
            <a:avLst/>
          </a:prstGeom>
          <a:noFill/>
        </p:spPr>
        <p:txBody>
          <a:bodyPr wrap="none" lIns="0" rIns="0" tIns="0" bIns="0">
            <a:spAutoFit/>
          </a:bodyPr>
          <a:lstStyle/>
          <a:p>
            <a:r>
              <a:rPr sz="1100" b="0">
                <a:solidFill>
                  <a:srgbClr val="2E2E2E"/>
                </a:solidFill>
                <a:latin typeface="Calibri"/>
              </a:rPr>
              <a:t>● Triple Wall:</a:t>
            </a:r>
          </a:p>
        </p:txBody>
      </p:sp>
      <p:pic>
        <p:nvPicPr>
          <p:cNvPr id="92" name="Picture 91" descr="lock.png"/>
          <p:cNvPicPr>
            <a:picLocks noChangeAspect="1"/>
          </p:cNvPicPr>
          <p:nvPr/>
        </p:nvPicPr>
        <p:blipFill>
          <a:blip r:embed="rId13"/>
          <a:stretch>
            <a:fillRect/>
          </a:stretch>
        </p:blipFill>
        <p:spPr>
          <a:xfrm>
            <a:off x="4627902" y="4437590"/>
            <a:ext cx="128699" cy="187198"/>
          </a:xfrm>
          <a:prstGeom prst="rect">
            <a:avLst/>
          </a:prstGeom>
        </p:spPr>
      </p:pic>
      <p:sp>
        <p:nvSpPr>
          <p:cNvPr id="93" name="TextBox 92"/>
          <p:cNvSpPr txBox="1"/>
          <p:nvPr/>
        </p:nvSpPr>
        <p:spPr>
          <a:xfrm>
            <a:off x="4795398"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654848" y="4437590"/>
            <a:ext cx="128699" cy="187198"/>
          </a:xfrm>
          <a:prstGeom prst="rect">
            <a:avLst/>
          </a:prstGeom>
        </p:spPr>
      </p:pic>
      <p:sp>
        <p:nvSpPr>
          <p:cNvPr id="95" name="TextBox 94"/>
          <p:cNvSpPr txBox="1"/>
          <p:nvPr/>
        </p:nvSpPr>
        <p:spPr>
          <a:xfrm>
            <a:off x="5822344"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6" name="TextBox 95"/>
          <p:cNvSpPr txBox="1"/>
          <p:nvPr/>
        </p:nvSpPr>
        <p:spPr>
          <a:xfrm>
            <a:off x="3838575" y="4665301"/>
            <a:ext cx="854099" cy="186689"/>
          </a:xfrm>
          <a:prstGeom prst="rect">
            <a:avLst/>
          </a:prstGeom>
          <a:noFill/>
        </p:spPr>
        <p:txBody>
          <a:bodyPr wrap="none" lIns="0" rIns="0" tIns="0" bIns="0">
            <a:spAutoFit/>
          </a:bodyPr>
          <a:lstStyle/>
          <a:p>
            <a:r>
              <a:rPr sz="1100" b="0">
                <a:solidFill>
                  <a:srgbClr val="2E2E2E"/>
                </a:solidFill>
                <a:latin typeface="Calibri"/>
              </a:rPr>
              <a:t>● Single Wall:</a:t>
            </a:r>
          </a:p>
        </p:txBody>
      </p:sp>
      <p:pic>
        <p:nvPicPr>
          <p:cNvPr id="97" name="Picture 96" descr="lock.png"/>
          <p:cNvPicPr>
            <a:picLocks noChangeAspect="1"/>
          </p:cNvPicPr>
          <p:nvPr/>
        </p:nvPicPr>
        <p:blipFill>
          <a:blip r:embed="rId13"/>
          <a:stretch>
            <a:fillRect/>
          </a:stretch>
        </p:blipFill>
        <p:spPr>
          <a:xfrm>
            <a:off x="4640726" y="4655522"/>
            <a:ext cx="128699" cy="187198"/>
          </a:xfrm>
          <a:prstGeom prst="rect">
            <a:avLst/>
          </a:prstGeom>
        </p:spPr>
      </p:pic>
      <p:sp>
        <p:nvSpPr>
          <p:cNvPr id="98" name="TextBox 97"/>
          <p:cNvSpPr txBox="1"/>
          <p:nvPr/>
        </p:nvSpPr>
        <p:spPr>
          <a:xfrm>
            <a:off x="480822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5667672" y="4655522"/>
            <a:ext cx="128699" cy="187198"/>
          </a:xfrm>
          <a:prstGeom prst="rect">
            <a:avLst/>
          </a:prstGeom>
        </p:spPr>
      </p:pic>
      <p:sp>
        <p:nvSpPr>
          <p:cNvPr id="100" name="TextBox 99"/>
          <p:cNvSpPr txBox="1"/>
          <p:nvPr/>
        </p:nvSpPr>
        <p:spPr>
          <a:xfrm>
            <a:off x="583516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1" name="TextBox 100"/>
          <p:cNvSpPr txBox="1"/>
          <p:nvPr/>
        </p:nvSpPr>
        <p:spPr>
          <a:xfrm>
            <a:off x="8524875" y="5842641"/>
            <a:ext cx="2970100" cy="194310"/>
          </a:xfrm>
          <a:prstGeom prst="rect">
            <a:avLst/>
          </a:prstGeom>
          <a:noFill/>
        </p:spPr>
        <p:txBody>
          <a:bodyPr wrap="none" lIns="0" rIns="0" tIns="0" bIns="0">
            <a:spAutoFit/>
          </a:bodyPr>
          <a:lstStyle/>
          <a:p>
            <a:r>
              <a:rPr sz="1150" b="1">
                <a:solidFill>
                  <a:srgbClr val="0B2E4A"/>
                </a:solidFill>
                <a:latin typeface="Calibri"/>
              </a:rPr>
              <a:t>The Board Construction segment is projected to</a:t>
            </a:r>
          </a:p>
        </p:txBody>
      </p:sp>
      <p:sp>
        <p:nvSpPr>
          <p:cNvPr id="102" name="TextBox 101"/>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3" name="Picture 102" descr="lock.png"/>
          <p:cNvPicPr>
            <a:picLocks noChangeAspect="1"/>
          </p:cNvPicPr>
          <p:nvPr/>
        </p:nvPicPr>
        <p:blipFill>
          <a:blip r:embed="rId13"/>
          <a:stretch>
            <a:fillRect/>
          </a:stretch>
        </p:blipFill>
        <p:spPr>
          <a:xfrm>
            <a:off x="9651852" y="6007677"/>
            <a:ext cx="134549" cy="195707"/>
          </a:xfrm>
          <a:prstGeom prst="rect">
            <a:avLst/>
          </a:prstGeom>
        </p:spPr>
      </p:pic>
      <p:sp>
        <p:nvSpPr>
          <p:cNvPr id="104" name="TextBox 103"/>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Board Construction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Board Construction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Board Construction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Board Construction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13455" cy="186689"/>
          </a:xfrm>
          <a:prstGeom prst="rect">
            <a:avLst/>
          </a:prstGeom>
          <a:noFill/>
        </p:spPr>
        <p:txBody>
          <a:bodyPr wrap="none" lIns="0" rIns="0" tIns="0" bIns="0">
            <a:spAutoFit/>
          </a:bodyPr>
          <a:lstStyle/>
          <a:p>
            <a:r>
              <a:rPr sz="1100" b="0">
                <a:solidFill>
                  <a:srgbClr val="2E2E2E"/>
                </a:solidFill>
                <a:latin typeface="Calibri"/>
              </a:rPr>
              <a:t>Triple wall followed by double wall are expected to be the two most attractive board construction segments in the global corrugated partition market in terms of value over the forecast period. Triple wall</a:t>
            </a:r>
          </a:p>
        </p:txBody>
      </p:sp>
      <p:sp>
        <p:nvSpPr>
          <p:cNvPr id="21" name="TextBox 20"/>
          <p:cNvSpPr txBox="1"/>
          <p:nvPr/>
        </p:nvSpPr>
        <p:spPr>
          <a:xfrm>
            <a:off x="257175" y="5945505"/>
            <a:ext cx="2337849" cy="186689"/>
          </a:xfrm>
          <a:prstGeom prst="rect">
            <a:avLst/>
          </a:prstGeom>
          <a:noFill/>
        </p:spPr>
        <p:txBody>
          <a:bodyPr wrap="none" lIns="0" rIns="0" tIns="0" bIns="0">
            <a:spAutoFit/>
          </a:bodyPr>
          <a:lstStyle/>
          <a:p>
            <a:r>
              <a:rPr sz="1100" b="0">
                <a:solidFill>
                  <a:srgbClr val="2E2E2E"/>
                </a:solidFill>
                <a:latin typeface="Calibri"/>
              </a:rPr>
              <a:t>and double wall exhibit a CAGR index of</a:t>
            </a:r>
          </a:p>
        </p:txBody>
      </p:sp>
      <p:pic>
        <p:nvPicPr>
          <p:cNvPr id="22" name="Picture 21" descr="lock.png"/>
          <p:cNvPicPr>
            <a:picLocks noChangeAspect="1"/>
          </p:cNvPicPr>
          <p:nvPr/>
        </p:nvPicPr>
        <p:blipFill>
          <a:blip r:embed="rId6"/>
          <a:stretch>
            <a:fillRect/>
          </a:stretch>
        </p:blipFill>
        <p:spPr>
          <a:xfrm>
            <a:off x="2543076" y="5935726"/>
            <a:ext cx="128699" cy="187198"/>
          </a:xfrm>
          <a:prstGeom prst="rect">
            <a:avLst/>
          </a:prstGeom>
        </p:spPr>
      </p:pic>
      <p:sp>
        <p:nvSpPr>
          <p:cNvPr id="23" name="TextBox 22"/>
          <p:cNvSpPr txBox="1"/>
          <p:nvPr/>
        </p:nvSpPr>
        <p:spPr>
          <a:xfrm>
            <a:off x="2710571"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2948466" y="5935726"/>
            <a:ext cx="128699" cy="187198"/>
          </a:xfrm>
          <a:prstGeom prst="rect">
            <a:avLst/>
          </a:prstGeom>
        </p:spPr>
      </p:pic>
      <p:sp>
        <p:nvSpPr>
          <p:cNvPr id="25" name="TextBox 24"/>
          <p:cNvSpPr txBox="1"/>
          <p:nvPr/>
        </p:nvSpPr>
        <p:spPr>
          <a:xfrm>
            <a:off x="3115962"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4724935" y="5935726"/>
            <a:ext cx="128699" cy="187198"/>
          </a:xfrm>
          <a:prstGeom prst="rect">
            <a:avLst/>
          </a:prstGeom>
        </p:spPr>
      </p:pic>
      <p:sp>
        <p:nvSpPr>
          <p:cNvPr id="27" name="TextBox 26"/>
          <p:cNvSpPr txBox="1"/>
          <p:nvPr/>
        </p:nvSpPr>
        <p:spPr>
          <a:xfrm>
            <a:off x="4892431"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130325" y="5935726"/>
            <a:ext cx="128699" cy="187198"/>
          </a:xfrm>
          <a:prstGeom prst="rect">
            <a:avLst/>
          </a:prstGeom>
        </p:spPr>
      </p:pic>
      <p:sp>
        <p:nvSpPr>
          <p:cNvPr id="29" name="TextBox 28"/>
          <p:cNvSpPr txBox="1"/>
          <p:nvPr/>
        </p:nvSpPr>
        <p:spPr>
          <a:xfrm>
            <a:off x="5297821"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7852225" y="5935726"/>
            <a:ext cx="128699" cy="187198"/>
          </a:xfrm>
          <a:prstGeom prst="rect">
            <a:avLst/>
          </a:prstGeom>
        </p:spPr>
      </p:pic>
      <p:sp>
        <p:nvSpPr>
          <p:cNvPr id="31" name="TextBox 30"/>
          <p:cNvSpPr txBox="1"/>
          <p:nvPr/>
        </p:nvSpPr>
        <p:spPr>
          <a:xfrm>
            <a:off x="8019721" y="5945505"/>
            <a:ext cx="3320132" cy="186689"/>
          </a:xfrm>
          <a:prstGeom prst="rect">
            <a:avLst/>
          </a:prstGeom>
          <a:noFill/>
        </p:spPr>
        <p:txBody>
          <a:bodyPr wrap="none" lIns="0" rIns="0" tIns="0" bIns="0">
            <a:spAutoFit/>
          </a:bodyPr>
          <a:lstStyle/>
          <a:p>
            <a:r>
              <a:rPr sz="1100" b="0">
                <a:solidFill>
                  <a:srgbClr val="2E2E2E"/>
                </a:solidFill>
                <a:latin typeface="Calibri"/>
              </a:rPr>
              <a:t>. The single wall segment is expected to be less attractive</a:t>
            </a:r>
          </a:p>
        </p:txBody>
      </p:sp>
      <p:sp>
        <p:nvSpPr>
          <p:cNvPr id="32" name="TextBox 31"/>
          <p:cNvSpPr txBox="1"/>
          <p:nvPr/>
        </p:nvSpPr>
        <p:spPr>
          <a:xfrm>
            <a:off x="257175" y="6113145"/>
            <a:ext cx="10759395" cy="186689"/>
          </a:xfrm>
          <a:prstGeom prst="rect">
            <a:avLst/>
          </a:prstGeom>
          <a:noFill/>
        </p:spPr>
        <p:txBody>
          <a:bodyPr wrap="none" lIns="0" rIns="0" tIns="0" bIns="0">
            <a:spAutoFit/>
          </a:bodyPr>
          <a:lstStyle/>
          <a:p>
            <a:r>
              <a:rPr sz="1100" b="0">
                <a:solidFill>
                  <a:srgbClr val="2E2E2E"/>
                </a:solidFill>
                <a:latin typeface="Calibri"/>
              </a:rPr>
              <a:t>as compared to other segments over the forecast period, owing to its lower CAGR 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Board Construction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Board Construction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Single Wall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Double Wall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Triple Wall</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Board Construction</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4092837" cy="194310"/>
          </a:xfrm>
          <a:prstGeom prst="rect">
            <a:avLst/>
          </a:prstGeom>
          <a:noFill/>
        </p:spPr>
        <p:txBody>
          <a:bodyPr wrap="none" lIns="0" rIns="0" tIns="0" bIns="0">
            <a:spAutoFit/>
          </a:bodyPr>
          <a:lstStyle/>
          <a:p>
            <a:r>
              <a:rPr sz="1150" b="0">
                <a:solidFill>
                  <a:srgbClr val="2E2E2E"/>
                </a:solidFill>
                <a:latin typeface="Calibri"/>
              </a:rPr>
              <a:t>By 2036, triple wall segment is anticipated to witness an increase of</a:t>
            </a:r>
          </a:p>
        </p:txBody>
      </p:sp>
      <p:pic>
        <p:nvPicPr>
          <p:cNvPr id="29" name="Picture 28" descr="lock.png"/>
          <p:cNvPicPr>
            <a:picLocks noChangeAspect="1"/>
          </p:cNvPicPr>
          <p:nvPr/>
        </p:nvPicPr>
        <p:blipFill>
          <a:blip r:embed="rId7"/>
          <a:stretch>
            <a:fillRect/>
          </a:stretch>
        </p:blipFill>
        <p:spPr>
          <a:xfrm>
            <a:off x="10347541" y="4276026"/>
            <a:ext cx="134549" cy="195707"/>
          </a:xfrm>
          <a:prstGeom prst="rect">
            <a:avLst/>
          </a:prstGeom>
        </p:spPr>
      </p:pic>
      <p:sp>
        <p:nvSpPr>
          <p:cNvPr id="30" name="TextBox 29"/>
          <p:cNvSpPr txBox="1"/>
          <p:nvPr/>
        </p:nvSpPr>
        <p:spPr>
          <a:xfrm>
            <a:off x="10522651" y="4286250"/>
            <a:ext cx="1341871" cy="194310"/>
          </a:xfrm>
          <a:prstGeom prst="rect">
            <a:avLst/>
          </a:prstGeom>
          <a:noFill/>
        </p:spPr>
        <p:txBody>
          <a:bodyPr wrap="none" lIns="0" rIns="0" tIns="0" bIns="0">
            <a:spAutoFit/>
          </a:bodyPr>
          <a:lstStyle/>
          <a:p>
            <a:r>
              <a:rPr sz="1150" b="0">
                <a:solidFill>
                  <a:srgbClr val="2E2E2E"/>
                </a:solidFill>
                <a:latin typeface="Calibri"/>
              </a:rPr>
              <a:t>X in terms of value as</a:t>
            </a:r>
          </a:p>
        </p:txBody>
      </p:sp>
      <p:sp>
        <p:nvSpPr>
          <p:cNvPr id="31" name="TextBox 30"/>
          <p:cNvSpPr txBox="1"/>
          <p:nvPr/>
        </p:nvSpPr>
        <p:spPr>
          <a:xfrm>
            <a:off x="6305550" y="4461510"/>
            <a:ext cx="5573328" cy="194310"/>
          </a:xfrm>
          <a:prstGeom prst="rect">
            <a:avLst/>
          </a:prstGeom>
          <a:noFill/>
        </p:spPr>
        <p:txBody>
          <a:bodyPr wrap="none" lIns="0" rIns="0" tIns="0" bIns="0">
            <a:spAutoFit/>
          </a:bodyPr>
          <a:lstStyle/>
          <a:p>
            <a:r>
              <a:rPr sz="1150" b="0">
                <a:solidFill>
                  <a:srgbClr val="2E2E2E"/>
                </a:solidFill>
                <a:latin typeface="Calibri"/>
              </a:rPr>
              <a:t>compared to 2026. The triple wall segment is expected to create an incremental opportunity</a:t>
            </a:r>
          </a:p>
        </p:txBody>
      </p:sp>
      <p:sp>
        <p:nvSpPr>
          <p:cNvPr id="32" name="TextBox 31"/>
          <p:cNvSpPr txBox="1"/>
          <p:nvPr/>
        </p:nvSpPr>
        <p:spPr>
          <a:xfrm>
            <a:off x="6305550" y="4636770"/>
            <a:ext cx="465856" cy="194310"/>
          </a:xfrm>
          <a:prstGeom prst="rect">
            <a:avLst/>
          </a:prstGeom>
          <a:noFill/>
        </p:spPr>
        <p:txBody>
          <a:bodyPr wrap="none" lIns="0" rIns="0" tIns="0" bIns="0">
            <a:spAutoFit/>
          </a:bodyPr>
          <a:lstStyle/>
          <a:p>
            <a:r>
              <a:rPr sz="1150" b="0">
                <a:solidFill>
                  <a:srgbClr val="2E2E2E"/>
                </a:solidFill>
                <a:latin typeface="Calibri"/>
              </a:rPr>
              <a:t>of US$</a:t>
            </a:r>
          </a:p>
        </p:txBody>
      </p:sp>
      <p:pic>
        <p:nvPicPr>
          <p:cNvPr id="33" name="Picture 32" descr="lock.png"/>
          <p:cNvPicPr>
            <a:picLocks noChangeAspect="1"/>
          </p:cNvPicPr>
          <p:nvPr/>
        </p:nvPicPr>
        <p:blipFill>
          <a:blip r:embed="rId7"/>
          <a:stretch>
            <a:fillRect/>
          </a:stretch>
        </p:blipFill>
        <p:spPr>
          <a:xfrm>
            <a:off x="6720560" y="4626546"/>
            <a:ext cx="134549" cy="195707"/>
          </a:xfrm>
          <a:prstGeom prst="rect">
            <a:avLst/>
          </a:prstGeom>
        </p:spPr>
      </p:pic>
      <p:sp>
        <p:nvSpPr>
          <p:cNvPr id="34" name="TextBox 33"/>
          <p:cNvSpPr txBox="1"/>
          <p:nvPr/>
        </p:nvSpPr>
        <p:spPr>
          <a:xfrm>
            <a:off x="6895670" y="4636770"/>
            <a:ext cx="4026966"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 to 2036.</a:t>
            </a:r>
          </a:p>
        </p:txBody>
      </p:sp>
      <p:sp>
        <p:nvSpPr>
          <p:cNvPr id="35" name="TextBox 34"/>
          <p:cNvSpPr txBox="1"/>
          <p:nvPr/>
        </p:nvSpPr>
        <p:spPr>
          <a:xfrm>
            <a:off x="6305550" y="4864607"/>
            <a:ext cx="4931221" cy="194310"/>
          </a:xfrm>
          <a:prstGeom prst="rect">
            <a:avLst/>
          </a:prstGeom>
          <a:noFill/>
        </p:spPr>
        <p:txBody>
          <a:bodyPr wrap="none" lIns="0" rIns="0" tIns="0" bIns="0">
            <a:spAutoFit/>
          </a:bodyPr>
          <a:lstStyle/>
          <a:p>
            <a:r>
              <a:rPr sz="1150" b="0">
                <a:solidFill>
                  <a:srgbClr val="2E2E2E"/>
                </a:solidFill>
                <a:latin typeface="Calibri"/>
              </a:rPr>
              <a:t>The double wall segment is expected to create an incremental opportunity of US$</a:t>
            </a:r>
          </a:p>
        </p:txBody>
      </p:sp>
      <p:pic>
        <p:nvPicPr>
          <p:cNvPr id="36" name="Picture 35" descr="lock.png"/>
          <p:cNvPicPr>
            <a:picLocks noChangeAspect="1"/>
          </p:cNvPicPr>
          <p:nvPr/>
        </p:nvPicPr>
        <p:blipFill>
          <a:blip r:embed="rId7"/>
          <a:stretch>
            <a:fillRect/>
          </a:stretch>
        </p:blipFill>
        <p:spPr>
          <a:xfrm>
            <a:off x="11185925" y="4854384"/>
            <a:ext cx="134549" cy="195707"/>
          </a:xfrm>
          <a:prstGeom prst="rect">
            <a:avLst/>
          </a:prstGeom>
        </p:spPr>
      </p:pic>
      <p:sp>
        <p:nvSpPr>
          <p:cNvPr id="37" name="TextBox 36"/>
          <p:cNvSpPr txBox="1"/>
          <p:nvPr/>
        </p:nvSpPr>
        <p:spPr>
          <a:xfrm>
            <a:off x="11361034" y="4864607"/>
            <a:ext cx="483542" cy="194310"/>
          </a:xfrm>
          <a:prstGeom prst="rect">
            <a:avLst/>
          </a:prstGeom>
          <a:noFill/>
        </p:spPr>
        <p:txBody>
          <a:bodyPr wrap="none" lIns="0" rIns="0" tIns="0" bIns="0">
            <a:spAutoFit/>
          </a:bodyPr>
          <a:lstStyle/>
          <a:p>
            <a:r>
              <a:rPr sz="1150" b="0">
                <a:solidFill>
                  <a:srgbClr val="2E2E2E"/>
                </a:solidFill>
                <a:latin typeface="Calibri"/>
              </a:rPr>
              <a:t>Mn for</a:t>
            </a:r>
          </a:p>
        </p:txBody>
      </p:sp>
      <p:sp>
        <p:nvSpPr>
          <p:cNvPr id="38" name="TextBox 37"/>
          <p:cNvSpPr txBox="1"/>
          <p:nvPr/>
        </p:nvSpPr>
        <p:spPr>
          <a:xfrm>
            <a:off x="6305550" y="5039867"/>
            <a:ext cx="5161421" cy="194310"/>
          </a:xfrm>
          <a:prstGeom prst="rect">
            <a:avLst/>
          </a:prstGeom>
          <a:noFill/>
        </p:spPr>
        <p:txBody>
          <a:bodyPr wrap="none" lIns="0" rIns="0" tIns="0" bIns="0">
            <a:spAutoFit/>
          </a:bodyPr>
          <a:lstStyle/>
          <a:p>
            <a:r>
              <a:rPr sz="1150" b="0">
                <a:solidFill>
                  <a:srgbClr val="2E2E2E"/>
                </a:solidFill>
                <a:latin typeface="Calibri"/>
              </a:rPr>
              <a:t>the overall corrugated partition market from 2026 to 2036. The single wall segment is</a:t>
            </a:r>
          </a:p>
        </p:txBody>
      </p:sp>
      <p:sp>
        <p:nvSpPr>
          <p:cNvPr id="39" name="TextBox 38"/>
          <p:cNvSpPr txBox="1"/>
          <p:nvPr/>
        </p:nvSpPr>
        <p:spPr>
          <a:xfrm>
            <a:off x="6305550" y="5215127"/>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40" name="Picture 39" descr="lock.png"/>
          <p:cNvPicPr>
            <a:picLocks noChangeAspect="1"/>
          </p:cNvPicPr>
          <p:nvPr/>
        </p:nvPicPr>
        <p:blipFill>
          <a:blip r:embed="rId7"/>
          <a:stretch>
            <a:fillRect/>
          </a:stretch>
        </p:blipFill>
        <p:spPr>
          <a:xfrm>
            <a:off x="9540010" y="5204904"/>
            <a:ext cx="134549" cy="195707"/>
          </a:xfrm>
          <a:prstGeom prst="rect">
            <a:avLst/>
          </a:prstGeom>
        </p:spPr>
      </p:pic>
      <p:sp>
        <p:nvSpPr>
          <p:cNvPr id="41" name="TextBox 40"/>
          <p:cNvSpPr txBox="1"/>
          <p:nvPr/>
        </p:nvSpPr>
        <p:spPr>
          <a:xfrm>
            <a:off x="9715119" y="5215127"/>
            <a:ext cx="1840210" cy="194310"/>
          </a:xfrm>
          <a:prstGeom prst="rect">
            <a:avLst/>
          </a:prstGeom>
          <a:noFill/>
        </p:spPr>
        <p:txBody>
          <a:bodyPr wrap="none" lIns="0" rIns="0" tIns="0" bIns="0">
            <a:spAutoFit/>
          </a:bodyPr>
          <a:lstStyle/>
          <a:p>
            <a:r>
              <a:rPr sz="1150" b="0">
                <a:solidFill>
                  <a:srgbClr val="2E2E2E"/>
                </a:solidFill>
                <a:latin typeface="Calibri"/>
              </a:rPr>
              <a:t>Mn for the overall corrugated</a:t>
            </a:r>
          </a:p>
        </p:txBody>
      </p:sp>
      <p:sp>
        <p:nvSpPr>
          <p:cNvPr id="42" name="TextBox 41"/>
          <p:cNvSpPr txBox="1"/>
          <p:nvPr/>
        </p:nvSpPr>
        <p:spPr>
          <a:xfrm>
            <a:off x="6305550" y="5390387"/>
            <a:ext cx="2229866" cy="194310"/>
          </a:xfrm>
          <a:prstGeom prst="rect">
            <a:avLst/>
          </a:prstGeom>
          <a:noFill/>
        </p:spPr>
        <p:txBody>
          <a:bodyPr wrap="none" lIns="0" rIns="0" tIns="0" bIns="0">
            <a:spAutoFit/>
          </a:bodyPr>
          <a:lstStyle/>
          <a:p>
            <a:r>
              <a:rPr sz="1150" b="0">
                <a:solidFill>
                  <a:srgbClr val="2E2E2E"/>
                </a:solidFill>
                <a:latin typeface="Calibri"/>
              </a:rPr>
              <a:t>partition market from 2026 to 2036.</a:t>
            </a:r>
          </a:p>
        </p:txBody>
      </p:sp>
      <p:sp>
        <p:nvSpPr>
          <p:cNvPr id="43"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Board Construction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Board Construction,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Board Construction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962355"/>
                <a:gridCol w="655320"/>
                <a:gridCol w="655320"/>
                <a:gridCol w="655320"/>
                <a:gridCol w="655320"/>
                <a:gridCol w="655320"/>
                <a:gridCol w="655320"/>
                <a:gridCol w="655320"/>
                <a:gridCol w="655320"/>
                <a:gridCol w="655320"/>
                <a:gridCol w="655320"/>
                <a:gridCol w="655320"/>
                <a:gridCol w="655320"/>
                <a:gridCol w="655320"/>
                <a:gridCol w="655320"/>
                <a:gridCol w="655320"/>
                <a:gridCol w="655320"/>
                <a:gridCol w="439725"/>
              </a:tblGrid>
              <a:tr h="438912">
                <a:tc>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7460">
                <a:tc>
                  <a:txBody>
                    <a:bodyPr wrap="none"/>
                    <a:lstStyle/>
                    <a:p>
                      <a:pPr algn="l"/>
                      <a:r>
                        <a:rPr sz="1100" b="1">
                          <a:solidFill>
                            <a:srgbClr val="2E2E2E"/>
                          </a:solidFill>
                          <a:latin typeface="Calibri"/>
                        </a:rPr>
                        <a:t>Single Wall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60">
                <a:tc>
                  <a:txBody>
                    <a:bodyPr wrap="none"/>
                    <a:lstStyle/>
                    <a:p>
                      <a:pPr algn="l"/>
                      <a:r>
                        <a:rPr sz="1100" b="1">
                          <a:solidFill>
                            <a:srgbClr val="2E2E2E"/>
                          </a:solidFill>
                          <a:latin typeface="Calibri"/>
                        </a:rPr>
                        <a:t>Double Wall</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60">
                <a:tc>
                  <a:txBody>
                    <a:bodyPr wrap="none"/>
                    <a:lstStyle/>
                    <a:p>
                      <a:pPr algn="l"/>
                      <a:r>
                        <a:rPr sz="1100" b="1">
                          <a:solidFill>
                            <a:srgbClr val="2E2E2E"/>
                          </a:solidFill>
                          <a:latin typeface="Calibri"/>
                        </a:rPr>
                        <a:t>Triple Wall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Board Construction</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0487" y="1905381"/>
            <a:ext cx="366712" cy="533400"/>
          </a:xfrm>
          <a:prstGeom prst="rect">
            <a:avLst/>
          </a:prstGeom>
        </p:spPr>
      </p:pic>
      <p:sp>
        <p:nvSpPr>
          <p:cNvPr id="21" name="TextBox 20"/>
          <p:cNvSpPr txBox="1"/>
          <p:nvPr/>
        </p:nvSpPr>
        <p:spPr>
          <a:xfrm>
            <a:off x="276225" y="3429000"/>
            <a:ext cx="2615245" cy="194310"/>
          </a:xfrm>
          <a:prstGeom prst="rect">
            <a:avLst/>
          </a:prstGeom>
          <a:noFill/>
        </p:spPr>
        <p:txBody>
          <a:bodyPr wrap="none" lIns="0" rIns="0" tIns="0" bIns="0">
            <a:spAutoFit/>
          </a:bodyPr>
          <a:lstStyle/>
          <a:p>
            <a:r>
              <a:rPr sz="1150" b="0">
                <a:solidFill>
                  <a:srgbClr val="2E2E2E"/>
                </a:solidFill>
                <a:latin typeface="Calibri"/>
              </a:rPr>
              <a:t>Triple wall segment is projected to register</a:t>
            </a:r>
          </a:p>
        </p:txBody>
      </p:sp>
      <p:pic>
        <p:nvPicPr>
          <p:cNvPr id="22" name="Picture 21" descr="lock.png"/>
          <p:cNvPicPr>
            <a:picLocks noChangeAspect="1"/>
          </p:cNvPicPr>
          <p:nvPr/>
        </p:nvPicPr>
        <p:blipFill>
          <a:blip r:embed="rId4"/>
          <a:stretch>
            <a:fillRect/>
          </a:stretch>
        </p:blipFill>
        <p:spPr>
          <a:xfrm>
            <a:off x="2840623" y="3418776"/>
            <a:ext cx="134549" cy="195707"/>
          </a:xfrm>
          <a:prstGeom prst="rect">
            <a:avLst/>
          </a:prstGeom>
        </p:spPr>
      </p:pic>
      <p:sp>
        <p:nvSpPr>
          <p:cNvPr id="23" name="TextBox 22"/>
          <p:cNvSpPr txBox="1"/>
          <p:nvPr/>
        </p:nvSpPr>
        <p:spPr>
          <a:xfrm>
            <a:off x="3015733" y="3429000"/>
            <a:ext cx="8714544" cy="194310"/>
          </a:xfrm>
          <a:prstGeom prst="rect">
            <a:avLst/>
          </a:prstGeom>
          <a:noFill/>
        </p:spPr>
        <p:txBody>
          <a:bodyPr wrap="none" lIns="0" rIns="0" tIns="0" bIns="0">
            <a:spAutoFit/>
          </a:bodyPr>
          <a:lstStyle/>
          <a:p>
            <a:r>
              <a:rPr sz="1150" b="0">
                <a:solidFill>
                  <a:srgbClr val="2E2E2E"/>
                </a:solidFill>
                <a:latin typeface="Calibri"/>
              </a:rPr>
              <a:t>X higher volume than double wall segment in 2036. Among corrugated partition by board construction, triple wall segment is expected to witness</a:t>
            </a:r>
          </a:p>
        </p:txBody>
      </p:sp>
      <p:sp>
        <p:nvSpPr>
          <p:cNvPr id="24" name="TextBox 23"/>
          <p:cNvSpPr txBox="1"/>
          <p:nvPr/>
        </p:nvSpPr>
        <p:spPr>
          <a:xfrm>
            <a:off x="276225" y="3604260"/>
            <a:ext cx="1263979" cy="194310"/>
          </a:xfrm>
          <a:prstGeom prst="rect">
            <a:avLst/>
          </a:prstGeom>
          <a:noFill/>
        </p:spPr>
        <p:txBody>
          <a:bodyPr wrap="none" lIns="0" rIns="0" t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594036"/>
            <a:ext cx="134549" cy="195707"/>
          </a:xfrm>
          <a:prstGeom prst="rect">
            <a:avLst/>
          </a:prstGeom>
        </p:spPr>
      </p:pic>
      <p:sp>
        <p:nvSpPr>
          <p:cNvPr id="26" name="TextBox 25"/>
          <p:cNvSpPr txBox="1"/>
          <p:nvPr/>
        </p:nvSpPr>
        <p:spPr>
          <a:xfrm>
            <a:off x="1664467" y="36042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32097"/>
            <a:ext cx="6997600" cy="194310"/>
          </a:xfrm>
          <a:prstGeom prst="rect">
            <a:avLst/>
          </a:prstGeom>
          <a:noFill/>
        </p:spPr>
        <p:txBody>
          <a:bodyPr wrap="none" lIns="0" rIns="0" tIns="0" bIns="0">
            <a:spAutoFit/>
          </a:bodyPr>
          <a:lstStyle/>
          <a:p>
            <a:r>
              <a:rPr sz="1150" b="0">
                <a:solidFill>
                  <a:srgbClr val="2E2E2E"/>
                </a:solidFill>
                <a:latin typeface="Calibri"/>
              </a:rPr>
              <a:t>In terms of volume share by board construction, the triple wall segment is expected to dominate the market, gaining</a:t>
            </a:r>
          </a:p>
        </p:txBody>
      </p:sp>
      <p:pic>
        <p:nvPicPr>
          <p:cNvPr id="28" name="Picture 27" descr="lock.png"/>
          <p:cNvPicPr>
            <a:picLocks noChangeAspect="1"/>
          </p:cNvPicPr>
          <p:nvPr/>
        </p:nvPicPr>
        <p:blipFill>
          <a:blip r:embed="rId4"/>
          <a:stretch>
            <a:fillRect/>
          </a:stretch>
        </p:blipFill>
        <p:spPr>
          <a:xfrm>
            <a:off x="7222979" y="3821874"/>
            <a:ext cx="134549" cy="195707"/>
          </a:xfrm>
          <a:prstGeom prst="rect">
            <a:avLst/>
          </a:prstGeom>
        </p:spPr>
      </p:pic>
      <p:sp>
        <p:nvSpPr>
          <p:cNvPr id="29" name="TextBox 28"/>
          <p:cNvSpPr txBox="1"/>
          <p:nvPr/>
        </p:nvSpPr>
        <p:spPr>
          <a:xfrm>
            <a:off x="7398088" y="38320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793232" y="3821874"/>
            <a:ext cx="134549" cy="195707"/>
          </a:xfrm>
          <a:prstGeom prst="rect">
            <a:avLst/>
          </a:prstGeom>
        </p:spPr>
      </p:pic>
      <p:sp>
        <p:nvSpPr>
          <p:cNvPr id="31" name="TextBox 30"/>
          <p:cNvSpPr txBox="1"/>
          <p:nvPr/>
        </p:nvSpPr>
        <p:spPr>
          <a:xfrm>
            <a:off x="8968341" y="3832097"/>
            <a:ext cx="2521111" cy="194310"/>
          </a:xfrm>
          <a:prstGeom prst="rect">
            <a:avLst/>
          </a:prstGeom>
          <a:noFill/>
        </p:spPr>
        <p:txBody>
          <a:bodyPr wrap="none" lIns="0" rIns="0" tIns="0" bIns="0">
            <a:spAutoFit/>
          </a:bodyPr>
          <a:lstStyle/>
          <a:p>
            <a:r>
              <a:rPr sz="1150" b="0">
                <a:solidFill>
                  <a:srgbClr val="2E2E2E"/>
                </a:solidFill>
                <a:latin typeface="Calibri"/>
              </a:rPr>
              <a:t>share by 2036. The single wall segment is</a:t>
            </a:r>
          </a:p>
        </p:txBody>
      </p:sp>
      <p:sp>
        <p:nvSpPr>
          <p:cNvPr id="32" name="TextBox 31"/>
          <p:cNvSpPr txBox="1"/>
          <p:nvPr/>
        </p:nvSpPr>
        <p:spPr>
          <a:xfrm>
            <a:off x="276225" y="400735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997134"/>
            <a:ext cx="134549" cy="195707"/>
          </a:xfrm>
          <a:prstGeom prst="rect">
            <a:avLst/>
          </a:prstGeom>
        </p:spPr>
      </p:pic>
      <p:sp>
        <p:nvSpPr>
          <p:cNvPr id="34" name="TextBox 33"/>
          <p:cNvSpPr txBox="1"/>
          <p:nvPr/>
        </p:nvSpPr>
        <p:spPr>
          <a:xfrm>
            <a:off x="1455394" y="40073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997134"/>
            <a:ext cx="134549" cy="195707"/>
          </a:xfrm>
          <a:prstGeom prst="rect">
            <a:avLst/>
          </a:prstGeom>
        </p:spPr>
      </p:pic>
      <p:sp>
        <p:nvSpPr>
          <p:cNvPr id="36" name="TextBox 35"/>
          <p:cNvSpPr txBox="1"/>
          <p:nvPr/>
        </p:nvSpPr>
        <p:spPr>
          <a:xfrm>
            <a:off x="4218008" y="40073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Board Construction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Board Construction,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Board Construction (US$ Mn)</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413248"/>
                <a:gridCol w="616115"/>
                <a:gridCol w="616115"/>
                <a:gridCol w="616115"/>
                <a:gridCol w="616115"/>
                <a:gridCol w="616115"/>
                <a:gridCol w="616115"/>
                <a:gridCol w="616115"/>
                <a:gridCol w="616115"/>
                <a:gridCol w="616115"/>
                <a:gridCol w="616115"/>
                <a:gridCol w="616115"/>
                <a:gridCol w="616115"/>
                <a:gridCol w="616115"/>
                <a:gridCol w="616115"/>
                <a:gridCol w="616115"/>
                <a:gridCol w="616115"/>
                <a:gridCol w="616115"/>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Board Construction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15935" y="1713738"/>
            <a:ext cx="366712" cy="533400"/>
          </a:xfrm>
          <a:prstGeom prst="rect">
            <a:avLst/>
          </a:prstGeom>
        </p:spPr>
      </p:pic>
      <p:sp>
        <p:nvSpPr>
          <p:cNvPr id="21" name="TextBox 20"/>
          <p:cNvSpPr txBox="1"/>
          <p:nvPr/>
        </p:nvSpPr>
        <p:spPr>
          <a:xfrm>
            <a:off x="276225" y="3238500"/>
            <a:ext cx="2615245" cy="194310"/>
          </a:xfrm>
          <a:prstGeom prst="rect">
            <a:avLst/>
          </a:prstGeom>
          <a:noFill/>
        </p:spPr>
        <p:txBody>
          <a:bodyPr wrap="none" lIns="0" rIns="0" tIns="0" bIns="0">
            <a:spAutoFit/>
          </a:bodyPr>
          <a:lstStyle/>
          <a:p>
            <a:r>
              <a:rPr sz="1150" b="0">
                <a:solidFill>
                  <a:srgbClr val="2E2E2E"/>
                </a:solidFill>
                <a:latin typeface="Calibri"/>
              </a:rPr>
              <a:t>Triple wall segment is projected to register</a:t>
            </a:r>
          </a:p>
        </p:txBody>
      </p:sp>
      <p:pic>
        <p:nvPicPr>
          <p:cNvPr id="22" name="Picture 21" descr="lock.png"/>
          <p:cNvPicPr>
            <a:picLocks noChangeAspect="1"/>
          </p:cNvPicPr>
          <p:nvPr/>
        </p:nvPicPr>
        <p:blipFill>
          <a:blip r:embed="rId4"/>
          <a:stretch>
            <a:fillRect/>
          </a:stretch>
        </p:blipFill>
        <p:spPr>
          <a:xfrm>
            <a:off x="2840623" y="3228276"/>
            <a:ext cx="134549" cy="195707"/>
          </a:xfrm>
          <a:prstGeom prst="rect">
            <a:avLst/>
          </a:prstGeom>
        </p:spPr>
      </p:pic>
      <p:sp>
        <p:nvSpPr>
          <p:cNvPr id="23" name="TextBox 22"/>
          <p:cNvSpPr txBox="1"/>
          <p:nvPr/>
        </p:nvSpPr>
        <p:spPr>
          <a:xfrm>
            <a:off x="3015733" y="3238500"/>
            <a:ext cx="8822370" cy="194310"/>
          </a:xfrm>
          <a:prstGeom prst="rect">
            <a:avLst/>
          </a:prstGeom>
          <a:noFill/>
        </p:spPr>
        <p:txBody>
          <a:bodyPr wrap="none" lIns="0" rIns="0" tIns="0" bIns="0">
            <a:spAutoFit/>
          </a:bodyPr>
          <a:lstStyle/>
          <a:p>
            <a:r>
              <a:rPr sz="1150" b="0">
                <a:solidFill>
                  <a:srgbClr val="2E2E2E"/>
                </a:solidFill>
                <a:latin typeface="Calibri"/>
              </a:rPr>
              <a:t>X higher value than double wall segment in 2036. Among corrugated partition by board construction, triple wall segment is expected to witness the</a:t>
            </a:r>
          </a:p>
        </p:txBody>
      </p:sp>
      <p:sp>
        <p:nvSpPr>
          <p:cNvPr id="24" name="TextBox 23"/>
          <p:cNvSpPr txBox="1"/>
          <p:nvPr/>
        </p:nvSpPr>
        <p:spPr>
          <a:xfrm>
            <a:off x="276225" y="341376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403536"/>
            <a:ext cx="134549" cy="195707"/>
          </a:xfrm>
          <a:prstGeom prst="rect">
            <a:avLst/>
          </a:prstGeom>
        </p:spPr>
      </p:pic>
      <p:sp>
        <p:nvSpPr>
          <p:cNvPr id="26" name="TextBox 25"/>
          <p:cNvSpPr txBox="1"/>
          <p:nvPr/>
        </p:nvSpPr>
        <p:spPr>
          <a:xfrm>
            <a:off x="1432841"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6873800" cy="194310"/>
          </a:xfrm>
          <a:prstGeom prst="rect">
            <a:avLst/>
          </a:prstGeom>
          <a:noFill/>
        </p:spPr>
        <p:txBody>
          <a:bodyPr wrap="none" lIns="0" rIns="0" tIns="0" bIns="0">
            <a:spAutoFit/>
          </a:bodyPr>
          <a:lstStyle/>
          <a:p>
            <a:r>
              <a:rPr sz="1150" b="0">
                <a:solidFill>
                  <a:srgbClr val="2E2E2E"/>
                </a:solidFill>
                <a:latin typeface="Calibri"/>
              </a:rPr>
              <a:t>In terms of value share by board construction, the triple wall segment is expected to dominate the market, gaining</a:t>
            </a:r>
          </a:p>
        </p:txBody>
      </p:sp>
      <p:pic>
        <p:nvPicPr>
          <p:cNvPr id="28" name="Picture 27" descr="lock.png"/>
          <p:cNvPicPr>
            <a:picLocks noChangeAspect="1"/>
          </p:cNvPicPr>
          <p:nvPr/>
        </p:nvPicPr>
        <p:blipFill>
          <a:blip r:embed="rId4"/>
          <a:stretch>
            <a:fillRect/>
          </a:stretch>
        </p:blipFill>
        <p:spPr>
          <a:xfrm>
            <a:off x="7099179" y="3631374"/>
            <a:ext cx="134549" cy="195707"/>
          </a:xfrm>
          <a:prstGeom prst="rect">
            <a:avLst/>
          </a:prstGeom>
        </p:spPr>
      </p:pic>
      <p:sp>
        <p:nvSpPr>
          <p:cNvPr id="29" name="TextBox 28"/>
          <p:cNvSpPr txBox="1"/>
          <p:nvPr/>
        </p:nvSpPr>
        <p:spPr>
          <a:xfrm>
            <a:off x="7274288"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69431" y="3631374"/>
            <a:ext cx="134549" cy="195707"/>
          </a:xfrm>
          <a:prstGeom prst="rect">
            <a:avLst/>
          </a:prstGeom>
        </p:spPr>
      </p:pic>
      <p:sp>
        <p:nvSpPr>
          <p:cNvPr id="31" name="TextBox 30"/>
          <p:cNvSpPr txBox="1"/>
          <p:nvPr/>
        </p:nvSpPr>
        <p:spPr>
          <a:xfrm>
            <a:off x="8844541" y="3641597"/>
            <a:ext cx="2521111" cy="194310"/>
          </a:xfrm>
          <a:prstGeom prst="rect">
            <a:avLst/>
          </a:prstGeom>
          <a:noFill/>
        </p:spPr>
        <p:txBody>
          <a:bodyPr wrap="none" lIns="0" rIns="0" tIns="0" bIns="0">
            <a:spAutoFit/>
          </a:bodyPr>
          <a:lstStyle/>
          <a:p>
            <a:r>
              <a:rPr sz="1150" b="0">
                <a:solidFill>
                  <a:srgbClr val="2E2E2E"/>
                </a:solidFill>
                <a:latin typeface="Calibri"/>
              </a:rPr>
              <a:t>share by 2036. The single wall segment is</a:t>
            </a:r>
          </a:p>
        </p:txBody>
      </p:sp>
      <p:sp>
        <p:nvSpPr>
          <p:cNvPr id="32" name="TextBox 31"/>
          <p:cNvSpPr txBox="1"/>
          <p:nvPr/>
        </p:nvSpPr>
        <p:spPr>
          <a:xfrm>
            <a:off x="276225" y="381685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806634"/>
            <a:ext cx="134549" cy="195707"/>
          </a:xfrm>
          <a:prstGeom prst="rect">
            <a:avLst/>
          </a:prstGeom>
        </p:spPr>
      </p:pic>
      <p:sp>
        <p:nvSpPr>
          <p:cNvPr id="34" name="TextBox 33"/>
          <p:cNvSpPr txBox="1"/>
          <p:nvPr/>
        </p:nvSpPr>
        <p:spPr>
          <a:xfrm>
            <a:off x="1455394" y="38168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806634"/>
            <a:ext cx="134549" cy="195707"/>
          </a:xfrm>
          <a:prstGeom prst="rect">
            <a:avLst/>
          </a:prstGeom>
        </p:spPr>
      </p:pic>
      <p:sp>
        <p:nvSpPr>
          <p:cNvPr id="36" name="TextBox 35"/>
          <p:cNvSpPr txBox="1"/>
          <p:nvPr/>
        </p:nvSpPr>
        <p:spPr>
          <a:xfrm>
            <a:off x="4218008" y="38168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Board Construction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Board Construction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Board Construction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581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105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485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Single Wall</a:t>
            </a:r>
          </a:p>
        </p:txBody>
      </p:sp>
      <p:sp>
        <p:nvSpPr>
          <p:cNvPr id="19" name="BPS Value 1"/>
          <p:cNvSpPr txBox="1"/>
          <p:nvPr/>
        </p:nvSpPr>
        <p:spPr>
          <a:xfrm>
            <a:off x="6896100" y="201676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35225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3474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712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Double Wall</a:t>
            </a:r>
          </a:p>
        </p:txBody>
      </p:sp>
      <p:sp>
        <p:nvSpPr>
          <p:cNvPr id="23" name="BPS Value 2"/>
          <p:cNvSpPr txBox="1"/>
          <p:nvPr/>
        </p:nvSpPr>
        <p:spPr>
          <a:xfrm>
            <a:off x="6896100" y="333320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27388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2691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1929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Triple Wall</a:t>
            </a:r>
          </a:p>
        </p:txBody>
      </p:sp>
      <p:sp>
        <p:nvSpPr>
          <p:cNvPr id="27" name="BPS Value 3"/>
          <p:cNvSpPr txBox="1"/>
          <p:nvPr/>
        </p:nvSpPr>
        <p:spPr>
          <a:xfrm>
            <a:off x="6896100" y="525483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Board Construction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740571" cy="194310"/>
          </a:xfrm>
          <a:prstGeom prst="rect">
            <a:avLst/>
          </a:prstGeom>
          <a:noFill/>
        </p:spPr>
        <p:txBody>
          <a:bodyPr wrap="none" lIns="0" rIns="0" tIns="0" bIns="0">
            <a:spAutoFit/>
          </a:bodyPr>
          <a:lstStyle/>
          <a:p>
            <a:r>
              <a:rPr sz="1150" b="0">
                <a:solidFill>
                  <a:srgbClr val="2E2E2E"/>
                </a:solidFill>
                <a:latin typeface="Calibri"/>
              </a:rPr>
              <a:t>Among corrugated partition by board construction, triple wall</a:t>
            </a:r>
          </a:p>
        </p:txBody>
      </p:sp>
      <p:sp>
        <p:nvSpPr>
          <p:cNvPr id="35" name="TextBox 34"/>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36" name="Picture 35" descr="lock.png"/>
          <p:cNvPicPr>
            <a:picLocks noChangeAspect="1"/>
          </p:cNvPicPr>
          <p:nvPr/>
        </p:nvPicPr>
        <p:blipFill>
          <a:blip r:embed="rId5"/>
          <a:stretch>
            <a:fillRect/>
          </a:stretch>
        </p:blipFill>
        <p:spPr>
          <a:xfrm>
            <a:off x="10935343" y="1565211"/>
            <a:ext cx="134549" cy="195707"/>
          </a:xfrm>
          <a:prstGeom prst="rect">
            <a:avLst/>
          </a:prstGeom>
        </p:spPr>
      </p:pic>
      <p:sp>
        <p:nvSpPr>
          <p:cNvPr id="37" name="TextBox 36"/>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38" name="TextBox 37"/>
          <p:cNvSpPr txBox="1"/>
          <p:nvPr/>
        </p:nvSpPr>
        <p:spPr>
          <a:xfrm>
            <a:off x="7829550" y="1750695"/>
            <a:ext cx="4020405" cy="194310"/>
          </a:xfrm>
          <a:prstGeom prst="rect">
            <a:avLst/>
          </a:prstGeom>
          <a:noFill/>
        </p:spPr>
        <p:txBody>
          <a:bodyPr wrap="none" lIns="0" rIns="0" tIns="0" bIns="0">
            <a:spAutoFit/>
          </a:bodyPr>
          <a:lstStyle/>
          <a:p>
            <a:r>
              <a:rPr sz="1150" b="0">
                <a:solidFill>
                  <a:srgbClr val="2E2E2E"/>
                </a:solidFill>
                <a:latin typeface="Calibri"/>
              </a:rPr>
              <a:t>forecast period. In terms of value share by board construction, the</a:t>
            </a:r>
          </a:p>
        </p:txBody>
      </p:sp>
      <p:sp>
        <p:nvSpPr>
          <p:cNvPr id="39" name="TextBox 38"/>
          <p:cNvSpPr txBox="1"/>
          <p:nvPr/>
        </p:nvSpPr>
        <p:spPr>
          <a:xfrm>
            <a:off x="7829550" y="1925955"/>
            <a:ext cx="3870647" cy="194310"/>
          </a:xfrm>
          <a:prstGeom prst="rect">
            <a:avLst/>
          </a:prstGeom>
          <a:noFill/>
        </p:spPr>
        <p:txBody>
          <a:bodyPr wrap="none" lIns="0" rIns="0" tIns="0" bIns="0">
            <a:spAutoFit/>
          </a:bodyPr>
          <a:lstStyle/>
          <a:p>
            <a:r>
              <a:rPr sz="1150" b="0">
                <a:solidFill>
                  <a:srgbClr val="2E2E2E"/>
                </a:solidFill>
                <a:latin typeface="Calibri"/>
              </a:rPr>
              <a:t>triple wall segment is expected to dominate the market, gaining</a:t>
            </a:r>
          </a:p>
        </p:txBody>
      </p:sp>
      <p:pic>
        <p:nvPicPr>
          <p:cNvPr id="40" name="Picture 39" descr="lock.png"/>
          <p:cNvPicPr>
            <a:picLocks noChangeAspect="1"/>
          </p:cNvPicPr>
          <p:nvPr/>
        </p:nvPicPr>
        <p:blipFill>
          <a:blip r:embed="rId5"/>
          <a:stretch>
            <a:fillRect/>
          </a:stretch>
        </p:blipFill>
        <p:spPr>
          <a:xfrm>
            <a:off x="7815470" y="2090991"/>
            <a:ext cx="134549" cy="195707"/>
          </a:xfrm>
          <a:prstGeom prst="rect">
            <a:avLst/>
          </a:prstGeom>
        </p:spPr>
      </p:pic>
      <p:sp>
        <p:nvSpPr>
          <p:cNvPr id="41" name="TextBox 40"/>
          <p:cNvSpPr txBox="1"/>
          <p:nvPr/>
        </p:nvSpPr>
        <p:spPr>
          <a:xfrm>
            <a:off x="7990579"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2" name="Picture 41" descr="lock.png"/>
          <p:cNvPicPr>
            <a:picLocks noChangeAspect="1"/>
          </p:cNvPicPr>
          <p:nvPr/>
        </p:nvPicPr>
        <p:blipFill>
          <a:blip r:embed="rId5"/>
          <a:stretch>
            <a:fillRect/>
          </a:stretch>
        </p:blipFill>
        <p:spPr>
          <a:xfrm>
            <a:off x="9385722" y="2090991"/>
            <a:ext cx="134549" cy="195707"/>
          </a:xfrm>
          <a:prstGeom prst="rect">
            <a:avLst/>
          </a:prstGeom>
        </p:spPr>
      </p:pic>
      <p:sp>
        <p:nvSpPr>
          <p:cNvPr id="43" name="TextBox 42"/>
          <p:cNvSpPr txBox="1"/>
          <p:nvPr/>
        </p:nvSpPr>
        <p:spPr>
          <a:xfrm>
            <a:off x="9560832"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4" name="TextBox 43"/>
          <p:cNvSpPr txBox="1"/>
          <p:nvPr/>
        </p:nvSpPr>
        <p:spPr>
          <a:xfrm>
            <a:off x="7829550" y="2329053"/>
            <a:ext cx="2629792" cy="194310"/>
          </a:xfrm>
          <a:prstGeom prst="rect">
            <a:avLst/>
          </a:prstGeom>
          <a:noFill/>
        </p:spPr>
        <p:txBody>
          <a:bodyPr wrap="none" lIns="0" rIns="0" tIns="0" bIns="0">
            <a:spAutoFit/>
          </a:bodyPr>
          <a:lstStyle/>
          <a:p>
            <a:r>
              <a:rPr sz="1150" b="0">
                <a:solidFill>
                  <a:srgbClr val="2E2E2E"/>
                </a:solidFill>
                <a:latin typeface="Calibri"/>
              </a:rPr>
              <a:t>The single wall segment is expected to lose</a:t>
            </a:r>
          </a:p>
        </p:txBody>
      </p:sp>
      <p:pic>
        <p:nvPicPr>
          <p:cNvPr id="45" name="Picture 44" descr="lock.png"/>
          <p:cNvPicPr>
            <a:picLocks noChangeAspect="1"/>
          </p:cNvPicPr>
          <p:nvPr/>
        </p:nvPicPr>
        <p:blipFill>
          <a:blip r:embed="rId5"/>
          <a:stretch>
            <a:fillRect/>
          </a:stretch>
        </p:blipFill>
        <p:spPr>
          <a:xfrm>
            <a:off x="10408496" y="2318829"/>
            <a:ext cx="134549" cy="195707"/>
          </a:xfrm>
          <a:prstGeom prst="rect">
            <a:avLst/>
          </a:prstGeom>
        </p:spPr>
      </p:pic>
      <p:sp>
        <p:nvSpPr>
          <p:cNvPr id="46" name="TextBox 45"/>
          <p:cNvSpPr txBox="1"/>
          <p:nvPr/>
        </p:nvSpPr>
        <p:spPr>
          <a:xfrm>
            <a:off x="10583606" y="232905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47" name="TextBox 46"/>
          <p:cNvSpPr txBox="1"/>
          <p:nvPr/>
        </p:nvSpPr>
        <p:spPr>
          <a:xfrm>
            <a:off x="7829550" y="2504313"/>
            <a:ext cx="1851620" cy="194310"/>
          </a:xfrm>
          <a:prstGeom prst="rect">
            <a:avLst/>
          </a:prstGeom>
          <a:noFill/>
        </p:spPr>
        <p:txBody>
          <a:bodyPr wrap="none" lIns="0" rIns="0" tIns="0" bIns="0">
            <a:spAutoFit/>
          </a:bodyPr>
          <a:lstStyle/>
          <a:p>
            <a:r>
              <a:rPr sz="1150" b="0">
                <a:solidFill>
                  <a:srgbClr val="2E2E2E"/>
                </a:solidFill>
                <a:latin typeface="Calibri"/>
              </a:rPr>
              <a:t>forecast period to account for</a:t>
            </a:r>
          </a:p>
        </p:txBody>
      </p:sp>
      <p:pic>
        <p:nvPicPr>
          <p:cNvPr id="48" name="Picture 47" descr="lock.png"/>
          <p:cNvPicPr>
            <a:picLocks noChangeAspect="1"/>
          </p:cNvPicPr>
          <p:nvPr/>
        </p:nvPicPr>
        <p:blipFill>
          <a:blip r:embed="rId5"/>
          <a:stretch>
            <a:fillRect/>
          </a:stretch>
        </p:blipFill>
        <p:spPr>
          <a:xfrm>
            <a:off x="9630324" y="2494089"/>
            <a:ext cx="134549" cy="195707"/>
          </a:xfrm>
          <a:prstGeom prst="rect">
            <a:avLst/>
          </a:prstGeom>
        </p:spPr>
      </p:pic>
      <p:sp>
        <p:nvSpPr>
          <p:cNvPr id="49" name="TextBox 48"/>
          <p:cNvSpPr txBox="1"/>
          <p:nvPr/>
        </p:nvSpPr>
        <p:spPr>
          <a:xfrm>
            <a:off x="980543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Board Construction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Board Construction,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gridCol w="689251"/>
                <a:gridCol w="689251"/>
                <a:gridCol w="689251"/>
                <a:gridCol w="689251"/>
                <a:gridCol w="689251"/>
                <a:gridCol w="689251"/>
                <a:gridCol w="689251"/>
                <a:gridCol w="689251"/>
                <a:gridCol w="689251"/>
                <a:gridCol w="689251"/>
                <a:gridCol w="689251"/>
                <a:gridCol w="689251"/>
                <a:gridCol w="689251"/>
                <a:gridCol w="689251"/>
                <a:gridCol w="689251"/>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Board Construction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 Wall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Double Wall</a:t>
            </a:r>
          </a:p>
        </p:txBody>
      </p:sp>
      <p:sp>
        <p:nvSpPr>
          <p:cNvPr id="49" name="Rectangle 48"/>
          <p:cNvSpPr/>
          <p:nvPr/>
        </p:nvSpPr>
        <p:spPr>
          <a:xfrm>
            <a:off x="1857375" y="4191000"/>
            <a:ext cx="643890" cy="1190625"/>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D61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Triple Wall</a:t>
            </a:r>
          </a:p>
        </p:txBody>
      </p:sp>
      <p:sp>
        <p:nvSpPr>
          <p:cNvPr id="65" name="Rectangle 64"/>
          <p:cNvSpPr/>
          <p:nvPr/>
        </p:nvSpPr>
        <p:spPr>
          <a:xfrm>
            <a:off x="185737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683521"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Board Construction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Board Construction,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gridCol w="689251"/>
                <a:gridCol w="689251"/>
                <a:gridCol w="689251"/>
                <a:gridCol w="689251"/>
                <a:gridCol w="689251"/>
                <a:gridCol w="689251"/>
                <a:gridCol w="689251"/>
                <a:gridCol w="689251"/>
                <a:gridCol w="689251"/>
                <a:gridCol w="689251"/>
                <a:gridCol w="689251"/>
                <a:gridCol w="689251"/>
                <a:gridCol w="689251"/>
                <a:gridCol w="689251"/>
                <a:gridCol w="689251"/>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Board Construction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 Wall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Double Wall</a:t>
            </a:r>
          </a:p>
        </p:txBody>
      </p:sp>
      <p:sp>
        <p:nvSpPr>
          <p:cNvPr id="49" name="Rectangle 48"/>
          <p:cNvSpPr/>
          <p:nvPr/>
        </p:nvSpPr>
        <p:spPr>
          <a:xfrm>
            <a:off x="1857375" y="4191000"/>
            <a:ext cx="643890" cy="119062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Triple Wall</a:t>
            </a:r>
          </a:p>
        </p:txBody>
      </p:sp>
      <p:sp>
        <p:nvSpPr>
          <p:cNvPr id="65" name="Rectangle 64"/>
          <p:cNvSpPr/>
          <p:nvPr/>
        </p:nvSpPr>
        <p:spPr>
          <a:xfrm>
            <a:off x="185737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683521" y="1589913"/>
            <a:ext cx="366712" cy="533400"/>
          </a:xfrm>
          <a:prstGeom prst="rect">
            <a:avLst/>
          </a:prstGeom>
        </p:spPr>
      </p:pic>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Source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Source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Source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Material Source,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Source segment categorizes the market by material source.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Virgin Kraft Fibre-based</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Recycled Fibre-based</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Source split shows how demand is distributed across material source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596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4_18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9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603_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999_4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2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4786" cy="179984"/>
          </a:xfrm>
          <a:prstGeom prst="rect">
            <a:avLst/>
          </a:prstGeom>
          <a:noFill/>
        </p:spPr>
        <p:txBody>
          <a:bodyPr wrap="none" lIns="0" rIns="0" tIns="0" bIns="0">
            <a:spAutoFit/>
          </a:bodyPr>
          <a:lstStyle/>
          <a:p>
            <a:r>
              <a:rPr sz="1055" b="0">
                <a:solidFill>
                  <a:srgbClr val="2E2E2E"/>
                </a:solidFill>
                <a:latin typeface="Calibri"/>
              </a:rPr>
              <a:t>▪ ¶ Among corrugated partition by material source,</a:t>
            </a:r>
          </a:p>
        </p:txBody>
      </p:sp>
      <p:sp>
        <p:nvSpPr>
          <p:cNvPr id="59" name="TextBox 58"/>
          <p:cNvSpPr txBox="1"/>
          <p:nvPr/>
        </p:nvSpPr>
        <p:spPr>
          <a:xfrm>
            <a:off x="485775" y="4390371"/>
            <a:ext cx="2742461" cy="179984"/>
          </a:xfrm>
          <a:prstGeom prst="rect">
            <a:avLst/>
          </a:prstGeom>
          <a:noFill/>
        </p:spPr>
        <p:txBody>
          <a:bodyPr wrap="none" lIns="0" rIns="0" tIns="0" bIns="0">
            <a:spAutoFit/>
          </a:bodyPr>
          <a:lstStyle/>
          <a:p>
            <a:r>
              <a:rPr sz="1055" b="0">
                <a:solidFill>
                  <a:srgbClr val="2E2E2E"/>
                </a:solidFill>
                <a:latin typeface="Calibri"/>
              </a:rPr>
              <a:t>recycled fibre-based (testliner/recycled medium)</a:t>
            </a:r>
          </a:p>
        </p:txBody>
      </p:sp>
      <p:sp>
        <p:nvSpPr>
          <p:cNvPr id="60" name="TextBox 59"/>
          <p:cNvSpPr txBox="1"/>
          <p:nvPr/>
        </p:nvSpPr>
        <p:spPr>
          <a:xfrm>
            <a:off x="485775" y="4551305"/>
            <a:ext cx="2904846" cy="179984"/>
          </a:xfrm>
          <a:prstGeom prst="rect">
            <a:avLst/>
          </a:prstGeom>
          <a:noFill/>
        </p:spPr>
        <p:txBody>
          <a:bodyPr wrap="none" lIns="0" rIns="0" tIns="0" bIns="0">
            <a:spAutoFit/>
          </a:bodyPr>
          <a:lstStyle/>
          <a:p>
            <a:r>
              <a:rPr sz="1055" b="0">
                <a:solidFill>
                  <a:srgbClr val="2E2E2E"/>
                </a:solidFill>
                <a:latin typeface="Calibri"/>
              </a:rPr>
              <a:t>segment is expected to witness the highest CAGR of</a:t>
            </a:r>
          </a:p>
        </p:txBody>
      </p:sp>
      <p:pic>
        <p:nvPicPr>
          <p:cNvPr id="61" name="Picture 60" descr="lock.png"/>
          <p:cNvPicPr>
            <a:picLocks noChangeAspect="1"/>
          </p:cNvPicPr>
          <p:nvPr/>
        </p:nvPicPr>
        <p:blipFill>
          <a:blip r:embed="rId10"/>
          <a:stretch>
            <a:fillRect/>
          </a:stretch>
        </p:blipFill>
        <p:spPr>
          <a:xfrm>
            <a:off x="472846" y="4702852"/>
            <a:ext cx="123551" cy="179710"/>
          </a:xfrm>
          <a:prstGeom prst="rect">
            <a:avLst/>
          </a:prstGeom>
        </p:spPr>
      </p:pic>
      <p:sp>
        <p:nvSpPr>
          <p:cNvPr id="62" name="TextBox 61"/>
          <p:cNvSpPr txBox="1"/>
          <p:nvPr/>
        </p:nvSpPr>
        <p:spPr>
          <a:xfrm>
            <a:off x="633642" y="4712240"/>
            <a:ext cx="2707886" cy="179984"/>
          </a:xfrm>
          <a:prstGeom prst="rect">
            <a:avLst/>
          </a:prstGeom>
          <a:noFill/>
        </p:spPr>
        <p:txBody>
          <a:bodyPr wrap="none" lIns="0" rIns="0" tIns="0" bIns="0">
            <a:spAutoFit/>
          </a:bodyPr>
          <a:lstStyle/>
          <a:p>
            <a:r>
              <a:rPr sz="1055" b="0">
                <a:solidFill>
                  <a:srgbClr val="2E2E2E"/>
                </a:solidFill>
                <a:latin typeface="Calibri"/>
              </a:rPr>
              <a:t>over the forecast period. In terms of value share</a:t>
            </a:r>
          </a:p>
        </p:txBody>
      </p:sp>
      <p:sp>
        <p:nvSpPr>
          <p:cNvPr id="63" name="TextBox 62"/>
          <p:cNvSpPr txBox="1"/>
          <p:nvPr/>
        </p:nvSpPr>
        <p:spPr>
          <a:xfrm>
            <a:off x="485775" y="4873174"/>
            <a:ext cx="2607825" cy="179984"/>
          </a:xfrm>
          <a:prstGeom prst="rect">
            <a:avLst/>
          </a:prstGeom>
          <a:noFill/>
        </p:spPr>
        <p:txBody>
          <a:bodyPr wrap="none" lIns="0" rIns="0" tIns="0" bIns="0">
            <a:spAutoFit/>
          </a:bodyPr>
          <a:lstStyle/>
          <a:p>
            <a:r>
              <a:rPr sz="1055" b="0">
                <a:solidFill>
                  <a:srgbClr val="2E2E2E"/>
                </a:solidFill>
                <a:latin typeface="Calibri"/>
              </a:rPr>
              <a:t>by material source, the virgin kraft fibre-based</a:t>
            </a:r>
          </a:p>
        </p:txBody>
      </p:sp>
      <p:sp>
        <p:nvSpPr>
          <p:cNvPr id="64" name="TextBox 63"/>
          <p:cNvSpPr txBox="1"/>
          <p:nvPr/>
        </p:nvSpPr>
        <p:spPr>
          <a:xfrm>
            <a:off x="485775" y="5034109"/>
            <a:ext cx="2912197" cy="179984"/>
          </a:xfrm>
          <a:prstGeom prst="rect">
            <a:avLst/>
          </a:prstGeom>
          <a:noFill/>
        </p:spPr>
        <p:txBody>
          <a:bodyPr wrap="none" lIns="0" rIns="0" tIns="0" bIns="0">
            <a:spAutoFit/>
          </a:bodyPr>
          <a:lstStyle/>
          <a:p>
            <a:r>
              <a:rPr sz="1055" b="0">
                <a:solidFill>
                  <a:srgbClr val="2E2E2E"/>
                </a:solidFill>
                <a:latin typeface="Calibri"/>
              </a:rPr>
              <a:t>segment is expected to dominate the market, losing</a:t>
            </a:r>
          </a:p>
        </p:txBody>
      </p:sp>
      <p:pic>
        <p:nvPicPr>
          <p:cNvPr id="65" name="Picture 64" descr="lock.png"/>
          <p:cNvPicPr>
            <a:picLocks noChangeAspect="1"/>
          </p:cNvPicPr>
          <p:nvPr/>
        </p:nvPicPr>
        <p:blipFill>
          <a:blip r:embed="rId10"/>
          <a:stretch>
            <a:fillRect/>
          </a:stretch>
        </p:blipFill>
        <p:spPr>
          <a:xfrm>
            <a:off x="472846" y="5185655"/>
            <a:ext cx="123551" cy="179710"/>
          </a:xfrm>
          <a:prstGeom prst="rect">
            <a:avLst/>
          </a:prstGeom>
        </p:spPr>
      </p:pic>
      <p:sp>
        <p:nvSpPr>
          <p:cNvPr id="66" name="TextBox 65"/>
          <p:cNvSpPr txBox="1"/>
          <p:nvPr/>
        </p:nvSpPr>
        <p:spPr>
          <a:xfrm>
            <a:off x="633642" y="5195043"/>
            <a:ext cx="1334023" cy="179984"/>
          </a:xfrm>
          <a:prstGeom prst="rect">
            <a:avLst/>
          </a:prstGeom>
          <a:noFill/>
        </p:spPr>
        <p:txBody>
          <a:bodyPr wrap="none" lIns="0" rIns="0" tIns="0" bIns="0">
            <a:spAutoFit/>
          </a:bodyPr>
          <a:lstStyle/>
          <a:p>
            <a:r>
              <a:rPr sz="1055" b="0">
                <a:solidFill>
                  <a:srgbClr val="2E2E2E"/>
                </a:solidFill>
                <a:latin typeface="Calibri"/>
              </a:rPr>
              <a:t>BPS and accounting for</a:t>
            </a:r>
          </a:p>
        </p:txBody>
      </p:sp>
      <p:pic>
        <p:nvPicPr>
          <p:cNvPr id="67" name="Picture 66" descr="lock.png"/>
          <p:cNvPicPr>
            <a:picLocks noChangeAspect="1"/>
          </p:cNvPicPr>
          <p:nvPr/>
        </p:nvPicPr>
        <p:blipFill>
          <a:blip r:embed="rId10"/>
          <a:stretch>
            <a:fillRect/>
          </a:stretch>
        </p:blipFill>
        <p:spPr>
          <a:xfrm>
            <a:off x="1914747" y="5185655"/>
            <a:ext cx="123551" cy="179710"/>
          </a:xfrm>
          <a:prstGeom prst="rect">
            <a:avLst/>
          </a:prstGeom>
        </p:spPr>
      </p:pic>
      <p:sp>
        <p:nvSpPr>
          <p:cNvPr id="68" name="TextBox 67"/>
          <p:cNvSpPr txBox="1"/>
          <p:nvPr/>
        </p:nvSpPr>
        <p:spPr>
          <a:xfrm>
            <a:off x="2075543" y="5195043"/>
            <a:ext cx="875109" cy="179984"/>
          </a:xfrm>
          <a:prstGeom prst="rect">
            <a:avLst/>
          </a:prstGeom>
          <a:noFill/>
        </p:spPr>
        <p:txBody>
          <a:bodyPr wrap="none" lIns="0" rIns="0" tIns="0" bIns="0">
            <a:spAutoFit/>
          </a:bodyPr>
          <a:lstStyle/>
          <a:p>
            <a:r>
              <a:rPr sz="1055" b="0">
                <a:solidFill>
                  <a:srgbClr val="2E2E2E"/>
                </a:solidFill>
                <a:latin typeface="Calibri"/>
              </a:rPr>
              <a:t>share by 2036.</a:t>
            </a:r>
          </a:p>
        </p:txBody>
      </p:sp>
      <p:sp>
        <p:nvSpPr>
          <p:cNvPr id="69" name="TextBox 68"/>
          <p:cNvSpPr txBox="1"/>
          <p:nvPr/>
        </p:nvSpPr>
        <p:spPr>
          <a:xfrm>
            <a:off x="485775" y="5404258"/>
            <a:ext cx="2840164" cy="179984"/>
          </a:xfrm>
          <a:prstGeom prst="rect">
            <a:avLst/>
          </a:prstGeom>
          <a:noFill/>
        </p:spPr>
        <p:txBody>
          <a:bodyPr wrap="none" lIns="0" rIns="0" tIns="0" bIns="0">
            <a:spAutoFit/>
          </a:bodyPr>
          <a:lstStyle/>
          <a:p>
            <a:r>
              <a:rPr sz="1055" b="0">
                <a:solidFill>
                  <a:srgbClr val="2E2E2E"/>
                </a:solidFill>
                <a:latin typeface="Calibri"/>
              </a:rPr>
              <a:t>▪ ¶ Virgin kraft fibre-based segment is projected to</a:t>
            </a:r>
          </a:p>
        </p:txBody>
      </p:sp>
      <p:sp>
        <p:nvSpPr>
          <p:cNvPr id="70" name="TextBox 69"/>
          <p:cNvSpPr txBox="1"/>
          <p:nvPr/>
        </p:nvSpPr>
        <p:spPr>
          <a:xfrm>
            <a:off x="485775" y="5565192"/>
            <a:ext cx="495038" cy="179984"/>
          </a:xfrm>
          <a:prstGeom prst="rect">
            <a:avLst/>
          </a:prstGeom>
          <a:noFill/>
        </p:spPr>
        <p:txBody>
          <a:bodyPr wrap="none" lIns="0" rIns="0" tIns="0" bIns="0">
            <a:spAutoFit/>
          </a:bodyPr>
          <a:lstStyle/>
          <a:p>
            <a:r>
              <a:rPr sz="1055" b="0">
                <a:solidFill>
                  <a:srgbClr val="2E2E2E"/>
                </a:solidFill>
                <a:latin typeface="Calibri"/>
              </a:rPr>
              <a:t>register</a:t>
            </a:r>
          </a:p>
        </p:txBody>
      </p:sp>
      <p:pic>
        <p:nvPicPr>
          <p:cNvPr id="71" name="Picture 70" descr="lock.png"/>
          <p:cNvPicPr>
            <a:picLocks noChangeAspect="1"/>
          </p:cNvPicPr>
          <p:nvPr/>
        </p:nvPicPr>
        <p:blipFill>
          <a:blip r:embed="rId10"/>
          <a:stretch>
            <a:fillRect/>
          </a:stretch>
        </p:blipFill>
        <p:spPr>
          <a:xfrm>
            <a:off x="927894" y="5555804"/>
            <a:ext cx="123551" cy="179710"/>
          </a:xfrm>
          <a:prstGeom prst="rect">
            <a:avLst/>
          </a:prstGeom>
        </p:spPr>
      </p:pic>
      <p:sp>
        <p:nvSpPr>
          <p:cNvPr id="72" name="TextBox 71"/>
          <p:cNvSpPr txBox="1"/>
          <p:nvPr/>
        </p:nvSpPr>
        <p:spPr>
          <a:xfrm>
            <a:off x="1088690" y="5565192"/>
            <a:ext cx="2267045" cy="179984"/>
          </a:xfrm>
          <a:prstGeom prst="rect">
            <a:avLst/>
          </a:prstGeom>
          <a:noFill/>
        </p:spPr>
        <p:txBody>
          <a:bodyPr wrap="none" lIns="0" rIns="0" tIns="0" bIns="0">
            <a:spAutoFit/>
          </a:bodyPr>
          <a:lstStyle/>
          <a:p>
            <a:r>
              <a:rPr sz="1055" b="0">
                <a:solidFill>
                  <a:srgbClr val="2E2E2E"/>
                </a:solidFill>
                <a:latin typeface="Calibri"/>
              </a:rPr>
              <a:t>X higher value than recycled fibre-based</a:t>
            </a:r>
          </a:p>
        </p:txBody>
      </p:sp>
      <p:sp>
        <p:nvSpPr>
          <p:cNvPr id="73" name="TextBox 72"/>
          <p:cNvSpPr txBox="1"/>
          <p:nvPr/>
        </p:nvSpPr>
        <p:spPr>
          <a:xfrm>
            <a:off x="485775" y="5726126"/>
            <a:ext cx="2574559" cy="179984"/>
          </a:xfrm>
          <a:prstGeom prst="rect">
            <a:avLst/>
          </a:prstGeom>
          <a:noFill/>
        </p:spPr>
        <p:txBody>
          <a:bodyPr wrap="none" lIns="0" rIns="0" tIns="0" bIns="0">
            <a:spAutoFit/>
          </a:bodyPr>
          <a:lstStyle/>
          <a:p>
            <a:r>
              <a:rPr sz="1055" b="0">
                <a:solidFill>
                  <a:srgbClr val="2E2E2E"/>
                </a:solidFill>
                <a:latin typeface="Calibri"/>
              </a:rPr>
              <a:t>(testliner/recycled medium) segment in 2036.</a:t>
            </a:r>
          </a:p>
        </p:txBody>
      </p:sp>
      <p:sp>
        <p:nvSpPr>
          <p:cNvPr id="74" name="TextBox 73"/>
          <p:cNvSpPr txBox="1"/>
          <p:nvPr/>
        </p:nvSpPr>
        <p:spPr>
          <a:xfrm>
            <a:off x="3838575" y="4229437"/>
            <a:ext cx="1571119" cy="186689"/>
          </a:xfrm>
          <a:prstGeom prst="rect">
            <a:avLst/>
          </a:prstGeom>
          <a:noFill/>
        </p:spPr>
        <p:txBody>
          <a:bodyPr wrap="none" lIns="0" rIns="0" tIns="0" bIns="0">
            <a:spAutoFit/>
          </a:bodyPr>
          <a:lstStyle/>
          <a:p>
            <a:r>
              <a:rPr sz="1100" b="0">
                <a:solidFill>
                  <a:srgbClr val="2E2E2E"/>
                </a:solidFill>
                <a:latin typeface="Calibri"/>
              </a:rPr>
              <a:t>● Virgin Kraft Fibre-based:</a:t>
            </a:r>
          </a:p>
        </p:txBody>
      </p:sp>
      <p:pic>
        <p:nvPicPr>
          <p:cNvPr id="75" name="Picture 74" descr="lock.png"/>
          <p:cNvPicPr>
            <a:picLocks noChangeAspect="1"/>
          </p:cNvPicPr>
          <p:nvPr/>
        </p:nvPicPr>
        <p:blipFill>
          <a:blip r:embed="rId10"/>
          <a:stretch>
            <a:fillRect/>
          </a:stretch>
        </p:blipFill>
        <p:spPr>
          <a:xfrm>
            <a:off x="5357746" y="4219658"/>
            <a:ext cx="128699" cy="187198"/>
          </a:xfrm>
          <a:prstGeom prst="rect">
            <a:avLst/>
          </a:prstGeom>
        </p:spPr>
      </p:pic>
      <p:sp>
        <p:nvSpPr>
          <p:cNvPr id="76" name="TextBox 75"/>
          <p:cNvSpPr txBox="1"/>
          <p:nvPr/>
        </p:nvSpPr>
        <p:spPr>
          <a:xfrm>
            <a:off x="5525242"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0"/>
          <a:stretch>
            <a:fillRect/>
          </a:stretch>
        </p:blipFill>
        <p:spPr>
          <a:xfrm>
            <a:off x="6384692" y="4219658"/>
            <a:ext cx="128699" cy="187198"/>
          </a:xfrm>
          <a:prstGeom prst="rect">
            <a:avLst/>
          </a:prstGeom>
        </p:spPr>
      </p:pic>
      <p:sp>
        <p:nvSpPr>
          <p:cNvPr id="78" name="TextBox 77"/>
          <p:cNvSpPr txBox="1"/>
          <p:nvPr/>
        </p:nvSpPr>
        <p:spPr>
          <a:xfrm>
            <a:off x="6552188"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79" name="TextBox 78"/>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80" name="TextBox 79"/>
          <p:cNvSpPr txBox="1"/>
          <p:nvPr/>
        </p:nvSpPr>
        <p:spPr>
          <a:xfrm>
            <a:off x="3838575" y="4615009"/>
            <a:ext cx="3118767" cy="186689"/>
          </a:xfrm>
          <a:prstGeom prst="rect">
            <a:avLst/>
          </a:prstGeom>
          <a:noFill/>
        </p:spPr>
        <p:txBody>
          <a:bodyPr wrap="none" lIns="0" rIns="0" tIns="0" bIns="0">
            <a:spAutoFit/>
          </a:bodyPr>
          <a:lstStyle/>
          <a:p>
            <a:r>
              <a:rPr sz="1100" b="1">
                <a:solidFill>
                  <a:srgbClr val="0E72AE"/>
                </a:solidFill>
                <a:latin typeface="Calibri"/>
              </a:rPr>
              <a:t>● Recycled Fibre-based (testliner/recycled medium):</a:t>
            </a:r>
          </a:p>
        </p:txBody>
      </p:sp>
      <p:pic>
        <p:nvPicPr>
          <p:cNvPr id="81" name="Picture 80" descr="lock.png"/>
          <p:cNvPicPr>
            <a:picLocks noChangeAspect="1"/>
          </p:cNvPicPr>
          <p:nvPr/>
        </p:nvPicPr>
        <p:blipFill>
          <a:blip r:embed="rId10"/>
          <a:stretch>
            <a:fillRect/>
          </a:stretch>
        </p:blipFill>
        <p:spPr>
          <a:xfrm>
            <a:off x="6905394" y="4605230"/>
            <a:ext cx="128699" cy="187198"/>
          </a:xfrm>
          <a:prstGeom prst="rect">
            <a:avLst/>
          </a:prstGeom>
        </p:spPr>
      </p:pic>
      <p:sp>
        <p:nvSpPr>
          <p:cNvPr id="82" name="TextBox 81"/>
          <p:cNvSpPr txBox="1"/>
          <p:nvPr/>
        </p:nvSpPr>
        <p:spPr>
          <a:xfrm>
            <a:off x="7072890" y="4615009"/>
            <a:ext cx="857374" cy="186689"/>
          </a:xfrm>
          <a:prstGeom prst="rect">
            <a:avLst/>
          </a:prstGeom>
          <a:noFill/>
        </p:spPr>
        <p:txBody>
          <a:bodyPr wrap="none" lIns="0" rIns="0" tIns="0" bIns="0">
            <a:spAutoFit/>
          </a:bodyPr>
          <a:lstStyle/>
          <a:p>
            <a:r>
              <a:rPr sz="1100" b="1">
                <a:solidFill>
                  <a:srgbClr val="0E72AE"/>
                </a:solidFill>
                <a:latin typeface="Calibri"/>
              </a:rPr>
              <a:t>of 2026 value</a:t>
            </a:r>
          </a:p>
        </p:txBody>
      </p:sp>
      <p:sp>
        <p:nvSpPr>
          <p:cNvPr id="83" name="TextBox 82"/>
          <p:cNvSpPr txBox="1"/>
          <p:nvPr/>
        </p:nvSpPr>
        <p:spPr>
          <a:xfrm>
            <a:off x="3838575" y="4782649"/>
            <a:ext cx="113580" cy="186689"/>
          </a:xfrm>
          <a:prstGeom prst="rect">
            <a:avLst/>
          </a:prstGeom>
          <a:noFill/>
        </p:spPr>
        <p:txBody>
          <a:bodyPr wrap="none" lIns="0" rIns="0" tIns="0" bIns="0">
            <a:spAutoFit/>
          </a:bodyPr>
          <a:lstStyle/>
          <a:p>
            <a:r>
              <a:rPr sz="1100" b="1">
                <a:solidFill>
                  <a:srgbClr val="0E72AE"/>
                </a:solidFill>
                <a:latin typeface="Calibri"/>
              </a:rPr>
              <a:t>·</a:t>
            </a:r>
          </a:p>
        </p:txBody>
      </p:sp>
      <p:pic>
        <p:nvPicPr>
          <p:cNvPr id="84" name="Picture 83" descr="lock.png"/>
          <p:cNvPicPr>
            <a:picLocks noChangeAspect="1"/>
          </p:cNvPicPr>
          <p:nvPr/>
        </p:nvPicPr>
        <p:blipFill>
          <a:blip r:embed="rId10"/>
          <a:stretch>
            <a:fillRect/>
          </a:stretch>
        </p:blipFill>
        <p:spPr>
          <a:xfrm>
            <a:off x="3900207" y="4772870"/>
            <a:ext cx="128699" cy="187198"/>
          </a:xfrm>
          <a:prstGeom prst="rect">
            <a:avLst/>
          </a:prstGeom>
        </p:spPr>
      </p:pic>
      <p:sp>
        <p:nvSpPr>
          <p:cNvPr id="85" name="TextBox 84"/>
          <p:cNvSpPr txBox="1"/>
          <p:nvPr/>
        </p:nvSpPr>
        <p:spPr>
          <a:xfrm>
            <a:off x="4067703" y="4782649"/>
            <a:ext cx="1245889" cy="186689"/>
          </a:xfrm>
          <a:prstGeom prst="rect">
            <a:avLst/>
          </a:prstGeom>
          <a:noFill/>
        </p:spPr>
        <p:txBody>
          <a:bodyPr wrap="none" lIns="0" rIns="0" tIns="0" bIns="0">
            <a:spAutoFit/>
          </a:bodyPr>
          <a:lstStyle/>
          <a:p>
            <a:r>
              <a:rPr sz="1100" b="1">
                <a:solidFill>
                  <a:srgbClr val="0E72AE"/>
                </a:solidFill>
                <a:latin typeface="Calibri"/>
              </a:rPr>
              <a:t>CAGR grows fastest.</a:t>
            </a:r>
          </a:p>
        </p:txBody>
      </p:sp>
      <p:sp>
        <p:nvSpPr>
          <p:cNvPr id="86" name="TextBox 85"/>
          <p:cNvSpPr txBox="1"/>
          <p:nvPr/>
        </p:nvSpPr>
        <p:spPr>
          <a:xfrm>
            <a:off x="8524875" y="5842641"/>
            <a:ext cx="3103599" cy="194310"/>
          </a:xfrm>
          <a:prstGeom prst="rect">
            <a:avLst/>
          </a:prstGeom>
          <a:noFill/>
        </p:spPr>
        <p:txBody>
          <a:bodyPr wrap="none" lIns="0" rIns="0" tIns="0" bIns="0">
            <a:spAutoFit/>
          </a:bodyPr>
          <a:lstStyle/>
          <a:p>
            <a:r>
              <a:rPr sz="1150" b="1">
                <a:solidFill>
                  <a:srgbClr val="0B2E4A"/>
                </a:solidFill>
                <a:latin typeface="Calibri"/>
              </a:rPr>
              <a:t>The Material Source segment is projected to grow</a:t>
            </a:r>
          </a:p>
        </p:txBody>
      </p:sp>
      <p:sp>
        <p:nvSpPr>
          <p:cNvPr id="87" name="TextBox 86"/>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88" name="Picture 87" descr="lock.png"/>
          <p:cNvPicPr>
            <a:picLocks noChangeAspect="1"/>
          </p:cNvPicPr>
          <p:nvPr/>
        </p:nvPicPr>
        <p:blipFill>
          <a:blip r:embed="rId10"/>
          <a:stretch>
            <a:fillRect/>
          </a:stretch>
        </p:blipFill>
        <p:spPr>
          <a:xfrm>
            <a:off x="9310118" y="6007677"/>
            <a:ext cx="134549" cy="195707"/>
          </a:xfrm>
          <a:prstGeom prst="rect">
            <a:avLst/>
          </a:prstGeom>
        </p:spPr>
      </p:pic>
      <p:sp>
        <p:nvSpPr>
          <p:cNvPr id="89" name="TextBox 88"/>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Material Source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Source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Source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Source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77650" cy="186689"/>
          </a:xfrm>
          <a:prstGeom prst="rect">
            <a:avLst/>
          </a:prstGeom>
          <a:noFill/>
        </p:spPr>
        <p:txBody>
          <a:bodyPr wrap="none" lIns="0" rIns="0" tIns="0" bIns="0">
            <a:spAutoFit/>
          </a:bodyPr>
          <a:lstStyle/>
          <a:p>
            <a:r>
              <a:rPr sz="1100" b="0">
                <a:solidFill>
                  <a:srgbClr val="2E2E2E"/>
                </a:solidFill>
                <a:latin typeface="Calibri"/>
              </a:rPr>
              <a:t>Virgin kraft fibre-based followed by recycled fibre-based (testliner/recycled medium) are expected to be the two most attractive material source segments in the global corrugated partition market in terms</a:t>
            </a:r>
          </a:p>
        </p:txBody>
      </p:sp>
      <p:sp>
        <p:nvSpPr>
          <p:cNvPr id="21" name="TextBox 20"/>
          <p:cNvSpPr txBox="1"/>
          <p:nvPr/>
        </p:nvSpPr>
        <p:spPr>
          <a:xfrm>
            <a:off x="257175" y="5945505"/>
            <a:ext cx="8143039" cy="186689"/>
          </a:xfrm>
          <a:prstGeom prst="rect">
            <a:avLst/>
          </a:prstGeom>
          <a:noFill/>
        </p:spPr>
        <p:txBody>
          <a:bodyPr wrap="none" lIns="0" rIns="0" tIns="0" bIns="0">
            <a:spAutoFit/>
          </a:bodyPr>
          <a:lstStyle/>
          <a:p>
            <a:r>
              <a:rPr sz="1100" b="0">
                <a:solidFill>
                  <a:srgbClr val="2E2E2E"/>
                </a:solidFill>
                <a:latin typeface="Calibri"/>
              </a:rPr>
              <a:t>of value over the forecast period. Virgin kraft fibre-based and recycled fibre-based (testliner/recycled medium) exhibit a CAGR index of 99 and</a:t>
            </a:r>
          </a:p>
        </p:txBody>
      </p:sp>
      <p:pic>
        <p:nvPicPr>
          <p:cNvPr id="22" name="Picture 21" descr="lock.png"/>
          <p:cNvPicPr>
            <a:picLocks noChangeAspect="1"/>
          </p:cNvPicPr>
          <p:nvPr/>
        </p:nvPicPr>
        <p:blipFill>
          <a:blip r:embed="rId6"/>
          <a:stretch>
            <a:fillRect/>
          </a:stretch>
        </p:blipFill>
        <p:spPr>
          <a:xfrm>
            <a:off x="8348265" y="5935726"/>
            <a:ext cx="128699" cy="187198"/>
          </a:xfrm>
          <a:prstGeom prst="rect">
            <a:avLst/>
          </a:prstGeom>
        </p:spPr>
      </p:pic>
      <p:sp>
        <p:nvSpPr>
          <p:cNvPr id="23" name="TextBox 22"/>
          <p:cNvSpPr txBox="1"/>
          <p:nvPr/>
        </p:nvSpPr>
        <p:spPr>
          <a:xfrm>
            <a:off x="8515761"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4" name="Picture 23" descr="lock.png"/>
          <p:cNvPicPr>
            <a:picLocks noChangeAspect="1"/>
          </p:cNvPicPr>
          <p:nvPr/>
        </p:nvPicPr>
        <p:blipFill>
          <a:blip r:embed="rId6"/>
          <a:stretch>
            <a:fillRect/>
          </a:stretch>
        </p:blipFill>
        <p:spPr>
          <a:xfrm>
            <a:off x="10124735" y="5935726"/>
            <a:ext cx="128699" cy="187198"/>
          </a:xfrm>
          <a:prstGeom prst="rect">
            <a:avLst/>
          </a:prstGeom>
        </p:spPr>
      </p:pic>
      <p:sp>
        <p:nvSpPr>
          <p:cNvPr id="25" name="TextBox 24"/>
          <p:cNvSpPr txBox="1"/>
          <p:nvPr/>
        </p:nvSpPr>
        <p:spPr>
          <a:xfrm>
            <a:off x="10292231" y="5945505"/>
            <a:ext cx="1212353" cy="186689"/>
          </a:xfrm>
          <a:prstGeom prst="rect">
            <a:avLst/>
          </a:prstGeom>
          <a:noFill/>
        </p:spPr>
        <p:txBody>
          <a:bodyPr wrap="none" lIns="0" rIns="0" tIns="0" bIns="0">
            <a:spAutoFit/>
          </a:bodyPr>
          <a:lstStyle/>
          <a:p>
            <a:r>
              <a:rPr sz="1100" b="0">
                <a:solidFill>
                  <a:srgbClr val="2E2E2E"/>
                </a:solidFill>
                <a:latin typeface="Calibri"/>
              </a:rPr>
              <a:t>and 38 respectively,</a:t>
            </a:r>
          </a:p>
        </p:txBody>
      </p:sp>
      <p:sp>
        <p:nvSpPr>
          <p:cNvPr id="26" name="TextBox 25"/>
          <p:cNvSpPr txBox="1"/>
          <p:nvPr/>
        </p:nvSpPr>
        <p:spPr>
          <a:xfrm>
            <a:off x="257175" y="6113145"/>
            <a:ext cx="1857375" cy="186689"/>
          </a:xfrm>
          <a:prstGeom prst="rect">
            <a:avLst/>
          </a:prstGeom>
          <a:noFill/>
        </p:spPr>
        <p:txBody>
          <a:bodyPr wrap="none" lIns="0" rIns="0" tIns="0" bIns="0">
            <a:spAutoFit/>
          </a:bodyPr>
          <a:lstStyle/>
          <a:p>
            <a:r>
              <a:rPr sz="1100" b="0">
                <a:solidFill>
                  <a:srgbClr val="2E2E2E"/>
                </a:solidFill>
                <a:latin typeface="Calibri"/>
              </a:rPr>
              <a:t>against the segment average of</a:t>
            </a:r>
          </a:p>
        </p:txBody>
      </p:sp>
      <p:pic>
        <p:nvPicPr>
          <p:cNvPr id="27" name="Picture 26" descr="lock.png"/>
          <p:cNvPicPr>
            <a:picLocks noChangeAspect="1"/>
          </p:cNvPicPr>
          <p:nvPr/>
        </p:nvPicPr>
        <p:blipFill>
          <a:blip r:embed="rId6"/>
          <a:stretch>
            <a:fillRect/>
          </a:stretch>
        </p:blipFill>
        <p:spPr>
          <a:xfrm>
            <a:off x="2062601" y="6103366"/>
            <a:ext cx="128699" cy="187198"/>
          </a:xfrm>
          <a:prstGeom prst="rect">
            <a:avLst/>
          </a:prstGeom>
        </p:spPr>
      </p:pic>
      <p:sp>
        <p:nvSpPr>
          <p:cNvPr id="28" name="TextBox 27"/>
          <p:cNvSpPr txBox="1"/>
          <p:nvPr/>
        </p:nvSpPr>
        <p:spPr>
          <a:xfrm>
            <a:off x="2230097" y="6113145"/>
            <a:ext cx="4443717" cy="186689"/>
          </a:xfrm>
          <a:prstGeom prst="rect">
            <a:avLst/>
          </a:prstGeom>
          <a:noFill/>
        </p:spPr>
        <p:txBody>
          <a:bodyPr wrap="none" lIns="0" rIns="0" tIns="0" bIns="0">
            <a:spAutoFit/>
          </a:bodyPr>
          <a:lstStyle/>
          <a:p>
            <a:r>
              <a:rPr sz="1100" b="0">
                <a:solidFill>
                  <a:srgbClr val="2E2E2E"/>
                </a:solidFill>
                <a:latin typeface="Calibri"/>
              </a:rPr>
              <a:t>. Bubbles right of the CAGR-Index line grow faster than the segment average.</a:t>
            </a:r>
          </a:p>
        </p:txBody>
      </p:sp>
      <p:sp>
        <p:nvSpPr>
          <p:cNvPr id="29"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Material Source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Source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Virgin Kraft Fibre-based</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Recycled Fibre-based (testliner/recycled medium)</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Source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Source,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19350"/>
          </a:xfrm>
          <a:prstGeom prst="roundRect">
            <a:avLst>
              <a:gd name="adj" fmla="val 31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Source (MT)</a:t>
            </a:r>
          </a:p>
        </p:txBody>
      </p:sp>
      <p:graphicFrame>
        <p:nvGraphicFramePr>
          <p:cNvPr id="13" name="Table 12"/>
          <p:cNvGraphicFramePr>
            <a:graphicFrameLocks noGrp="1"/>
          </p:cNvGraphicFramePr>
          <p:nvPr/>
        </p:nvGraphicFramePr>
        <p:xfrm>
          <a:off x="152400" y="1238250"/>
          <a:ext cx="11887208" cy="1952624"/>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Source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568833">
                <a:tc>
                  <a:txBody>
                    <a:bodyPr wrap="none"/>
                    <a:lstStyle/>
                    <a:p>
                      <a:pPr algn="l"/>
                      <a:r>
                        <a:rPr sz="1100" b="1">
                          <a:solidFill>
                            <a:srgbClr val="2E2E2E"/>
                          </a:solidFill>
                          <a:latin typeface="Calibri"/>
                        </a:rPr>
                        <a:t>Virgin Kraft Fibre-</a:t>
                      </a:r>
                      <a:endParaRPr sz="1100"/>
                    </a:p>
                    <a:p>
                      <a:pPr algn="l"/>
                      <a:r>
                        <a:rPr sz="1100" b="1">
                          <a:solidFill>
                            <a:srgbClr val="2E2E2E"/>
                          </a:solidFill>
                          <a:latin typeface="Calibri"/>
                        </a:rPr>
                        <a: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568833">
                <a:tc>
                  <a:txBody>
                    <a:bodyPr wrap="none"/>
                    <a:lstStyle/>
                    <a:p>
                      <a:pPr algn="l"/>
                      <a:r>
                        <a:rPr sz="1100" b="1">
                          <a:solidFill>
                            <a:srgbClr val="2E2E2E"/>
                          </a:solidFill>
                          <a:latin typeface="Calibri"/>
                        </a:rPr>
                        <a:t>Recycled Fibre-</a:t>
                      </a:r>
                      <a:endParaRPr sz="1100"/>
                    </a:p>
                    <a:p>
                      <a:pPr algn="l"/>
                      <a:r>
                        <a:rPr sz="1100" b="1">
                          <a:solidFill>
                            <a:srgbClr val="2E2E2E"/>
                          </a:solidFill>
                          <a:latin typeface="Calibri"/>
                        </a:rPr>
                        <a:t>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376046">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200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33775"/>
            <a:ext cx="11906250" cy="3095625"/>
          </a:xfrm>
          <a:prstGeom prst="roundRect">
            <a:avLst>
              <a:gd name="adj" fmla="val 24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195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Material Source</a:t>
            </a:r>
          </a:p>
        </p:txBody>
      </p:sp>
      <p:sp>
        <p:nvSpPr>
          <p:cNvPr id="17" name="Rectangle 16"/>
          <p:cNvSpPr/>
          <p:nvPr/>
        </p:nvSpPr>
        <p:spPr>
          <a:xfrm>
            <a:off x="276225" y="3857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43350"/>
            <a:ext cx="11639550" cy="2609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67318"/>
            <a:ext cx="366712" cy="533399"/>
          </a:xfrm>
          <a:prstGeom prst="rect">
            <a:avLst/>
          </a:prstGeom>
        </p:spPr>
      </p:pic>
      <p:sp>
        <p:nvSpPr>
          <p:cNvPr id="21" name="TextBox 20"/>
          <p:cNvSpPr txBox="1"/>
          <p:nvPr/>
        </p:nvSpPr>
        <p:spPr>
          <a:xfrm>
            <a:off x="276225" y="3952875"/>
            <a:ext cx="3372023" cy="194310"/>
          </a:xfrm>
          <a:prstGeom prst="rect">
            <a:avLst/>
          </a:prstGeom>
          <a:noFill/>
        </p:spPr>
        <p:txBody>
          <a:bodyPr wrap="none" lIns="0" rIns="0" tIns="0" bIns="0">
            <a:spAutoFit/>
          </a:bodyPr>
          <a:lstStyle/>
          <a:p>
            <a:r>
              <a:rPr sz="1150" b="0">
                <a:solidFill>
                  <a:srgbClr val="2E2E2E"/>
                </a:solidFill>
                <a:latin typeface="Calibri"/>
              </a:rPr>
              <a:t>Virgin kraft fibre-based segment is projected to register</a:t>
            </a:r>
          </a:p>
        </p:txBody>
      </p:sp>
      <p:pic>
        <p:nvPicPr>
          <p:cNvPr id="22" name="Picture 21" descr="lock.png"/>
          <p:cNvPicPr>
            <a:picLocks noChangeAspect="1"/>
          </p:cNvPicPr>
          <p:nvPr/>
        </p:nvPicPr>
        <p:blipFill>
          <a:blip r:embed="rId4"/>
          <a:stretch>
            <a:fillRect/>
          </a:stretch>
        </p:blipFill>
        <p:spPr>
          <a:xfrm>
            <a:off x="3597402" y="3942651"/>
            <a:ext cx="134549" cy="195707"/>
          </a:xfrm>
          <a:prstGeom prst="rect">
            <a:avLst/>
          </a:prstGeom>
        </p:spPr>
      </p:pic>
      <p:sp>
        <p:nvSpPr>
          <p:cNvPr id="23" name="TextBox 22"/>
          <p:cNvSpPr txBox="1"/>
          <p:nvPr/>
        </p:nvSpPr>
        <p:spPr>
          <a:xfrm>
            <a:off x="3772511" y="3952875"/>
            <a:ext cx="7740116" cy="194310"/>
          </a:xfrm>
          <a:prstGeom prst="rect">
            <a:avLst/>
          </a:prstGeom>
          <a:noFill/>
        </p:spPr>
        <p:txBody>
          <a:bodyPr wrap="none" lIns="0" rIns="0" tIns="0" bIns="0">
            <a:spAutoFit/>
          </a:bodyPr>
          <a:lstStyle/>
          <a:p>
            <a:r>
              <a:rPr sz="1150" b="0">
                <a:solidFill>
                  <a:srgbClr val="2E2E2E"/>
                </a:solidFill>
                <a:latin typeface="Calibri"/>
              </a:rPr>
              <a:t>X higher volume than recycled fibre-based (testliner/recycled medium) segment in 2036. Among corrugated partition by material</a:t>
            </a:r>
          </a:p>
        </p:txBody>
      </p:sp>
      <p:sp>
        <p:nvSpPr>
          <p:cNvPr id="24" name="TextBox 23"/>
          <p:cNvSpPr txBox="1"/>
          <p:nvPr/>
        </p:nvSpPr>
        <p:spPr>
          <a:xfrm>
            <a:off x="276225" y="4128135"/>
            <a:ext cx="6559432" cy="194310"/>
          </a:xfrm>
          <a:prstGeom prst="rect">
            <a:avLst/>
          </a:prstGeom>
          <a:noFill/>
        </p:spPr>
        <p:txBody>
          <a:bodyPr wrap="none" lIns="0" rIns="0" tIns="0" bIns="0">
            <a:spAutoFit/>
          </a:bodyPr>
          <a:lstStyle/>
          <a:p>
            <a:r>
              <a:rPr sz="1150" b="0">
                <a:solidFill>
                  <a:srgbClr val="2E2E2E"/>
                </a:solidFill>
                <a:latin typeface="Calibri"/>
              </a:rPr>
              <a:t>source, recycled fibre-based (testliner/recycled medium) segment is expected to witness the highest CAGR of</a:t>
            </a:r>
          </a:p>
        </p:txBody>
      </p:sp>
      <p:pic>
        <p:nvPicPr>
          <p:cNvPr id="25" name="Picture 24" descr="lock.png"/>
          <p:cNvPicPr>
            <a:picLocks noChangeAspect="1"/>
          </p:cNvPicPr>
          <p:nvPr/>
        </p:nvPicPr>
        <p:blipFill>
          <a:blip r:embed="rId4"/>
          <a:stretch>
            <a:fillRect/>
          </a:stretch>
        </p:blipFill>
        <p:spPr>
          <a:xfrm>
            <a:off x="6784811" y="4117911"/>
            <a:ext cx="134549" cy="195707"/>
          </a:xfrm>
          <a:prstGeom prst="rect">
            <a:avLst/>
          </a:prstGeom>
        </p:spPr>
      </p:pic>
      <p:sp>
        <p:nvSpPr>
          <p:cNvPr id="26" name="TextBox 25"/>
          <p:cNvSpPr txBox="1"/>
          <p:nvPr/>
        </p:nvSpPr>
        <p:spPr>
          <a:xfrm>
            <a:off x="6959921" y="4128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55972"/>
            <a:ext cx="7471978" cy="194310"/>
          </a:xfrm>
          <a:prstGeom prst="rect">
            <a:avLst/>
          </a:prstGeom>
          <a:noFill/>
        </p:spPr>
        <p:txBody>
          <a:bodyPr wrap="none" lIns="0" rIns="0" tIns="0" bIns="0">
            <a:spAutoFit/>
          </a:bodyPr>
          <a:lstStyle/>
          <a:p>
            <a:r>
              <a:rPr sz="1150" b="0">
                <a:solidFill>
                  <a:srgbClr val="2E2E2E"/>
                </a:solidFill>
                <a:latin typeface="Calibri"/>
              </a:rPr>
              <a:t>In terms of volume share by material source, the virgin kraft fibre-based segment is expected to dominate the market, losing</a:t>
            </a:r>
          </a:p>
        </p:txBody>
      </p:sp>
      <p:pic>
        <p:nvPicPr>
          <p:cNvPr id="28" name="Picture 27" descr="lock.png"/>
          <p:cNvPicPr>
            <a:picLocks noChangeAspect="1"/>
          </p:cNvPicPr>
          <p:nvPr/>
        </p:nvPicPr>
        <p:blipFill>
          <a:blip r:embed="rId4"/>
          <a:stretch>
            <a:fillRect/>
          </a:stretch>
        </p:blipFill>
        <p:spPr>
          <a:xfrm>
            <a:off x="7697356" y="4345749"/>
            <a:ext cx="134549" cy="195707"/>
          </a:xfrm>
          <a:prstGeom prst="rect">
            <a:avLst/>
          </a:prstGeom>
        </p:spPr>
      </p:pic>
      <p:sp>
        <p:nvSpPr>
          <p:cNvPr id="29" name="TextBox 28"/>
          <p:cNvSpPr txBox="1"/>
          <p:nvPr/>
        </p:nvSpPr>
        <p:spPr>
          <a:xfrm>
            <a:off x="7872466" y="4355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267609" y="4345749"/>
            <a:ext cx="134549" cy="195707"/>
          </a:xfrm>
          <a:prstGeom prst="rect">
            <a:avLst/>
          </a:prstGeom>
        </p:spPr>
      </p:pic>
      <p:sp>
        <p:nvSpPr>
          <p:cNvPr id="31" name="TextBox 30"/>
          <p:cNvSpPr txBox="1"/>
          <p:nvPr/>
        </p:nvSpPr>
        <p:spPr>
          <a:xfrm>
            <a:off x="9442718" y="43559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Material Source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Source,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Material Source (US$ Mn)</a:t>
            </a:r>
          </a:p>
        </p:txBody>
      </p:sp>
      <p:graphicFrame>
        <p:nvGraphicFramePr>
          <p:cNvPr id="13" name="Table 12"/>
          <p:cNvGraphicFramePr>
            <a:graphicFrameLocks noGrp="1"/>
          </p:cNvGraphicFramePr>
          <p:nvPr/>
        </p:nvGraphicFramePr>
        <p:xfrm>
          <a:off x="152400" y="1238250"/>
          <a:ext cx="11887201" cy="990600"/>
        </p:xfrm>
        <a:graphic>
          <a:graphicData uri="http://schemas.openxmlformats.org/drawingml/2006/table">
            <a:tbl>
              <a:tblPr>
                <a:tableStyleId>{5C22544A-7EE6-4342-B048-85BDC9FD1C3A}</a:tableStyleId>
              </a:tblPr>
              <a:tblGrid>
                <a:gridCol w="1659814"/>
                <a:gridCol w="601611"/>
                <a:gridCol w="601611"/>
                <a:gridCol w="601611"/>
                <a:gridCol w="601611"/>
                <a:gridCol w="601611"/>
                <a:gridCol w="601611"/>
                <a:gridCol w="601611"/>
                <a:gridCol w="601611"/>
                <a:gridCol w="601611"/>
                <a:gridCol w="601611"/>
                <a:gridCol w="601611"/>
                <a:gridCol w="601611"/>
                <a:gridCol w="601611"/>
                <a:gridCol w="601611"/>
                <a:gridCol w="601611"/>
                <a:gridCol w="601611"/>
                <a:gridCol w="601611"/>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Material Source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39217" y="1589913"/>
            <a:ext cx="366712" cy="533400"/>
          </a:xfrm>
          <a:prstGeom prst="rect">
            <a:avLst/>
          </a:prstGeom>
        </p:spPr>
      </p:pic>
      <p:sp>
        <p:nvSpPr>
          <p:cNvPr id="21" name="TextBox 20"/>
          <p:cNvSpPr txBox="1"/>
          <p:nvPr/>
        </p:nvSpPr>
        <p:spPr>
          <a:xfrm>
            <a:off x="276225" y="2990850"/>
            <a:ext cx="3372023" cy="194310"/>
          </a:xfrm>
          <a:prstGeom prst="rect">
            <a:avLst/>
          </a:prstGeom>
          <a:noFill/>
        </p:spPr>
        <p:txBody>
          <a:bodyPr wrap="none" lIns="0" rIns="0" tIns="0" bIns="0">
            <a:spAutoFit/>
          </a:bodyPr>
          <a:lstStyle/>
          <a:p>
            <a:r>
              <a:rPr sz="1150" b="0">
                <a:solidFill>
                  <a:srgbClr val="2E2E2E"/>
                </a:solidFill>
                <a:latin typeface="Calibri"/>
              </a:rPr>
              <a:t>Virgin kraft fibre-based segment is projected to register</a:t>
            </a:r>
          </a:p>
        </p:txBody>
      </p:sp>
      <p:pic>
        <p:nvPicPr>
          <p:cNvPr id="22" name="Picture 21" descr="lock.png"/>
          <p:cNvPicPr>
            <a:picLocks noChangeAspect="1"/>
          </p:cNvPicPr>
          <p:nvPr/>
        </p:nvPicPr>
        <p:blipFill>
          <a:blip r:embed="rId4"/>
          <a:stretch>
            <a:fillRect/>
          </a:stretch>
        </p:blipFill>
        <p:spPr>
          <a:xfrm>
            <a:off x="3597402" y="2980626"/>
            <a:ext cx="134549" cy="195707"/>
          </a:xfrm>
          <a:prstGeom prst="rect">
            <a:avLst/>
          </a:prstGeom>
        </p:spPr>
      </p:pic>
      <p:sp>
        <p:nvSpPr>
          <p:cNvPr id="23" name="TextBox 22"/>
          <p:cNvSpPr txBox="1"/>
          <p:nvPr/>
        </p:nvSpPr>
        <p:spPr>
          <a:xfrm>
            <a:off x="3772511" y="2990850"/>
            <a:ext cx="8082421" cy="194310"/>
          </a:xfrm>
          <a:prstGeom prst="rect">
            <a:avLst/>
          </a:prstGeom>
          <a:noFill/>
        </p:spPr>
        <p:txBody>
          <a:bodyPr wrap="none" lIns="0" rIns="0" tIns="0" bIns="0">
            <a:spAutoFit/>
          </a:bodyPr>
          <a:lstStyle/>
          <a:p>
            <a:r>
              <a:rPr sz="1150" b="0">
                <a:solidFill>
                  <a:srgbClr val="2E2E2E"/>
                </a:solidFill>
                <a:latin typeface="Calibri"/>
              </a:rPr>
              <a:t>X higher value than recycled fibre-based (testliner/recycled medium) segment in 2036. Among corrugated partition by material source,</a:t>
            </a:r>
          </a:p>
        </p:txBody>
      </p:sp>
      <p:sp>
        <p:nvSpPr>
          <p:cNvPr id="24" name="TextBox 23"/>
          <p:cNvSpPr txBox="1"/>
          <p:nvPr/>
        </p:nvSpPr>
        <p:spPr>
          <a:xfrm>
            <a:off x="276225" y="3166110"/>
            <a:ext cx="6093328" cy="194310"/>
          </a:xfrm>
          <a:prstGeom prst="rect">
            <a:avLst/>
          </a:prstGeom>
          <a:noFill/>
        </p:spPr>
        <p:txBody>
          <a:bodyPr wrap="none" lIns="0" rIns="0" tIns="0" bIns="0">
            <a:spAutoFit/>
          </a:bodyPr>
          <a:lstStyle/>
          <a:p>
            <a:r>
              <a:rPr sz="1150" b="0">
                <a:solidFill>
                  <a:srgbClr val="2E2E2E"/>
                </a:solidFill>
                <a:latin typeface="Calibri"/>
              </a:rPr>
              <a:t>recycled fibre-based (testliner/recycled medium) segment is expected to witness the highest CAGR of</a:t>
            </a:r>
          </a:p>
        </p:txBody>
      </p:sp>
      <p:pic>
        <p:nvPicPr>
          <p:cNvPr id="25" name="Picture 24" descr="lock.png"/>
          <p:cNvPicPr>
            <a:picLocks noChangeAspect="1"/>
          </p:cNvPicPr>
          <p:nvPr/>
        </p:nvPicPr>
        <p:blipFill>
          <a:blip r:embed="rId4"/>
          <a:stretch>
            <a:fillRect/>
          </a:stretch>
        </p:blipFill>
        <p:spPr>
          <a:xfrm>
            <a:off x="6318707" y="3155886"/>
            <a:ext cx="134549" cy="195707"/>
          </a:xfrm>
          <a:prstGeom prst="rect">
            <a:avLst/>
          </a:prstGeom>
        </p:spPr>
      </p:pic>
      <p:sp>
        <p:nvSpPr>
          <p:cNvPr id="26" name="TextBox 25"/>
          <p:cNvSpPr txBox="1"/>
          <p:nvPr/>
        </p:nvSpPr>
        <p:spPr>
          <a:xfrm>
            <a:off x="6493816"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348177" cy="194310"/>
          </a:xfrm>
          <a:prstGeom prst="rect">
            <a:avLst/>
          </a:prstGeom>
          <a:noFill/>
        </p:spPr>
        <p:txBody>
          <a:bodyPr wrap="none" lIns="0" rIns="0" tIns="0" bIns="0">
            <a:spAutoFit/>
          </a:bodyPr>
          <a:lstStyle/>
          <a:p>
            <a:r>
              <a:rPr sz="1150" b="0">
                <a:solidFill>
                  <a:srgbClr val="2E2E2E"/>
                </a:solidFill>
                <a:latin typeface="Calibri"/>
              </a:rPr>
              <a:t>In terms of value share by material source, the virgin kraft fibre-based segment is expected to dominate the market, losing</a:t>
            </a:r>
          </a:p>
        </p:txBody>
      </p:sp>
      <p:pic>
        <p:nvPicPr>
          <p:cNvPr id="28" name="Picture 27" descr="lock.png"/>
          <p:cNvPicPr>
            <a:picLocks noChangeAspect="1"/>
          </p:cNvPicPr>
          <p:nvPr/>
        </p:nvPicPr>
        <p:blipFill>
          <a:blip r:embed="rId4"/>
          <a:stretch>
            <a:fillRect/>
          </a:stretch>
        </p:blipFill>
        <p:spPr>
          <a:xfrm>
            <a:off x="7573556" y="3383724"/>
            <a:ext cx="134549" cy="195707"/>
          </a:xfrm>
          <a:prstGeom prst="rect">
            <a:avLst/>
          </a:prstGeom>
        </p:spPr>
      </p:pic>
      <p:sp>
        <p:nvSpPr>
          <p:cNvPr id="29" name="TextBox 28"/>
          <p:cNvSpPr txBox="1"/>
          <p:nvPr/>
        </p:nvSpPr>
        <p:spPr>
          <a:xfrm>
            <a:off x="7748666"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43809" y="3383724"/>
            <a:ext cx="134549" cy="195707"/>
          </a:xfrm>
          <a:prstGeom prst="rect">
            <a:avLst/>
          </a:prstGeom>
        </p:spPr>
      </p:pic>
      <p:sp>
        <p:nvSpPr>
          <p:cNvPr id="31" name="TextBox 30"/>
          <p:cNvSpPr txBox="1"/>
          <p:nvPr/>
        </p:nvSpPr>
        <p:spPr>
          <a:xfrm>
            <a:off x="931891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Material Source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Source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Material Source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116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1069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307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Recycled Fibre-based</a:t>
            </a:r>
          </a:p>
        </p:txBody>
      </p:sp>
      <p:sp>
        <p:nvSpPr>
          <p:cNvPr id="19" name="BPS Value 1"/>
          <p:cNvSpPr txBox="1"/>
          <p:nvPr/>
        </p:nvSpPr>
        <p:spPr>
          <a:xfrm>
            <a:off x="6896100" y="209262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3978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3930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3168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Virgin Kraft Fibre-based</a:t>
            </a:r>
          </a:p>
        </p:txBody>
      </p:sp>
      <p:sp>
        <p:nvSpPr>
          <p:cNvPr id="23" name="BPS Value 2"/>
          <p:cNvSpPr txBox="1"/>
          <p:nvPr/>
        </p:nvSpPr>
        <p:spPr>
          <a:xfrm>
            <a:off x="6896100" y="437881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Material Source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439628" cy="194310"/>
          </a:xfrm>
          <a:prstGeom prst="rect">
            <a:avLst/>
          </a:prstGeom>
          <a:noFill/>
        </p:spPr>
        <p:txBody>
          <a:bodyPr wrap="none" lIns="0" rIns="0" tIns="0" bIns="0">
            <a:spAutoFit/>
          </a:bodyPr>
          <a:lstStyle/>
          <a:p>
            <a:r>
              <a:rPr sz="1150" b="0">
                <a:solidFill>
                  <a:srgbClr val="2E2E2E"/>
                </a:solidFill>
                <a:latin typeface="Calibri"/>
              </a:rPr>
              <a:t>Among corrugated partition by material source, recycled</a:t>
            </a:r>
          </a:p>
        </p:txBody>
      </p:sp>
      <p:sp>
        <p:nvSpPr>
          <p:cNvPr id="31" name="TextBox 30"/>
          <p:cNvSpPr txBox="1"/>
          <p:nvPr/>
        </p:nvSpPr>
        <p:spPr>
          <a:xfrm>
            <a:off x="7829550" y="1575435"/>
            <a:ext cx="3858666" cy="194310"/>
          </a:xfrm>
          <a:prstGeom prst="rect">
            <a:avLst/>
          </a:prstGeom>
          <a:noFill/>
        </p:spPr>
        <p:txBody>
          <a:bodyPr wrap="none" lIns="0" rIns="0" tIns="0" bIns="0">
            <a:spAutoFit/>
          </a:bodyPr>
          <a:lstStyle/>
          <a:p>
            <a:r>
              <a:rPr sz="1150" b="0">
                <a:solidFill>
                  <a:srgbClr val="2E2E2E"/>
                </a:solidFill>
                <a:latin typeface="Calibri"/>
              </a:rPr>
              <a:t>fibre-based (testliner/recycled medium) segment is expected to</a:t>
            </a:r>
          </a:p>
        </p:txBody>
      </p:sp>
      <p:sp>
        <p:nvSpPr>
          <p:cNvPr id="32" name="TextBox 31"/>
          <p:cNvSpPr txBox="1"/>
          <p:nvPr/>
        </p:nvSpPr>
        <p:spPr>
          <a:xfrm>
            <a:off x="7829550" y="175069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33" name="Picture 32" descr="lock.png"/>
          <p:cNvPicPr>
            <a:picLocks noChangeAspect="1"/>
          </p:cNvPicPr>
          <p:nvPr/>
        </p:nvPicPr>
        <p:blipFill>
          <a:blip r:embed="rId5"/>
          <a:stretch>
            <a:fillRect/>
          </a:stretch>
        </p:blipFill>
        <p:spPr>
          <a:xfrm>
            <a:off x="9526474" y="1740471"/>
            <a:ext cx="134549" cy="195707"/>
          </a:xfrm>
          <a:prstGeom prst="rect">
            <a:avLst/>
          </a:prstGeom>
        </p:spPr>
      </p:pic>
      <p:sp>
        <p:nvSpPr>
          <p:cNvPr id="34" name="TextBox 33"/>
          <p:cNvSpPr txBox="1"/>
          <p:nvPr/>
        </p:nvSpPr>
        <p:spPr>
          <a:xfrm>
            <a:off x="9701583"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5" name="TextBox 34"/>
          <p:cNvSpPr txBox="1"/>
          <p:nvPr/>
        </p:nvSpPr>
        <p:spPr>
          <a:xfrm>
            <a:off x="7829550" y="1978533"/>
            <a:ext cx="3516932" cy="194310"/>
          </a:xfrm>
          <a:prstGeom prst="rect">
            <a:avLst/>
          </a:prstGeom>
          <a:noFill/>
        </p:spPr>
        <p:txBody>
          <a:bodyPr wrap="none" lIns="0" rIns="0" tIns="0" bIns="0">
            <a:spAutoFit/>
          </a:bodyPr>
          <a:lstStyle/>
          <a:p>
            <a:r>
              <a:rPr sz="1150" b="0">
                <a:solidFill>
                  <a:srgbClr val="2E2E2E"/>
                </a:solidFill>
                <a:latin typeface="Calibri"/>
              </a:rPr>
              <a:t>In terms of value share by material source, the virgin kraft</a:t>
            </a:r>
          </a:p>
        </p:txBody>
      </p:sp>
      <p:sp>
        <p:nvSpPr>
          <p:cNvPr id="36" name="TextBox 35"/>
          <p:cNvSpPr txBox="1"/>
          <p:nvPr/>
        </p:nvSpPr>
        <p:spPr>
          <a:xfrm>
            <a:off x="7829550" y="2153793"/>
            <a:ext cx="3874355" cy="194310"/>
          </a:xfrm>
          <a:prstGeom prst="rect">
            <a:avLst/>
          </a:prstGeom>
          <a:noFill/>
        </p:spPr>
        <p:txBody>
          <a:bodyPr wrap="none" lIns="0" rIns="0" tIns="0" bIns="0">
            <a:spAutoFit/>
          </a:bodyPr>
          <a:lstStyle/>
          <a:p>
            <a:r>
              <a:rPr sz="1150" b="0">
                <a:solidFill>
                  <a:srgbClr val="2E2E2E"/>
                </a:solidFill>
                <a:latin typeface="Calibri"/>
              </a:rPr>
              <a:t>fibre-based segment is expected to dominate the market, losing</a:t>
            </a:r>
          </a:p>
        </p:txBody>
      </p:sp>
      <p:pic>
        <p:nvPicPr>
          <p:cNvPr id="37" name="Picture 36" descr="lock.png"/>
          <p:cNvPicPr>
            <a:picLocks noChangeAspect="1"/>
          </p:cNvPicPr>
          <p:nvPr/>
        </p:nvPicPr>
        <p:blipFill>
          <a:blip r:embed="rId5"/>
          <a:stretch>
            <a:fillRect/>
          </a:stretch>
        </p:blipFill>
        <p:spPr>
          <a:xfrm>
            <a:off x="7815470" y="2318829"/>
            <a:ext cx="134549" cy="195707"/>
          </a:xfrm>
          <a:prstGeom prst="rect">
            <a:avLst/>
          </a:prstGeom>
        </p:spPr>
      </p:pic>
      <p:sp>
        <p:nvSpPr>
          <p:cNvPr id="38" name="TextBox 37"/>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9" name="Picture 38" descr="lock.png"/>
          <p:cNvPicPr>
            <a:picLocks noChangeAspect="1"/>
          </p:cNvPicPr>
          <p:nvPr/>
        </p:nvPicPr>
        <p:blipFill>
          <a:blip r:embed="rId5"/>
          <a:stretch>
            <a:fillRect/>
          </a:stretch>
        </p:blipFill>
        <p:spPr>
          <a:xfrm>
            <a:off x="9385722" y="2318829"/>
            <a:ext cx="134549" cy="195707"/>
          </a:xfrm>
          <a:prstGeom prst="rect">
            <a:avLst/>
          </a:prstGeom>
        </p:spPr>
      </p:pic>
      <p:sp>
        <p:nvSpPr>
          <p:cNvPr id="40" name="TextBox 39"/>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Source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Source,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gridCol w="671514"/>
                <a:gridCol w="671514"/>
                <a:gridCol w="671514"/>
                <a:gridCol w="671514"/>
                <a:gridCol w="671514"/>
                <a:gridCol w="671514"/>
                <a:gridCol w="671514"/>
                <a:gridCol w="671514"/>
                <a:gridCol w="671514"/>
                <a:gridCol w="671514"/>
                <a:gridCol w="671514"/>
                <a:gridCol w="671514"/>
                <a:gridCol w="671514"/>
                <a:gridCol w="671514"/>
                <a:gridCol w="671514"/>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Material Source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Virgin Kraft Fibre-based</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Recycled Fibre-based (testliner/recycled medium)</a:t>
            </a:r>
          </a:p>
        </p:txBody>
      </p:sp>
      <p:sp>
        <p:nvSpPr>
          <p:cNvPr id="49" name="Rectangle 48"/>
          <p:cNvSpPr/>
          <p:nvPr/>
        </p:nvSpPr>
        <p:spPr>
          <a:xfrm>
            <a:off x="1857375" y="4662488"/>
            <a:ext cx="643890" cy="190976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35228" y="1482090"/>
            <a:ext cx="330041" cy="480060"/>
          </a:xfrm>
          <a:prstGeom prst="rect">
            <a:avLst/>
          </a:prstGeom>
        </p:spPr>
      </p:pic>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Source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Source,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gridCol w="671514"/>
                <a:gridCol w="671514"/>
                <a:gridCol w="671514"/>
                <a:gridCol w="671514"/>
                <a:gridCol w="671514"/>
                <a:gridCol w="671514"/>
                <a:gridCol w="671514"/>
                <a:gridCol w="671514"/>
                <a:gridCol w="671514"/>
                <a:gridCol w="671514"/>
                <a:gridCol w="671514"/>
                <a:gridCol w="671514"/>
                <a:gridCol w="671514"/>
                <a:gridCol w="671514"/>
                <a:gridCol w="671514"/>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Material Source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Virgin Kraft Fibre-based</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Recycled Fibre-based (testliner/recycled medium)</a:t>
            </a:r>
          </a:p>
        </p:txBody>
      </p:sp>
      <p:sp>
        <p:nvSpPr>
          <p:cNvPr id="49" name="Rectangle 48"/>
          <p:cNvSpPr/>
          <p:nvPr/>
        </p:nvSpPr>
        <p:spPr>
          <a:xfrm>
            <a:off x="1857375" y="4662488"/>
            <a:ext cx="643890" cy="190976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4E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35228" y="1482090"/>
            <a:ext cx="330041" cy="480060"/>
          </a:xfrm>
          <a:prstGeom prst="rect">
            <a:avLst/>
          </a:prstGeom>
        </p:spPr>
      </p:pic>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Cell Configuration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Cell Configuration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Cell Configuration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Cell Configuration,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Cell Configuration segment categorizes the market by cell configuration.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Up to 4 Cells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6 to 12 Cells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13 to 24 Cells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Above 24 Cells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Cell Configuration split shows how demand is distributed across cell configuration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198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_92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9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_10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974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6_0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540_0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762_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3_5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354_7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525_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0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253282" cy="186689"/>
          </a:xfrm>
          <a:prstGeom prst="rect">
            <a:avLst/>
          </a:prstGeom>
          <a:noFill/>
        </p:spPr>
        <p:txBody>
          <a:bodyPr wrap="none" lIns="0" rIns="0" tIns="0" bIns="0">
            <a:spAutoFit/>
          </a:bodyPr>
          <a:lstStyle/>
          <a:p>
            <a:r>
              <a:rPr sz="1100" b="0">
                <a:solidFill>
                  <a:srgbClr val="2E2E2E"/>
                </a:solidFill>
                <a:latin typeface="Calibri"/>
              </a:rPr>
              <a:t>▪ ¶ Among corrugated partition by cell</a:t>
            </a:r>
          </a:p>
        </p:txBody>
      </p:sp>
      <p:sp>
        <p:nvSpPr>
          <p:cNvPr id="81" name="TextBox 80"/>
          <p:cNvSpPr txBox="1"/>
          <p:nvPr/>
        </p:nvSpPr>
        <p:spPr>
          <a:xfrm>
            <a:off x="485775" y="4397077"/>
            <a:ext cx="2914650" cy="186689"/>
          </a:xfrm>
          <a:prstGeom prst="rect">
            <a:avLst/>
          </a:prstGeom>
          <a:noFill/>
        </p:spPr>
        <p:txBody>
          <a:bodyPr wrap="none" lIns="0" rIns="0" tIns="0" bIns="0">
            <a:spAutoFit/>
          </a:bodyPr>
          <a:lstStyle/>
          <a:p>
            <a:r>
              <a:rPr sz="1100" b="0">
                <a:solidFill>
                  <a:srgbClr val="2E2E2E"/>
                </a:solidFill>
                <a:latin typeface="Calibri"/>
              </a:rPr>
              <a:t>configuration, 6 to 12 cells segment is expected to</a:t>
            </a:r>
          </a:p>
        </p:txBody>
      </p:sp>
      <p:sp>
        <p:nvSpPr>
          <p:cNvPr id="82" name="TextBox 81"/>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83" name="Picture 82" descr="lock.png"/>
          <p:cNvPicPr>
            <a:picLocks noChangeAspect="1"/>
          </p:cNvPicPr>
          <p:nvPr/>
        </p:nvPicPr>
        <p:blipFill>
          <a:blip r:embed="rId16"/>
          <a:stretch>
            <a:fillRect/>
          </a:stretch>
        </p:blipFill>
        <p:spPr>
          <a:xfrm>
            <a:off x="2108919" y="4554938"/>
            <a:ext cx="128699" cy="187198"/>
          </a:xfrm>
          <a:prstGeom prst="rect">
            <a:avLst/>
          </a:prstGeom>
        </p:spPr>
      </p:pic>
      <p:sp>
        <p:nvSpPr>
          <p:cNvPr id="84" name="TextBox 83"/>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85" name="TextBox 84"/>
          <p:cNvSpPr txBox="1"/>
          <p:nvPr/>
        </p:nvSpPr>
        <p:spPr>
          <a:xfrm>
            <a:off x="485775" y="4732357"/>
            <a:ext cx="2208534" cy="186689"/>
          </a:xfrm>
          <a:prstGeom prst="rect">
            <a:avLst/>
          </a:prstGeom>
          <a:noFill/>
        </p:spPr>
        <p:txBody>
          <a:bodyPr wrap="none" lIns="0" rIns="0" tIns="0" bIns="0">
            <a:spAutoFit/>
          </a:bodyPr>
          <a:lstStyle/>
          <a:p>
            <a:r>
              <a:rPr sz="1100" b="0">
                <a:solidFill>
                  <a:srgbClr val="2E2E2E"/>
                </a:solidFill>
                <a:latin typeface="Calibri"/>
              </a:rPr>
              <a:t>period. In terms of value share by cell</a:t>
            </a:r>
          </a:p>
        </p:txBody>
      </p:sp>
      <p:sp>
        <p:nvSpPr>
          <p:cNvPr id="86" name="TextBox 85"/>
          <p:cNvSpPr txBox="1"/>
          <p:nvPr/>
        </p:nvSpPr>
        <p:spPr>
          <a:xfrm>
            <a:off x="485775" y="4899997"/>
            <a:ext cx="2444005" cy="186689"/>
          </a:xfrm>
          <a:prstGeom prst="rect">
            <a:avLst/>
          </a:prstGeom>
          <a:noFill/>
        </p:spPr>
        <p:txBody>
          <a:bodyPr wrap="none" lIns="0" rIns="0" tIns="0" bIns="0">
            <a:spAutoFit/>
          </a:bodyPr>
          <a:lstStyle/>
          <a:p>
            <a:r>
              <a:rPr sz="1100" b="0">
                <a:solidFill>
                  <a:srgbClr val="2E2E2E"/>
                </a:solidFill>
                <a:latin typeface="Calibri"/>
              </a:rPr>
              <a:t>configuration, the 6 to 12 cells segment is</a:t>
            </a:r>
          </a:p>
        </p:txBody>
      </p:sp>
      <p:sp>
        <p:nvSpPr>
          <p:cNvPr id="87" name="TextBox 86"/>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88" name="Picture 87" descr="lock.png"/>
          <p:cNvPicPr>
            <a:picLocks noChangeAspect="1"/>
          </p:cNvPicPr>
          <p:nvPr/>
        </p:nvPicPr>
        <p:blipFill>
          <a:blip r:embed="rId16"/>
          <a:stretch>
            <a:fillRect/>
          </a:stretch>
        </p:blipFill>
        <p:spPr>
          <a:xfrm>
            <a:off x="2900479" y="5057858"/>
            <a:ext cx="128699" cy="187198"/>
          </a:xfrm>
          <a:prstGeom prst="rect">
            <a:avLst/>
          </a:prstGeom>
        </p:spPr>
      </p:pic>
      <p:sp>
        <p:nvSpPr>
          <p:cNvPr id="89" name="TextBox 88"/>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788344" cy="186689"/>
          </a:xfrm>
          <a:prstGeom prst="rect">
            <a:avLst/>
          </a:prstGeom>
          <a:noFill/>
        </p:spPr>
        <p:txBody>
          <a:bodyPr wrap="none" lIns="0" rIns="0" tIns="0" bIns="0">
            <a:spAutoFit/>
          </a:bodyPr>
          <a:lstStyle/>
          <a:p>
            <a:r>
              <a:rPr sz="1100" b="0">
                <a:solidFill>
                  <a:srgbClr val="2E2E2E"/>
                </a:solidFill>
                <a:latin typeface="Calibri"/>
              </a:rPr>
              <a:t>▪ ¶ 6 to 12 cells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5506" cy="186689"/>
          </a:xfrm>
          <a:prstGeom prst="rect">
            <a:avLst/>
          </a:prstGeom>
          <a:noFill/>
        </p:spPr>
        <p:txBody>
          <a:bodyPr wrap="none" lIns="0" rIns="0" tIns="0" bIns="0">
            <a:spAutoFit/>
          </a:bodyPr>
          <a:lstStyle/>
          <a:p>
            <a:r>
              <a:rPr sz="1100" b="0">
                <a:solidFill>
                  <a:srgbClr val="2E2E2E"/>
                </a:solidFill>
                <a:latin typeface="Calibri"/>
              </a:rPr>
              <a:t>X higher value than up to 4 cells segment in</a:t>
            </a:r>
          </a:p>
        </p:txBody>
      </p:sp>
      <p:sp>
        <p:nvSpPr>
          <p:cNvPr id="96" name="TextBox 95"/>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97" name="TextBox 96"/>
          <p:cNvSpPr txBox="1"/>
          <p:nvPr/>
        </p:nvSpPr>
        <p:spPr>
          <a:xfrm>
            <a:off x="3838575" y="4229437"/>
            <a:ext cx="942230" cy="186689"/>
          </a:xfrm>
          <a:prstGeom prst="rect">
            <a:avLst/>
          </a:prstGeom>
          <a:noFill/>
        </p:spPr>
        <p:txBody>
          <a:bodyPr wrap="none" lIns="0" rIns="0" tIns="0" bIns="0">
            <a:spAutoFit/>
          </a:bodyPr>
          <a:lstStyle/>
          <a:p>
            <a:r>
              <a:rPr sz="1100" b="0">
                <a:solidFill>
                  <a:srgbClr val="2E2E2E"/>
                </a:solidFill>
                <a:latin typeface="Calibri"/>
              </a:rPr>
              <a:t>● Up to 4 Cells:</a:t>
            </a:r>
          </a:p>
        </p:txBody>
      </p:sp>
      <p:pic>
        <p:nvPicPr>
          <p:cNvPr id="98" name="Picture 97" descr="lock.png"/>
          <p:cNvPicPr>
            <a:picLocks noChangeAspect="1"/>
          </p:cNvPicPr>
          <p:nvPr/>
        </p:nvPicPr>
        <p:blipFill>
          <a:blip r:embed="rId16"/>
          <a:stretch>
            <a:fillRect/>
          </a:stretch>
        </p:blipFill>
        <p:spPr>
          <a:xfrm>
            <a:off x="4728857" y="4219658"/>
            <a:ext cx="128699" cy="187198"/>
          </a:xfrm>
          <a:prstGeom prst="rect">
            <a:avLst/>
          </a:prstGeom>
        </p:spPr>
      </p:pic>
      <p:sp>
        <p:nvSpPr>
          <p:cNvPr id="99" name="TextBox 98"/>
          <p:cNvSpPr txBox="1"/>
          <p:nvPr/>
        </p:nvSpPr>
        <p:spPr>
          <a:xfrm>
            <a:off x="489635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755803" y="4219658"/>
            <a:ext cx="128699" cy="187198"/>
          </a:xfrm>
          <a:prstGeom prst="rect">
            <a:avLst/>
          </a:prstGeom>
        </p:spPr>
      </p:pic>
      <p:sp>
        <p:nvSpPr>
          <p:cNvPr id="101" name="TextBox 100"/>
          <p:cNvSpPr txBox="1"/>
          <p:nvPr/>
        </p:nvSpPr>
        <p:spPr>
          <a:xfrm>
            <a:off x="5923299"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20948" cy="186689"/>
          </a:xfrm>
          <a:prstGeom prst="rect">
            <a:avLst/>
          </a:prstGeom>
          <a:noFill/>
        </p:spPr>
        <p:txBody>
          <a:bodyPr wrap="none" lIns="0" rIns="0" tIns="0" bIns="0">
            <a:spAutoFit/>
          </a:bodyPr>
          <a:lstStyle/>
          <a:p>
            <a:r>
              <a:rPr sz="1100" b="0">
                <a:solidFill>
                  <a:srgbClr val="2E2E2E"/>
                </a:solidFill>
                <a:latin typeface="Calibri"/>
              </a:rPr>
              <a:t>● 6 to 12 Cells:</a:t>
            </a:r>
          </a:p>
        </p:txBody>
      </p:sp>
      <p:pic>
        <p:nvPicPr>
          <p:cNvPr id="103" name="Picture 102" descr="lock.png"/>
          <p:cNvPicPr>
            <a:picLocks noChangeAspect="1"/>
          </p:cNvPicPr>
          <p:nvPr/>
        </p:nvPicPr>
        <p:blipFill>
          <a:blip r:embed="rId16"/>
          <a:stretch>
            <a:fillRect/>
          </a:stretch>
        </p:blipFill>
        <p:spPr>
          <a:xfrm>
            <a:off x="4707575" y="4437590"/>
            <a:ext cx="128699" cy="187198"/>
          </a:xfrm>
          <a:prstGeom prst="rect">
            <a:avLst/>
          </a:prstGeom>
        </p:spPr>
      </p:pic>
      <p:sp>
        <p:nvSpPr>
          <p:cNvPr id="104" name="TextBox 103"/>
          <p:cNvSpPr txBox="1"/>
          <p:nvPr/>
        </p:nvSpPr>
        <p:spPr>
          <a:xfrm>
            <a:off x="487507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34521" y="4437590"/>
            <a:ext cx="128699" cy="187198"/>
          </a:xfrm>
          <a:prstGeom prst="rect">
            <a:avLst/>
          </a:prstGeom>
        </p:spPr>
      </p:pic>
      <p:sp>
        <p:nvSpPr>
          <p:cNvPr id="106" name="TextBox 105"/>
          <p:cNvSpPr txBox="1"/>
          <p:nvPr/>
        </p:nvSpPr>
        <p:spPr>
          <a:xfrm>
            <a:off x="5902016"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07" name="TextBox 106"/>
          <p:cNvSpPr txBox="1"/>
          <p:nvPr/>
        </p:nvSpPr>
        <p:spPr>
          <a:xfrm>
            <a:off x="3838575" y="4665301"/>
            <a:ext cx="991889" cy="186689"/>
          </a:xfrm>
          <a:prstGeom prst="rect">
            <a:avLst/>
          </a:prstGeom>
          <a:noFill/>
        </p:spPr>
        <p:txBody>
          <a:bodyPr wrap="none" lIns="0" rIns="0" tIns="0" bIns="0">
            <a:spAutoFit/>
          </a:bodyPr>
          <a:lstStyle/>
          <a:p>
            <a:r>
              <a:rPr sz="1100" b="0">
                <a:solidFill>
                  <a:srgbClr val="2E2E2E"/>
                </a:solidFill>
                <a:latin typeface="Calibri"/>
              </a:rPr>
              <a:t>● 13 to 24 Cells:</a:t>
            </a:r>
          </a:p>
        </p:txBody>
      </p:sp>
      <p:pic>
        <p:nvPicPr>
          <p:cNvPr id="108" name="Picture 107" descr="lock.png"/>
          <p:cNvPicPr>
            <a:picLocks noChangeAspect="1"/>
          </p:cNvPicPr>
          <p:nvPr/>
        </p:nvPicPr>
        <p:blipFill>
          <a:blip r:embed="rId16"/>
          <a:stretch>
            <a:fillRect/>
          </a:stretch>
        </p:blipFill>
        <p:spPr>
          <a:xfrm>
            <a:off x="4778516" y="4655522"/>
            <a:ext cx="128699" cy="187198"/>
          </a:xfrm>
          <a:prstGeom prst="rect">
            <a:avLst/>
          </a:prstGeom>
        </p:spPr>
      </p:pic>
      <p:sp>
        <p:nvSpPr>
          <p:cNvPr id="109" name="TextBox 108"/>
          <p:cNvSpPr txBox="1"/>
          <p:nvPr/>
        </p:nvSpPr>
        <p:spPr>
          <a:xfrm>
            <a:off x="494601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5805462" y="4655522"/>
            <a:ext cx="128699" cy="187198"/>
          </a:xfrm>
          <a:prstGeom prst="rect">
            <a:avLst/>
          </a:prstGeom>
        </p:spPr>
      </p:pic>
      <p:sp>
        <p:nvSpPr>
          <p:cNvPr id="111" name="TextBox 110"/>
          <p:cNvSpPr txBox="1"/>
          <p:nvPr/>
        </p:nvSpPr>
        <p:spPr>
          <a:xfrm>
            <a:off x="597295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058192" cy="186689"/>
          </a:xfrm>
          <a:prstGeom prst="rect">
            <a:avLst/>
          </a:prstGeom>
          <a:noFill/>
        </p:spPr>
        <p:txBody>
          <a:bodyPr wrap="none" lIns="0" rIns="0" tIns="0" bIns="0">
            <a:spAutoFit/>
          </a:bodyPr>
          <a:lstStyle/>
          <a:p>
            <a:r>
              <a:rPr sz="1100" b="0">
                <a:solidFill>
                  <a:srgbClr val="2E2E2E"/>
                </a:solidFill>
                <a:latin typeface="Calibri"/>
              </a:rPr>
              <a:t>● Above 24 Cells:</a:t>
            </a:r>
          </a:p>
        </p:txBody>
      </p:sp>
      <p:pic>
        <p:nvPicPr>
          <p:cNvPr id="113" name="Picture 112" descr="lock.png"/>
          <p:cNvPicPr>
            <a:picLocks noChangeAspect="1"/>
          </p:cNvPicPr>
          <p:nvPr/>
        </p:nvPicPr>
        <p:blipFill>
          <a:blip r:embed="rId16"/>
          <a:stretch>
            <a:fillRect/>
          </a:stretch>
        </p:blipFill>
        <p:spPr>
          <a:xfrm>
            <a:off x="4844819" y="4873454"/>
            <a:ext cx="128699" cy="187198"/>
          </a:xfrm>
          <a:prstGeom prst="rect">
            <a:avLst/>
          </a:prstGeom>
        </p:spPr>
      </p:pic>
      <p:sp>
        <p:nvSpPr>
          <p:cNvPr id="114" name="TextBox 113"/>
          <p:cNvSpPr txBox="1"/>
          <p:nvPr/>
        </p:nvSpPr>
        <p:spPr>
          <a:xfrm>
            <a:off x="5012315"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5871765" y="4873454"/>
            <a:ext cx="128699" cy="187198"/>
          </a:xfrm>
          <a:prstGeom prst="rect">
            <a:avLst/>
          </a:prstGeom>
        </p:spPr>
      </p:pic>
      <p:sp>
        <p:nvSpPr>
          <p:cNvPr id="116" name="TextBox 115"/>
          <p:cNvSpPr txBox="1"/>
          <p:nvPr/>
        </p:nvSpPr>
        <p:spPr>
          <a:xfrm>
            <a:off x="6039261"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7" name="TextBox 116"/>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Cell Configuration segment is projected to grow</a:t>
            </a:r>
          </a:p>
        </p:txBody>
      </p:sp>
      <p:sp>
        <p:nvSpPr>
          <p:cNvPr id="118" name="TextBox 117"/>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19" name="Picture 118" descr="lock.png"/>
          <p:cNvPicPr>
            <a:picLocks noChangeAspect="1"/>
          </p:cNvPicPr>
          <p:nvPr/>
        </p:nvPicPr>
        <p:blipFill>
          <a:blip r:embed="rId16"/>
          <a:stretch>
            <a:fillRect/>
          </a:stretch>
        </p:blipFill>
        <p:spPr>
          <a:xfrm>
            <a:off x="9310118" y="6007677"/>
            <a:ext cx="134549" cy="195707"/>
          </a:xfrm>
          <a:prstGeom prst="rect">
            <a:avLst/>
          </a:prstGeom>
        </p:spPr>
      </p:pic>
      <p:sp>
        <p:nvSpPr>
          <p:cNvPr id="120" name="TextBox 119"/>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Cell Configuration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Cell Configuration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Cell Configuration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Cell Configuration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77650" cy="186689"/>
          </a:xfrm>
          <a:prstGeom prst="rect">
            <a:avLst/>
          </a:prstGeom>
          <a:noFill/>
        </p:spPr>
        <p:txBody>
          <a:bodyPr wrap="none" lIns="0" rIns="0" tIns="0" bIns="0">
            <a:spAutoFit/>
          </a:bodyPr>
          <a:lstStyle/>
          <a:p>
            <a:r>
              <a:rPr sz="1100" b="0">
                <a:solidFill>
                  <a:srgbClr val="2E2E2E"/>
                </a:solidFill>
                <a:latin typeface="Calibri"/>
              </a:rPr>
              <a:t>6 to 12 cells followed by up to 4 cells are expected to be the two most attractive cell configuration segments in the global corrugated partition market in terms of value over the forecast period. 6 to 12 cells</a:t>
            </a:r>
          </a:p>
        </p:txBody>
      </p:sp>
      <p:sp>
        <p:nvSpPr>
          <p:cNvPr id="21" name="TextBox 20"/>
          <p:cNvSpPr txBox="1"/>
          <p:nvPr/>
        </p:nvSpPr>
        <p:spPr>
          <a:xfrm>
            <a:off x="257175" y="5945505"/>
            <a:ext cx="2360496" cy="186689"/>
          </a:xfrm>
          <a:prstGeom prst="rect">
            <a:avLst/>
          </a:prstGeom>
          <a:noFill/>
        </p:spPr>
        <p:txBody>
          <a:bodyPr wrap="none" lIns="0" rIns="0" tIns="0" bIns="0">
            <a:spAutoFit/>
          </a:bodyPr>
          <a:lstStyle/>
          <a:p>
            <a:r>
              <a:rPr sz="1100" b="0">
                <a:solidFill>
                  <a:srgbClr val="2E2E2E"/>
                </a:solidFill>
                <a:latin typeface="Calibri"/>
              </a:rPr>
              <a:t>and up to 4 cells exhibit a CAGR index of</a:t>
            </a:r>
          </a:p>
        </p:txBody>
      </p:sp>
      <p:pic>
        <p:nvPicPr>
          <p:cNvPr id="22" name="Picture 21" descr="lock.png"/>
          <p:cNvPicPr>
            <a:picLocks noChangeAspect="1"/>
          </p:cNvPicPr>
          <p:nvPr/>
        </p:nvPicPr>
        <p:blipFill>
          <a:blip r:embed="rId6"/>
          <a:stretch>
            <a:fillRect/>
          </a:stretch>
        </p:blipFill>
        <p:spPr>
          <a:xfrm>
            <a:off x="2565722" y="5935726"/>
            <a:ext cx="128699" cy="187198"/>
          </a:xfrm>
          <a:prstGeom prst="rect">
            <a:avLst/>
          </a:prstGeom>
        </p:spPr>
      </p:pic>
      <p:sp>
        <p:nvSpPr>
          <p:cNvPr id="23" name="TextBox 22"/>
          <p:cNvSpPr txBox="1"/>
          <p:nvPr/>
        </p:nvSpPr>
        <p:spPr>
          <a:xfrm>
            <a:off x="2733218" y="5945505"/>
            <a:ext cx="2079749" cy="186689"/>
          </a:xfrm>
          <a:prstGeom prst="rect">
            <a:avLst/>
          </a:prstGeom>
          <a:noFill/>
        </p:spPr>
        <p:txBody>
          <a:bodyPr wrap="none" lIns="0" rIns="0" tIns="0" bIns="0">
            <a:spAutoFit/>
          </a:bodyPr>
          <a:lstStyle/>
          <a:p>
            <a:r>
              <a:rPr sz="1100" b="0">
                <a:solidFill>
                  <a:srgbClr val="2E2E2E"/>
                </a:solidFill>
                <a:latin typeface="Calibri"/>
              </a:rPr>
              <a:t>and 98 and a market share index of</a:t>
            </a:r>
          </a:p>
        </p:txBody>
      </p:sp>
      <p:pic>
        <p:nvPicPr>
          <p:cNvPr id="24" name="Picture 23" descr="lock.png"/>
          <p:cNvPicPr>
            <a:picLocks noChangeAspect="1"/>
          </p:cNvPicPr>
          <p:nvPr/>
        </p:nvPicPr>
        <p:blipFill>
          <a:blip r:embed="rId6"/>
          <a:stretch>
            <a:fillRect/>
          </a:stretch>
        </p:blipFill>
        <p:spPr>
          <a:xfrm>
            <a:off x="4761019" y="5935726"/>
            <a:ext cx="128699" cy="187198"/>
          </a:xfrm>
          <a:prstGeom prst="rect">
            <a:avLst/>
          </a:prstGeom>
        </p:spPr>
      </p:pic>
      <p:sp>
        <p:nvSpPr>
          <p:cNvPr id="25" name="TextBox 24"/>
          <p:cNvSpPr txBox="1"/>
          <p:nvPr/>
        </p:nvSpPr>
        <p:spPr>
          <a:xfrm>
            <a:off x="4928515"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6" name="Picture 25" descr="lock.png"/>
          <p:cNvPicPr>
            <a:picLocks noChangeAspect="1"/>
          </p:cNvPicPr>
          <p:nvPr/>
        </p:nvPicPr>
        <p:blipFill>
          <a:blip r:embed="rId6"/>
          <a:stretch>
            <a:fillRect/>
          </a:stretch>
        </p:blipFill>
        <p:spPr>
          <a:xfrm>
            <a:off x="5166409" y="5935726"/>
            <a:ext cx="128699" cy="187198"/>
          </a:xfrm>
          <a:prstGeom prst="rect">
            <a:avLst/>
          </a:prstGeom>
        </p:spPr>
      </p:pic>
      <p:sp>
        <p:nvSpPr>
          <p:cNvPr id="27" name="TextBox 26"/>
          <p:cNvSpPr txBox="1"/>
          <p:nvPr/>
        </p:nvSpPr>
        <p:spPr>
          <a:xfrm>
            <a:off x="5333905"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8" name="Picture 27" descr="lock.png"/>
          <p:cNvPicPr>
            <a:picLocks noChangeAspect="1"/>
          </p:cNvPicPr>
          <p:nvPr/>
        </p:nvPicPr>
        <p:blipFill>
          <a:blip r:embed="rId6"/>
          <a:stretch>
            <a:fillRect/>
          </a:stretch>
        </p:blipFill>
        <p:spPr>
          <a:xfrm>
            <a:off x="7888309" y="5935726"/>
            <a:ext cx="128699" cy="187198"/>
          </a:xfrm>
          <a:prstGeom prst="rect">
            <a:avLst/>
          </a:prstGeom>
        </p:spPr>
      </p:pic>
      <p:sp>
        <p:nvSpPr>
          <p:cNvPr id="29" name="TextBox 28"/>
          <p:cNvSpPr txBox="1"/>
          <p:nvPr/>
        </p:nvSpPr>
        <p:spPr>
          <a:xfrm>
            <a:off x="8055805" y="5945505"/>
            <a:ext cx="3529136" cy="186689"/>
          </a:xfrm>
          <a:prstGeom prst="rect">
            <a:avLst/>
          </a:prstGeom>
          <a:noFill/>
        </p:spPr>
        <p:txBody>
          <a:bodyPr wrap="none" lIns="0" rIns="0" tIns="0" bIns="0">
            <a:spAutoFit/>
          </a:bodyPr>
          <a:lstStyle/>
          <a:p>
            <a:r>
              <a:rPr sz="1100" b="0">
                <a:solidFill>
                  <a:srgbClr val="2E2E2E"/>
                </a:solidFill>
                <a:latin typeface="Calibri"/>
              </a:rPr>
              <a:t>. The above 24 cells segment is expected to be less attractive</a:t>
            </a:r>
          </a:p>
        </p:txBody>
      </p:sp>
      <p:sp>
        <p:nvSpPr>
          <p:cNvPr id="30" name="TextBox 29"/>
          <p:cNvSpPr txBox="1"/>
          <p:nvPr/>
        </p:nvSpPr>
        <p:spPr>
          <a:xfrm>
            <a:off x="257175" y="6113145"/>
            <a:ext cx="10759395" cy="186689"/>
          </a:xfrm>
          <a:prstGeom prst="rect">
            <a:avLst/>
          </a:prstGeom>
          <a:noFill/>
        </p:spPr>
        <p:txBody>
          <a:bodyPr wrap="none" lIns="0" rIns="0" tIns="0" bIns="0">
            <a:spAutoFit/>
          </a:bodyPr>
          <a:lstStyle/>
          <a:p>
            <a:r>
              <a:rPr sz="1100" b="0">
                <a:solidFill>
                  <a:srgbClr val="2E2E2E"/>
                </a:solidFill>
                <a:latin typeface="Calibri"/>
              </a:rPr>
              <a:t>as compared to other segments over the forecast period, owing to its lower CAGR and incremental opportunity. Bubbles right of the CAGR-Index line grow faster than the segment average.</a:t>
            </a:r>
          </a:p>
        </p:txBody>
      </p:sp>
      <p:sp>
        <p:nvSpPr>
          <p:cNvPr id="31"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Cell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Cell Configuration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Up to 4 Cells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6 to 12 Cells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13 to 24 Cells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Above 24 Cells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Cell Configuration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Cell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Cell Configuration (MT)</a:t>
            </a:r>
          </a:p>
        </p:txBody>
      </p:sp>
      <p:graphicFrame>
        <p:nvGraphicFramePr>
          <p:cNvPr id="13" name="Table 12"/>
          <p:cNvGraphicFramePr>
            <a:graphicFrameLocks noGrp="1"/>
          </p:cNvGraphicFramePr>
          <p:nvPr/>
        </p:nvGraphicFramePr>
        <p:xfrm>
          <a:off x="152400" y="1238250"/>
          <a:ext cx="11887200" cy="1676402"/>
        </p:xfrm>
        <a:graphic>
          <a:graphicData uri="http://schemas.openxmlformats.org/drawingml/2006/table">
            <a:tbl>
              <a:tblPr>
                <a:tableStyleId>{5C22544A-7EE6-4342-B048-85BDC9FD1C3A}</a:tableStyleId>
              </a:tblPr>
              <a:tblGrid>
                <a:gridCol w="977441"/>
                <a:gridCol w="655320"/>
                <a:gridCol w="655320"/>
                <a:gridCol w="655320"/>
                <a:gridCol w="655320"/>
                <a:gridCol w="655320"/>
                <a:gridCol w="655320"/>
                <a:gridCol w="655320"/>
                <a:gridCol w="655320"/>
                <a:gridCol w="655320"/>
                <a:gridCol w="655320"/>
                <a:gridCol w="655320"/>
                <a:gridCol w="655320"/>
                <a:gridCol w="655320"/>
                <a:gridCol w="655320"/>
                <a:gridCol w="655320"/>
                <a:gridCol w="655320"/>
                <a:gridCol w="424639"/>
              </a:tblGrid>
              <a:tr h="438912">
                <a:tc>
                  <a:txBody>
                    <a:bodyPr wrap="none"/>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7498">
                <a:tc>
                  <a:txBody>
                    <a:bodyPr wrap="none"/>
                    <a:lstStyle/>
                    <a:p>
                      <a:pPr algn="l"/>
                      <a:r>
                        <a:rPr sz="1100" b="1">
                          <a:solidFill>
                            <a:srgbClr val="2E2E2E"/>
                          </a:solidFill>
                          <a:latin typeface="Calibri"/>
                        </a:rPr>
                        <a:t>Up to 4 Cells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98">
                <a:tc>
                  <a:txBody>
                    <a:bodyPr wrap="none"/>
                    <a:lstStyle/>
                    <a:p>
                      <a:pPr algn="l"/>
                      <a:r>
                        <a:rPr sz="1100" b="1">
                          <a:solidFill>
                            <a:srgbClr val="2E2E2E"/>
                          </a:solidFill>
                          <a:latin typeface="Calibri"/>
                        </a:rPr>
                        <a:t>6 to 12 Cells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98">
                <a:tc>
                  <a:txBody>
                    <a:bodyPr wrap="none"/>
                    <a:lstStyle/>
                    <a:p>
                      <a:pPr algn="l"/>
                      <a:r>
                        <a:rPr sz="1100" b="1">
                          <a:solidFill>
                            <a:srgbClr val="2E2E2E"/>
                          </a:solidFill>
                          <a:latin typeface="Calibri"/>
                        </a:rPr>
                        <a:t>13 to 24 Cells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98">
                <a:tc>
                  <a:txBody>
                    <a:bodyPr wrap="none"/>
                    <a:lstStyle/>
                    <a:p>
                      <a:pPr algn="l"/>
                      <a:r>
                        <a:rPr sz="1100" b="1">
                          <a:solidFill>
                            <a:srgbClr val="2E2E2E"/>
                          </a:solidFill>
                          <a:latin typeface="Calibri"/>
                        </a:rPr>
                        <a:t>Above 24 Cells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Cell Configuration</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8030" y="2029206"/>
            <a:ext cx="366712" cy="533400"/>
          </a:xfrm>
          <a:prstGeom prst="rect">
            <a:avLst/>
          </a:prstGeom>
        </p:spPr>
      </p:pic>
      <p:sp>
        <p:nvSpPr>
          <p:cNvPr id="21" name="TextBox 20"/>
          <p:cNvSpPr txBox="1"/>
          <p:nvPr/>
        </p:nvSpPr>
        <p:spPr>
          <a:xfrm>
            <a:off x="276225" y="3676650"/>
            <a:ext cx="2708237" cy="194310"/>
          </a:xfrm>
          <a:prstGeom prst="rect">
            <a:avLst/>
          </a:prstGeom>
          <a:noFill/>
        </p:spPr>
        <p:txBody>
          <a:bodyPr wrap="none" lIns="0" rIns="0" tIns="0" bIns="0">
            <a:spAutoFit/>
          </a:bodyPr>
          <a:lstStyle/>
          <a:p>
            <a:r>
              <a:rPr sz="1150" b="0">
                <a:solidFill>
                  <a:srgbClr val="2E2E2E"/>
                </a:solidFill>
                <a:latin typeface="Calibri"/>
              </a:rPr>
              <a:t>6 to 12 cells segment is projected to register</a:t>
            </a:r>
          </a:p>
        </p:txBody>
      </p:sp>
      <p:pic>
        <p:nvPicPr>
          <p:cNvPr id="22" name="Picture 21" descr="lock.png"/>
          <p:cNvPicPr>
            <a:picLocks noChangeAspect="1"/>
          </p:cNvPicPr>
          <p:nvPr/>
        </p:nvPicPr>
        <p:blipFill>
          <a:blip r:embed="rId4"/>
          <a:stretch>
            <a:fillRect/>
          </a:stretch>
        </p:blipFill>
        <p:spPr>
          <a:xfrm>
            <a:off x="2933616" y="3666426"/>
            <a:ext cx="134549" cy="195707"/>
          </a:xfrm>
          <a:prstGeom prst="rect">
            <a:avLst/>
          </a:prstGeom>
        </p:spPr>
      </p:pic>
      <p:sp>
        <p:nvSpPr>
          <p:cNvPr id="23" name="TextBox 22"/>
          <p:cNvSpPr txBox="1"/>
          <p:nvPr/>
        </p:nvSpPr>
        <p:spPr>
          <a:xfrm>
            <a:off x="3108726" y="3676650"/>
            <a:ext cx="8752768" cy="194310"/>
          </a:xfrm>
          <a:prstGeom prst="rect">
            <a:avLst/>
          </a:prstGeom>
          <a:noFill/>
        </p:spPr>
        <p:txBody>
          <a:bodyPr wrap="none" lIns="0" rIns="0" tIns="0" bIns="0">
            <a:spAutoFit/>
          </a:bodyPr>
          <a:lstStyle/>
          <a:p>
            <a:r>
              <a:rPr sz="1150" b="0">
                <a:solidFill>
                  <a:srgbClr val="2E2E2E"/>
                </a:solidFill>
                <a:latin typeface="Calibri"/>
              </a:rPr>
              <a:t>X higher volume than up to 4 cells segment in 2036. Among corrugated partition by cell configuration, 6 to 12 cells segment is expected to witness</a:t>
            </a:r>
          </a:p>
        </p:txBody>
      </p:sp>
      <p:sp>
        <p:nvSpPr>
          <p:cNvPr id="24" name="TextBox 23"/>
          <p:cNvSpPr txBox="1"/>
          <p:nvPr/>
        </p:nvSpPr>
        <p:spPr>
          <a:xfrm>
            <a:off x="276225" y="3851910"/>
            <a:ext cx="1263979" cy="194310"/>
          </a:xfrm>
          <a:prstGeom prst="rect">
            <a:avLst/>
          </a:prstGeom>
          <a:noFill/>
        </p:spPr>
        <p:txBody>
          <a:bodyPr wrap="none" lIns="0" rIns="0" t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841686"/>
            <a:ext cx="134549" cy="195707"/>
          </a:xfrm>
          <a:prstGeom prst="rect">
            <a:avLst/>
          </a:prstGeom>
        </p:spPr>
      </p:pic>
      <p:sp>
        <p:nvSpPr>
          <p:cNvPr id="26" name="TextBox 25"/>
          <p:cNvSpPr txBox="1"/>
          <p:nvPr/>
        </p:nvSpPr>
        <p:spPr>
          <a:xfrm>
            <a:off x="1664467" y="38519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079747"/>
            <a:ext cx="7012148" cy="194310"/>
          </a:xfrm>
          <a:prstGeom prst="rect">
            <a:avLst/>
          </a:prstGeom>
          <a:noFill/>
        </p:spPr>
        <p:txBody>
          <a:bodyPr wrap="none" lIns="0" rIns="0" tIns="0" bIns="0">
            <a:spAutoFit/>
          </a:bodyPr>
          <a:lstStyle/>
          <a:p>
            <a:r>
              <a:rPr sz="1150" b="0">
                <a:solidFill>
                  <a:srgbClr val="2E2E2E"/>
                </a:solidFill>
                <a:latin typeface="Calibri"/>
              </a:rPr>
              <a:t>In terms of volume share by cell configuration, the 6 to 12 cells segment is expected to dominate the market, gaining</a:t>
            </a:r>
          </a:p>
        </p:txBody>
      </p:sp>
      <p:pic>
        <p:nvPicPr>
          <p:cNvPr id="28" name="Picture 27" descr="lock.png"/>
          <p:cNvPicPr>
            <a:picLocks noChangeAspect="1"/>
          </p:cNvPicPr>
          <p:nvPr/>
        </p:nvPicPr>
        <p:blipFill>
          <a:blip r:embed="rId4"/>
          <a:stretch>
            <a:fillRect/>
          </a:stretch>
        </p:blipFill>
        <p:spPr>
          <a:xfrm>
            <a:off x="7237527" y="4069524"/>
            <a:ext cx="134549" cy="195707"/>
          </a:xfrm>
          <a:prstGeom prst="rect">
            <a:avLst/>
          </a:prstGeom>
        </p:spPr>
      </p:pic>
      <p:sp>
        <p:nvSpPr>
          <p:cNvPr id="29" name="TextBox 28"/>
          <p:cNvSpPr txBox="1"/>
          <p:nvPr/>
        </p:nvSpPr>
        <p:spPr>
          <a:xfrm>
            <a:off x="7412636" y="40797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807780" y="4069524"/>
            <a:ext cx="134549" cy="195707"/>
          </a:xfrm>
          <a:prstGeom prst="rect">
            <a:avLst/>
          </a:prstGeom>
        </p:spPr>
      </p:pic>
      <p:sp>
        <p:nvSpPr>
          <p:cNvPr id="31" name="TextBox 30"/>
          <p:cNvSpPr txBox="1"/>
          <p:nvPr/>
        </p:nvSpPr>
        <p:spPr>
          <a:xfrm>
            <a:off x="8982889" y="4079747"/>
            <a:ext cx="2684846" cy="194310"/>
          </a:xfrm>
          <a:prstGeom prst="rect">
            <a:avLst/>
          </a:prstGeom>
          <a:noFill/>
        </p:spPr>
        <p:txBody>
          <a:bodyPr wrap="none" lIns="0" rIns="0" tIns="0" bIns="0">
            <a:spAutoFit/>
          </a:bodyPr>
          <a:lstStyle/>
          <a:p>
            <a:r>
              <a:rPr sz="1150" b="0">
                <a:solidFill>
                  <a:srgbClr val="2E2E2E"/>
                </a:solidFill>
                <a:latin typeface="Calibri"/>
              </a:rPr>
              <a:t>share by 2036. The 13 to 24 cells segment is</a:t>
            </a:r>
          </a:p>
        </p:txBody>
      </p:sp>
      <p:sp>
        <p:nvSpPr>
          <p:cNvPr id="32" name="TextBox 31"/>
          <p:cNvSpPr txBox="1"/>
          <p:nvPr/>
        </p:nvSpPr>
        <p:spPr>
          <a:xfrm>
            <a:off x="276225" y="42550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4244784"/>
            <a:ext cx="134549" cy="195707"/>
          </a:xfrm>
          <a:prstGeom prst="rect">
            <a:avLst/>
          </a:prstGeom>
        </p:spPr>
      </p:pic>
      <p:sp>
        <p:nvSpPr>
          <p:cNvPr id="34" name="TextBox 33"/>
          <p:cNvSpPr txBox="1"/>
          <p:nvPr/>
        </p:nvSpPr>
        <p:spPr>
          <a:xfrm>
            <a:off x="1455394" y="42550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4244784"/>
            <a:ext cx="134549" cy="195707"/>
          </a:xfrm>
          <a:prstGeom prst="rect">
            <a:avLst/>
          </a:prstGeom>
        </p:spPr>
      </p:pic>
      <p:sp>
        <p:nvSpPr>
          <p:cNvPr id="36" name="TextBox 35"/>
          <p:cNvSpPr txBox="1"/>
          <p:nvPr/>
        </p:nvSpPr>
        <p:spPr>
          <a:xfrm>
            <a:off x="4218008" y="42550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Cell Configuration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Cell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Cell Configuration (US$ Mn)</a:t>
            </a:r>
          </a:p>
        </p:txBody>
      </p:sp>
      <p:graphicFrame>
        <p:nvGraphicFramePr>
          <p:cNvPr id="13" name="Table 12"/>
          <p:cNvGraphicFramePr>
            <a:graphicFrameLocks noGrp="1"/>
          </p:cNvGraphicFramePr>
          <p:nvPr/>
        </p:nvGraphicFramePr>
        <p:xfrm>
          <a:off x="152400" y="1238250"/>
          <a:ext cx="11887207" cy="1485896"/>
        </p:xfrm>
        <a:graphic>
          <a:graphicData uri="http://schemas.openxmlformats.org/drawingml/2006/table">
            <a:tbl>
              <a:tblPr>
                <a:tableStyleId>{5C22544A-7EE6-4342-B048-85BDC9FD1C3A}</a:tableStyleId>
              </a:tblPr>
              <a:tblGrid>
                <a:gridCol w="1323492"/>
                <a:gridCol w="621395"/>
                <a:gridCol w="621395"/>
                <a:gridCol w="621395"/>
                <a:gridCol w="621395"/>
                <a:gridCol w="621395"/>
                <a:gridCol w="621395"/>
                <a:gridCol w="621395"/>
                <a:gridCol w="621395"/>
                <a:gridCol w="621395"/>
                <a:gridCol w="621395"/>
                <a:gridCol w="621395"/>
                <a:gridCol w="621395"/>
                <a:gridCol w="621395"/>
                <a:gridCol w="621395"/>
                <a:gridCol w="621395"/>
                <a:gridCol w="621395"/>
                <a:gridCol w="621395"/>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Cell Configuration</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71059" y="1837563"/>
            <a:ext cx="366712" cy="533400"/>
          </a:xfrm>
          <a:prstGeom prst="rect">
            <a:avLst/>
          </a:prstGeom>
        </p:spPr>
      </p:pic>
      <p:sp>
        <p:nvSpPr>
          <p:cNvPr id="21" name="TextBox 20"/>
          <p:cNvSpPr txBox="1"/>
          <p:nvPr/>
        </p:nvSpPr>
        <p:spPr>
          <a:xfrm>
            <a:off x="276225" y="3486150"/>
            <a:ext cx="2708237" cy="194310"/>
          </a:xfrm>
          <a:prstGeom prst="rect">
            <a:avLst/>
          </a:prstGeom>
          <a:noFill/>
        </p:spPr>
        <p:txBody>
          <a:bodyPr wrap="none" lIns="0" rIns="0" tIns="0" bIns="0">
            <a:spAutoFit/>
          </a:bodyPr>
          <a:lstStyle/>
          <a:p>
            <a:r>
              <a:rPr sz="1150" b="0">
                <a:solidFill>
                  <a:srgbClr val="2E2E2E"/>
                </a:solidFill>
                <a:latin typeface="Calibri"/>
              </a:rPr>
              <a:t>6 to 12 cells segment is projected to register</a:t>
            </a:r>
          </a:p>
        </p:txBody>
      </p:sp>
      <p:pic>
        <p:nvPicPr>
          <p:cNvPr id="22" name="Picture 21" descr="lock.png"/>
          <p:cNvPicPr>
            <a:picLocks noChangeAspect="1"/>
          </p:cNvPicPr>
          <p:nvPr/>
        </p:nvPicPr>
        <p:blipFill>
          <a:blip r:embed="rId4"/>
          <a:stretch>
            <a:fillRect/>
          </a:stretch>
        </p:blipFill>
        <p:spPr>
          <a:xfrm>
            <a:off x="2933616" y="3475926"/>
            <a:ext cx="134549" cy="195707"/>
          </a:xfrm>
          <a:prstGeom prst="rect">
            <a:avLst/>
          </a:prstGeom>
        </p:spPr>
      </p:pic>
      <p:sp>
        <p:nvSpPr>
          <p:cNvPr id="23" name="TextBox 22"/>
          <p:cNvSpPr txBox="1"/>
          <p:nvPr/>
        </p:nvSpPr>
        <p:spPr>
          <a:xfrm>
            <a:off x="3108726" y="3486150"/>
            <a:ext cx="8628967" cy="194310"/>
          </a:xfrm>
          <a:prstGeom prst="rect">
            <a:avLst/>
          </a:prstGeom>
          <a:noFill/>
        </p:spPr>
        <p:txBody>
          <a:bodyPr wrap="none" lIns="0" rIns="0" tIns="0" bIns="0">
            <a:spAutoFit/>
          </a:bodyPr>
          <a:lstStyle/>
          <a:p>
            <a:r>
              <a:rPr sz="1150" b="0">
                <a:solidFill>
                  <a:srgbClr val="2E2E2E"/>
                </a:solidFill>
                <a:latin typeface="Calibri"/>
              </a:rPr>
              <a:t>X higher value than up to 4 cells segment in 2036. Among corrugated partition by cell configuration, 6 to 12 cells segment is expected to witness</a:t>
            </a:r>
          </a:p>
        </p:txBody>
      </p:sp>
      <p:sp>
        <p:nvSpPr>
          <p:cNvPr id="24" name="TextBox 23"/>
          <p:cNvSpPr txBox="1"/>
          <p:nvPr/>
        </p:nvSpPr>
        <p:spPr>
          <a:xfrm>
            <a:off x="276225" y="3661410"/>
            <a:ext cx="1263979" cy="194310"/>
          </a:xfrm>
          <a:prstGeom prst="rect">
            <a:avLst/>
          </a:prstGeom>
          <a:noFill/>
        </p:spPr>
        <p:txBody>
          <a:bodyPr wrap="none" lIns="0" rIns="0" t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651186"/>
            <a:ext cx="134549" cy="195707"/>
          </a:xfrm>
          <a:prstGeom prst="rect">
            <a:avLst/>
          </a:prstGeom>
        </p:spPr>
      </p:pic>
      <p:sp>
        <p:nvSpPr>
          <p:cNvPr id="26" name="TextBox 25"/>
          <p:cNvSpPr txBox="1"/>
          <p:nvPr/>
        </p:nvSpPr>
        <p:spPr>
          <a:xfrm>
            <a:off x="1664467"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6888348" cy="194310"/>
          </a:xfrm>
          <a:prstGeom prst="rect">
            <a:avLst/>
          </a:prstGeom>
          <a:noFill/>
        </p:spPr>
        <p:txBody>
          <a:bodyPr wrap="none" lIns="0" rIns="0" tIns="0" bIns="0">
            <a:spAutoFit/>
          </a:bodyPr>
          <a:lstStyle/>
          <a:p>
            <a:r>
              <a:rPr sz="1150" b="0">
                <a:solidFill>
                  <a:srgbClr val="2E2E2E"/>
                </a:solidFill>
                <a:latin typeface="Calibri"/>
              </a:rPr>
              <a:t>In terms of value share by cell configuration, the 6 to 12 cells segment is expected to dominate the market, gaining</a:t>
            </a:r>
          </a:p>
        </p:txBody>
      </p:sp>
      <p:pic>
        <p:nvPicPr>
          <p:cNvPr id="28" name="Picture 27" descr="lock.png"/>
          <p:cNvPicPr>
            <a:picLocks noChangeAspect="1"/>
          </p:cNvPicPr>
          <p:nvPr/>
        </p:nvPicPr>
        <p:blipFill>
          <a:blip r:embed="rId4"/>
          <a:stretch>
            <a:fillRect/>
          </a:stretch>
        </p:blipFill>
        <p:spPr>
          <a:xfrm>
            <a:off x="7113727" y="3879024"/>
            <a:ext cx="134549" cy="195707"/>
          </a:xfrm>
          <a:prstGeom prst="rect">
            <a:avLst/>
          </a:prstGeom>
        </p:spPr>
      </p:pic>
      <p:sp>
        <p:nvSpPr>
          <p:cNvPr id="29" name="TextBox 28"/>
          <p:cNvSpPr txBox="1"/>
          <p:nvPr/>
        </p:nvSpPr>
        <p:spPr>
          <a:xfrm>
            <a:off x="7288836"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83979" y="3879024"/>
            <a:ext cx="134549" cy="195707"/>
          </a:xfrm>
          <a:prstGeom prst="rect">
            <a:avLst/>
          </a:prstGeom>
        </p:spPr>
      </p:pic>
      <p:sp>
        <p:nvSpPr>
          <p:cNvPr id="31" name="TextBox 30"/>
          <p:cNvSpPr txBox="1"/>
          <p:nvPr/>
        </p:nvSpPr>
        <p:spPr>
          <a:xfrm>
            <a:off x="8859089" y="3889247"/>
            <a:ext cx="2684846" cy="194310"/>
          </a:xfrm>
          <a:prstGeom prst="rect">
            <a:avLst/>
          </a:prstGeom>
          <a:noFill/>
        </p:spPr>
        <p:txBody>
          <a:bodyPr wrap="none" lIns="0" rIns="0" tIns="0" bIns="0">
            <a:spAutoFit/>
          </a:bodyPr>
          <a:lstStyle/>
          <a:p>
            <a:r>
              <a:rPr sz="1150" b="0">
                <a:solidFill>
                  <a:srgbClr val="2E2E2E"/>
                </a:solidFill>
                <a:latin typeface="Calibri"/>
              </a:rPr>
              <a:t>share by 2036. The 13 to 24 cells segment is</a:t>
            </a:r>
          </a:p>
        </p:txBody>
      </p:sp>
      <p:sp>
        <p:nvSpPr>
          <p:cNvPr id="32" name="TextBox 31"/>
          <p:cNvSpPr txBox="1"/>
          <p:nvPr/>
        </p:nvSpPr>
        <p:spPr>
          <a:xfrm>
            <a:off x="276225" y="40645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4054284"/>
            <a:ext cx="134549" cy="195707"/>
          </a:xfrm>
          <a:prstGeom prst="rect">
            <a:avLst/>
          </a:prstGeom>
        </p:spPr>
      </p:pic>
      <p:sp>
        <p:nvSpPr>
          <p:cNvPr id="34" name="TextBox 33"/>
          <p:cNvSpPr txBox="1"/>
          <p:nvPr/>
        </p:nvSpPr>
        <p:spPr>
          <a:xfrm>
            <a:off x="1455394" y="4064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4054284"/>
            <a:ext cx="134549" cy="195707"/>
          </a:xfrm>
          <a:prstGeom prst="rect">
            <a:avLst/>
          </a:prstGeom>
        </p:spPr>
      </p:pic>
      <p:sp>
        <p:nvSpPr>
          <p:cNvPr id="36" name="TextBox 35"/>
          <p:cNvSpPr txBox="1"/>
          <p:nvPr/>
        </p:nvSpPr>
        <p:spPr>
          <a:xfrm>
            <a:off x="4218008" y="4064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Cell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Cell Configuration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Cell Configuration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0299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982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220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Above 24 Cells</a:t>
            </a:r>
          </a:p>
        </p:txBody>
      </p:sp>
      <p:sp>
        <p:nvSpPr>
          <p:cNvPr id="19" name="BPS Value 1"/>
          <p:cNvSpPr txBox="1"/>
          <p:nvPr/>
        </p:nvSpPr>
        <p:spPr>
          <a:xfrm>
            <a:off x="6896100" y="188394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47069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659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897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13 to 24 Cells</a:t>
            </a:r>
          </a:p>
        </p:txBody>
      </p:sp>
      <p:sp>
        <p:nvSpPr>
          <p:cNvPr id="23" name="BPS Value 2"/>
          <p:cNvSpPr txBox="1"/>
          <p:nvPr/>
        </p:nvSpPr>
        <p:spPr>
          <a:xfrm>
            <a:off x="6896100" y="24516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65545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6506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5744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Up to 4 Cells</a:t>
            </a:r>
          </a:p>
        </p:txBody>
      </p:sp>
      <p:sp>
        <p:nvSpPr>
          <p:cNvPr id="27" name="BPS Value 3"/>
          <p:cNvSpPr txBox="1"/>
          <p:nvPr/>
        </p:nvSpPr>
        <p:spPr>
          <a:xfrm>
            <a:off x="6896100" y="363640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37394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36918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2929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6 to 12 Cells</a:t>
            </a:r>
          </a:p>
        </p:txBody>
      </p:sp>
      <p:sp>
        <p:nvSpPr>
          <p:cNvPr id="31" name="BPS Value 4"/>
          <p:cNvSpPr txBox="1"/>
          <p:nvPr/>
        </p:nvSpPr>
        <p:spPr>
          <a:xfrm>
            <a:off x="6896100" y="535489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Cell Configuration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755119" cy="194310"/>
          </a:xfrm>
          <a:prstGeom prst="rect">
            <a:avLst/>
          </a:prstGeom>
          <a:noFill/>
        </p:spPr>
        <p:txBody>
          <a:bodyPr wrap="none" lIns="0" rIns="0" tIns="0" bIns="0">
            <a:spAutoFit/>
          </a:bodyPr>
          <a:lstStyle/>
          <a:p>
            <a:r>
              <a:rPr sz="1150" b="0">
                <a:solidFill>
                  <a:srgbClr val="2E2E2E"/>
                </a:solidFill>
                <a:latin typeface="Calibri"/>
              </a:rPr>
              <a:t>Among corrugated partition by cell configuration, 6 to 12 cells</a:t>
            </a:r>
          </a:p>
        </p:txBody>
      </p:sp>
      <p:sp>
        <p:nvSpPr>
          <p:cNvPr id="39" name="TextBox 38"/>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2" name="TextBox 41"/>
          <p:cNvSpPr txBox="1"/>
          <p:nvPr/>
        </p:nvSpPr>
        <p:spPr>
          <a:xfrm>
            <a:off x="7829550" y="1750695"/>
            <a:ext cx="4026966" cy="194310"/>
          </a:xfrm>
          <a:prstGeom prst="rect">
            <a:avLst/>
          </a:prstGeom>
          <a:noFill/>
        </p:spPr>
        <p:txBody>
          <a:bodyPr wrap="none" lIns="0" rIns="0" tIns="0" bIns="0">
            <a:spAutoFit/>
          </a:bodyPr>
          <a:lstStyle/>
          <a:p>
            <a:r>
              <a:rPr sz="1150" b="0">
                <a:solidFill>
                  <a:srgbClr val="2E2E2E"/>
                </a:solidFill>
                <a:latin typeface="Calibri"/>
              </a:rPr>
              <a:t>forecast period. In terms of value share by cell configuration, the 6</a:t>
            </a:r>
          </a:p>
        </p:txBody>
      </p:sp>
      <p:sp>
        <p:nvSpPr>
          <p:cNvPr id="43" name="TextBox 42"/>
          <p:cNvSpPr txBox="1"/>
          <p:nvPr/>
        </p:nvSpPr>
        <p:spPr>
          <a:xfrm>
            <a:off x="7829550" y="1925955"/>
            <a:ext cx="3878634" cy="194310"/>
          </a:xfrm>
          <a:prstGeom prst="rect">
            <a:avLst/>
          </a:prstGeom>
          <a:noFill/>
        </p:spPr>
        <p:txBody>
          <a:bodyPr wrap="none" lIns="0" rIns="0" tIns="0" bIns="0">
            <a:spAutoFit/>
          </a:bodyPr>
          <a:lstStyle/>
          <a:p>
            <a:r>
              <a:rPr sz="1150" b="0">
                <a:solidFill>
                  <a:srgbClr val="2E2E2E"/>
                </a:solidFill>
                <a:latin typeface="Calibri"/>
              </a:rPr>
              <a:t>to 12 cells segment is expected to dominate the market, gaining</a:t>
            </a:r>
          </a:p>
        </p:txBody>
      </p:sp>
      <p:pic>
        <p:nvPicPr>
          <p:cNvPr id="44" name="Picture 43" descr="lock.png"/>
          <p:cNvPicPr>
            <a:picLocks noChangeAspect="1"/>
          </p:cNvPicPr>
          <p:nvPr/>
        </p:nvPicPr>
        <p:blipFill>
          <a:blip r:embed="rId5"/>
          <a:stretch>
            <a:fillRect/>
          </a:stretch>
        </p:blipFill>
        <p:spPr>
          <a:xfrm>
            <a:off x="7815470" y="2090991"/>
            <a:ext cx="134549" cy="195707"/>
          </a:xfrm>
          <a:prstGeom prst="rect">
            <a:avLst/>
          </a:prstGeom>
        </p:spPr>
      </p:pic>
      <p:sp>
        <p:nvSpPr>
          <p:cNvPr id="45" name="TextBox 44"/>
          <p:cNvSpPr txBox="1"/>
          <p:nvPr/>
        </p:nvSpPr>
        <p:spPr>
          <a:xfrm>
            <a:off x="7990579"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6" name="Picture 45" descr="lock.png"/>
          <p:cNvPicPr>
            <a:picLocks noChangeAspect="1"/>
          </p:cNvPicPr>
          <p:nvPr/>
        </p:nvPicPr>
        <p:blipFill>
          <a:blip r:embed="rId5"/>
          <a:stretch>
            <a:fillRect/>
          </a:stretch>
        </p:blipFill>
        <p:spPr>
          <a:xfrm>
            <a:off x="9385722" y="2090991"/>
            <a:ext cx="134549" cy="195707"/>
          </a:xfrm>
          <a:prstGeom prst="rect">
            <a:avLst/>
          </a:prstGeom>
        </p:spPr>
      </p:pic>
      <p:sp>
        <p:nvSpPr>
          <p:cNvPr id="47" name="TextBox 46"/>
          <p:cNvSpPr txBox="1"/>
          <p:nvPr/>
        </p:nvSpPr>
        <p:spPr>
          <a:xfrm>
            <a:off x="9560832"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8" name="TextBox 47"/>
          <p:cNvSpPr txBox="1"/>
          <p:nvPr/>
        </p:nvSpPr>
        <p:spPr>
          <a:xfrm>
            <a:off x="7829550" y="2329053"/>
            <a:ext cx="2793528" cy="194310"/>
          </a:xfrm>
          <a:prstGeom prst="rect">
            <a:avLst/>
          </a:prstGeom>
          <a:noFill/>
        </p:spPr>
        <p:txBody>
          <a:bodyPr wrap="none" lIns="0" rIns="0" tIns="0" bIns="0">
            <a:spAutoFit/>
          </a:bodyPr>
          <a:lstStyle/>
          <a:p>
            <a:r>
              <a:rPr sz="1150" b="0">
                <a:solidFill>
                  <a:srgbClr val="2E2E2E"/>
                </a:solidFill>
                <a:latin typeface="Calibri"/>
              </a:rPr>
              <a:t>The 13 to 24 cells segment is expected to lose</a:t>
            </a:r>
          </a:p>
        </p:txBody>
      </p:sp>
      <p:pic>
        <p:nvPicPr>
          <p:cNvPr id="49" name="Picture 48" descr="lock.png"/>
          <p:cNvPicPr>
            <a:picLocks noChangeAspect="1"/>
          </p:cNvPicPr>
          <p:nvPr/>
        </p:nvPicPr>
        <p:blipFill>
          <a:blip r:embed="rId5"/>
          <a:stretch>
            <a:fillRect/>
          </a:stretch>
        </p:blipFill>
        <p:spPr>
          <a:xfrm>
            <a:off x="10572232" y="2318829"/>
            <a:ext cx="134549" cy="195707"/>
          </a:xfrm>
          <a:prstGeom prst="rect">
            <a:avLst/>
          </a:prstGeom>
        </p:spPr>
      </p:pic>
      <p:sp>
        <p:nvSpPr>
          <p:cNvPr id="50" name="TextBox 49"/>
          <p:cNvSpPr txBox="1"/>
          <p:nvPr/>
        </p:nvSpPr>
        <p:spPr>
          <a:xfrm>
            <a:off x="10747341" y="232905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51" name="TextBox 50"/>
          <p:cNvSpPr txBox="1"/>
          <p:nvPr/>
        </p:nvSpPr>
        <p:spPr>
          <a:xfrm>
            <a:off x="7829550" y="2504313"/>
            <a:ext cx="1851620" cy="194310"/>
          </a:xfrm>
          <a:prstGeom prst="rect">
            <a:avLst/>
          </a:prstGeom>
          <a:noFill/>
        </p:spPr>
        <p:txBody>
          <a:bodyPr wrap="none" lIns="0" rIns="0" tIns="0" bIns="0">
            <a:spAutoFit/>
          </a:bodyPr>
          <a:lstStyle/>
          <a:p>
            <a:r>
              <a:rPr sz="1150" b="0">
                <a:solidFill>
                  <a:srgbClr val="2E2E2E"/>
                </a:solidFill>
                <a:latin typeface="Calibri"/>
              </a:rPr>
              <a:t>forecast period to account for</a:t>
            </a:r>
          </a:p>
        </p:txBody>
      </p:sp>
      <p:pic>
        <p:nvPicPr>
          <p:cNvPr id="52" name="Picture 51" descr="lock.png"/>
          <p:cNvPicPr>
            <a:picLocks noChangeAspect="1"/>
          </p:cNvPicPr>
          <p:nvPr/>
        </p:nvPicPr>
        <p:blipFill>
          <a:blip r:embed="rId5"/>
          <a:stretch>
            <a:fillRect/>
          </a:stretch>
        </p:blipFill>
        <p:spPr>
          <a:xfrm>
            <a:off x="9630324" y="2494089"/>
            <a:ext cx="134549" cy="195707"/>
          </a:xfrm>
          <a:prstGeom prst="rect">
            <a:avLst/>
          </a:prstGeom>
        </p:spPr>
      </p:pic>
      <p:sp>
        <p:nvSpPr>
          <p:cNvPr id="53" name="TextBox 52"/>
          <p:cNvSpPr txBox="1"/>
          <p:nvPr/>
        </p:nvSpPr>
        <p:spPr>
          <a:xfrm>
            <a:off x="980543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4"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Cell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Cell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gridCol w="695728"/>
                <a:gridCol w="695728"/>
                <a:gridCol w="695728"/>
                <a:gridCol w="695728"/>
                <a:gridCol w="695728"/>
                <a:gridCol w="695728"/>
                <a:gridCol w="695728"/>
                <a:gridCol w="695728"/>
                <a:gridCol w="695728"/>
                <a:gridCol w="695728"/>
                <a:gridCol w="695728"/>
                <a:gridCol w="695728"/>
                <a:gridCol w="695728"/>
                <a:gridCol w="695728"/>
                <a:gridCol w="695728"/>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Cell Configuration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4 Cells</a:t>
            </a:r>
          </a:p>
        </p:txBody>
      </p:sp>
      <p:sp>
        <p:nvSpPr>
          <p:cNvPr id="33" name="Rectangle 32"/>
          <p:cNvSpPr/>
          <p:nvPr/>
        </p:nvSpPr>
        <p:spPr>
          <a:xfrm>
            <a:off x="185737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6 to 12 Cells</a:t>
            </a:r>
          </a:p>
        </p:txBody>
      </p:sp>
      <p:sp>
        <p:nvSpPr>
          <p:cNvPr id="49" name="Rectangle 48"/>
          <p:cNvSpPr/>
          <p:nvPr/>
        </p:nvSpPr>
        <p:spPr>
          <a:xfrm>
            <a:off x="1857375" y="4079081"/>
            <a:ext cx="643890" cy="831056"/>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13 to 24 Cells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Above 24 Cells</a:t>
            </a:r>
          </a:p>
        </p:txBody>
      </p:sp>
      <p:sp>
        <p:nvSpPr>
          <p:cNvPr id="81" name="Rectangle 80"/>
          <p:cNvSpPr/>
          <p:nvPr/>
        </p:nvSpPr>
        <p:spPr>
          <a:xfrm>
            <a:off x="1857375" y="5741194"/>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34947"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Cell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Cell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gridCol w="695728"/>
                <a:gridCol w="695728"/>
                <a:gridCol w="695728"/>
                <a:gridCol w="695728"/>
                <a:gridCol w="695728"/>
                <a:gridCol w="695728"/>
                <a:gridCol w="695728"/>
                <a:gridCol w="695728"/>
                <a:gridCol w="695728"/>
                <a:gridCol w="695728"/>
                <a:gridCol w="695728"/>
                <a:gridCol w="695728"/>
                <a:gridCol w="695728"/>
                <a:gridCol w="695728"/>
                <a:gridCol w="695728"/>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Cell Configuration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4 Cells</a:t>
            </a:r>
          </a:p>
        </p:txBody>
      </p:sp>
      <p:sp>
        <p:nvSpPr>
          <p:cNvPr id="33" name="Rectangle 32"/>
          <p:cNvSpPr/>
          <p:nvPr/>
        </p:nvSpPr>
        <p:spPr>
          <a:xfrm>
            <a:off x="185737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6 to 12 Cells</a:t>
            </a:r>
          </a:p>
        </p:txBody>
      </p:sp>
      <p:sp>
        <p:nvSpPr>
          <p:cNvPr id="49" name="Rectangle 48"/>
          <p:cNvSpPr/>
          <p:nvPr/>
        </p:nvSpPr>
        <p:spPr>
          <a:xfrm>
            <a:off x="1857375" y="4079081"/>
            <a:ext cx="643890" cy="831056"/>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13 to 24 Cells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Above 24 Cells</a:t>
            </a:r>
          </a:p>
        </p:txBody>
      </p:sp>
      <p:sp>
        <p:nvSpPr>
          <p:cNvPr id="81" name="Rectangle 80"/>
          <p:cNvSpPr/>
          <p:nvPr/>
        </p:nvSpPr>
        <p:spPr>
          <a:xfrm>
            <a:off x="185737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34947"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Customization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Customization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Customization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Customization,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Customization segment categorizes the market by customization.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Custom-Engineered</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Stock Sizes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Customization split shows how demand is distributed across customization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027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004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0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173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_184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6_4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94756" cy="186689"/>
          </a:xfrm>
          <a:prstGeom prst="rect">
            <a:avLst/>
          </a:prstGeom>
          <a:noFill/>
        </p:spPr>
        <p:txBody>
          <a:bodyPr wrap="none" lIns="0" rIns="0" tIns="0" bIns="0">
            <a:spAutoFit/>
          </a:bodyPr>
          <a:lstStyle/>
          <a:p>
            <a:r>
              <a:rPr sz="1100" b="0">
                <a:solidFill>
                  <a:srgbClr val="2E2E2E"/>
                </a:solidFill>
                <a:latin typeface="Calibri"/>
              </a:rPr>
              <a:t>▪ ¶ Among corrugated partition by customization,</a:t>
            </a:r>
          </a:p>
        </p:txBody>
      </p:sp>
      <p:sp>
        <p:nvSpPr>
          <p:cNvPr id="59" name="TextBox 58"/>
          <p:cNvSpPr txBox="1"/>
          <p:nvPr/>
        </p:nvSpPr>
        <p:spPr>
          <a:xfrm>
            <a:off x="485775" y="4397077"/>
            <a:ext cx="2641004" cy="186689"/>
          </a:xfrm>
          <a:prstGeom prst="rect">
            <a:avLst/>
          </a:prstGeom>
          <a:noFill/>
        </p:spPr>
        <p:txBody>
          <a:bodyPr wrap="none" lIns="0" rIns="0" tIns="0" bIns="0">
            <a:spAutoFit/>
          </a:bodyPr>
          <a:lstStyle/>
          <a:p>
            <a:r>
              <a:rPr sz="1100" b="0">
                <a:solidFill>
                  <a:srgbClr val="2E2E2E"/>
                </a:solidFill>
                <a:latin typeface="Calibri"/>
              </a:rPr>
              <a:t>standard / stock sizes segment is expected to</a:t>
            </a:r>
          </a:p>
        </p:txBody>
      </p:sp>
      <p:sp>
        <p:nvSpPr>
          <p:cNvPr id="60" name="TextBox 59"/>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61" name="Picture 60" descr="lock.png"/>
          <p:cNvPicPr>
            <a:picLocks noChangeAspect="1"/>
          </p:cNvPicPr>
          <p:nvPr/>
        </p:nvPicPr>
        <p:blipFill>
          <a:blip r:embed="rId10"/>
          <a:stretch>
            <a:fillRect/>
          </a:stretch>
        </p:blipFill>
        <p:spPr>
          <a:xfrm>
            <a:off x="2108919" y="4554938"/>
            <a:ext cx="128699" cy="187198"/>
          </a:xfrm>
          <a:prstGeom prst="rect">
            <a:avLst/>
          </a:prstGeom>
        </p:spPr>
      </p:pic>
      <p:sp>
        <p:nvSpPr>
          <p:cNvPr id="62" name="TextBox 61"/>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63" name="TextBox 62"/>
          <p:cNvSpPr txBox="1"/>
          <p:nvPr/>
        </p:nvSpPr>
        <p:spPr>
          <a:xfrm>
            <a:off x="485775" y="4732357"/>
            <a:ext cx="2850008" cy="186689"/>
          </a:xfrm>
          <a:prstGeom prst="rect">
            <a:avLst/>
          </a:prstGeom>
          <a:noFill/>
        </p:spPr>
        <p:txBody>
          <a:bodyPr wrap="none" lIns="0" rIns="0" tIns="0" bIns="0">
            <a:spAutoFit/>
          </a:bodyPr>
          <a:lstStyle/>
          <a:p>
            <a:r>
              <a:rPr sz="1100" b="0">
                <a:solidFill>
                  <a:srgbClr val="2E2E2E"/>
                </a:solidFill>
                <a:latin typeface="Calibri"/>
              </a:rPr>
              <a:t>period. In terms of value share by customization,</a:t>
            </a:r>
          </a:p>
        </p:txBody>
      </p:sp>
      <p:sp>
        <p:nvSpPr>
          <p:cNvPr id="64" name="TextBox 63"/>
          <p:cNvSpPr txBox="1"/>
          <p:nvPr/>
        </p:nvSpPr>
        <p:spPr>
          <a:xfrm>
            <a:off x="485775" y="4899997"/>
            <a:ext cx="2752873" cy="186689"/>
          </a:xfrm>
          <a:prstGeom prst="rect">
            <a:avLst/>
          </a:prstGeom>
          <a:noFill/>
        </p:spPr>
        <p:txBody>
          <a:bodyPr wrap="none" lIns="0" rIns="0" tIns="0" bIns="0">
            <a:spAutoFit/>
          </a:bodyPr>
          <a:lstStyle/>
          <a:p>
            <a:r>
              <a:rPr sz="1100" b="0">
                <a:solidFill>
                  <a:srgbClr val="2E2E2E"/>
                </a:solidFill>
                <a:latin typeface="Calibri"/>
              </a:rPr>
              <a:t>the custom-engineered segment is expected to</a:t>
            </a:r>
          </a:p>
        </p:txBody>
      </p:sp>
      <p:sp>
        <p:nvSpPr>
          <p:cNvPr id="65" name="TextBox 64"/>
          <p:cNvSpPr txBox="1"/>
          <p:nvPr/>
        </p:nvSpPr>
        <p:spPr>
          <a:xfrm>
            <a:off x="485775" y="5067637"/>
            <a:ext cx="1682750" cy="186689"/>
          </a:xfrm>
          <a:prstGeom prst="rect">
            <a:avLst/>
          </a:prstGeom>
          <a:noFill/>
        </p:spPr>
        <p:txBody>
          <a:bodyPr wrap="none" lIns="0" rIns="0" tIns="0" bIns="0">
            <a:spAutoFit/>
          </a:bodyPr>
          <a:lstStyle/>
          <a:p>
            <a:r>
              <a:rPr sz="1100" b="0">
                <a:solidFill>
                  <a:srgbClr val="2E2E2E"/>
                </a:solidFill>
                <a:latin typeface="Calibri"/>
              </a:rPr>
              <a:t>dominate the market, losing</a:t>
            </a:r>
          </a:p>
        </p:txBody>
      </p:sp>
      <p:pic>
        <p:nvPicPr>
          <p:cNvPr id="66" name="Picture 65" descr="lock.png"/>
          <p:cNvPicPr>
            <a:picLocks noChangeAspect="1"/>
          </p:cNvPicPr>
          <p:nvPr/>
        </p:nvPicPr>
        <p:blipFill>
          <a:blip r:embed="rId10"/>
          <a:stretch>
            <a:fillRect/>
          </a:stretch>
        </p:blipFill>
        <p:spPr>
          <a:xfrm>
            <a:off x="2116576" y="5057858"/>
            <a:ext cx="128699" cy="187198"/>
          </a:xfrm>
          <a:prstGeom prst="rect">
            <a:avLst/>
          </a:prstGeom>
        </p:spPr>
      </p:pic>
      <p:sp>
        <p:nvSpPr>
          <p:cNvPr id="67" name="TextBox 66"/>
          <p:cNvSpPr txBox="1"/>
          <p:nvPr/>
        </p:nvSpPr>
        <p:spPr>
          <a:xfrm>
            <a:off x="2284072"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68" name="TextBox 67"/>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69" name="Picture 68" descr="lock.png"/>
          <p:cNvPicPr>
            <a:picLocks noChangeAspect="1"/>
          </p:cNvPicPr>
          <p:nvPr/>
        </p:nvPicPr>
        <p:blipFill>
          <a:blip r:embed="rId10"/>
          <a:stretch>
            <a:fillRect/>
          </a:stretch>
        </p:blipFill>
        <p:spPr>
          <a:xfrm>
            <a:off x="1330764" y="5225498"/>
            <a:ext cx="128699" cy="187198"/>
          </a:xfrm>
          <a:prstGeom prst="rect">
            <a:avLst/>
          </a:prstGeom>
        </p:spPr>
      </p:pic>
      <p:sp>
        <p:nvSpPr>
          <p:cNvPr id="70" name="TextBox 69"/>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767062" cy="186689"/>
          </a:xfrm>
          <a:prstGeom prst="rect">
            <a:avLst/>
          </a:prstGeom>
          <a:noFill/>
        </p:spPr>
        <p:txBody>
          <a:bodyPr wrap="none" lIns="0" rIns="0" tIns="0" bIns="0">
            <a:spAutoFit/>
          </a:bodyPr>
          <a:lstStyle/>
          <a:p>
            <a:r>
              <a:rPr sz="1100" b="0">
                <a:solidFill>
                  <a:srgbClr val="2E2E2E"/>
                </a:solidFill>
                <a:latin typeface="Calibri"/>
              </a:rPr>
              <a:t>▪ ¶ Custom-engineered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123678" cy="186689"/>
          </a:xfrm>
          <a:prstGeom prst="rect">
            <a:avLst/>
          </a:prstGeom>
          <a:noFill/>
        </p:spPr>
        <p:txBody>
          <a:bodyPr wrap="none" lIns="0" rIns="0" tIns="0" bIns="0">
            <a:spAutoFit/>
          </a:bodyPr>
          <a:lstStyle/>
          <a:p>
            <a:r>
              <a:rPr sz="1100" b="0">
                <a:solidFill>
                  <a:srgbClr val="2E2E2E"/>
                </a:solidFill>
                <a:latin typeface="Calibri"/>
              </a:rPr>
              <a:t>X higher value than standard / stock</a:t>
            </a:r>
          </a:p>
        </p:txBody>
      </p:sp>
      <p:sp>
        <p:nvSpPr>
          <p:cNvPr id="75" name="TextBox 74"/>
          <p:cNvSpPr txBox="1"/>
          <p:nvPr/>
        </p:nvSpPr>
        <p:spPr>
          <a:xfrm>
            <a:off x="485775" y="5788489"/>
            <a:ext cx="1353145" cy="186689"/>
          </a:xfrm>
          <a:prstGeom prst="rect">
            <a:avLst/>
          </a:prstGeom>
          <a:noFill/>
        </p:spPr>
        <p:txBody>
          <a:bodyPr wrap="none" lIns="0" rIns="0" tIns="0" bIns="0">
            <a:spAutoFit/>
          </a:bodyPr>
          <a:lstStyle/>
          <a:p>
            <a:r>
              <a:rPr sz="1100" b="0">
                <a:solidFill>
                  <a:srgbClr val="2E2E2E"/>
                </a:solidFill>
                <a:latin typeface="Calibri"/>
              </a:rPr>
              <a:t>sizes segment in 2036.</a:t>
            </a:r>
          </a:p>
        </p:txBody>
      </p:sp>
      <p:sp>
        <p:nvSpPr>
          <p:cNvPr id="76" name="TextBox 75"/>
          <p:cNvSpPr txBox="1"/>
          <p:nvPr/>
        </p:nvSpPr>
        <p:spPr>
          <a:xfrm>
            <a:off x="3838575" y="4229437"/>
            <a:ext cx="1350962" cy="186689"/>
          </a:xfrm>
          <a:prstGeom prst="rect">
            <a:avLst/>
          </a:prstGeom>
          <a:noFill/>
        </p:spPr>
        <p:txBody>
          <a:bodyPr wrap="none" lIns="0" rIns="0" tIns="0" bIns="0">
            <a:spAutoFit/>
          </a:bodyPr>
          <a:lstStyle/>
          <a:p>
            <a:r>
              <a:rPr sz="1100" b="0">
                <a:solidFill>
                  <a:srgbClr val="2E2E2E"/>
                </a:solidFill>
                <a:latin typeface="Calibri"/>
              </a:rPr>
              <a:t>● Custom-Engineered:</a:t>
            </a:r>
          </a:p>
        </p:txBody>
      </p:sp>
      <p:pic>
        <p:nvPicPr>
          <p:cNvPr id="77" name="Picture 76" descr="lock.png"/>
          <p:cNvPicPr>
            <a:picLocks noChangeAspect="1"/>
          </p:cNvPicPr>
          <p:nvPr/>
        </p:nvPicPr>
        <p:blipFill>
          <a:blip r:embed="rId10"/>
          <a:stretch>
            <a:fillRect/>
          </a:stretch>
        </p:blipFill>
        <p:spPr>
          <a:xfrm>
            <a:off x="5137589" y="4219658"/>
            <a:ext cx="128699" cy="187198"/>
          </a:xfrm>
          <a:prstGeom prst="rect">
            <a:avLst/>
          </a:prstGeom>
        </p:spPr>
      </p:pic>
      <p:sp>
        <p:nvSpPr>
          <p:cNvPr id="78" name="TextBox 77"/>
          <p:cNvSpPr txBox="1"/>
          <p:nvPr/>
        </p:nvSpPr>
        <p:spPr>
          <a:xfrm>
            <a:off x="530508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164535" y="4219658"/>
            <a:ext cx="128699" cy="187198"/>
          </a:xfrm>
          <a:prstGeom prst="rect">
            <a:avLst/>
          </a:prstGeom>
        </p:spPr>
      </p:pic>
      <p:sp>
        <p:nvSpPr>
          <p:cNvPr id="80" name="TextBox 79"/>
          <p:cNvSpPr txBox="1"/>
          <p:nvPr/>
        </p:nvSpPr>
        <p:spPr>
          <a:xfrm>
            <a:off x="633203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475382" cy="186689"/>
          </a:xfrm>
          <a:prstGeom prst="rect">
            <a:avLst/>
          </a:prstGeom>
          <a:noFill/>
        </p:spPr>
        <p:txBody>
          <a:bodyPr wrap="none" lIns="0" rIns="0" tIns="0" bIns="0">
            <a:spAutoFit/>
          </a:bodyPr>
          <a:lstStyle/>
          <a:p>
            <a:r>
              <a:rPr sz="1100" b="0">
                <a:solidFill>
                  <a:srgbClr val="2E2E2E"/>
                </a:solidFill>
                <a:latin typeface="Calibri"/>
              </a:rPr>
              <a:t>● Standard / Stock Sizes:</a:t>
            </a:r>
          </a:p>
        </p:txBody>
      </p:sp>
      <p:pic>
        <p:nvPicPr>
          <p:cNvPr id="82" name="Picture 81" descr="lock.png"/>
          <p:cNvPicPr>
            <a:picLocks noChangeAspect="1"/>
          </p:cNvPicPr>
          <p:nvPr/>
        </p:nvPicPr>
        <p:blipFill>
          <a:blip r:embed="rId10"/>
          <a:stretch>
            <a:fillRect/>
          </a:stretch>
        </p:blipFill>
        <p:spPr>
          <a:xfrm>
            <a:off x="5262009" y="4437590"/>
            <a:ext cx="128699" cy="187198"/>
          </a:xfrm>
          <a:prstGeom prst="rect">
            <a:avLst/>
          </a:prstGeom>
        </p:spPr>
      </p:pic>
      <p:sp>
        <p:nvSpPr>
          <p:cNvPr id="83" name="TextBox 82"/>
          <p:cNvSpPr txBox="1"/>
          <p:nvPr/>
        </p:nvSpPr>
        <p:spPr>
          <a:xfrm>
            <a:off x="542950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288955" y="4437590"/>
            <a:ext cx="128699" cy="187198"/>
          </a:xfrm>
          <a:prstGeom prst="rect">
            <a:avLst/>
          </a:prstGeom>
        </p:spPr>
      </p:pic>
      <p:sp>
        <p:nvSpPr>
          <p:cNvPr id="85" name="TextBox 84"/>
          <p:cNvSpPr txBox="1"/>
          <p:nvPr/>
        </p:nvSpPr>
        <p:spPr>
          <a:xfrm>
            <a:off x="6456451"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6" name="TextBox 8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Customization segment is projected to grow at</a:t>
            </a:r>
          </a:p>
        </p:txBody>
      </p:sp>
      <p:sp>
        <p:nvSpPr>
          <p:cNvPr id="87" name="TextBox 86"/>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88" name="Picture 87" descr="lock.png"/>
          <p:cNvPicPr>
            <a:picLocks noChangeAspect="1"/>
          </p:cNvPicPr>
          <p:nvPr/>
        </p:nvPicPr>
        <p:blipFill>
          <a:blip r:embed="rId10"/>
          <a:stretch>
            <a:fillRect/>
          </a:stretch>
        </p:blipFill>
        <p:spPr>
          <a:xfrm>
            <a:off x="9154084" y="6007677"/>
            <a:ext cx="134549" cy="195707"/>
          </a:xfrm>
          <a:prstGeom prst="rect">
            <a:avLst/>
          </a:prstGeom>
        </p:spPr>
      </p:pic>
      <p:sp>
        <p:nvSpPr>
          <p:cNvPr id="89" name="TextBox 88"/>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Customization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Customization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Customization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Customization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367616" cy="186689"/>
          </a:xfrm>
          <a:prstGeom prst="rect">
            <a:avLst/>
          </a:prstGeom>
          <a:noFill/>
        </p:spPr>
        <p:txBody>
          <a:bodyPr wrap="none" lIns="0" rIns="0" tIns="0" bIns="0">
            <a:spAutoFit/>
          </a:bodyPr>
          <a:lstStyle/>
          <a:p>
            <a:r>
              <a:rPr sz="1100" b="0">
                <a:solidFill>
                  <a:srgbClr val="2E2E2E"/>
                </a:solidFill>
                <a:latin typeface="Calibri"/>
              </a:rPr>
              <a:t>Custom-engineered followed by standard / stock sizes are expected to be the two most attractive customization segments in the global corrugated partition market in terms of value over the forecast</a:t>
            </a:r>
          </a:p>
        </p:txBody>
      </p:sp>
      <p:sp>
        <p:nvSpPr>
          <p:cNvPr id="21" name="TextBox 20"/>
          <p:cNvSpPr txBox="1"/>
          <p:nvPr/>
        </p:nvSpPr>
        <p:spPr>
          <a:xfrm>
            <a:off x="257175" y="5945505"/>
            <a:ext cx="4906474" cy="186689"/>
          </a:xfrm>
          <a:prstGeom prst="rect">
            <a:avLst/>
          </a:prstGeom>
          <a:noFill/>
        </p:spPr>
        <p:txBody>
          <a:bodyPr wrap="none" lIns="0" rIns="0" tIns="0" bIns="0">
            <a:spAutoFit/>
          </a:bodyPr>
          <a:lstStyle/>
          <a:p>
            <a:r>
              <a:rPr sz="1100" b="0">
                <a:solidFill>
                  <a:srgbClr val="2E2E2E"/>
                </a:solidFill>
                <a:latin typeface="Calibri"/>
              </a:rPr>
              <a:t>period. Custom-Engineered and standard / stock sizes exhibit a CAGR index of 81 and</a:t>
            </a:r>
          </a:p>
        </p:txBody>
      </p:sp>
      <p:pic>
        <p:nvPicPr>
          <p:cNvPr id="22" name="Picture 21" descr="lock.png"/>
          <p:cNvPicPr>
            <a:picLocks noChangeAspect="1"/>
          </p:cNvPicPr>
          <p:nvPr/>
        </p:nvPicPr>
        <p:blipFill>
          <a:blip r:embed="rId6"/>
          <a:stretch>
            <a:fillRect/>
          </a:stretch>
        </p:blipFill>
        <p:spPr>
          <a:xfrm>
            <a:off x="5111700" y="5935726"/>
            <a:ext cx="128699" cy="187198"/>
          </a:xfrm>
          <a:prstGeom prst="rect">
            <a:avLst/>
          </a:prstGeom>
        </p:spPr>
      </p:pic>
      <p:sp>
        <p:nvSpPr>
          <p:cNvPr id="23" name="TextBox 22"/>
          <p:cNvSpPr txBox="1"/>
          <p:nvPr/>
        </p:nvSpPr>
        <p:spPr>
          <a:xfrm>
            <a:off x="5279196"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4" name="Picture 23" descr="lock.png"/>
          <p:cNvPicPr>
            <a:picLocks noChangeAspect="1"/>
          </p:cNvPicPr>
          <p:nvPr/>
        </p:nvPicPr>
        <p:blipFill>
          <a:blip r:embed="rId6"/>
          <a:stretch>
            <a:fillRect/>
          </a:stretch>
        </p:blipFill>
        <p:spPr>
          <a:xfrm>
            <a:off x="6888170" y="5935726"/>
            <a:ext cx="128699" cy="187198"/>
          </a:xfrm>
          <a:prstGeom prst="rect">
            <a:avLst/>
          </a:prstGeom>
        </p:spPr>
      </p:pic>
      <p:sp>
        <p:nvSpPr>
          <p:cNvPr id="25" name="TextBox 24"/>
          <p:cNvSpPr txBox="1"/>
          <p:nvPr/>
        </p:nvSpPr>
        <p:spPr>
          <a:xfrm>
            <a:off x="7055665" y="5945505"/>
            <a:ext cx="3025179" cy="186689"/>
          </a:xfrm>
          <a:prstGeom prst="rect">
            <a:avLst/>
          </a:prstGeom>
          <a:noFill/>
        </p:spPr>
        <p:txBody>
          <a:bodyPr wrap="none" lIns="0" rIns="0" tIns="0" bIns="0">
            <a:spAutoFit/>
          </a:bodyPr>
          <a:lstStyle/>
          <a:p>
            <a:r>
              <a:rPr sz="1100" b="0">
                <a:solidFill>
                  <a:srgbClr val="2E2E2E"/>
                </a:solidFill>
                <a:latin typeface="Calibri"/>
              </a:rPr>
              <a:t>and 73 respectively, against the segment average of</a:t>
            </a:r>
          </a:p>
        </p:txBody>
      </p:sp>
      <p:pic>
        <p:nvPicPr>
          <p:cNvPr id="26" name="Picture 25" descr="lock.png"/>
          <p:cNvPicPr>
            <a:picLocks noChangeAspect="1"/>
          </p:cNvPicPr>
          <p:nvPr/>
        </p:nvPicPr>
        <p:blipFill>
          <a:blip r:embed="rId6"/>
          <a:stretch>
            <a:fillRect/>
          </a:stretch>
        </p:blipFill>
        <p:spPr>
          <a:xfrm>
            <a:off x="10028897" y="5935726"/>
            <a:ext cx="128699" cy="187198"/>
          </a:xfrm>
          <a:prstGeom prst="rect">
            <a:avLst/>
          </a:prstGeom>
        </p:spPr>
      </p:pic>
      <p:sp>
        <p:nvSpPr>
          <p:cNvPr id="27" name="TextBox 26"/>
          <p:cNvSpPr txBox="1"/>
          <p:nvPr/>
        </p:nvSpPr>
        <p:spPr>
          <a:xfrm>
            <a:off x="10196392" y="5945505"/>
            <a:ext cx="1263922" cy="186689"/>
          </a:xfrm>
          <a:prstGeom prst="rect">
            <a:avLst/>
          </a:prstGeom>
          <a:noFill/>
        </p:spPr>
        <p:txBody>
          <a:bodyPr wrap="none" lIns="0" rIns="0" tIns="0" bIns="0">
            <a:spAutoFit/>
          </a:bodyPr>
          <a:lstStyle/>
          <a:p>
            <a:r>
              <a:rPr sz="1100" b="0">
                <a:solidFill>
                  <a:srgbClr val="2E2E2E"/>
                </a:solidFill>
                <a:latin typeface="Calibri"/>
              </a:rPr>
              <a:t>. Bubbles right of the</a:t>
            </a:r>
          </a:p>
        </p:txBody>
      </p:sp>
      <p:sp>
        <p:nvSpPr>
          <p:cNvPr id="28" name="TextBox 27"/>
          <p:cNvSpPr txBox="1"/>
          <p:nvPr/>
        </p:nvSpPr>
        <p:spPr>
          <a:xfrm>
            <a:off x="257175" y="611314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29"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Customization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Customization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Standard / Stock Sizes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Custom-Engineered</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Customization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Customization,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Customization (MT)</a:t>
            </a:r>
          </a:p>
        </p:txBody>
      </p:sp>
      <p:graphicFrame>
        <p:nvGraphicFramePr>
          <p:cNvPr id="13" name="Table 12"/>
          <p:cNvGraphicFramePr>
            <a:graphicFrameLocks noGrp="1"/>
          </p:cNvGraphicFramePr>
          <p:nvPr/>
        </p:nvGraphicFramePr>
        <p:xfrm>
          <a:off x="152400" y="1238250"/>
          <a:ext cx="11887208" cy="1371600"/>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Customization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420">
                <a:tc>
                  <a:txBody>
                    <a:bodyPr wrap="none"/>
                    <a:lstStyle/>
                    <a:p>
                      <a:pPr algn="l"/>
                      <a:r>
                        <a:rPr sz="1100" b="1">
                          <a:solidFill>
                            <a:srgbClr val="2E2E2E"/>
                          </a:solidFill>
                          <a:latin typeface="Calibri"/>
                        </a:rPr>
                        <a:t>Standard / Stock</a:t>
                      </a:r>
                      <a:endParaRPr sz="1100"/>
                    </a:p>
                    <a:p>
                      <a:pPr algn="l"/>
                      <a:r>
                        <a:rPr sz="1100" b="1">
                          <a:solidFill>
                            <a:srgbClr val="2E2E2E"/>
                          </a:solidFill>
                          <a:latin typeface="Calibri"/>
                        </a:rPr>
                        <a:t>Sizes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34">
                <a:tc>
                  <a:txBody>
                    <a:bodyPr wrap="none"/>
                    <a:lstStyle/>
                    <a:p>
                      <a:pPr algn="l"/>
                      <a:r>
                        <a:rPr sz="1100" b="1">
                          <a:solidFill>
                            <a:srgbClr val="2E2E2E"/>
                          </a:solidFill>
                          <a:latin typeface="Calibri"/>
                        </a:rPr>
                        <a:t>Custom-Engineered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3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619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3676650"/>
          </a:xfrm>
          <a:prstGeom prst="roundRect">
            <a:avLst>
              <a:gd name="adj" fmla="val 20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38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Customization</a:t>
            </a:r>
          </a:p>
        </p:txBody>
      </p:sp>
      <p:sp>
        <p:nvSpPr>
          <p:cNvPr id="17" name="Rectangle 16"/>
          <p:cNvSpPr/>
          <p:nvPr/>
        </p:nvSpPr>
        <p:spPr>
          <a:xfrm>
            <a:off x="276225" y="3276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362325"/>
            <a:ext cx="11639550" cy="3190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1876806"/>
            <a:ext cx="366712" cy="533400"/>
          </a:xfrm>
          <a:prstGeom prst="rect">
            <a:avLst/>
          </a:prstGeom>
        </p:spPr>
      </p:pic>
      <p:sp>
        <p:nvSpPr>
          <p:cNvPr id="21" name="TextBox 20"/>
          <p:cNvSpPr txBox="1"/>
          <p:nvPr/>
        </p:nvSpPr>
        <p:spPr>
          <a:xfrm>
            <a:off x="276225" y="3371850"/>
            <a:ext cx="3175198" cy="194310"/>
          </a:xfrm>
          <a:prstGeom prst="rect">
            <a:avLst/>
          </a:prstGeom>
          <a:noFill/>
        </p:spPr>
        <p:txBody>
          <a:bodyPr wrap="none" lIns="0" rIns="0" tIns="0" bIns="0">
            <a:spAutoFit/>
          </a:bodyPr>
          <a:lstStyle/>
          <a:p>
            <a:r>
              <a:rPr sz="1150" b="0">
                <a:solidFill>
                  <a:srgbClr val="2E2E2E"/>
                </a:solidFill>
                <a:latin typeface="Calibri"/>
              </a:rPr>
              <a:t>Custom-engineered segment is projected to register</a:t>
            </a:r>
          </a:p>
        </p:txBody>
      </p:sp>
      <p:pic>
        <p:nvPicPr>
          <p:cNvPr id="22" name="Picture 21" descr="lock.png"/>
          <p:cNvPicPr>
            <a:picLocks noChangeAspect="1"/>
          </p:cNvPicPr>
          <p:nvPr/>
        </p:nvPicPr>
        <p:blipFill>
          <a:blip r:embed="rId4"/>
          <a:stretch>
            <a:fillRect/>
          </a:stretch>
        </p:blipFill>
        <p:spPr>
          <a:xfrm>
            <a:off x="3400577" y="3361626"/>
            <a:ext cx="134549" cy="195707"/>
          </a:xfrm>
          <a:prstGeom prst="rect">
            <a:avLst/>
          </a:prstGeom>
        </p:spPr>
      </p:pic>
      <p:sp>
        <p:nvSpPr>
          <p:cNvPr id="23" name="TextBox 22"/>
          <p:cNvSpPr txBox="1"/>
          <p:nvPr/>
        </p:nvSpPr>
        <p:spPr>
          <a:xfrm>
            <a:off x="3575686" y="3371850"/>
            <a:ext cx="7790606" cy="194310"/>
          </a:xfrm>
          <a:prstGeom prst="rect">
            <a:avLst/>
          </a:prstGeom>
          <a:noFill/>
        </p:spPr>
        <p:txBody>
          <a:bodyPr wrap="none" lIns="0" rIns="0" tIns="0" bIns="0">
            <a:spAutoFit/>
          </a:bodyPr>
          <a:lstStyle/>
          <a:p>
            <a:r>
              <a:rPr sz="1150" b="0">
                <a:solidFill>
                  <a:srgbClr val="2E2E2E"/>
                </a:solidFill>
                <a:latin typeface="Calibri"/>
              </a:rPr>
              <a:t>X higher volume than standard / stock sizes segment in 2036. Among corrugated partition by customization, standard / stock sizes</a:t>
            </a:r>
          </a:p>
        </p:txBody>
      </p:sp>
      <p:sp>
        <p:nvSpPr>
          <p:cNvPr id="24" name="TextBox 23"/>
          <p:cNvSpPr txBox="1"/>
          <p:nvPr/>
        </p:nvSpPr>
        <p:spPr>
          <a:xfrm>
            <a:off x="276225" y="354711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536886"/>
            <a:ext cx="134549" cy="195707"/>
          </a:xfrm>
          <a:prstGeom prst="rect">
            <a:avLst/>
          </a:prstGeom>
        </p:spPr>
      </p:pic>
      <p:sp>
        <p:nvSpPr>
          <p:cNvPr id="26" name="TextBox 25"/>
          <p:cNvSpPr txBox="1"/>
          <p:nvPr/>
        </p:nvSpPr>
        <p:spPr>
          <a:xfrm>
            <a:off x="3557127" y="3547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774947"/>
            <a:ext cx="7186153" cy="194310"/>
          </a:xfrm>
          <a:prstGeom prst="rect">
            <a:avLst/>
          </a:prstGeom>
          <a:noFill/>
        </p:spPr>
        <p:txBody>
          <a:bodyPr wrap="none" lIns="0" rIns="0" tIns="0" bIns="0">
            <a:spAutoFit/>
          </a:bodyPr>
          <a:lstStyle/>
          <a:p>
            <a:r>
              <a:rPr sz="1150" b="0">
                <a:solidFill>
                  <a:srgbClr val="2E2E2E"/>
                </a:solidFill>
                <a:latin typeface="Calibri"/>
              </a:rPr>
              <a:t>In terms of volume share by customization, the custom-engineered segment is expected to dominate the market, losing</a:t>
            </a:r>
          </a:p>
        </p:txBody>
      </p:sp>
      <p:pic>
        <p:nvPicPr>
          <p:cNvPr id="28" name="Picture 27" descr="lock.png"/>
          <p:cNvPicPr>
            <a:picLocks noChangeAspect="1"/>
          </p:cNvPicPr>
          <p:nvPr/>
        </p:nvPicPr>
        <p:blipFill>
          <a:blip r:embed="rId4"/>
          <a:stretch>
            <a:fillRect/>
          </a:stretch>
        </p:blipFill>
        <p:spPr>
          <a:xfrm>
            <a:off x="7411532" y="3764724"/>
            <a:ext cx="134549" cy="195707"/>
          </a:xfrm>
          <a:prstGeom prst="rect">
            <a:avLst/>
          </a:prstGeom>
        </p:spPr>
      </p:pic>
      <p:sp>
        <p:nvSpPr>
          <p:cNvPr id="29" name="TextBox 28"/>
          <p:cNvSpPr txBox="1"/>
          <p:nvPr/>
        </p:nvSpPr>
        <p:spPr>
          <a:xfrm>
            <a:off x="7586641" y="3774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981785" y="3764724"/>
            <a:ext cx="134549" cy="195707"/>
          </a:xfrm>
          <a:prstGeom prst="rect">
            <a:avLst/>
          </a:prstGeom>
        </p:spPr>
      </p:pic>
      <p:sp>
        <p:nvSpPr>
          <p:cNvPr id="31" name="TextBox 30"/>
          <p:cNvSpPr txBox="1"/>
          <p:nvPr/>
        </p:nvSpPr>
        <p:spPr>
          <a:xfrm>
            <a:off x="9156894" y="3774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Customization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Customization,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Customization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1564953"/>
                <a:gridCol w="607191"/>
                <a:gridCol w="607191"/>
                <a:gridCol w="607191"/>
                <a:gridCol w="607191"/>
                <a:gridCol w="607191"/>
                <a:gridCol w="607191"/>
                <a:gridCol w="607191"/>
                <a:gridCol w="607191"/>
                <a:gridCol w="607191"/>
                <a:gridCol w="607191"/>
                <a:gridCol w="607191"/>
                <a:gridCol w="607191"/>
                <a:gridCol w="607191"/>
                <a:gridCol w="607191"/>
                <a:gridCol w="607191"/>
                <a:gridCol w="607191"/>
                <a:gridCol w="607191"/>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Customization</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1786" y="1589913"/>
            <a:ext cx="366712" cy="533400"/>
          </a:xfrm>
          <a:prstGeom prst="rect">
            <a:avLst/>
          </a:prstGeom>
        </p:spPr>
      </p:pic>
      <p:sp>
        <p:nvSpPr>
          <p:cNvPr id="21" name="TextBox 20"/>
          <p:cNvSpPr txBox="1"/>
          <p:nvPr/>
        </p:nvSpPr>
        <p:spPr>
          <a:xfrm>
            <a:off x="276225" y="2990850"/>
            <a:ext cx="3175198" cy="194310"/>
          </a:xfrm>
          <a:prstGeom prst="rect">
            <a:avLst/>
          </a:prstGeom>
          <a:noFill/>
        </p:spPr>
        <p:txBody>
          <a:bodyPr wrap="none" lIns="0" rIns="0" tIns="0" bIns="0">
            <a:spAutoFit/>
          </a:bodyPr>
          <a:lstStyle/>
          <a:p>
            <a:r>
              <a:rPr sz="1150" b="0">
                <a:solidFill>
                  <a:srgbClr val="2E2E2E"/>
                </a:solidFill>
                <a:latin typeface="Calibri"/>
              </a:rPr>
              <a:t>Custom-engineered segment is projected to register</a:t>
            </a:r>
          </a:p>
        </p:txBody>
      </p:sp>
      <p:pic>
        <p:nvPicPr>
          <p:cNvPr id="22" name="Picture 21" descr="lock.png"/>
          <p:cNvPicPr>
            <a:picLocks noChangeAspect="1"/>
          </p:cNvPicPr>
          <p:nvPr/>
        </p:nvPicPr>
        <p:blipFill>
          <a:blip r:embed="rId4"/>
          <a:stretch>
            <a:fillRect/>
          </a:stretch>
        </p:blipFill>
        <p:spPr>
          <a:xfrm>
            <a:off x="3400577" y="2980626"/>
            <a:ext cx="134549" cy="195707"/>
          </a:xfrm>
          <a:prstGeom prst="rect">
            <a:avLst/>
          </a:prstGeom>
        </p:spPr>
      </p:pic>
      <p:sp>
        <p:nvSpPr>
          <p:cNvPr id="23" name="TextBox 22"/>
          <p:cNvSpPr txBox="1"/>
          <p:nvPr/>
        </p:nvSpPr>
        <p:spPr>
          <a:xfrm>
            <a:off x="3575686" y="2990850"/>
            <a:ext cx="8213638" cy="194310"/>
          </a:xfrm>
          <a:prstGeom prst="rect">
            <a:avLst/>
          </a:prstGeom>
          <a:noFill/>
        </p:spPr>
        <p:txBody>
          <a:bodyPr wrap="none" lIns="0" rIns="0" tIns="0" bIns="0">
            <a:spAutoFit/>
          </a:bodyPr>
          <a:lstStyle/>
          <a:p>
            <a:r>
              <a:rPr sz="1150" b="0">
                <a:solidFill>
                  <a:srgbClr val="2E2E2E"/>
                </a:solidFill>
                <a:latin typeface="Calibri"/>
              </a:rPr>
              <a:t>X higher value than standard / stock sizes segment in 2036. Among corrugated partition by customization, standard / stock sizes segment</a:t>
            </a:r>
          </a:p>
        </p:txBody>
      </p:sp>
      <p:sp>
        <p:nvSpPr>
          <p:cNvPr id="24" name="TextBox 23"/>
          <p:cNvSpPr txBox="1"/>
          <p:nvPr/>
        </p:nvSpPr>
        <p:spPr>
          <a:xfrm>
            <a:off x="276225" y="3166110"/>
            <a:ext cx="2609807" cy="194310"/>
          </a:xfrm>
          <a:prstGeom prst="rect">
            <a:avLst/>
          </a:prstGeom>
          <a:noFill/>
        </p:spPr>
        <p:txBody>
          <a:bodyPr wrap="none" lIns="0" rIns="0" tIns="0" bIns="0">
            <a:spAutoFit/>
          </a:bodyPr>
          <a:lstStyle/>
          <a:p>
            <a:r>
              <a:rPr sz="1150" b="0">
                <a:solidFill>
                  <a:srgbClr val="2E2E2E"/>
                </a:solidFill>
                <a:latin typeface="Calibri"/>
              </a:rPr>
              <a:t>is expected to witness the highest CAGR of</a:t>
            </a:r>
          </a:p>
        </p:txBody>
      </p:sp>
      <p:pic>
        <p:nvPicPr>
          <p:cNvPr id="25" name="Picture 24" descr="lock.png"/>
          <p:cNvPicPr>
            <a:picLocks noChangeAspect="1"/>
          </p:cNvPicPr>
          <p:nvPr/>
        </p:nvPicPr>
        <p:blipFill>
          <a:blip r:embed="rId4"/>
          <a:stretch>
            <a:fillRect/>
          </a:stretch>
        </p:blipFill>
        <p:spPr>
          <a:xfrm>
            <a:off x="2835186" y="3155886"/>
            <a:ext cx="134549" cy="195707"/>
          </a:xfrm>
          <a:prstGeom prst="rect">
            <a:avLst/>
          </a:prstGeom>
        </p:spPr>
      </p:pic>
      <p:sp>
        <p:nvSpPr>
          <p:cNvPr id="26" name="TextBox 25"/>
          <p:cNvSpPr txBox="1"/>
          <p:nvPr/>
        </p:nvSpPr>
        <p:spPr>
          <a:xfrm>
            <a:off x="3010295"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062353" cy="194310"/>
          </a:xfrm>
          <a:prstGeom prst="rect">
            <a:avLst/>
          </a:prstGeom>
          <a:noFill/>
        </p:spPr>
        <p:txBody>
          <a:bodyPr wrap="none" lIns="0" rIns="0" tIns="0" bIns="0">
            <a:spAutoFit/>
          </a:bodyPr>
          <a:lstStyle/>
          <a:p>
            <a:r>
              <a:rPr sz="1150" b="0">
                <a:solidFill>
                  <a:srgbClr val="2E2E2E"/>
                </a:solidFill>
                <a:latin typeface="Calibri"/>
              </a:rPr>
              <a:t>In terms of value share by customization, the custom-engineered segment is expected to dominate the market, losing</a:t>
            </a:r>
          </a:p>
        </p:txBody>
      </p:sp>
      <p:pic>
        <p:nvPicPr>
          <p:cNvPr id="28" name="Picture 27" descr="lock.png"/>
          <p:cNvPicPr>
            <a:picLocks noChangeAspect="1"/>
          </p:cNvPicPr>
          <p:nvPr/>
        </p:nvPicPr>
        <p:blipFill>
          <a:blip r:embed="rId4"/>
          <a:stretch>
            <a:fillRect/>
          </a:stretch>
        </p:blipFill>
        <p:spPr>
          <a:xfrm>
            <a:off x="7287732" y="3383724"/>
            <a:ext cx="134549" cy="195707"/>
          </a:xfrm>
          <a:prstGeom prst="rect">
            <a:avLst/>
          </a:prstGeom>
        </p:spPr>
      </p:pic>
      <p:sp>
        <p:nvSpPr>
          <p:cNvPr id="29" name="TextBox 28"/>
          <p:cNvSpPr txBox="1"/>
          <p:nvPr/>
        </p:nvSpPr>
        <p:spPr>
          <a:xfrm>
            <a:off x="7462841"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857984" y="3383724"/>
            <a:ext cx="134549" cy="195707"/>
          </a:xfrm>
          <a:prstGeom prst="rect">
            <a:avLst/>
          </a:prstGeom>
        </p:spPr>
      </p:pic>
      <p:sp>
        <p:nvSpPr>
          <p:cNvPr id="31" name="TextBox 30"/>
          <p:cNvSpPr txBox="1"/>
          <p:nvPr/>
        </p:nvSpPr>
        <p:spPr>
          <a:xfrm>
            <a:off x="9033094"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Customization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Customization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Customization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3368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62891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5271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Stock Sizes</a:t>
            </a:r>
          </a:p>
        </p:txBody>
      </p:sp>
      <p:sp>
        <p:nvSpPr>
          <p:cNvPr id="19" name="BPS Value 1"/>
          <p:cNvSpPr txBox="1"/>
          <p:nvPr/>
        </p:nvSpPr>
        <p:spPr>
          <a:xfrm>
            <a:off x="6896100" y="261463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1987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151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389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Custom-Engineered</a:t>
            </a:r>
          </a:p>
        </p:txBody>
      </p:sp>
      <p:sp>
        <p:nvSpPr>
          <p:cNvPr id="23" name="BPS Value 2"/>
          <p:cNvSpPr txBox="1"/>
          <p:nvPr/>
        </p:nvSpPr>
        <p:spPr>
          <a:xfrm>
            <a:off x="6896100" y="490082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Customization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57650" cy="194310"/>
          </a:xfrm>
          <a:prstGeom prst="rect">
            <a:avLst/>
          </a:prstGeom>
          <a:noFill/>
        </p:spPr>
        <p:txBody>
          <a:bodyPr wrap="none" lIns="0" rIns="0" tIns="0" bIns="0">
            <a:spAutoFit/>
          </a:bodyPr>
          <a:lstStyle/>
          <a:p>
            <a:r>
              <a:rPr sz="1150" b="0">
                <a:solidFill>
                  <a:srgbClr val="2E2E2E"/>
                </a:solidFill>
                <a:latin typeface="Calibri"/>
              </a:rPr>
              <a:t>Among corrugated partition by customization, standard / stock sizes</a:t>
            </a:r>
          </a:p>
        </p:txBody>
      </p:sp>
      <p:sp>
        <p:nvSpPr>
          <p:cNvPr id="31" name="TextBox 30"/>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32" name="Picture 31" descr="lock.png"/>
          <p:cNvPicPr>
            <a:picLocks noChangeAspect="1"/>
          </p:cNvPicPr>
          <p:nvPr/>
        </p:nvPicPr>
        <p:blipFill>
          <a:blip r:embed="rId5"/>
          <a:stretch>
            <a:fillRect/>
          </a:stretch>
        </p:blipFill>
        <p:spPr>
          <a:xfrm>
            <a:off x="10935343" y="1565211"/>
            <a:ext cx="134549" cy="195707"/>
          </a:xfrm>
          <a:prstGeom prst="rect">
            <a:avLst/>
          </a:prstGeom>
        </p:spPr>
      </p:pic>
      <p:sp>
        <p:nvSpPr>
          <p:cNvPr id="33" name="TextBox 32"/>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34" name="TextBox 33"/>
          <p:cNvSpPr txBox="1"/>
          <p:nvPr/>
        </p:nvSpPr>
        <p:spPr>
          <a:xfrm>
            <a:off x="7829550" y="175069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35" name="TextBox 34"/>
          <p:cNvSpPr txBox="1"/>
          <p:nvPr/>
        </p:nvSpPr>
        <p:spPr>
          <a:xfrm>
            <a:off x="7829550" y="1978533"/>
            <a:ext cx="3940819" cy="194310"/>
          </a:xfrm>
          <a:prstGeom prst="rect">
            <a:avLst/>
          </a:prstGeom>
          <a:noFill/>
        </p:spPr>
        <p:txBody>
          <a:bodyPr wrap="none" lIns="0" rIns="0" tIns="0" bIns="0">
            <a:spAutoFit/>
          </a:bodyPr>
          <a:lstStyle/>
          <a:p>
            <a:r>
              <a:rPr sz="1150" b="0">
                <a:solidFill>
                  <a:srgbClr val="2E2E2E"/>
                </a:solidFill>
                <a:latin typeface="Calibri"/>
              </a:rPr>
              <a:t>In terms of value share by customization, the custom-engineered</a:t>
            </a:r>
          </a:p>
        </p:txBody>
      </p:sp>
      <p:sp>
        <p:nvSpPr>
          <p:cNvPr id="36" name="TextBox 35"/>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37" name="Picture 36" descr="lock.png"/>
          <p:cNvPicPr>
            <a:picLocks noChangeAspect="1"/>
          </p:cNvPicPr>
          <p:nvPr/>
        </p:nvPicPr>
        <p:blipFill>
          <a:blip r:embed="rId5"/>
          <a:stretch>
            <a:fillRect/>
          </a:stretch>
        </p:blipFill>
        <p:spPr>
          <a:xfrm>
            <a:off x="10943347" y="2143569"/>
            <a:ext cx="134549" cy="195707"/>
          </a:xfrm>
          <a:prstGeom prst="rect">
            <a:avLst/>
          </a:prstGeom>
        </p:spPr>
      </p:pic>
      <p:sp>
        <p:nvSpPr>
          <p:cNvPr id="38" name="TextBox 37"/>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39" name="TextBox 38"/>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40" name="Picture 39" descr="lock.png"/>
          <p:cNvPicPr>
            <a:picLocks noChangeAspect="1"/>
          </p:cNvPicPr>
          <p:nvPr/>
        </p:nvPicPr>
        <p:blipFill>
          <a:blip r:embed="rId5"/>
          <a:stretch>
            <a:fillRect/>
          </a:stretch>
        </p:blipFill>
        <p:spPr>
          <a:xfrm>
            <a:off x="8712947" y="2318829"/>
            <a:ext cx="134549" cy="195707"/>
          </a:xfrm>
          <a:prstGeom prst="rect">
            <a:avLst/>
          </a:prstGeom>
        </p:spPr>
      </p:pic>
      <p:sp>
        <p:nvSpPr>
          <p:cNvPr id="41" name="TextBox 40"/>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Customization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Customization,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gridCol w="678329"/>
                <a:gridCol w="678329"/>
                <a:gridCol w="678329"/>
                <a:gridCol w="678329"/>
                <a:gridCol w="678329"/>
                <a:gridCol w="678329"/>
                <a:gridCol w="678329"/>
                <a:gridCol w="678329"/>
                <a:gridCol w="678329"/>
                <a:gridCol w="678329"/>
                <a:gridCol w="678329"/>
                <a:gridCol w="678329"/>
                <a:gridCol w="678329"/>
                <a:gridCol w="678329"/>
                <a:gridCol w="678329"/>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Customization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Standard / Stock Sizes</a:t>
            </a:r>
          </a:p>
        </p:txBody>
      </p:sp>
      <p:sp>
        <p:nvSpPr>
          <p:cNvPr id="33" name="Rectangle 32"/>
          <p:cNvSpPr/>
          <p:nvPr/>
        </p:nvSpPr>
        <p:spPr>
          <a:xfrm>
            <a:off x="185737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Custom-Engineered</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784118" y="1482090"/>
            <a:ext cx="330041" cy="480060"/>
          </a:xfrm>
          <a:prstGeom prst="rect">
            <a:avLst/>
          </a:prstGeom>
        </p:spPr>
      </p:pic>
      <p:pic>
        <p:nvPicPr>
          <p:cNvPr id="110" name="Picture 109" descr="lock.png"/>
          <p:cNvPicPr>
            <a:picLocks noChangeAspect="1"/>
          </p:cNvPicPr>
          <p:nvPr/>
        </p:nvPicPr>
        <p:blipFill>
          <a:blip r:embed="rId4"/>
          <a:stretch>
            <a:fillRect/>
          </a:stretch>
        </p:blipFill>
        <p:spPr>
          <a:xfrm>
            <a:off x="11760938" y="2697226"/>
            <a:ext cx="128699" cy="187198"/>
          </a:xfrm>
          <a:prstGeom prst="rect">
            <a:avLst/>
          </a:prstGeom>
        </p:spPr>
      </p:pic>
      <p:pic>
        <p:nvPicPr>
          <p:cNvPr id="111" name="Picture 110" descr="lock.png"/>
          <p:cNvPicPr>
            <a:picLocks noChangeAspect="1"/>
          </p:cNvPicPr>
          <p:nvPr/>
        </p:nvPicPr>
        <p:blipFill>
          <a:blip r:embed="rId4"/>
          <a:stretch>
            <a:fillRect/>
          </a:stretch>
        </p:blipFill>
        <p:spPr>
          <a:xfrm>
            <a:off x="11760938" y="4568888"/>
            <a:ext cx="128699" cy="187198"/>
          </a:xfrm>
          <a:prstGeom prst="rect">
            <a:avLst/>
          </a:prstGeom>
        </p:spPr>
      </p:pic>
      <p:pic>
        <p:nvPicPr>
          <p:cNvPr id="112" name="Picture 11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Customization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Customization,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gridCol w="678329"/>
                <a:gridCol w="678329"/>
                <a:gridCol w="678329"/>
                <a:gridCol w="678329"/>
                <a:gridCol w="678329"/>
                <a:gridCol w="678329"/>
                <a:gridCol w="678329"/>
                <a:gridCol w="678329"/>
                <a:gridCol w="678329"/>
                <a:gridCol w="678329"/>
                <a:gridCol w="678329"/>
                <a:gridCol w="678329"/>
                <a:gridCol w="678329"/>
                <a:gridCol w="678329"/>
                <a:gridCol w="678329"/>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Customization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Standard / Stock Sizes</a:t>
            </a:r>
          </a:p>
        </p:txBody>
      </p:sp>
      <p:sp>
        <p:nvSpPr>
          <p:cNvPr id="33" name="Rectangle 32"/>
          <p:cNvSpPr/>
          <p:nvPr/>
        </p:nvSpPr>
        <p:spPr>
          <a:xfrm>
            <a:off x="1857375" y="2752725"/>
            <a:ext cx="643890" cy="1909762"/>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Custom-Engineered</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784118" y="1482090"/>
            <a:ext cx="330041" cy="480060"/>
          </a:xfrm>
          <a:prstGeom prst="rect">
            <a:avLst/>
          </a:prstGeom>
        </p:spPr>
      </p:pic>
      <p:pic>
        <p:nvPicPr>
          <p:cNvPr id="110" name="Picture 109" descr="lock.png"/>
          <p:cNvPicPr>
            <a:picLocks noChangeAspect="1"/>
          </p:cNvPicPr>
          <p:nvPr/>
        </p:nvPicPr>
        <p:blipFill>
          <a:blip r:embed="rId4"/>
          <a:stretch>
            <a:fillRect/>
          </a:stretch>
        </p:blipFill>
        <p:spPr>
          <a:xfrm>
            <a:off x="11760938" y="2697226"/>
            <a:ext cx="128699" cy="187198"/>
          </a:xfrm>
          <a:prstGeom prst="rect">
            <a:avLst/>
          </a:prstGeom>
        </p:spPr>
      </p:pic>
      <p:pic>
        <p:nvPicPr>
          <p:cNvPr id="111" name="Picture 110" descr="lock.png"/>
          <p:cNvPicPr>
            <a:picLocks noChangeAspect="1"/>
          </p:cNvPicPr>
          <p:nvPr/>
        </p:nvPicPr>
        <p:blipFill>
          <a:blip r:embed="rId4"/>
          <a:stretch>
            <a:fillRect/>
          </a:stretch>
        </p:blipFill>
        <p:spPr>
          <a:xfrm>
            <a:off x="11760938" y="4568888"/>
            <a:ext cx="128699" cy="187198"/>
          </a:xfrm>
          <a:prstGeom prst="rect">
            <a:avLst/>
          </a:prstGeom>
        </p:spPr>
      </p:pic>
      <p:pic>
        <p:nvPicPr>
          <p:cNvPr id="112" name="Picture 11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End Use,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 segment categorizes the market by end use.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Glassware, Ceramics &amp; Home Goods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Automotive &amp; Industrial Components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&amp; Beverage</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 split shows how demand is distributed across end use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656_4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888_0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1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639_9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016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7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486_1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717_8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0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471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916_3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9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40595" cy="186689"/>
          </a:xfrm>
          <a:prstGeom prst="rect">
            <a:avLst/>
          </a:prstGeom>
          <a:noFill/>
        </p:spPr>
        <p:txBody>
          <a:bodyPr wrap="none" lIns="0" rIns="0" tIns="0" bIns="0">
            <a:spAutoFit/>
          </a:bodyPr>
          <a:lstStyle/>
          <a:p>
            <a:r>
              <a:rPr sz="1100" b="0">
                <a:solidFill>
                  <a:srgbClr val="2E2E2E"/>
                </a:solidFill>
                <a:latin typeface="Calibri"/>
              </a:rPr>
              <a:t>▪ ¶ Among corrugated partition by end use,</a:t>
            </a:r>
          </a:p>
        </p:txBody>
      </p:sp>
      <p:sp>
        <p:nvSpPr>
          <p:cNvPr id="81" name="TextBox 80"/>
          <p:cNvSpPr txBox="1"/>
          <p:nvPr/>
        </p:nvSpPr>
        <p:spPr>
          <a:xfrm>
            <a:off x="485775" y="4397077"/>
            <a:ext cx="2718494" cy="186689"/>
          </a:xfrm>
          <a:prstGeom prst="rect">
            <a:avLst/>
          </a:prstGeom>
          <a:noFill/>
        </p:spPr>
        <p:txBody>
          <a:bodyPr wrap="none" lIns="0" rIns="0" tIns="0" bIns="0">
            <a:spAutoFit/>
          </a:bodyPr>
          <a:lstStyle/>
          <a:p>
            <a:r>
              <a:rPr sz="1100" b="0">
                <a:solidFill>
                  <a:srgbClr val="2E2E2E"/>
                </a:solidFill>
                <a:latin typeface="Calibri"/>
              </a:rPr>
              <a:t>electronics &amp; electrical segment is expected to</a:t>
            </a:r>
          </a:p>
        </p:txBody>
      </p:sp>
      <p:sp>
        <p:nvSpPr>
          <p:cNvPr id="82" name="TextBox 81"/>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83" name="Picture 82" descr="lock.png"/>
          <p:cNvPicPr>
            <a:picLocks noChangeAspect="1"/>
          </p:cNvPicPr>
          <p:nvPr/>
        </p:nvPicPr>
        <p:blipFill>
          <a:blip r:embed="rId16"/>
          <a:stretch>
            <a:fillRect/>
          </a:stretch>
        </p:blipFill>
        <p:spPr>
          <a:xfrm>
            <a:off x="2108919" y="4554938"/>
            <a:ext cx="128699" cy="187198"/>
          </a:xfrm>
          <a:prstGeom prst="rect">
            <a:avLst/>
          </a:prstGeom>
        </p:spPr>
      </p:pic>
      <p:sp>
        <p:nvSpPr>
          <p:cNvPr id="84" name="TextBox 83"/>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85" name="TextBox 84"/>
          <p:cNvSpPr txBox="1"/>
          <p:nvPr/>
        </p:nvSpPr>
        <p:spPr>
          <a:xfrm>
            <a:off x="485775" y="4732357"/>
            <a:ext cx="2717403" cy="186689"/>
          </a:xfrm>
          <a:prstGeom prst="rect">
            <a:avLst/>
          </a:prstGeom>
          <a:noFill/>
        </p:spPr>
        <p:txBody>
          <a:bodyPr wrap="none" lIns="0" rIns="0" tIns="0" bIns="0">
            <a:spAutoFit/>
          </a:bodyPr>
          <a:lstStyle/>
          <a:p>
            <a:r>
              <a:rPr sz="1100" b="0">
                <a:solidFill>
                  <a:srgbClr val="2E2E2E"/>
                </a:solidFill>
                <a:latin typeface="Calibri"/>
              </a:rPr>
              <a:t>period. In terms of value share by end use, the</a:t>
            </a:r>
          </a:p>
        </p:txBody>
      </p:sp>
      <p:sp>
        <p:nvSpPr>
          <p:cNvPr id="86" name="TextBox 85"/>
          <p:cNvSpPr txBox="1"/>
          <p:nvPr/>
        </p:nvSpPr>
        <p:spPr>
          <a:xfrm>
            <a:off x="485775" y="4899997"/>
            <a:ext cx="2704851" cy="186689"/>
          </a:xfrm>
          <a:prstGeom prst="rect">
            <a:avLst/>
          </a:prstGeom>
          <a:noFill/>
        </p:spPr>
        <p:txBody>
          <a:bodyPr wrap="none" lIns="0" rIns="0" tIns="0" bIns="0">
            <a:spAutoFit/>
          </a:bodyPr>
          <a:lstStyle/>
          <a:p>
            <a:r>
              <a:rPr sz="1100" b="0">
                <a:solidFill>
                  <a:srgbClr val="2E2E2E"/>
                </a:solidFill>
                <a:latin typeface="Calibri"/>
              </a:rPr>
              <a:t>glassware, ceramics &amp; home goods segment is</a:t>
            </a:r>
          </a:p>
        </p:txBody>
      </p:sp>
      <p:sp>
        <p:nvSpPr>
          <p:cNvPr id="87" name="TextBox 86"/>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88" name="Picture 87" descr="lock.png"/>
          <p:cNvPicPr>
            <a:picLocks noChangeAspect="1"/>
          </p:cNvPicPr>
          <p:nvPr/>
        </p:nvPicPr>
        <p:blipFill>
          <a:blip r:embed="rId16"/>
          <a:stretch>
            <a:fillRect/>
          </a:stretch>
        </p:blipFill>
        <p:spPr>
          <a:xfrm>
            <a:off x="2822716" y="5057858"/>
            <a:ext cx="128699" cy="187198"/>
          </a:xfrm>
          <a:prstGeom prst="rect">
            <a:avLst/>
          </a:prstGeom>
        </p:spPr>
      </p:pic>
      <p:sp>
        <p:nvSpPr>
          <p:cNvPr id="89" name="TextBox 88"/>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914650" cy="186689"/>
          </a:xfrm>
          <a:prstGeom prst="rect">
            <a:avLst/>
          </a:prstGeom>
          <a:noFill/>
        </p:spPr>
        <p:txBody>
          <a:bodyPr wrap="none" lIns="0" rIns="0" tIns="0" bIns="0">
            <a:spAutoFit/>
          </a:bodyPr>
          <a:lstStyle/>
          <a:p>
            <a:r>
              <a:rPr sz="1100" b="0">
                <a:solidFill>
                  <a:srgbClr val="2E2E2E"/>
                </a:solidFill>
                <a:latin typeface="Calibri"/>
              </a:rPr>
              <a:t>▪ ¶ Glassware, ceramics &amp; home goods segment is</a:t>
            </a:r>
          </a:p>
        </p:txBody>
      </p:sp>
      <p:sp>
        <p:nvSpPr>
          <p:cNvPr id="94" name="TextBox 93"/>
          <p:cNvSpPr txBox="1"/>
          <p:nvPr/>
        </p:nvSpPr>
        <p:spPr>
          <a:xfrm>
            <a:off x="485775" y="562084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95" name="Picture 94" descr="lock.png"/>
          <p:cNvPicPr>
            <a:picLocks noChangeAspect="1"/>
          </p:cNvPicPr>
          <p:nvPr/>
        </p:nvPicPr>
        <p:blipFill>
          <a:blip r:embed="rId16"/>
          <a:stretch>
            <a:fillRect/>
          </a:stretch>
        </p:blipFill>
        <p:spPr>
          <a:xfrm>
            <a:off x="1678376" y="5611070"/>
            <a:ext cx="128699" cy="187198"/>
          </a:xfrm>
          <a:prstGeom prst="rect">
            <a:avLst/>
          </a:prstGeom>
        </p:spPr>
      </p:pic>
      <p:sp>
        <p:nvSpPr>
          <p:cNvPr id="96" name="TextBox 95"/>
          <p:cNvSpPr txBox="1"/>
          <p:nvPr/>
        </p:nvSpPr>
        <p:spPr>
          <a:xfrm>
            <a:off x="1845872" y="5620849"/>
            <a:ext cx="1467470" cy="186689"/>
          </a:xfrm>
          <a:prstGeom prst="rect">
            <a:avLst/>
          </a:prstGeom>
          <a:noFill/>
        </p:spPr>
        <p:txBody>
          <a:bodyPr wrap="none" lIns="0" rIns="0" tIns="0" bIns="0">
            <a:spAutoFit/>
          </a:bodyPr>
          <a:lstStyle/>
          <a:p>
            <a:r>
              <a:rPr sz="1100" b="0">
                <a:solidFill>
                  <a:srgbClr val="2E2E2E"/>
                </a:solidFill>
                <a:latin typeface="Calibri"/>
              </a:rPr>
              <a:t>X higher value than food</a:t>
            </a:r>
          </a:p>
        </p:txBody>
      </p:sp>
      <p:sp>
        <p:nvSpPr>
          <p:cNvPr id="97" name="TextBox 96"/>
          <p:cNvSpPr txBox="1"/>
          <p:nvPr/>
        </p:nvSpPr>
        <p:spPr>
          <a:xfrm>
            <a:off x="485775" y="5788489"/>
            <a:ext cx="1740594" cy="186689"/>
          </a:xfrm>
          <a:prstGeom prst="rect">
            <a:avLst/>
          </a:prstGeom>
          <a:noFill/>
        </p:spPr>
        <p:txBody>
          <a:bodyPr wrap="none" lIns="0" rIns="0" tIns="0" bIns="0">
            <a:spAutoFit/>
          </a:bodyPr>
          <a:lstStyle/>
          <a:p>
            <a:r>
              <a:rPr sz="1100" b="0">
                <a:solidFill>
                  <a:srgbClr val="2E2E2E"/>
                </a:solidFill>
                <a:latin typeface="Calibri"/>
              </a:rPr>
              <a:t>&amp; beverage segment in 2036.</a:t>
            </a:r>
          </a:p>
        </p:txBody>
      </p:sp>
      <p:sp>
        <p:nvSpPr>
          <p:cNvPr id="98" name="TextBox 97"/>
          <p:cNvSpPr txBox="1"/>
          <p:nvPr/>
        </p:nvSpPr>
        <p:spPr>
          <a:xfrm>
            <a:off x="3838575" y="4229437"/>
            <a:ext cx="615354" cy="186689"/>
          </a:xfrm>
          <a:prstGeom prst="rect">
            <a:avLst/>
          </a:prstGeom>
          <a:noFill/>
        </p:spPr>
        <p:txBody>
          <a:bodyPr wrap="none" lIns="0" rIns="0" tIns="0" bIns="0">
            <a:spAutoFit/>
          </a:bodyPr>
          <a:lstStyle/>
          <a:p>
            <a:r>
              <a:rPr sz="1100" b="0">
                <a:solidFill>
                  <a:srgbClr val="2E2E2E"/>
                </a:solidFill>
                <a:latin typeface="Calibri"/>
              </a:rPr>
              <a:t>● Others:</a:t>
            </a:r>
          </a:p>
        </p:txBody>
      </p:sp>
      <p:pic>
        <p:nvPicPr>
          <p:cNvPr id="99" name="Picture 98" descr="lock.png"/>
          <p:cNvPicPr>
            <a:picLocks noChangeAspect="1"/>
          </p:cNvPicPr>
          <p:nvPr/>
        </p:nvPicPr>
        <p:blipFill>
          <a:blip r:embed="rId16"/>
          <a:stretch>
            <a:fillRect/>
          </a:stretch>
        </p:blipFill>
        <p:spPr>
          <a:xfrm>
            <a:off x="4401981" y="4219658"/>
            <a:ext cx="128699" cy="187198"/>
          </a:xfrm>
          <a:prstGeom prst="rect">
            <a:avLst/>
          </a:prstGeom>
        </p:spPr>
      </p:pic>
      <p:sp>
        <p:nvSpPr>
          <p:cNvPr id="100" name="TextBox 99"/>
          <p:cNvSpPr txBox="1"/>
          <p:nvPr/>
        </p:nvSpPr>
        <p:spPr>
          <a:xfrm>
            <a:off x="456947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5428927" y="4219658"/>
            <a:ext cx="128699" cy="187198"/>
          </a:xfrm>
          <a:prstGeom prst="rect">
            <a:avLst/>
          </a:prstGeom>
        </p:spPr>
      </p:pic>
      <p:sp>
        <p:nvSpPr>
          <p:cNvPr id="102" name="TextBox 101"/>
          <p:cNvSpPr txBox="1"/>
          <p:nvPr/>
        </p:nvSpPr>
        <p:spPr>
          <a:xfrm>
            <a:off x="5596423"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3" name="TextBox 102"/>
          <p:cNvSpPr txBox="1"/>
          <p:nvPr/>
        </p:nvSpPr>
        <p:spPr>
          <a:xfrm>
            <a:off x="3838575" y="4447369"/>
            <a:ext cx="2290390" cy="186689"/>
          </a:xfrm>
          <a:prstGeom prst="rect">
            <a:avLst/>
          </a:prstGeom>
          <a:noFill/>
        </p:spPr>
        <p:txBody>
          <a:bodyPr wrap="none" lIns="0" rIns="0" tIns="0" bIns="0">
            <a:spAutoFit/>
          </a:bodyPr>
          <a:lstStyle/>
          <a:p>
            <a:r>
              <a:rPr sz="1100" b="0">
                <a:solidFill>
                  <a:srgbClr val="2E2E2E"/>
                </a:solidFill>
                <a:latin typeface="Calibri"/>
              </a:rPr>
              <a:t>● Glassware, Ceramics &amp; Home Goods:</a:t>
            </a:r>
          </a:p>
        </p:txBody>
      </p:sp>
      <p:pic>
        <p:nvPicPr>
          <p:cNvPr id="104" name="Picture 103" descr="lock.png"/>
          <p:cNvPicPr>
            <a:picLocks noChangeAspect="1"/>
          </p:cNvPicPr>
          <p:nvPr/>
        </p:nvPicPr>
        <p:blipFill>
          <a:blip r:embed="rId16"/>
          <a:stretch>
            <a:fillRect/>
          </a:stretch>
        </p:blipFill>
        <p:spPr>
          <a:xfrm>
            <a:off x="6077017" y="4437590"/>
            <a:ext cx="128699" cy="187198"/>
          </a:xfrm>
          <a:prstGeom prst="rect">
            <a:avLst/>
          </a:prstGeom>
        </p:spPr>
      </p:pic>
      <p:sp>
        <p:nvSpPr>
          <p:cNvPr id="105" name="TextBox 104"/>
          <p:cNvSpPr txBox="1"/>
          <p:nvPr/>
        </p:nvSpPr>
        <p:spPr>
          <a:xfrm>
            <a:off x="624451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103963" y="4437590"/>
            <a:ext cx="128699" cy="187198"/>
          </a:xfrm>
          <a:prstGeom prst="rect">
            <a:avLst/>
          </a:prstGeom>
        </p:spPr>
      </p:pic>
      <p:sp>
        <p:nvSpPr>
          <p:cNvPr id="107" name="TextBox 106"/>
          <p:cNvSpPr txBox="1"/>
          <p:nvPr/>
        </p:nvSpPr>
        <p:spPr>
          <a:xfrm>
            <a:off x="7271458" y="4447369"/>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08" name="TextBox 107"/>
          <p:cNvSpPr txBox="1"/>
          <p:nvPr/>
        </p:nvSpPr>
        <p:spPr>
          <a:xfrm>
            <a:off x="3838575" y="4615009"/>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09" name="TextBox 108"/>
          <p:cNvSpPr txBox="1"/>
          <p:nvPr/>
        </p:nvSpPr>
        <p:spPr>
          <a:xfrm>
            <a:off x="3838575" y="4832941"/>
            <a:ext cx="2353146" cy="186689"/>
          </a:xfrm>
          <a:prstGeom prst="rect">
            <a:avLst/>
          </a:prstGeom>
          <a:noFill/>
        </p:spPr>
        <p:txBody>
          <a:bodyPr wrap="none" lIns="0" rIns="0" tIns="0" bIns="0">
            <a:spAutoFit/>
          </a:bodyPr>
          <a:lstStyle/>
          <a:p>
            <a:r>
              <a:rPr sz="1100" b="0">
                <a:solidFill>
                  <a:srgbClr val="2E2E2E"/>
                </a:solidFill>
                <a:latin typeface="Calibri"/>
              </a:rPr>
              <a:t>● Automotive &amp; Industrial Components:</a:t>
            </a:r>
          </a:p>
        </p:txBody>
      </p:sp>
      <p:pic>
        <p:nvPicPr>
          <p:cNvPr id="110" name="Picture 109" descr="lock.png"/>
          <p:cNvPicPr>
            <a:picLocks noChangeAspect="1"/>
          </p:cNvPicPr>
          <p:nvPr/>
        </p:nvPicPr>
        <p:blipFill>
          <a:blip r:embed="rId16"/>
          <a:stretch>
            <a:fillRect/>
          </a:stretch>
        </p:blipFill>
        <p:spPr>
          <a:xfrm>
            <a:off x="6139772" y="4823162"/>
            <a:ext cx="128699" cy="187198"/>
          </a:xfrm>
          <a:prstGeom prst="rect">
            <a:avLst/>
          </a:prstGeom>
        </p:spPr>
      </p:pic>
      <p:sp>
        <p:nvSpPr>
          <p:cNvPr id="111" name="TextBox 110"/>
          <p:cNvSpPr txBox="1"/>
          <p:nvPr/>
        </p:nvSpPr>
        <p:spPr>
          <a:xfrm>
            <a:off x="6307268"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7166718" y="4823162"/>
            <a:ext cx="128699" cy="187198"/>
          </a:xfrm>
          <a:prstGeom prst="rect">
            <a:avLst/>
          </a:prstGeom>
        </p:spPr>
      </p:pic>
      <p:sp>
        <p:nvSpPr>
          <p:cNvPr id="113" name="TextBox 112"/>
          <p:cNvSpPr txBox="1"/>
          <p:nvPr/>
        </p:nvSpPr>
        <p:spPr>
          <a:xfrm>
            <a:off x="7334214" y="4832941"/>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14" name="TextBox 113"/>
          <p:cNvSpPr txBox="1"/>
          <p:nvPr/>
        </p:nvSpPr>
        <p:spPr>
          <a:xfrm>
            <a:off x="3838575" y="5000581"/>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15" name="TextBox 114"/>
          <p:cNvSpPr txBox="1"/>
          <p:nvPr/>
        </p:nvSpPr>
        <p:spPr>
          <a:xfrm>
            <a:off x="3838575" y="5218513"/>
            <a:ext cx="1202228" cy="186689"/>
          </a:xfrm>
          <a:prstGeom prst="rect">
            <a:avLst/>
          </a:prstGeom>
          <a:noFill/>
        </p:spPr>
        <p:txBody>
          <a:bodyPr wrap="none" lIns="0" rIns="0" tIns="0" bIns="0">
            <a:spAutoFit/>
          </a:bodyPr>
          <a:lstStyle/>
          <a:p>
            <a:r>
              <a:rPr sz="1100" b="0">
                <a:solidFill>
                  <a:srgbClr val="2E2E2E"/>
                </a:solidFill>
                <a:latin typeface="Calibri"/>
              </a:rPr>
              <a:t>● Food &amp; Beverage:</a:t>
            </a:r>
          </a:p>
        </p:txBody>
      </p:sp>
      <p:pic>
        <p:nvPicPr>
          <p:cNvPr id="116" name="Picture 115" descr="lock.png"/>
          <p:cNvPicPr>
            <a:picLocks noChangeAspect="1"/>
          </p:cNvPicPr>
          <p:nvPr/>
        </p:nvPicPr>
        <p:blipFill>
          <a:blip r:embed="rId16"/>
          <a:stretch>
            <a:fillRect/>
          </a:stretch>
        </p:blipFill>
        <p:spPr>
          <a:xfrm>
            <a:off x="4988855" y="5208733"/>
            <a:ext cx="128699" cy="187198"/>
          </a:xfrm>
          <a:prstGeom prst="rect">
            <a:avLst/>
          </a:prstGeom>
        </p:spPr>
      </p:pic>
      <p:sp>
        <p:nvSpPr>
          <p:cNvPr id="117" name="TextBox 116"/>
          <p:cNvSpPr txBox="1"/>
          <p:nvPr/>
        </p:nvSpPr>
        <p:spPr>
          <a:xfrm>
            <a:off x="5156350" y="521851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6"/>
          <a:stretch>
            <a:fillRect/>
          </a:stretch>
        </p:blipFill>
        <p:spPr>
          <a:xfrm>
            <a:off x="6015801" y="5208733"/>
            <a:ext cx="128699" cy="187198"/>
          </a:xfrm>
          <a:prstGeom prst="rect">
            <a:avLst/>
          </a:prstGeom>
        </p:spPr>
      </p:pic>
      <p:sp>
        <p:nvSpPr>
          <p:cNvPr id="119" name="TextBox 118"/>
          <p:cNvSpPr txBox="1"/>
          <p:nvPr/>
        </p:nvSpPr>
        <p:spPr>
          <a:xfrm>
            <a:off x="6183297" y="521851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0" name="TextBox 119"/>
          <p:cNvSpPr txBox="1"/>
          <p:nvPr/>
        </p:nvSpPr>
        <p:spPr>
          <a:xfrm>
            <a:off x="8524875" y="5842641"/>
            <a:ext cx="2887377" cy="194310"/>
          </a:xfrm>
          <a:prstGeom prst="rect">
            <a:avLst/>
          </a:prstGeom>
          <a:noFill/>
        </p:spPr>
        <p:txBody>
          <a:bodyPr wrap="none" lIns="0" rIns="0" tIns="0" bIns="0">
            <a:spAutoFit/>
          </a:bodyPr>
          <a:lstStyle/>
          <a:p>
            <a:r>
              <a:rPr sz="1150" b="1">
                <a:solidFill>
                  <a:srgbClr val="0B2E4A"/>
                </a:solidFill>
                <a:latin typeface="Calibri"/>
              </a:rPr>
              <a:t>The End Use segment is projected to grow at a</a:t>
            </a:r>
          </a:p>
        </p:txBody>
      </p:sp>
      <p:sp>
        <p:nvSpPr>
          <p:cNvPr id="121" name="TextBox 120"/>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22" name="Picture 121" descr="lock.png"/>
          <p:cNvPicPr>
            <a:picLocks noChangeAspect="1"/>
          </p:cNvPicPr>
          <p:nvPr/>
        </p:nvPicPr>
        <p:blipFill>
          <a:blip r:embed="rId16"/>
          <a:stretch>
            <a:fillRect/>
          </a:stretch>
        </p:blipFill>
        <p:spPr>
          <a:xfrm>
            <a:off x="9048826" y="6007677"/>
            <a:ext cx="134549" cy="195707"/>
          </a:xfrm>
          <a:prstGeom prst="rect">
            <a:avLst/>
          </a:prstGeom>
        </p:spPr>
      </p:pic>
      <p:sp>
        <p:nvSpPr>
          <p:cNvPr id="123" name="TextBox 122"/>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End Use,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 segment categorizes the market by end use.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Pharmaceuticals &amp; Healthcare</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Electronics &amp; Electrical</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Personal Care &amp; Cosmetics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6" name="Picture 45" descr="463_5_605E5C.png"/>
          <p:cNvPicPr>
            <a:picLocks noChangeAspect="1"/>
          </p:cNvPicPr>
          <p:nvPr/>
        </p:nvPicPr>
        <p:blipFill>
          <a:blip r:embed="rId4"/>
          <a:stretch>
            <a:fillRect/>
          </a:stretch>
        </p:blipFill>
        <p:spPr>
          <a:xfrm>
            <a:off x="2897811" y="2286582"/>
            <a:ext cx="1195728" cy="361950"/>
          </a:xfrm>
          <a:prstGeom prst="rect">
            <a:avLst/>
          </a:prstGeom>
        </p:spPr>
      </p:pic>
      <p:pic>
        <p:nvPicPr>
          <p:cNvPr id="47" name="Picture 46" descr="578_9_605E5C.png"/>
          <p:cNvPicPr>
            <a:picLocks noChangeAspect="1"/>
          </p:cNvPicPr>
          <p:nvPr/>
        </p:nvPicPr>
        <p:blipFill>
          <a:blip r:embed="rId5"/>
          <a:stretch>
            <a:fillRect/>
          </a:stretch>
        </p:blipFill>
        <p:spPr>
          <a:xfrm>
            <a:off x="2897811" y="2779432"/>
            <a:ext cx="1195728" cy="361950"/>
          </a:xfrm>
          <a:prstGeom prst="rect">
            <a:avLst/>
          </a:prstGeom>
        </p:spPr>
      </p:pic>
      <p:pic>
        <p:nvPicPr>
          <p:cNvPr id="48" name="Picture 47" descr="2_2__605E5C.png"/>
          <p:cNvPicPr>
            <a:picLocks noChangeAspect="1"/>
          </p:cNvPicPr>
          <p:nvPr/>
        </p:nvPicPr>
        <p:blipFill>
          <a:blip r:embed="rId6"/>
          <a:stretch>
            <a:fillRect/>
          </a:stretch>
        </p:blipFill>
        <p:spPr>
          <a:xfrm>
            <a:off x="3004457" y="3272281"/>
            <a:ext cx="982436" cy="361950"/>
          </a:xfrm>
          <a:prstGeom prst="rect">
            <a:avLst/>
          </a:prstGeom>
        </p:spPr>
      </p:pic>
      <p:pic>
        <p:nvPicPr>
          <p:cNvPr id="49" name="Picture 48" descr="376_2_605E5C.png"/>
          <p:cNvPicPr>
            <a:picLocks noChangeAspect="1"/>
          </p:cNvPicPr>
          <p:nvPr/>
        </p:nvPicPr>
        <p:blipFill>
          <a:blip r:embed="rId7"/>
          <a:stretch>
            <a:fillRect/>
          </a:stretch>
        </p:blipFill>
        <p:spPr>
          <a:xfrm>
            <a:off x="6269661" y="2286582"/>
            <a:ext cx="1195728" cy="361950"/>
          </a:xfrm>
          <a:prstGeom prst="rect">
            <a:avLst/>
          </a:prstGeom>
        </p:spPr>
      </p:pic>
      <p:pic>
        <p:nvPicPr>
          <p:cNvPr id="50" name="Picture 49" descr="838_7_605E5C.png"/>
          <p:cNvPicPr>
            <a:picLocks noChangeAspect="1"/>
          </p:cNvPicPr>
          <p:nvPr/>
        </p:nvPicPr>
        <p:blipFill>
          <a:blip r:embed="rId8"/>
          <a:stretch>
            <a:fillRect/>
          </a:stretch>
        </p:blipFill>
        <p:spPr>
          <a:xfrm>
            <a:off x="6269661" y="2779432"/>
            <a:ext cx="1195728" cy="361950"/>
          </a:xfrm>
          <a:prstGeom prst="rect">
            <a:avLst/>
          </a:prstGeom>
        </p:spPr>
      </p:pic>
      <p:pic>
        <p:nvPicPr>
          <p:cNvPr id="51" name="Picture 50" descr="8_3__605E5C.png"/>
          <p:cNvPicPr>
            <a:picLocks noChangeAspect="1"/>
          </p:cNvPicPr>
          <p:nvPr/>
        </p:nvPicPr>
        <p:blipFill>
          <a:blip r:embed="rId9"/>
          <a:stretch>
            <a:fillRect/>
          </a:stretch>
        </p:blipFill>
        <p:spPr>
          <a:xfrm>
            <a:off x="6376307" y="3272281"/>
            <a:ext cx="982436" cy="361950"/>
          </a:xfrm>
          <a:prstGeom prst="rect">
            <a:avLst/>
          </a:prstGeom>
        </p:spPr>
      </p:pic>
      <p:pic>
        <p:nvPicPr>
          <p:cNvPr id="52" name="Picture 51" descr="106_6_605E5C.png"/>
          <p:cNvPicPr>
            <a:picLocks noChangeAspect="1"/>
          </p:cNvPicPr>
          <p:nvPr/>
        </p:nvPicPr>
        <p:blipFill>
          <a:blip r:embed="rId10"/>
          <a:stretch>
            <a:fillRect/>
          </a:stretch>
        </p:blipFill>
        <p:spPr>
          <a:xfrm>
            <a:off x="9641511" y="2286582"/>
            <a:ext cx="1195728" cy="361950"/>
          </a:xfrm>
          <a:prstGeom prst="rect">
            <a:avLst/>
          </a:prstGeom>
        </p:spPr>
      </p:pic>
      <p:pic>
        <p:nvPicPr>
          <p:cNvPr id="53" name="Picture 52" descr="232_4_605E5C.png"/>
          <p:cNvPicPr>
            <a:picLocks noChangeAspect="1"/>
          </p:cNvPicPr>
          <p:nvPr/>
        </p:nvPicPr>
        <p:blipFill>
          <a:blip r:embed="rId11"/>
          <a:stretch>
            <a:fillRect/>
          </a:stretch>
        </p:blipFill>
        <p:spPr>
          <a:xfrm>
            <a:off x="9641511" y="2779432"/>
            <a:ext cx="1195728" cy="361950"/>
          </a:xfrm>
          <a:prstGeom prst="rect">
            <a:avLst/>
          </a:prstGeom>
        </p:spPr>
      </p:pic>
      <p:pic>
        <p:nvPicPr>
          <p:cNvPr id="54" name="Picture 53" descr="8_1__605E5C.png"/>
          <p:cNvPicPr>
            <a:picLocks noChangeAspect="1"/>
          </p:cNvPicPr>
          <p:nvPr/>
        </p:nvPicPr>
        <p:blipFill>
          <a:blip r:embed="rId12"/>
          <a:stretch>
            <a:fillRect/>
          </a:stretch>
        </p:blipFill>
        <p:spPr>
          <a:xfrm>
            <a:off x="9748157" y="3272281"/>
            <a:ext cx="982436" cy="361950"/>
          </a:xfrm>
          <a:prstGeom prst="rect">
            <a:avLst/>
          </a:prstGeom>
        </p:spPr>
      </p:pic>
      <p:pic>
        <p:nvPicPr>
          <p:cNvPr id="55" name="Picture 54" descr="lock.png"/>
          <p:cNvPicPr>
            <a:picLocks noChangeAspect="1"/>
          </p:cNvPicPr>
          <p:nvPr/>
        </p:nvPicPr>
        <p:blipFill>
          <a:blip r:embed="rId13"/>
          <a:stretch>
            <a:fillRect/>
          </a:stretch>
        </p:blipFill>
        <p:spPr>
          <a:xfrm>
            <a:off x="3402330" y="2827057"/>
            <a:ext cx="183356" cy="266700"/>
          </a:xfrm>
          <a:prstGeom prst="rect">
            <a:avLst/>
          </a:prstGeom>
        </p:spPr>
      </p:pic>
      <p:pic>
        <p:nvPicPr>
          <p:cNvPr id="56" name="Picture 55" descr="lock.png"/>
          <p:cNvPicPr>
            <a:picLocks noChangeAspect="1"/>
          </p:cNvPicPr>
          <p:nvPr/>
        </p:nvPicPr>
        <p:blipFill>
          <a:blip r:embed="rId13"/>
          <a:stretch>
            <a:fillRect/>
          </a:stretch>
        </p:blipFill>
        <p:spPr>
          <a:xfrm>
            <a:off x="6774180" y="2827057"/>
            <a:ext cx="183356" cy="266700"/>
          </a:xfrm>
          <a:prstGeom prst="rect">
            <a:avLst/>
          </a:prstGeom>
        </p:spPr>
      </p:pic>
      <p:pic>
        <p:nvPicPr>
          <p:cNvPr id="57" name="Picture 56" descr="lock.png"/>
          <p:cNvPicPr>
            <a:picLocks noChangeAspect="1"/>
          </p:cNvPicPr>
          <p:nvPr/>
        </p:nvPicPr>
        <p:blipFill>
          <a:blip r:embed="rId13"/>
          <a:stretch>
            <a:fillRect/>
          </a:stretch>
        </p:blipFill>
        <p:spPr>
          <a:xfrm>
            <a:off x="10146030" y="2827057"/>
            <a:ext cx="183356" cy="266700"/>
          </a:xfrm>
          <a:prstGeom prst="rect">
            <a:avLst/>
          </a:prstGeom>
        </p:spPr>
      </p:pic>
      <p:sp>
        <p:nvSpPr>
          <p:cNvPr id="58" name="TextBox 57"/>
          <p:cNvSpPr txBox="1"/>
          <p:nvPr/>
        </p:nvSpPr>
        <p:spPr>
          <a:xfrm>
            <a:off x="485775" y="4229437"/>
            <a:ext cx="1942504" cy="186689"/>
          </a:xfrm>
          <a:prstGeom prst="rect">
            <a:avLst/>
          </a:prstGeom>
          <a:noFill/>
        </p:spPr>
        <p:txBody>
          <a:bodyPr wrap="none" lIns="0" rIns="0" tIns="0" bIns="0">
            <a:spAutoFit/>
          </a:bodyPr>
          <a:lstStyle/>
          <a:p>
            <a:r>
              <a:rPr sz="1100" b="0">
                <a:solidFill>
                  <a:srgbClr val="2E2E2E"/>
                </a:solidFill>
                <a:latin typeface="Calibri"/>
              </a:rPr>
              <a:t>● Pharmaceuticals &amp; Healthcare:</a:t>
            </a:r>
          </a:p>
        </p:txBody>
      </p:sp>
      <p:pic>
        <p:nvPicPr>
          <p:cNvPr id="59" name="Picture 58" descr="lock.png"/>
          <p:cNvPicPr>
            <a:picLocks noChangeAspect="1"/>
          </p:cNvPicPr>
          <p:nvPr/>
        </p:nvPicPr>
        <p:blipFill>
          <a:blip r:embed="rId13"/>
          <a:stretch>
            <a:fillRect/>
          </a:stretch>
        </p:blipFill>
        <p:spPr>
          <a:xfrm>
            <a:off x="2376331" y="4219658"/>
            <a:ext cx="128699" cy="187198"/>
          </a:xfrm>
          <a:prstGeom prst="rect">
            <a:avLst/>
          </a:prstGeom>
        </p:spPr>
      </p:pic>
      <p:sp>
        <p:nvSpPr>
          <p:cNvPr id="60" name="TextBox 59"/>
          <p:cNvSpPr txBox="1"/>
          <p:nvPr/>
        </p:nvSpPr>
        <p:spPr>
          <a:xfrm>
            <a:off x="254382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1" name="Picture 60" descr="lock.png"/>
          <p:cNvPicPr>
            <a:picLocks noChangeAspect="1"/>
          </p:cNvPicPr>
          <p:nvPr/>
        </p:nvPicPr>
        <p:blipFill>
          <a:blip r:embed="rId13"/>
          <a:stretch>
            <a:fillRect/>
          </a:stretch>
        </p:blipFill>
        <p:spPr>
          <a:xfrm>
            <a:off x="3403277" y="4219658"/>
            <a:ext cx="128699" cy="187198"/>
          </a:xfrm>
          <a:prstGeom prst="rect">
            <a:avLst/>
          </a:prstGeom>
        </p:spPr>
      </p:pic>
      <p:sp>
        <p:nvSpPr>
          <p:cNvPr id="62" name="TextBox 61"/>
          <p:cNvSpPr txBox="1"/>
          <p:nvPr/>
        </p:nvSpPr>
        <p:spPr>
          <a:xfrm>
            <a:off x="3570773"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3" name="TextBox 62"/>
          <p:cNvSpPr txBox="1"/>
          <p:nvPr/>
        </p:nvSpPr>
        <p:spPr>
          <a:xfrm>
            <a:off x="485775" y="4447369"/>
            <a:ext cx="1521494" cy="186689"/>
          </a:xfrm>
          <a:prstGeom prst="rect">
            <a:avLst/>
          </a:prstGeom>
          <a:noFill/>
        </p:spPr>
        <p:txBody>
          <a:bodyPr wrap="none" lIns="0" rIns="0" tIns="0" bIns="0">
            <a:spAutoFit/>
          </a:bodyPr>
          <a:lstStyle/>
          <a:p>
            <a:r>
              <a:rPr sz="1100" b="0">
                <a:solidFill>
                  <a:srgbClr val="2E2E2E"/>
                </a:solidFill>
                <a:latin typeface="Calibri"/>
              </a:rPr>
              <a:t>● Electronics &amp; Electrical:</a:t>
            </a:r>
          </a:p>
        </p:txBody>
      </p:sp>
      <p:pic>
        <p:nvPicPr>
          <p:cNvPr id="64" name="Picture 63" descr="lock.png"/>
          <p:cNvPicPr>
            <a:picLocks noChangeAspect="1"/>
          </p:cNvPicPr>
          <p:nvPr/>
        </p:nvPicPr>
        <p:blipFill>
          <a:blip r:embed="rId13"/>
          <a:stretch>
            <a:fillRect/>
          </a:stretch>
        </p:blipFill>
        <p:spPr>
          <a:xfrm>
            <a:off x="1955321" y="4437590"/>
            <a:ext cx="128699" cy="187198"/>
          </a:xfrm>
          <a:prstGeom prst="rect">
            <a:avLst/>
          </a:prstGeom>
        </p:spPr>
      </p:pic>
      <p:sp>
        <p:nvSpPr>
          <p:cNvPr id="65" name="TextBox 64"/>
          <p:cNvSpPr txBox="1"/>
          <p:nvPr/>
        </p:nvSpPr>
        <p:spPr>
          <a:xfrm>
            <a:off x="212281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6" name="Picture 65" descr="lock.png"/>
          <p:cNvPicPr>
            <a:picLocks noChangeAspect="1"/>
          </p:cNvPicPr>
          <p:nvPr/>
        </p:nvPicPr>
        <p:blipFill>
          <a:blip r:embed="rId13"/>
          <a:stretch>
            <a:fillRect/>
          </a:stretch>
        </p:blipFill>
        <p:spPr>
          <a:xfrm>
            <a:off x="2982267" y="4437590"/>
            <a:ext cx="128699" cy="187198"/>
          </a:xfrm>
          <a:prstGeom prst="rect">
            <a:avLst/>
          </a:prstGeom>
        </p:spPr>
      </p:pic>
      <p:sp>
        <p:nvSpPr>
          <p:cNvPr id="67" name="TextBox 66"/>
          <p:cNvSpPr txBox="1"/>
          <p:nvPr/>
        </p:nvSpPr>
        <p:spPr>
          <a:xfrm>
            <a:off x="3149763"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68" name="TextBox 67"/>
          <p:cNvSpPr txBox="1"/>
          <p:nvPr/>
        </p:nvSpPr>
        <p:spPr>
          <a:xfrm>
            <a:off x="485775" y="4665301"/>
            <a:ext cx="1747688" cy="186689"/>
          </a:xfrm>
          <a:prstGeom prst="rect">
            <a:avLst/>
          </a:prstGeom>
          <a:noFill/>
        </p:spPr>
        <p:txBody>
          <a:bodyPr wrap="none" lIns="0" rIns="0" tIns="0" bIns="0">
            <a:spAutoFit/>
          </a:bodyPr>
          <a:lstStyle/>
          <a:p>
            <a:r>
              <a:rPr sz="1100" b="0">
                <a:solidFill>
                  <a:srgbClr val="2E2E2E"/>
                </a:solidFill>
                <a:latin typeface="Calibri"/>
              </a:rPr>
              <a:t>● Personal Care &amp; Cosmetics:</a:t>
            </a:r>
          </a:p>
        </p:txBody>
      </p:sp>
      <p:pic>
        <p:nvPicPr>
          <p:cNvPr id="69" name="Picture 68" descr="lock.png"/>
          <p:cNvPicPr>
            <a:picLocks noChangeAspect="1"/>
          </p:cNvPicPr>
          <p:nvPr/>
        </p:nvPicPr>
        <p:blipFill>
          <a:blip r:embed="rId13"/>
          <a:stretch>
            <a:fillRect/>
          </a:stretch>
        </p:blipFill>
        <p:spPr>
          <a:xfrm>
            <a:off x="2181515" y="4655522"/>
            <a:ext cx="128699" cy="187198"/>
          </a:xfrm>
          <a:prstGeom prst="rect">
            <a:avLst/>
          </a:prstGeom>
        </p:spPr>
      </p:pic>
      <p:sp>
        <p:nvSpPr>
          <p:cNvPr id="70" name="TextBox 69"/>
          <p:cNvSpPr txBox="1"/>
          <p:nvPr/>
        </p:nvSpPr>
        <p:spPr>
          <a:xfrm>
            <a:off x="2349011"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1" name="Picture 70" descr="lock.png"/>
          <p:cNvPicPr>
            <a:picLocks noChangeAspect="1"/>
          </p:cNvPicPr>
          <p:nvPr/>
        </p:nvPicPr>
        <p:blipFill>
          <a:blip r:embed="rId13"/>
          <a:stretch>
            <a:fillRect/>
          </a:stretch>
        </p:blipFill>
        <p:spPr>
          <a:xfrm>
            <a:off x="3208461" y="4655522"/>
            <a:ext cx="128699" cy="187198"/>
          </a:xfrm>
          <a:prstGeom prst="rect">
            <a:avLst/>
          </a:prstGeom>
        </p:spPr>
      </p:pic>
      <p:sp>
        <p:nvSpPr>
          <p:cNvPr id="72" name="TextBox 71"/>
          <p:cNvSpPr txBox="1"/>
          <p:nvPr/>
        </p:nvSpPr>
        <p:spPr>
          <a:xfrm>
            <a:off x="3375957"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End Use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353155" cy="186689"/>
          </a:xfrm>
          <a:prstGeom prst="rect">
            <a:avLst/>
          </a:prstGeom>
          <a:noFill/>
        </p:spPr>
        <p:txBody>
          <a:bodyPr wrap="none" lIns="0" rIns="0" tIns="0" bIns="0">
            <a:spAutoFit/>
          </a:bodyPr>
          <a:lstStyle/>
          <a:p>
            <a:r>
              <a:rPr sz="1100" b="0">
                <a:solidFill>
                  <a:srgbClr val="2E2E2E"/>
                </a:solidFill>
                <a:latin typeface="Calibri"/>
              </a:rPr>
              <a:t>Electronics &amp; electrical followed by food &amp; beverage are expected to be the two most attractive end use segments in the global corrugated partition market in terms of value over the forecast period.</a:t>
            </a:r>
          </a:p>
        </p:txBody>
      </p:sp>
      <p:sp>
        <p:nvSpPr>
          <p:cNvPr id="21" name="TextBox 20"/>
          <p:cNvSpPr txBox="1"/>
          <p:nvPr/>
        </p:nvSpPr>
        <p:spPr>
          <a:xfrm>
            <a:off x="257175" y="5861685"/>
            <a:ext cx="3952857" cy="186689"/>
          </a:xfrm>
          <a:prstGeom prst="rect">
            <a:avLst/>
          </a:prstGeom>
          <a:noFill/>
        </p:spPr>
        <p:txBody>
          <a:bodyPr wrap="none" lIns="0" rIns="0" tIns="0" bIns="0">
            <a:spAutoFit/>
          </a:bodyPr>
          <a:lstStyle/>
          <a:p>
            <a:r>
              <a:rPr sz="1100" b="0">
                <a:solidFill>
                  <a:srgbClr val="2E2E2E"/>
                </a:solidFill>
                <a:latin typeface="Calibri"/>
              </a:rPr>
              <a:t>Electronics &amp; electrical and food &amp; beverage exhibit a CAGR index of</a:t>
            </a:r>
          </a:p>
        </p:txBody>
      </p:sp>
      <p:pic>
        <p:nvPicPr>
          <p:cNvPr id="22" name="Picture 21" descr="lock.png"/>
          <p:cNvPicPr>
            <a:picLocks noChangeAspect="1"/>
          </p:cNvPicPr>
          <p:nvPr/>
        </p:nvPicPr>
        <p:blipFill>
          <a:blip r:embed="rId6"/>
          <a:stretch>
            <a:fillRect/>
          </a:stretch>
        </p:blipFill>
        <p:spPr>
          <a:xfrm>
            <a:off x="4158084" y="5851905"/>
            <a:ext cx="128699" cy="187198"/>
          </a:xfrm>
          <a:prstGeom prst="rect">
            <a:avLst/>
          </a:prstGeom>
        </p:spPr>
      </p:pic>
      <p:sp>
        <p:nvSpPr>
          <p:cNvPr id="23" name="TextBox 22"/>
          <p:cNvSpPr txBox="1"/>
          <p:nvPr/>
        </p:nvSpPr>
        <p:spPr>
          <a:xfrm>
            <a:off x="4325580"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563474" y="5851905"/>
            <a:ext cx="128699" cy="187198"/>
          </a:xfrm>
          <a:prstGeom prst="rect">
            <a:avLst/>
          </a:prstGeom>
        </p:spPr>
      </p:pic>
      <p:sp>
        <p:nvSpPr>
          <p:cNvPr id="25" name="TextBox 24"/>
          <p:cNvSpPr txBox="1"/>
          <p:nvPr/>
        </p:nvSpPr>
        <p:spPr>
          <a:xfrm>
            <a:off x="4730970" y="5861685"/>
            <a:ext cx="2079749" cy="186689"/>
          </a:xfrm>
          <a:prstGeom prst="rect">
            <a:avLst/>
          </a:prstGeom>
          <a:noFill/>
        </p:spPr>
        <p:txBody>
          <a:bodyPr wrap="none" lIns="0" rIns="0" tIns="0" bIns="0">
            <a:spAutoFit/>
          </a:bodyPr>
          <a:lstStyle/>
          <a:p>
            <a:r>
              <a:rPr sz="1100" b="0">
                <a:solidFill>
                  <a:srgbClr val="2E2E2E"/>
                </a:solidFill>
                <a:latin typeface="Calibri"/>
              </a:rPr>
              <a:t>and a market share index of 82 and</a:t>
            </a:r>
          </a:p>
        </p:txBody>
      </p:sp>
      <p:pic>
        <p:nvPicPr>
          <p:cNvPr id="26" name="Picture 25" descr="lock.png"/>
          <p:cNvPicPr>
            <a:picLocks noChangeAspect="1"/>
          </p:cNvPicPr>
          <p:nvPr/>
        </p:nvPicPr>
        <p:blipFill>
          <a:blip r:embed="rId6"/>
          <a:stretch>
            <a:fillRect/>
          </a:stretch>
        </p:blipFill>
        <p:spPr>
          <a:xfrm>
            <a:off x="6758771" y="5851905"/>
            <a:ext cx="128699" cy="187198"/>
          </a:xfrm>
          <a:prstGeom prst="rect">
            <a:avLst/>
          </a:prstGeom>
        </p:spPr>
      </p:pic>
      <p:sp>
        <p:nvSpPr>
          <p:cNvPr id="27" name="TextBox 26"/>
          <p:cNvSpPr txBox="1"/>
          <p:nvPr/>
        </p:nvSpPr>
        <p:spPr>
          <a:xfrm>
            <a:off x="6926266"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8" name="Picture 27" descr="lock.png"/>
          <p:cNvPicPr>
            <a:picLocks noChangeAspect="1"/>
          </p:cNvPicPr>
          <p:nvPr/>
        </p:nvPicPr>
        <p:blipFill>
          <a:blip r:embed="rId6"/>
          <a:stretch>
            <a:fillRect/>
          </a:stretch>
        </p:blipFill>
        <p:spPr>
          <a:xfrm>
            <a:off x="9480671" y="5851905"/>
            <a:ext cx="128699" cy="187198"/>
          </a:xfrm>
          <a:prstGeom prst="rect">
            <a:avLst/>
          </a:prstGeom>
        </p:spPr>
      </p:pic>
      <p:sp>
        <p:nvSpPr>
          <p:cNvPr id="29" name="TextBox 28"/>
          <p:cNvSpPr txBox="1"/>
          <p:nvPr/>
        </p:nvSpPr>
        <p:spPr>
          <a:xfrm>
            <a:off x="9648166" y="5861685"/>
            <a:ext cx="1447824" cy="186689"/>
          </a:xfrm>
          <a:prstGeom prst="rect">
            <a:avLst/>
          </a:prstGeom>
          <a:noFill/>
        </p:spPr>
        <p:txBody>
          <a:bodyPr wrap="none" lIns="0" rIns="0" tIns="0" bIns="0">
            <a:spAutoFit/>
          </a:bodyPr>
          <a:lstStyle/>
          <a:p>
            <a:r>
              <a:rPr sz="1100" b="0">
                <a:solidFill>
                  <a:srgbClr val="2E2E2E"/>
                </a:solidFill>
                <a:latin typeface="Calibri"/>
              </a:rPr>
              <a:t>. The pharmaceuticals &amp;</a:t>
            </a:r>
          </a:p>
        </p:txBody>
      </p:sp>
      <p:sp>
        <p:nvSpPr>
          <p:cNvPr id="30" name="TextBox 29"/>
          <p:cNvSpPr txBox="1"/>
          <p:nvPr/>
        </p:nvSpPr>
        <p:spPr>
          <a:xfrm>
            <a:off x="257175" y="6029325"/>
            <a:ext cx="11506736" cy="186689"/>
          </a:xfrm>
          <a:prstGeom prst="rect">
            <a:avLst/>
          </a:prstGeom>
          <a:noFill/>
        </p:spPr>
        <p:txBody>
          <a:bodyPr wrap="none" lIns="0" rIns="0" tIns="0" bIns="0">
            <a:spAutoFit/>
          </a:bodyPr>
          <a:lstStyle/>
          <a:p>
            <a:r>
              <a:rPr sz="1100" b="0">
                <a:solidFill>
                  <a:srgbClr val="2E2E2E"/>
                </a:solidFill>
                <a:latin typeface="Calibri"/>
              </a:rPr>
              <a:t>healthcare segment is expected to be less attractive as compared to other segments over the forecast period, owing to its lower CAGR and incremental opportunity. Bubbles right of the CAGR-Index line</a:t>
            </a:r>
          </a:p>
        </p:txBody>
      </p:sp>
      <p:sp>
        <p:nvSpPr>
          <p:cNvPr id="31" name="TextBox 30"/>
          <p:cNvSpPr txBox="1"/>
          <p:nvPr/>
        </p:nvSpPr>
        <p:spPr>
          <a:xfrm>
            <a:off x="257175" y="6196965"/>
            <a:ext cx="2279476" cy="186689"/>
          </a:xfrm>
          <a:prstGeom prst="rect">
            <a:avLst/>
          </a:prstGeom>
          <a:noFill/>
        </p:spPr>
        <p:txBody>
          <a:bodyPr wrap="none" lIns="0" rIns="0" tIns="0" bIns="0">
            <a:spAutoFit/>
          </a:bodyPr>
          <a:lstStyle/>
          <a:p>
            <a:r>
              <a:rPr sz="1100" b="0">
                <a:solidFill>
                  <a:srgbClr val="2E2E2E"/>
                </a:solidFill>
                <a:latin typeface="Calibri"/>
              </a:rPr>
              <a:t>grow faster than the segment average.</a:t>
            </a:r>
          </a:p>
        </p:txBody>
      </p:sp>
      <p:sp>
        <p:nvSpPr>
          <p:cNvPr id="32"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End Use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Food &amp; Beverage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Pharmaceuticals &amp; Healthcare</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Personal Care &amp; Cosmetics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Electronics &amp; Electrical</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End Use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Automotive &amp; Industrial Components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Glassware, Ceramics &amp; Home Goods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End Use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7"/>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3094826" y="5123309"/>
            <a:ext cx="263506" cy="383281"/>
          </a:xfrm>
          <a:prstGeom prst="rect">
            <a:avLst/>
          </a:prstGeom>
        </p:spPr>
      </p:pic>
      <p:sp>
        <p:nvSpPr>
          <p:cNvPr id="27" name="TextBox 26"/>
          <p:cNvSpPr txBox="1"/>
          <p:nvPr/>
        </p:nvSpPr>
        <p:spPr>
          <a:xfrm>
            <a:off x="6305550" y="4286250"/>
            <a:ext cx="4854751" cy="194310"/>
          </a:xfrm>
          <a:prstGeom prst="rect">
            <a:avLst/>
          </a:prstGeom>
          <a:noFill/>
        </p:spPr>
        <p:txBody>
          <a:bodyPr wrap="none" lIns="0" rIns="0" tIns="0" bIns="0">
            <a:spAutoFit/>
          </a:bodyPr>
          <a:lstStyle/>
          <a:p>
            <a:r>
              <a:rPr sz="1150" b="0">
                <a:solidFill>
                  <a:srgbClr val="2E2E2E"/>
                </a:solidFill>
                <a:latin typeface="Calibri"/>
              </a:rPr>
              <a:t>By 2036, electronics &amp; electrical segment is anticipated to witness an increase of</a:t>
            </a:r>
          </a:p>
        </p:txBody>
      </p:sp>
      <p:pic>
        <p:nvPicPr>
          <p:cNvPr id="28" name="Picture 27" descr="lock.png"/>
          <p:cNvPicPr>
            <a:picLocks noChangeAspect="1"/>
          </p:cNvPicPr>
          <p:nvPr/>
        </p:nvPicPr>
        <p:blipFill>
          <a:blip r:embed="rId7"/>
          <a:stretch>
            <a:fillRect/>
          </a:stretch>
        </p:blipFill>
        <p:spPr>
          <a:xfrm>
            <a:off x="11109455" y="4276026"/>
            <a:ext cx="134549" cy="195707"/>
          </a:xfrm>
          <a:prstGeom prst="rect">
            <a:avLst/>
          </a:prstGeom>
        </p:spPr>
      </p:pic>
      <p:sp>
        <p:nvSpPr>
          <p:cNvPr id="29" name="TextBox 28"/>
          <p:cNvSpPr txBox="1"/>
          <p:nvPr/>
        </p:nvSpPr>
        <p:spPr>
          <a:xfrm>
            <a:off x="11284564" y="4286250"/>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30" name="TextBox 29"/>
          <p:cNvSpPr txBox="1"/>
          <p:nvPr/>
        </p:nvSpPr>
        <p:spPr>
          <a:xfrm>
            <a:off x="6305550" y="4461510"/>
            <a:ext cx="5300340" cy="194310"/>
          </a:xfrm>
          <a:prstGeom prst="rect">
            <a:avLst/>
          </a:prstGeom>
          <a:noFill/>
        </p:spPr>
        <p:txBody>
          <a:bodyPr wrap="none" lIns="0" rIns="0" tIns="0" bIns="0">
            <a:spAutoFit/>
          </a:bodyPr>
          <a:lstStyle/>
          <a:p>
            <a:r>
              <a:rPr sz="1150" b="0">
                <a:solidFill>
                  <a:srgbClr val="2E2E2E"/>
                </a:solidFill>
                <a:latin typeface="Calibri"/>
              </a:rPr>
              <a:t>terms of value as compared to 2026. The electronics &amp; electrical segment is expected to</a:t>
            </a:r>
          </a:p>
        </p:txBody>
      </p:sp>
      <p:sp>
        <p:nvSpPr>
          <p:cNvPr id="31" name="TextBox 30"/>
          <p:cNvSpPr txBox="1"/>
          <p:nvPr/>
        </p:nvSpPr>
        <p:spPr>
          <a:xfrm>
            <a:off x="6305550" y="4636770"/>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32" name="Picture 31" descr="lock.png"/>
          <p:cNvPicPr>
            <a:picLocks noChangeAspect="1"/>
          </p:cNvPicPr>
          <p:nvPr/>
        </p:nvPicPr>
        <p:blipFill>
          <a:blip r:embed="rId7"/>
          <a:stretch>
            <a:fillRect/>
          </a:stretch>
        </p:blipFill>
        <p:spPr>
          <a:xfrm>
            <a:off x="8801773" y="4626546"/>
            <a:ext cx="134549" cy="195707"/>
          </a:xfrm>
          <a:prstGeom prst="rect">
            <a:avLst/>
          </a:prstGeom>
        </p:spPr>
      </p:pic>
      <p:sp>
        <p:nvSpPr>
          <p:cNvPr id="33" name="TextBox 32"/>
          <p:cNvSpPr txBox="1"/>
          <p:nvPr/>
        </p:nvSpPr>
        <p:spPr>
          <a:xfrm>
            <a:off x="8976882" y="4636770"/>
            <a:ext cx="2849153"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a:t>
            </a:r>
          </a:p>
        </p:txBody>
      </p:sp>
      <p:sp>
        <p:nvSpPr>
          <p:cNvPr id="34" name="TextBox 33"/>
          <p:cNvSpPr txBox="1"/>
          <p:nvPr/>
        </p:nvSpPr>
        <p:spPr>
          <a:xfrm>
            <a:off x="6305550" y="4812029"/>
            <a:ext cx="1220923" cy="194310"/>
          </a:xfrm>
          <a:prstGeom prst="rect">
            <a:avLst/>
          </a:prstGeom>
          <a:noFill/>
        </p:spPr>
        <p:txBody>
          <a:bodyPr wrap="none" lIns="0" rIns="0" tIns="0" bIns="0">
            <a:spAutoFit/>
          </a:bodyPr>
          <a:lstStyle/>
          <a:p>
            <a:r>
              <a:rPr sz="1150" b="0">
                <a:solidFill>
                  <a:srgbClr val="2E2E2E"/>
                </a:solidFill>
                <a:latin typeface="Calibri"/>
              </a:rPr>
              <a:t>from 2026 to 2036.</a:t>
            </a:r>
          </a:p>
        </p:txBody>
      </p:sp>
      <p:sp>
        <p:nvSpPr>
          <p:cNvPr id="35" name="TextBox 34"/>
          <p:cNvSpPr txBox="1"/>
          <p:nvPr/>
        </p:nvSpPr>
        <p:spPr>
          <a:xfrm>
            <a:off x="6305550" y="5039867"/>
            <a:ext cx="5234446" cy="194310"/>
          </a:xfrm>
          <a:prstGeom prst="rect">
            <a:avLst/>
          </a:prstGeom>
          <a:noFill/>
        </p:spPr>
        <p:txBody>
          <a:bodyPr wrap="none" lIns="0" rIns="0" tIns="0" bIns="0">
            <a:spAutoFit/>
          </a:bodyPr>
          <a:lstStyle/>
          <a:p>
            <a:r>
              <a:rPr sz="1150" b="0">
                <a:solidFill>
                  <a:srgbClr val="2E2E2E"/>
                </a:solidFill>
                <a:latin typeface="Calibri"/>
              </a:rPr>
              <a:t>The food &amp; beverage segment is expected to create an incremental opportunity of US$</a:t>
            </a:r>
          </a:p>
        </p:txBody>
      </p:sp>
      <p:pic>
        <p:nvPicPr>
          <p:cNvPr id="36" name="Picture 35" descr="lock.png"/>
          <p:cNvPicPr>
            <a:picLocks noChangeAspect="1"/>
          </p:cNvPicPr>
          <p:nvPr/>
        </p:nvPicPr>
        <p:blipFill>
          <a:blip r:embed="rId7"/>
          <a:stretch>
            <a:fillRect/>
          </a:stretch>
        </p:blipFill>
        <p:spPr>
          <a:xfrm>
            <a:off x="6291470" y="5204904"/>
            <a:ext cx="134549" cy="195707"/>
          </a:xfrm>
          <a:prstGeom prst="rect">
            <a:avLst/>
          </a:prstGeom>
        </p:spPr>
      </p:pic>
      <p:sp>
        <p:nvSpPr>
          <p:cNvPr id="37" name="TextBox 36"/>
          <p:cNvSpPr txBox="1"/>
          <p:nvPr/>
        </p:nvSpPr>
        <p:spPr>
          <a:xfrm>
            <a:off x="6466579" y="5215127"/>
            <a:ext cx="4934929"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 to 2036. The glassware,</a:t>
            </a:r>
          </a:p>
        </p:txBody>
      </p:sp>
      <p:sp>
        <p:nvSpPr>
          <p:cNvPr id="38" name="TextBox 37"/>
          <p:cNvSpPr txBox="1"/>
          <p:nvPr/>
        </p:nvSpPr>
        <p:spPr>
          <a:xfrm>
            <a:off x="6305550" y="5390387"/>
            <a:ext cx="5412444" cy="194310"/>
          </a:xfrm>
          <a:prstGeom prst="rect">
            <a:avLst/>
          </a:prstGeom>
          <a:noFill/>
        </p:spPr>
        <p:txBody>
          <a:bodyPr wrap="none" lIns="0" rIns="0" tIns="0" bIns="0">
            <a:spAutoFit/>
          </a:bodyPr>
          <a:lstStyle/>
          <a:p>
            <a:r>
              <a:rPr sz="1150" b="0">
                <a:solidFill>
                  <a:srgbClr val="2E2E2E"/>
                </a:solidFill>
                <a:latin typeface="Calibri"/>
              </a:rPr>
              <a:t>ceramics &amp; home goods segment is expected to create an incremental opportunity of US$</a:t>
            </a:r>
          </a:p>
        </p:txBody>
      </p:sp>
      <p:pic>
        <p:nvPicPr>
          <p:cNvPr id="39" name="Picture 38" descr="lock.png"/>
          <p:cNvPicPr>
            <a:picLocks noChangeAspect="1"/>
          </p:cNvPicPr>
          <p:nvPr/>
        </p:nvPicPr>
        <p:blipFill>
          <a:blip r:embed="rId7"/>
          <a:stretch>
            <a:fillRect/>
          </a:stretch>
        </p:blipFill>
        <p:spPr>
          <a:xfrm>
            <a:off x="6291470" y="5555424"/>
            <a:ext cx="134549" cy="195707"/>
          </a:xfrm>
          <a:prstGeom prst="rect">
            <a:avLst/>
          </a:prstGeom>
        </p:spPr>
      </p:pic>
      <p:sp>
        <p:nvSpPr>
          <p:cNvPr id="40" name="TextBox 39"/>
          <p:cNvSpPr txBox="1"/>
          <p:nvPr/>
        </p:nvSpPr>
        <p:spPr>
          <a:xfrm>
            <a:off x="6466579" y="5565647"/>
            <a:ext cx="4026966"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 to 2036.</a:t>
            </a:r>
          </a:p>
        </p:txBody>
      </p:sp>
      <p:sp>
        <p:nvSpPr>
          <p:cNvPr id="41"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End Use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229100"/>
          </a:xfrm>
          <a:prstGeom prst="roundRect">
            <a:avLst>
              <a:gd name="adj" fmla="val 18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End Use (MT)</a:t>
            </a:r>
          </a:p>
        </p:txBody>
      </p:sp>
      <p:graphicFrame>
        <p:nvGraphicFramePr>
          <p:cNvPr id="13" name="Table 12"/>
          <p:cNvGraphicFramePr>
            <a:graphicFrameLocks noGrp="1"/>
          </p:cNvGraphicFramePr>
          <p:nvPr/>
        </p:nvGraphicFramePr>
        <p:xfrm>
          <a:off x="152400" y="1238250"/>
          <a:ext cx="11887208" cy="3762371"/>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End Use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745">
                <a:tc>
                  <a:txBody>
                    <a:bodyPr wrap="none"/>
                    <a:lstStyle/>
                    <a:p>
                      <a:pPr algn="l"/>
                      <a:r>
                        <a:rPr sz="1100" b="1">
                          <a:solidFill>
                            <a:srgbClr val="2E2E2E"/>
                          </a:solidFill>
                          <a:latin typeface="Calibri"/>
                        </a:rPr>
                        <a:t>Food &amp; Beverage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530">
                <a:tc>
                  <a:txBody>
                    <a:bodyPr wrap="none"/>
                    <a:lstStyle/>
                    <a:p>
                      <a:pPr algn="l"/>
                      <a:r>
                        <a:rPr sz="1100" b="1">
                          <a:solidFill>
                            <a:srgbClr val="2E2E2E"/>
                          </a:solidFill>
                          <a:latin typeface="Calibri"/>
                        </a:rPr>
                        <a:t>Pharmaceuticals &amp;</a:t>
                      </a:r>
                      <a:endParaRPr sz="1100"/>
                    </a:p>
                    <a:p>
                      <a:pPr algn="l"/>
                      <a:r>
                        <a:rPr sz="1100" b="1">
                          <a:solidFill>
                            <a:srgbClr val="2E2E2E"/>
                          </a:solidFill>
                          <a:latin typeface="Calibri"/>
                        </a:rPr>
                        <a:t>Healthcare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530">
                <a:tc>
                  <a:txBody>
                    <a:bodyPr wrap="none"/>
                    <a:lstStyle/>
                    <a:p>
                      <a:pPr algn="l"/>
                      <a:r>
                        <a:rPr sz="1100" b="1">
                          <a:solidFill>
                            <a:srgbClr val="2E2E2E"/>
                          </a:solidFill>
                          <a:latin typeface="Calibri"/>
                        </a:rPr>
                        <a:t>Personal Care &amp;</a:t>
                      </a:r>
                      <a:endParaRPr sz="1100"/>
                    </a:p>
                    <a:p>
                      <a:pPr algn="l"/>
                      <a:r>
                        <a:rPr sz="1100" b="1">
                          <a:solidFill>
                            <a:srgbClr val="2E2E2E"/>
                          </a:solidFill>
                          <a:latin typeface="Calibri"/>
                        </a:rPr>
                        <a:t>Cosmetics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530">
                <a:tc>
                  <a:txBody>
                    <a:bodyPr wrap="none"/>
                    <a:lstStyle/>
                    <a:p>
                      <a:pPr algn="l"/>
                      <a:r>
                        <a:rPr sz="1100" b="1">
                          <a:solidFill>
                            <a:srgbClr val="2E2E2E"/>
                          </a:solidFill>
                          <a:latin typeface="Calibri"/>
                        </a:rPr>
                        <a:t>Electronics &amp;</a:t>
                      </a:r>
                      <a:endParaRPr sz="1100"/>
                    </a:p>
                    <a:p>
                      <a:pPr algn="l"/>
                      <a:r>
                        <a:rPr sz="1100" b="1">
                          <a:solidFill>
                            <a:srgbClr val="2E2E2E"/>
                          </a:solidFill>
                          <a:latin typeface="Calibri"/>
                        </a:rPr>
                        <a:t>Electrical</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317">
                <a:tc>
                  <a:txBody>
                    <a:bodyPr wrap="none"/>
                    <a:lstStyle/>
                    <a:p>
                      <a:pPr algn="l"/>
                      <a:r>
                        <a:rPr sz="1100" b="1">
                          <a:solidFill>
                            <a:srgbClr val="2E2E2E"/>
                          </a:solidFill>
                          <a:latin typeface="Calibri"/>
                        </a:rPr>
                        <a:t>Automotive &amp;</a:t>
                      </a:r>
                      <a:endParaRPr sz="1100"/>
                    </a:p>
                    <a:p>
                      <a:pPr algn="l"/>
                      <a:r>
                        <a:rPr sz="1100" b="1">
                          <a:solidFill>
                            <a:srgbClr val="2E2E2E"/>
                          </a:solidFill>
                          <a:latin typeface="Calibri"/>
                        </a:rPr>
                        <a:t>Industrial</a:t>
                      </a:r>
                      <a:endParaRPr sz="1100"/>
                    </a:p>
                    <a:p>
                      <a:pPr algn="l"/>
                      <a:r>
                        <a:rPr sz="1100" b="1">
                          <a:solidFill>
                            <a:srgbClr val="2E2E2E"/>
                          </a:solidFill>
                          <a:latin typeface="Calibri"/>
                        </a:rPr>
                        <a:t>Components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317">
                <a:tc>
                  <a:txBody>
                    <a:bodyPr wrap="none"/>
                    <a:lstStyle/>
                    <a:p>
                      <a:pPr algn="l"/>
                      <a:r>
                        <a:rPr sz="1100" b="1">
                          <a:solidFill>
                            <a:srgbClr val="2E2E2E"/>
                          </a:solidFill>
                          <a:latin typeface="Calibri"/>
                        </a:rPr>
                        <a:t>Glassware,</a:t>
                      </a:r>
                      <a:endParaRPr sz="1100"/>
                    </a:p>
                    <a:p>
                      <a:pPr algn="l"/>
                      <a:r>
                        <a:rPr sz="1100" b="1">
                          <a:solidFill>
                            <a:srgbClr val="2E2E2E"/>
                          </a:solidFill>
                          <a:latin typeface="Calibri"/>
                        </a:rPr>
                        <a:t>Ceramics &amp; Home</a:t>
                      </a:r>
                      <a:endParaRPr sz="1100"/>
                    </a:p>
                    <a:p>
                      <a:pPr algn="l"/>
                      <a:r>
                        <a:rPr sz="1100" b="1">
                          <a:solidFill>
                            <a:srgbClr val="2E2E2E"/>
                          </a:solidFill>
                          <a:latin typeface="Calibri"/>
                        </a:rPr>
                        <a:t>Goods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745">
                <a:tc>
                  <a:txBody>
                    <a:bodyPr wrap="none"/>
                    <a:lstStyle/>
                    <a:p>
                      <a:pPr algn="l"/>
                      <a:r>
                        <a:rPr sz="1100" b="1">
                          <a:solidFill>
                            <a:srgbClr val="2E2E2E"/>
                          </a:solidFill>
                          <a:latin typeface="Calibri"/>
                        </a:rPr>
                        <a:t>Others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74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010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343525"/>
            <a:ext cx="11906250"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End Use</a:t>
            </a:r>
          </a:p>
        </p:txBody>
      </p:sp>
      <p:sp>
        <p:nvSpPr>
          <p:cNvPr id="17" name="Rectangle 16"/>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753100"/>
            <a:ext cx="11639550"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
            </a:r>
          </a:p>
          <a:p>
            <a:pPr algn="l">
              <a:lnSpc>
                <a:spcPct val="100000"/>
              </a:lnSpc>
              <a:spcBef>
                <a:spcPts val="0"/>
              </a:spcBef>
              <a:spcAft>
                <a:spcPts val="300"/>
              </a:spcAft>
            </a:pPr>
            <a:r>
              <a:rPr sz="110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3072193"/>
            <a:ext cx="366712" cy="533400"/>
          </a:xfrm>
          <a:prstGeom prst="rect">
            <a:avLst/>
          </a:prstGeom>
        </p:spPr>
      </p:pic>
      <p:sp>
        <p:nvSpPr>
          <p:cNvPr id="21" name="TextBox 20"/>
          <p:cNvSpPr txBox="1"/>
          <p:nvPr/>
        </p:nvSpPr>
        <p:spPr>
          <a:xfrm>
            <a:off x="276225" y="5762625"/>
            <a:ext cx="2303487" cy="186689"/>
          </a:xfrm>
          <a:prstGeom prst="rect">
            <a:avLst/>
          </a:prstGeom>
          <a:noFill/>
        </p:spPr>
        <p:txBody>
          <a:bodyPr wrap="none" lIns="0" rIns="0" tIns="0" bIns="0">
            <a:spAutoFit/>
          </a:bodyPr>
          <a:lstStyle/>
          <a:p>
            <a:r>
              <a:rPr sz="1100" b="0">
                <a:solidFill>
                  <a:srgbClr val="2E2E2E"/>
                </a:solidFill>
                <a:latin typeface="Calibri"/>
              </a:rPr>
              <a:t>Others segment is projected to register</a:t>
            </a:r>
          </a:p>
        </p:txBody>
      </p:sp>
      <p:pic>
        <p:nvPicPr>
          <p:cNvPr id="22" name="Picture 21" descr="lock.png"/>
          <p:cNvPicPr>
            <a:picLocks noChangeAspect="1"/>
          </p:cNvPicPr>
          <p:nvPr/>
        </p:nvPicPr>
        <p:blipFill>
          <a:blip r:embed="rId4"/>
          <a:stretch>
            <a:fillRect/>
          </a:stretch>
        </p:blipFill>
        <p:spPr>
          <a:xfrm>
            <a:off x="2527763" y="5752845"/>
            <a:ext cx="128699" cy="187198"/>
          </a:xfrm>
          <a:prstGeom prst="rect">
            <a:avLst/>
          </a:prstGeom>
        </p:spPr>
      </p:pic>
      <p:sp>
        <p:nvSpPr>
          <p:cNvPr id="23" name="TextBox 22"/>
          <p:cNvSpPr txBox="1"/>
          <p:nvPr/>
        </p:nvSpPr>
        <p:spPr>
          <a:xfrm>
            <a:off x="2695259" y="5762625"/>
            <a:ext cx="9143875" cy="186689"/>
          </a:xfrm>
          <a:prstGeom prst="rect">
            <a:avLst/>
          </a:prstGeom>
          <a:noFill/>
        </p:spPr>
        <p:txBody>
          <a:bodyPr wrap="none" lIns="0" rIns="0" tIns="0" bIns="0">
            <a:spAutoFit/>
          </a:bodyPr>
          <a:lstStyle/>
          <a:p>
            <a:r>
              <a:rPr sz="1100" b="0">
                <a:solidFill>
                  <a:srgbClr val="2E2E2E"/>
                </a:solidFill>
                <a:latin typeface="Calibri"/>
              </a:rPr>
              <a:t>X higher volume than glassware, ceramics &amp; home goods segment in 2036. Among corrugated partition by end use, electronics &amp; electrical segment is expected</a:t>
            </a:r>
          </a:p>
        </p:txBody>
      </p:sp>
      <p:sp>
        <p:nvSpPr>
          <p:cNvPr id="24" name="TextBox 23"/>
          <p:cNvSpPr txBox="1"/>
          <p:nvPr/>
        </p:nvSpPr>
        <p:spPr>
          <a:xfrm>
            <a:off x="276225" y="5930265"/>
            <a:ext cx="1827344" cy="186689"/>
          </a:xfrm>
          <a:prstGeom prst="rect">
            <a:avLst/>
          </a:prstGeom>
          <a:noFill/>
        </p:spPr>
        <p:txBody>
          <a:bodyPr wrap="none" lIns="0" rIns="0" tIns="0" bIns="0">
            <a:spAutoFit/>
          </a:bodyPr>
          <a:lstStyle/>
          <a:p>
            <a:r>
              <a:rPr sz="110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051620" y="5920485"/>
            <a:ext cx="128699" cy="187198"/>
          </a:xfrm>
          <a:prstGeom prst="rect">
            <a:avLst/>
          </a:prstGeom>
        </p:spPr>
      </p:pic>
      <p:sp>
        <p:nvSpPr>
          <p:cNvPr id="26" name="TextBox 25"/>
          <p:cNvSpPr txBox="1"/>
          <p:nvPr/>
        </p:nvSpPr>
        <p:spPr>
          <a:xfrm>
            <a:off x="2219116" y="5930265"/>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27" name="TextBox 26"/>
          <p:cNvSpPr txBox="1"/>
          <p:nvPr/>
        </p:nvSpPr>
        <p:spPr>
          <a:xfrm>
            <a:off x="276225" y="6148197"/>
            <a:ext cx="5782344" cy="186689"/>
          </a:xfrm>
          <a:prstGeom prst="rect">
            <a:avLst/>
          </a:prstGeom>
          <a:noFill/>
        </p:spPr>
        <p:txBody>
          <a:bodyPr wrap="none" lIns="0" rIns="0" tIns="0" bIns="0">
            <a:spAutoFit/>
          </a:bodyPr>
          <a:lstStyle/>
          <a:p>
            <a:r>
              <a:rPr sz="1100" b="0">
                <a:solidFill>
                  <a:srgbClr val="2E2E2E"/>
                </a:solidFill>
                <a:latin typeface="Calibri"/>
              </a:rPr>
              <a:t>In terms of volume share by end use, the others segment is expected to dominate the market, losing</a:t>
            </a:r>
          </a:p>
        </p:txBody>
      </p:sp>
      <p:pic>
        <p:nvPicPr>
          <p:cNvPr id="28" name="Picture 27" descr="lock.png"/>
          <p:cNvPicPr>
            <a:picLocks noChangeAspect="1"/>
          </p:cNvPicPr>
          <p:nvPr/>
        </p:nvPicPr>
        <p:blipFill>
          <a:blip r:embed="rId4"/>
          <a:stretch>
            <a:fillRect/>
          </a:stretch>
        </p:blipFill>
        <p:spPr>
          <a:xfrm>
            <a:off x="6006621" y="6138417"/>
            <a:ext cx="128699" cy="187198"/>
          </a:xfrm>
          <a:prstGeom prst="rect">
            <a:avLst/>
          </a:prstGeom>
        </p:spPr>
      </p:pic>
      <p:sp>
        <p:nvSpPr>
          <p:cNvPr id="29" name="TextBox 28"/>
          <p:cNvSpPr txBox="1"/>
          <p:nvPr/>
        </p:nvSpPr>
        <p:spPr>
          <a:xfrm>
            <a:off x="6174117" y="614819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508601" y="6138417"/>
            <a:ext cx="128699" cy="187198"/>
          </a:xfrm>
          <a:prstGeom prst="rect">
            <a:avLst/>
          </a:prstGeom>
        </p:spPr>
      </p:pic>
      <p:sp>
        <p:nvSpPr>
          <p:cNvPr id="31" name="TextBox 30"/>
          <p:cNvSpPr txBox="1"/>
          <p:nvPr/>
        </p:nvSpPr>
        <p:spPr>
          <a:xfrm>
            <a:off x="7676097" y="6148197"/>
            <a:ext cx="3524770" cy="186689"/>
          </a:xfrm>
          <a:prstGeom prst="rect">
            <a:avLst/>
          </a:prstGeom>
          <a:noFill/>
        </p:spPr>
        <p:txBody>
          <a:bodyPr wrap="none" lIns="0" rIns="0" tIns="0" bIns="0">
            <a:spAutoFit/>
          </a:bodyPr>
          <a:lstStyle/>
          <a:p>
            <a:r>
              <a:rPr sz="1100" b="0">
                <a:solidFill>
                  <a:srgbClr val="2E2E2E"/>
                </a:solidFill>
                <a:latin typeface="Calibri"/>
              </a:rPr>
              <a:t>share by 2036. The pharmaceuticals &amp; healthcare segment is</a:t>
            </a:r>
          </a:p>
        </p:txBody>
      </p:sp>
      <p:sp>
        <p:nvSpPr>
          <p:cNvPr id="32" name="TextBox 31"/>
          <p:cNvSpPr txBox="1"/>
          <p:nvPr/>
        </p:nvSpPr>
        <p:spPr>
          <a:xfrm>
            <a:off x="276225" y="6315837"/>
            <a:ext cx="1012353" cy="186689"/>
          </a:xfrm>
          <a:prstGeom prst="rect">
            <a:avLst/>
          </a:prstGeom>
          <a:noFill/>
        </p:spPr>
        <p:txBody>
          <a:bodyPr wrap="none" lIns="0" rIns="0" tIns="0" bIns="0">
            <a:spAutoFit/>
          </a:bodyPr>
          <a:lstStyle/>
          <a:p>
            <a:r>
              <a:rPr sz="110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36630" y="6306058"/>
            <a:ext cx="128699" cy="187198"/>
          </a:xfrm>
          <a:prstGeom prst="rect">
            <a:avLst/>
          </a:prstGeom>
        </p:spPr>
      </p:pic>
      <p:sp>
        <p:nvSpPr>
          <p:cNvPr id="34" name="TextBox 33"/>
          <p:cNvSpPr txBox="1"/>
          <p:nvPr/>
        </p:nvSpPr>
        <p:spPr>
          <a:xfrm>
            <a:off x="1404126" y="6315837"/>
            <a:ext cx="2526952" cy="186689"/>
          </a:xfrm>
          <a:prstGeom prst="rect">
            <a:avLst/>
          </a:prstGeom>
          <a:noFill/>
        </p:spPr>
        <p:txBody>
          <a:bodyPr wrap="none" lIns="0" rIns="0" tIns="0" bIns="0">
            <a:spAutoFit/>
          </a:bodyPr>
          <a:lstStyle/>
          <a:p>
            <a:r>
              <a:rPr sz="110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3879130" y="6306058"/>
            <a:ext cx="128699" cy="187198"/>
          </a:xfrm>
          <a:prstGeom prst="rect">
            <a:avLst/>
          </a:prstGeom>
        </p:spPr>
      </p:pic>
      <p:sp>
        <p:nvSpPr>
          <p:cNvPr id="36" name="TextBox 35"/>
          <p:cNvSpPr txBox="1"/>
          <p:nvPr/>
        </p:nvSpPr>
        <p:spPr>
          <a:xfrm>
            <a:off x="4046626" y="63158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End Use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End Use (US$ Mn)</a:t>
            </a:r>
          </a:p>
        </p:txBody>
      </p:sp>
      <p:graphicFrame>
        <p:nvGraphicFramePr>
          <p:cNvPr id="13" name="Table 12"/>
          <p:cNvGraphicFramePr>
            <a:graphicFrameLocks noGrp="1"/>
          </p:cNvGraphicFramePr>
          <p:nvPr/>
        </p:nvGraphicFramePr>
        <p:xfrm>
          <a:off x="152400" y="1238250"/>
          <a:ext cx="11887202" cy="2219326"/>
        </p:xfrm>
        <a:graphic>
          <a:graphicData uri="http://schemas.openxmlformats.org/drawingml/2006/table">
            <a:tbl>
              <a:tblPr>
                <a:tableStyleId>{5C22544A-7EE6-4342-B048-85BDC9FD1C3A}</a:tableStyleId>
              </a:tblPr>
              <a:tblGrid>
                <a:gridCol w="2384338"/>
                <a:gridCol w="558992"/>
                <a:gridCol w="558992"/>
                <a:gridCol w="558992"/>
                <a:gridCol w="558992"/>
                <a:gridCol w="558992"/>
                <a:gridCol w="558992"/>
                <a:gridCol w="558992"/>
                <a:gridCol w="558992"/>
                <a:gridCol w="558992"/>
                <a:gridCol w="558992"/>
                <a:gridCol w="558992"/>
                <a:gridCol w="558992"/>
                <a:gridCol w="558992"/>
                <a:gridCol w="558992"/>
                <a:gridCol w="558992"/>
                <a:gridCol w="558992"/>
                <a:gridCol w="558992"/>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End Use</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01480" y="2204276"/>
            <a:ext cx="366712" cy="533400"/>
          </a:xfrm>
          <a:prstGeom prst="rect">
            <a:avLst/>
          </a:prstGeom>
        </p:spPr>
      </p:pic>
      <p:sp>
        <p:nvSpPr>
          <p:cNvPr id="21" name="TextBox 20"/>
          <p:cNvSpPr txBox="1"/>
          <p:nvPr/>
        </p:nvSpPr>
        <p:spPr>
          <a:xfrm>
            <a:off x="276225" y="4219575"/>
            <a:ext cx="4102273" cy="194310"/>
          </a:xfrm>
          <a:prstGeom prst="rect">
            <a:avLst/>
          </a:prstGeom>
          <a:noFill/>
        </p:spPr>
        <p:txBody>
          <a:bodyPr wrap="none" lIns="0" rIns="0" tIns="0" bIns="0">
            <a:spAutoFit/>
          </a:bodyPr>
          <a:lstStyle/>
          <a:p>
            <a:r>
              <a:rPr sz="1150" b="0">
                <a:solidFill>
                  <a:srgbClr val="2E2E2E"/>
                </a:solidFill>
                <a:latin typeface="Calibri"/>
              </a:rPr>
              <a:t>Glassware, ceramics &amp; home goods segment is projected to register</a:t>
            </a:r>
          </a:p>
        </p:txBody>
      </p:sp>
      <p:pic>
        <p:nvPicPr>
          <p:cNvPr id="22" name="Picture 21" descr="lock.png"/>
          <p:cNvPicPr>
            <a:picLocks noChangeAspect="1"/>
          </p:cNvPicPr>
          <p:nvPr/>
        </p:nvPicPr>
        <p:blipFill>
          <a:blip r:embed="rId4"/>
          <a:stretch>
            <a:fillRect/>
          </a:stretch>
        </p:blipFill>
        <p:spPr>
          <a:xfrm>
            <a:off x="4327652" y="4209351"/>
            <a:ext cx="134549" cy="195707"/>
          </a:xfrm>
          <a:prstGeom prst="rect">
            <a:avLst/>
          </a:prstGeom>
        </p:spPr>
      </p:pic>
      <p:sp>
        <p:nvSpPr>
          <p:cNvPr id="23" name="TextBox 22"/>
          <p:cNvSpPr txBox="1"/>
          <p:nvPr/>
        </p:nvSpPr>
        <p:spPr>
          <a:xfrm>
            <a:off x="4502761" y="4219575"/>
            <a:ext cx="7096583" cy="194310"/>
          </a:xfrm>
          <a:prstGeom prst="rect">
            <a:avLst/>
          </a:prstGeom>
          <a:noFill/>
        </p:spPr>
        <p:txBody>
          <a:bodyPr wrap="none" lIns="0" rIns="0" tIns="0" bIns="0">
            <a:spAutoFit/>
          </a:bodyPr>
          <a:lstStyle/>
          <a:p>
            <a:r>
              <a:rPr sz="1150" b="0">
                <a:solidFill>
                  <a:srgbClr val="2E2E2E"/>
                </a:solidFill>
                <a:latin typeface="Calibri"/>
              </a:rPr>
              <a:t>X higher value than food &amp; beverage segment in 2036. Among corrugated partition by end use, electronics &amp; electrical</a:t>
            </a:r>
          </a:p>
        </p:txBody>
      </p:sp>
      <p:sp>
        <p:nvSpPr>
          <p:cNvPr id="24" name="TextBox 23"/>
          <p:cNvSpPr txBox="1"/>
          <p:nvPr/>
        </p:nvSpPr>
        <p:spPr>
          <a:xfrm>
            <a:off x="276225" y="43948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384611"/>
            <a:ext cx="134549" cy="195707"/>
          </a:xfrm>
          <a:prstGeom prst="rect">
            <a:avLst/>
          </a:prstGeom>
        </p:spPr>
      </p:pic>
      <p:sp>
        <p:nvSpPr>
          <p:cNvPr id="26" name="TextBox 25"/>
          <p:cNvSpPr txBox="1"/>
          <p:nvPr/>
        </p:nvSpPr>
        <p:spPr>
          <a:xfrm>
            <a:off x="3557127"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622672"/>
            <a:ext cx="7611752" cy="194310"/>
          </a:xfrm>
          <a:prstGeom prst="rect">
            <a:avLst/>
          </a:prstGeom>
          <a:noFill/>
        </p:spPr>
        <p:txBody>
          <a:bodyPr wrap="none" lIns="0" rIns="0" tIns="0" bIns="0">
            <a:spAutoFit/>
          </a:bodyPr>
          <a:lstStyle/>
          <a:p>
            <a:r>
              <a:rPr sz="1150" b="0">
                <a:solidFill>
                  <a:srgbClr val="2E2E2E"/>
                </a:solidFill>
                <a:latin typeface="Calibri"/>
              </a:rPr>
              <a:t>In terms of value share by end use, the glassware, ceramics &amp; home goods segment is expected to dominate the market, losing</a:t>
            </a:r>
          </a:p>
        </p:txBody>
      </p:sp>
      <p:pic>
        <p:nvPicPr>
          <p:cNvPr id="28" name="Picture 27" descr="lock.png"/>
          <p:cNvPicPr>
            <a:picLocks noChangeAspect="1"/>
          </p:cNvPicPr>
          <p:nvPr/>
        </p:nvPicPr>
        <p:blipFill>
          <a:blip r:embed="rId4"/>
          <a:stretch>
            <a:fillRect/>
          </a:stretch>
        </p:blipFill>
        <p:spPr>
          <a:xfrm>
            <a:off x="7837131" y="4612449"/>
            <a:ext cx="134549" cy="195707"/>
          </a:xfrm>
          <a:prstGeom prst="rect">
            <a:avLst/>
          </a:prstGeom>
        </p:spPr>
      </p:pic>
      <p:sp>
        <p:nvSpPr>
          <p:cNvPr id="29" name="TextBox 28"/>
          <p:cNvSpPr txBox="1"/>
          <p:nvPr/>
        </p:nvSpPr>
        <p:spPr>
          <a:xfrm>
            <a:off x="8012240"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07383" y="4612449"/>
            <a:ext cx="134549" cy="195707"/>
          </a:xfrm>
          <a:prstGeom prst="rect">
            <a:avLst/>
          </a:prstGeom>
        </p:spPr>
      </p:pic>
      <p:sp>
        <p:nvSpPr>
          <p:cNvPr id="31" name="TextBox 30"/>
          <p:cNvSpPr txBox="1"/>
          <p:nvPr/>
        </p:nvSpPr>
        <p:spPr>
          <a:xfrm>
            <a:off x="9582493" y="4622672"/>
            <a:ext cx="1616856" cy="194310"/>
          </a:xfrm>
          <a:prstGeom prst="rect">
            <a:avLst/>
          </a:prstGeom>
          <a:noFill/>
        </p:spPr>
        <p:txBody>
          <a:bodyPr wrap="none" lIns="0" rIns="0" tIns="0" bIns="0">
            <a:spAutoFit/>
          </a:bodyPr>
          <a:lstStyle/>
          <a:p>
            <a:r>
              <a:rPr sz="1150" b="0">
                <a:solidFill>
                  <a:srgbClr val="2E2E2E"/>
                </a:solidFill>
                <a:latin typeface="Calibri"/>
              </a:rPr>
              <a:t>share by 2036. The others</a:t>
            </a:r>
          </a:p>
        </p:txBody>
      </p:sp>
      <p:sp>
        <p:nvSpPr>
          <p:cNvPr id="32" name="TextBox 31"/>
          <p:cNvSpPr txBox="1"/>
          <p:nvPr/>
        </p:nvSpPr>
        <p:spPr>
          <a:xfrm>
            <a:off x="276225" y="4797932"/>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4787709"/>
            <a:ext cx="134549" cy="195707"/>
          </a:xfrm>
          <a:prstGeom prst="rect">
            <a:avLst/>
          </a:prstGeom>
        </p:spPr>
      </p:pic>
      <p:sp>
        <p:nvSpPr>
          <p:cNvPr id="34" name="TextBox 33"/>
          <p:cNvSpPr txBox="1"/>
          <p:nvPr/>
        </p:nvSpPr>
        <p:spPr>
          <a:xfrm>
            <a:off x="2126026" y="47979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4787709"/>
            <a:ext cx="134549" cy="195707"/>
          </a:xfrm>
          <a:prstGeom prst="rect">
            <a:avLst/>
          </a:prstGeom>
        </p:spPr>
      </p:pic>
      <p:sp>
        <p:nvSpPr>
          <p:cNvPr id="36" name="TextBox 35"/>
          <p:cNvSpPr txBox="1"/>
          <p:nvPr/>
        </p:nvSpPr>
        <p:spPr>
          <a:xfrm>
            <a:off x="4888640" y="47979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End Use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End Use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612744"/>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60798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5317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Personal Care &amp; Cosmetics</a:t>
            </a:r>
          </a:p>
        </p:txBody>
      </p:sp>
      <p:sp>
        <p:nvSpPr>
          <p:cNvPr id="19" name="BPS Value 1"/>
          <p:cNvSpPr txBox="1"/>
          <p:nvPr/>
        </p:nvSpPr>
        <p:spPr>
          <a:xfrm>
            <a:off x="6896100" y="159369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198311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19783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021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Pharmaceuticals &amp; Healthcare</a:t>
            </a:r>
          </a:p>
        </p:txBody>
      </p:sp>
      <p:sp>
        <p:nvSpPr>
          <p:cNvPr id="23" name="BPS Value 2"/>
          <p:cNvSpPr txBox="1"/>
          <p:nvPr/>
        </p:nvSpPr>
        <p:spPr>
          <a:xfrm>
            <a:off x="6896100" y="196406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57509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703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4941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Automotive &amp; Industrial Components</a:t>
            </a:r>
          </a:p>
        </p:txBody>
      </p:sp>
      <p:sp>
        <p:nvSpPr>
          <p:cNvPr id="27" name="BPS Value 3"/>
          <p:cNvSpPr txBox="1"/>
          <p:nvPr/>
        </p:nvSpPr>
        <p:spPr>
          <a:xfrm>
            <a:off x="6896100" y="25560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328567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28090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2047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Electronics &amp; Electrical</a:t>
            </a:r>
          </a:p>
        </p:txBody>
      </p:sp>
      <p:sp>
        <p:nvSpPr>
          <p:cNvPr id="31" name="BPS Value 4"/>
          <p:cNvSpPr txBox="1"/>
          <p:nvPr/>
        </p:nvSpPr>
        <p:spPr>
          <a:xfrm>
            <a:off x="6896100" y="326662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407394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0691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9929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Others</a:t>
            </a:r>
          </a:p>
        </p:txBody>
      </p:sp>
      <p:sp>
        <p:nvSpPr>
          <p:cNvPr id="35" name="BPS Value 5"/>
          <p:cNvSpPr txBox="1"/>
          <p:nvPr/>
        </p:nvSpPr>
        <p:spPr>
          <a:xfrm>
            <a:off x="6896100" y="405489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89765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89289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8166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&amp; Beverage</a:t>
            </a:r>
          </a:p>
        </p:txBody>
      </p:sp>
      <p:sp>
        <p:nvSpPr>
          <p:cNvPr id="39" name="BPS Value 6"/>
          <p:cNvSpPr txBox="1"/>
          <p:nvPr/>
        </p:nvSpPr>
        <p:spPr>
          <a:xfrm>
            <a:off x="6896100" y="487860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FMI Legend Chip"/>
          <p:cNvSpPr/>
          <p:nvPr/>
        </p:nvSpPr>
        <p:spPr>
          <a:xfrm>
            <a:off x="4928997" y="577980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577504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6988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Glassware, Ceramics &amp; Home Goods</a:t>
            </a:r>
          </a:p>
        </p:txBody>
      </p:sp>
      <p:sp>
        <p:nvSpPr>
          <p:cNvPr id="43" name="BPS Value 7"/>
          <p:cNvSpPr txBox="1"/>
          <p:nvPr/>
        </p:nvSpPr>
        <p:spPr>
          <a:xfrm>
            <a:off x="6896100" y="576075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End Use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5"/>
          <a:stretch>
            <a:fillRect/>
          </a:stretch>
        </p:blipFill>
        <p:spPr>
          <a:xfrm>
            <a:off x="2557843" y="3751325"/>
            <a:ext cx="275034" cy="400050"/>
          </a:xfrm>
          <a:prstGeom prst="rect">
            <a:avLst/>
          </a:prstGeom>
        </p:spPr>
      </p:pic>
      <p:sp>
        <p:nvSpPr>
          <p:cNvPr id="50" name="TextBox 49"/>
          <p:cNvSpPr txBox="1"/>
          <p:nvPr/>
        </p:nvSpPr>
        <p:spPr>
          <a:xfrm>
            <a:off x="7829550" y="1400175"/>
            <a:ext cx="3835846" cy="194310"/>
          </a:xfrm>
          <a:prstGeom prst="rect">
            <a:avLst/>
          </a:prstGeom>
          <a:noFill/>
        </p:spPr>
        <p:txBody>
          <a:bodyPr wrap="none" lIns="0" rIns="0" tIns="0" bIns="0">
            <a:spAutoFit/>
          </a:bodyPr>
          <a:lstStyle/>
          <a:p>
            <a:r>
              <a:rPr sz="1150" b="0">
                <a:solidFill>
                  <a:srgbClr val="2E2E2E"/>
                </a:solidFill>
                <a:latin typeface="Calibri"/>
              </a:rPr>
              <a:t>Among corrugated partition by end use, electronics &amp; electrical</a:t>
            </a:r>
          </a:p>
        </p:txBody>
      </p:sp>
      <p:sp>
        <p:nvSpPr>
          <p:cNvPr id="51" name="TextBox 50"/>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52" name="Picture 51" descr="lock.png"/>
          <p:cNvPicPr>
            <a:picLocks noChangeAspect="1"/>
          </p:cNvPicPr>
          <p:nvPr/>
        </p:nvPicPr>
        <p:blipFill>
          <a:blip r:embed="rId5"/>
          <a:stretch>
            <a:fillRect/>
          </a:stretch>
        </p:blipFill>
        <p:spPr>
          <a:xfrm>
            <a:off x="10935343" y="1565211"/>
            <a:ext cx="134549" cy="195707"/>
          </a:xfrm>
          <a:prstGeom prst="rect">
            <a:avLst/>
          </a:prstGeom>
        </p:spPr>
      </p:pic>
      <p:sp>
        <p:nvSpPr>
          <p:cNvPr id="53" name="TextBox 52"/>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54" name="TextBox 53"/>
          <p:cNvSpPr txBox="1"/>
          <p:nvPr/>
        </p:nvSpPr>
        <p:spPr>
          <a:xfrm>
            <a:off x="7829550" y="1750695"/>
            <a:ext cx="4007854" cy="194310"/>
          </a:xfrm>
          <a:prstGeom prst="rect">
            <a:avLst/>
          </a:prstGeom>
          <a:noFill/>
        </p:spPr>
        <p:txBody>
          <a:bodyPr wrap="none" lIns="0" rIns="0" tIns="0" bIns="0">
            <a:spAutoFit/>
          </a:bodyPr>
          <a:lstStyle/>
          <a:p>
            <a:r>
              <a:rPr sz="1150" b="0">
                <a:solidFill>
                  <a:srgbClr val="2E2E2E"/>
                </a:solidFill>
                <a:latin typeface="Calibri"/>
              </a:rPr>
              <a:t>forecast period. In terms of value share by end use, the glassware,</a:t>
            </a:r>
          </a:p>
        </p:txBody>
      </p:sp>
      <p:sp>
        <p:nvSpPr>
          <p:cNvPr id="55" name="TextBox 54"/>
          <p:cNvSpPr txBox="1"/>
          <p:nvPr/>
        </p:nvSpPr>
        <p:spPr>
          <a:xfrm>
            <a:off x="7829550" y="1925955"/>
            <a:ext cx="3745706" cy="194310"/>
          </a:xfrm>
          <a:prstGeom prst="rect">
            <a:avLst/>
          </a:prstGeom>
          <a:noFill/>
        </p:spPr>
        <p:txBody>
          <a:bodyPr wrap="none" lIns="0" rIns="0" tIns="0" bIns="0">
            <a:spAutoFit/>
          </a:bodyPr>
          <a:lstStyle/>
          <a:p>
            <a:r>
              <a:rPr sz="1150" b="0">
                <a:solidFill>
                  <a:srgbClr val="2E2E2E"/>
                </a:solidFill>
                <a:latin typeface="Calibri"/>
              </a:rPr>
              <a:t>ceramics &amp; home goods segment is expected to dominate the</a:t>
            </a:r>
          </a:p>
        </p:txBody>
      </p:sp>
      <p:sp>
        <p:nvSpPr>
          <p:cNvPr id="56" name="TextBox 55"/>
          <p:cNvSpPr txBox="1"/>
          <p:nvPr/>
        </p:nvSpPr>
        <p:spPr>
          <a:xfrm>
            <a:off x="7829550" y="2101215"/>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57" name="Picture 56" descr="lock.png"/>
          <p:cNvPicPr>
            <a:picLocks noChangeAspect="1"/>
          </p:cNvPicPr>
          <p:nvPr/>
        </p:nvPicPr>
        <p:blipFill>
          <a:blip r:embed="rId5"/>
          <a:stretch>
            <a:fillRect/>
          </a:stretch>
        </p:blipFill>
        <p:spPr>
          <a:xfrm>
            <a:off x="8697258" y="2090991"/>
            <a:ext cx="134549" cy="195707"/>
          </a:xfrm>
          <a:prstGeom prst="rect">
            <a:avLst/>
          </a:prstGeom>
        </p:spPr>
      </p:pic>
      <p:sp>
        <p:nvSpPr>
          <p:cNvPr id="58" name="TextBox 57"/>
          <p:cNvSpPr txBox="1"/>
          <p:nvPr/>
        </p:nvSpPr>
        <p:spPr>
          <a:xfrm>
            <a:off x="8872367"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9" name="Picture 58" descr="lock.png"/>
          <p:cNvPicPr>
            <a:picLocks noChangeAspect="1"/>
          </p:cNvPicPr>
          <p:nvPr/>
        </p:nvPicPr>
        <p:blipFill>
          <a:blip r:embed="rId5"/>
          <a:stretch>
            <a:fillRect/>
          </a:stretch>
        </p:blipFill>
        <p:spPr>
          <a:xfrm>
            <a:off x="10267511" y="2090991"/>
            <a:ext cx="134549" cy="195707"/>
          </a:xfrm>
          <a:prstGeom prst="rect">
            <a:avLst/>
          </a:prstGeom>
        </p:spPr>
      </p:pic>
      <p:sp>
        <p:nvSpPr>
          <p:cNvPr id="60" name="TextBox 59"/>
          <p:cNvSpPr txBox="1"/>
          <p:nvPr/>
        </p:nvSpPr>
        <p:spPr>
          <a:xfrm>
            <a:off x="10442620"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1" name="TextBox 60"/>
          <p:cNvSpPr txBox="1"/>
          <p:nvPr/>
        </p:nvSpPr>
        <p:spPr>
          <a:xfrm>
            <a:off x="7829550" y="2329053"/>
            <a:ext cx="2396170" cy="194310"/>
          </a:xfrm>
          <a:prstGeom prst="rect">
            <a:avLst/>
          </a:prstGeom>
          <a:noFill/>
        </p:spPr>
        <p:txBody>
          <a:bodyPr wrap="none" lIns="0" rIns="0" tIns="0" bIns="0">
            <a:spAutoFit/>
          </a:bodyPr>
          <a:lstStyle/>
          <a:p>
            <a:r>
              <a:rPr sz="1150" b="0">
                <a:solidFill>
                  <a:srgbClr val="2E2E2E"/>
                </a:solidFill>
                <a:latin typeface="Calibri"/>
              </a:rPr>
              <a:t>The others segment is expected to lose</a:t>
            </a:r>
          </a:p>
        </p:txBody>
      </p:sp>
      <p:pic>
        <p:nvPicPr>
          <p:cNvPr id="62" name="Picture 61" descr="lock.png"/>
          <p:cNvPicPr>
            <a:picLocks noChangeAspect="1"/>
          </p:cNvPicPr>
          <p:nvPr/>
        </p:nvPicPr>
        <p:blipFill>
          <a:blip r:embed="rId5"/>
          <a:stretch>
            <a:fillRect/>
          </a:stretch>
        </p:blipFill>
        <p:spPr>
          <a:xfrm>
            <a:off x="10174873" y="2318829"/>
            <a:ext cx="134549" cy="195707"/>
          </a:xfrm>
          <a:prstGeom prst="rect">
            <a:avLst/>
          </a:prstGeom>
        </p:spPr>
      </p:pic>
      <p:sp>
        <p:nvSpPr>
          <p:cNvPr id="63" name="TextBox 62"/>
          <p:cNvSpPr txBox="1"/>
          <p:nvPr/>
        </p:nvSpPr>
        <p:spPr>
          <a:xfrm>
            <a:off x="10349983"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64" name="TextBox 63"/>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65" name="Picture 64" descr="lock.png"/>
          <p:cNvPicPr>
            <a:picLocks noChangeAspect="1"/>
          </p:cNvPicPr>
          <p:nvPr/>
        </p:nvPicPr>
        <p:blipFill>
          <a:blip r:embed="rId5"/>
          <a:stretch>
            <a:fillRect/>
          </a:stretch>
        </p:blipFill>
        <p:spPr>
          <a:xfrm>
            <a:off x="9114014" y="2494089"/>
            <a:ext cx="134549" cy="195707"/>
          </a:xfrm>
          <a:prstGeom prst="rect">
            <a:avLst/>
          </a:prstGeom>
        </p:spPr>
      </p:pic>
      <p:sp>
        <p:nvSpPr>
          <p:cNvPr id="66" name="TextBox 65"/>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7"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End Use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971675"/>
        </p:xfrm>
        <a:graphic>
          <a:graphicData uri="http://schemas.openxmlformats.org/drawingml/2006/table">
            <a:tbl>
              <a:tblPr>
                <a:tableStyleId>{5C22544A-7EE6-4342-B048-85BDC9FD1C3A}</a:tableStyleId>
              </a:tblPr>
              <a:tblGrid>
                <a:gridCol w="2589442"/>
                <a:gridCol w="619851"/>
                <a:gridCol w="619851"/>
                <a:gridCol w="619851"/>
                <a:gridCol w="619851"/>
                <a:gridCol w="619851"/>
                <a:gridCol w="619851"/>
                <a:gridCol w="619851"/>
                <a:gridCol w="619851"/>
                <a:gridCol w="619851"/>
                <a:gridCol w="619851"/>
                <a:gridCol w="619851"/>
                <a:gridCol w="619851"/>
                <a:gridCol w="619851"/>
                <a:gridCol w="619851"/>
                <a:gridCol w="619851"/>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End Use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Food &amp; Beverage</a:t>
            </a:r>
          </a:p>
        </p:txBody>
      </p:sp>
      <p:sp>
        <p:nvSpPr>
          <p:cNvPr id="33" name="Rectangle 32"/>
          <p:cNvSpPr/>
          <p:nvPr/>
        </p:nvSpPr>
        <p:spPr>
          <a:xfrm>
            <a:off x="1857375" y="3981450"/>
            <a:ext cx="643890" cy="37011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Pharmaceuticals &amp; Healthcare</a:t>
            </a:r>
          </a:p>
        </p:txBody>
      </p:sp>
      <p:sp>
        <p:nvSpPr>
          <p:cNvPr id="49" name="Rectangle 48"/>
          <p:cNvSpPr/>
          <p:nvPr/>
        </p:nvSpPr>
        <p:spPr>
          <a:xfrm>
            <a:off x="1857375" y="4351564"/>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Personal Care &amp; Cosmetics</a:t>
            </a:r>
          </a:p>
        </p:txBody>
      </p:sp>
      <p:sp>
        <p:nvSpPr>
          <p:cNvPr id="65" name="Rectangle 64"/>
          <p:cNvSpPr/>
          <p:nvPr/>
        </p:nvSpPr>
        <p:spPr>
          <a:xfrm>
            <a:off x="1857375" y="4721679"/>
            <a:ext cx="643890" cy="370114"/>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D61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Electronics &amp; Electrical</a:t>
            </a:r>
          </a:p>
        </p:txBody>
      </p:sp>
      <p:sp>
        <p:nvSpPr>
          <p:cNvPr id="81" name="Rectangle 80"/>
          <p:cNvSpPr/>
          <p:nvPr/>
        </p:nvSpPr>
        <p:spPr>
          <a:xfrm>
            <a:off x="1857375" y="5091793"/>
            <a:ext cx="643890" cy="37011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Automotive &amp; Industrial Components</a:t>
            </a:r>
          </a:p>
        </p:txBody>
      </p:sp>
      <p:sp>
        <p:nvSpPr>
          <p:cNvPr id="97" name="Rectangle 96"/>
          <p:cNvSpPr/>
          <p:nvPr/>
        </p:nvSpPr>
        <p:spPr>
          <a:xfrm>
            <a:off x="1857375" y="5461907"/>
            <a:ext cx="643890" cy="370114"/>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Glassware, Ceramics &amp; Home Goods</a:t>
            </a:r>
          </a:p>
        </p:txBody>
      </p:sp>
      <p:sp>
        <p:nvSpPr>
          <p:cNvPr id="113" name="Rectangle 112"/>
          <p:cNvSpPr/>
          <p:nvPr/>
        </p:nvSpPr>
        <p:spPr>
          <a:xfrm>
            <a:off x="1857375" y="5832021"/>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Others</a:t>
            </a:r>
          </a:p>
        </p:txBody>
      </p:sp>
      <p:sp>
        <p:nvSpPr>
          <p:cNvPr id="129" name="Rectangle 128"/>
          <p:cNvSpPr/>
          <p:nvPr/>
        </p:nvSpPr>
        <p:spPr>
          <a:xfrm>
            <a:off x="1857375" y="6202136"/>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204034"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End Use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971675"/>
        </p:xfrm>
        <a:graphic>
          <a:graphicData uri="http://schemas.openxmlformats.org/drawingml/2006/table">
            <a:tbl>
              <a:tblPr>
                <a:tableStyleId>{5C22544A-7EE6-4342-B048-85BDC9FD1C3A}</a:tableStyleId>
              </a:tblPr>
              <a:tblGrid>
                <a:gridCol w="2589442"/>
                <a:gridCol w="619851"/>
                <a:gridCol w="619851"/>
                <a:gridCol w="619851"/>
                <a:gridCol w="619851"/>
                <a:gridCol w="619851"/>
                <a:gridCol w="619851"/>
                <a:gridCol w="619851"/>
                <a:gridCol w="619851"/>
                <a:gridCol w="619851"/>
                <a:gridCol w="619851"/>
                <a:gridCol w="619851"/>
                <a:gridCol w="619851"/>
                <a:gridCol w="619851"/>
                <a:gridCol w="619851"/>
                <a:gridCol w="619851"/>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End Use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Food &amp; Beverage</a:t>
            </a:r>
          </a:p>
        </p:txBody>
      </p:sp>
      <p:sp>
        <p:nvSpPr>
          <p:cNvPr id="33" name="Rectangle 32"/>
          <p:cNvSpPr/>
          <p:nvPr/>
        </p:nvSpPr>
        <p:spPr>
          <a:xfrm>
            <a:off x="1857375" y="3981450"/>
            <a:ext cx="643890" cy="37011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Pharmaceuticals &amp; Healthcare</a:t>
            </a:r>
          </a:p>
        </p:txBody>
      </p:sp>
      <p:sp>
        <p:nvSpPr>
          <p:cNvPr id="49" name="Rectangle 48"/>
          <p:cNvSpPr/>
          <p:nvPr/>
        </p:nvSpPr>
        <p:spPr>
          <a:xfrm>
            <a:off x="1857375" y="4351564"/>
            <a:ext cx="643890" cy="37011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Personal Care &amp; Cosmetics</a:t>
            </a:r>
          </a:p>
        </p:txBody>
      </p:sp>
      <p:sp>
        <p:nvSpPr>
          <p:cNvPr id="65" name="Rectangle 64"/>
          <p:cNvSpPr/>
          <p:nvPr/>
        </p:nvSpPr>
        <p:spPr>
          <a:xfrm>
            <a:off x="1857375" y="4721679"/>
            <a:ext cx="643890" cy="370114"/>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Electronics &amp; Electrical</a:t>
            </a:r>
          </a:p>
        </p:txBody>
      </p:sp>
      <p:sp>
        <p:nvSpPr>
          <p:cNvPr id="81" name="Rectangle 80"/>
          <p:cNvSpPr/>
          <p:nvPr/>
        </p:nvSpPr>
        <p:spPr>
          <a:xfrm>
            <a:off x="1857375" y="5091793"/>
            <a:ext cx="643890" cy="37011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0C4A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0D50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Automotive &amp; Industrial Components</a:t>
            </a:r>
          </a:p>
        </p:txBody>
      </p:sp>
      <p:sp>
        <p:nvSpPr>
          <p:cNvPr id="97" name="Rectangle 96"/>
          <p:cNvSpPr/>
          <p:nvPr/>
        </p:nvSpPr>
        <p:spPr>
          <a:xfrm>
            <a:off x="185737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Glassware, Ceramics &amp; Home Goods</a:t>
            </a:r>
          </a:p>
        </p:txBody>
      </p:sp>
      <p:sp>
        <p:nvSpPr>
          <p:cNvPr id="113" name="Rectangle 112"/>
          <p:cNvSpPr/>
          <p:nvPr/>
        </p:nvSpPr>
        <p:spPr>
          <a:xfrm>
            <a:off x="1857375" y="5832021"/>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Others</a:t>
            </a:r>
          </a:p>
        </p:txBody>
      </p:sp>
      <p:sp>
        <p:nvSpPr>
          <p:cNvPr id="129" name="Rectangle 128"/>
          <p:cNvSpPr/>
          <p:nvPr/>
        </p:nvSpPr>
        <p:spPr>
          <a:xfrm>
            <a:off x="1857375" y="6202136"/>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204034"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Sales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Sales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Sales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Sales Channel segment categorizes the market by sales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Indirect</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Channel split shows how demand is distributed across sales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142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404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7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05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_785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4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41414" cy="179984"/>
          </a:xfrm>
          <a:prstGeom prst="rect">
            <a:avLst/>
          </a:prstGeom>
          <a:noFill/>
        </p:spPr>
        <p:txBody>
          <a:bodyPr wrap="none" lIns="0" rIns="0" tIns="0" bIns="0">
            <a:spAutoFit/>
          </a:bodyPr>
          <a:lstStyle/>
          <a:p>
            <a:r>
              <a:rPr sz="1055" b="0">
                <a:solidFill>
                  <a:srgbClr val="2E2E2E"/>
                </a:solidFill>
                <a:latin typeface="Calibri"/>
              </a:rPr>
              <a:t>▪ ¶ Among corrugated partition by sales channel,</a:t>
            </a:r>
          </a:p>
        </p:txBody>
      </p:sp>
      <p:sp>
        <p:nvSpPr>
          <p:cNvPr id="59" name="TextBox 58"/>
          <p:cNvSpPr txBox="1"/>
          <p:nvPr/>
        </p:nvSpPr>
        <p:spPr>
          <a:xfrm>
            <a:off x="485775" y="4390371"/>
            <a:ext cx="2659427" cy="179984"/>
          </a:xfrm>
          <a:prstGeom prst="rect">
            <a:avLst/>
          </a:prstGeom>
          <a:noFill/>
        </p:spPr>
        <p:txBody>
          <a:bodyPr wrap="none" lIns="0" rIns="0" tIns="0" bIns="0">
            <a:spAutoFit/>
          </a:bodyPr>
          <a:lstStyle/>
          <a:p>
            <a:r>
              <a:rPr sz="1055" b="0">
                <a:solidFill>
                  <a:srgbClr val="2E2E2E"/>
                </a:solidFill>
                <a:latin typeface="Calibri"/>
              </a:rPr>
              <a:t>indirect (distributors and packaging merchants)</a:t>
            </a:r>
          </a:p>
        </p:txBody>
      </p:sp>
      <p:sp>
        <p:nvSpPr>
          <p:cNvPr id="60" name="TextBox 59"/>
          <p:cNvSpPr txBox="1"/>
          <p:nvPr/>
        </p:nvSpPr>
        <p:spPr>
          <a:xfrm>
            <a:off x="485775" y="4551305"/>
            <a:ext cx="2904846" cy="179984"/>
          </a:xfrm>
          <a:prstGeom prst="rect">
            <a:avLst/>
          </a:prstGeom>
          <a:noFill/>
        </p:spPr>
        <p:txBody>
          <a:bodyPr wrap="none" lIns="0" rIns="0" tIns="0" bIns="0">
            <a:spAutoFit/>
          </a:bodyPr>
          <a:lstStyle/>
          <a:p>
            <a:r>
              <a:rPr sz="1055" b="0">
                <a:solidFill>
                  <a:srgbClr val="2E2E2E"/>
                </a:solidFill>
                <a:latin typeface="Calibri"/>
              </a:rPr>
              <a:t>segment is expected to witness the highest CAGR of</a:t>
            </a:r>
          </a:p>
        </p:txBody>
      </p:sp>
      <p:pic>
        <p:nvPicPr>
          <p:cNvPr id="61" name="Picture 60" descr="lock.png"/>
          <p:cNvPicPr>
            <a:picLocks noChangeAspect="1"/>
          </p:cNvPicPr>
          <p:nvPr/>
        </p:nvPicPr>
        <p:blipFill>
          <a:blip r:embed="rId10"/>
          <a:stretch>
            <a:fillRect/>
          </a:stretch>
        </p:blipFill>
        <p:spPr>
          <a:xfrm>
            <a:off x="472846" y="4702852"/>
            <a:ext cx="123551" cy="179710"/>
          </a:xfrm>
          <a:prstGeom prst="rect">
            <a:avLst/>
          </a:prstGeom>
        </p:spPr>
      </p:pic>
      <p:sp>
        <p:nvSpPr>
          <p:cNvPr id="62" name="TextBox 61"/>
          <p:cNvSpPr txBox="1"/>
          <p:nvPr/>
        </p:nvSpPr>
        <p:spPr>
          <a:xfrm>
            <a:off x="633642" y="4712240"/>
            <a:ext cx="2707886" cy="179984"/>
          </a:xfrm>
          <a:prstGeom prst="rect">
            <a:avLst/>
          </a:prstGeom>
          <a:noFill/>
        </p:spPr>
        <p:txBody>
          <a:bodyPr wrap="none" lIns="0" rIns="0" tIns="0" bIns="0">
            <a:spAutoFit/>
          </a:bodyPr>
          <a:lstStyle/>
          <a:p>
            <a:r>
              <a:rPr sz="1055" b="0">
                <a:solidFill>
                  <a:srgbClr val="2E2E2E"/>
                </a:solidFill>
                <a:latin typeface="Calibri"/>
              </a:rPr>
              <a:t>over the forecast period. In terms of value share</a:t>
            </a:r>
          </a:p>
        </p:txBody>
      </p:sp>
      <p:sp>
        <p:nvSpPr>
          <p:cNvPr id="63" name="TextBox 62"/>
          <p:cNvSpPr txBox="1"/>
          <p:nvPr/>
        </p:nvSpPr>
        <p:spPr>
          <a:xfrm>
            <a:off x="485775" y="4873174"/>
            <a:ext cx="2914650" cy="179984"/>
          </a:xfrm>
          <a:prstGeom prst="rect">
            <a:avLst/>
          </a:prstGeom>
          <a:noFill/>
        </p:spPr>
        <p:txBody>
          <a:bodyPr wrap="none" lIns="0" rIns="0" tIns="0" bIns="0">
            <a:spAutoFit/>
          </a:bodyPr>
          <a:lstStyle/>
          <a:p>
            <a:r>
              <a:rPr sz="1055" b="0">
                <a:solidFill>
                  <a:srgbClr val="2E2E2E"/>
                </a:solidFill>
                <a:latin typeface="Calibri"/>
              </a:rPr>
              <a:t>by sales channel, the direct (to brand owners/oems)</a:t>
            </a:r>
          </a:p>
        </p:txBody>
      </p:sp>
      <p:sp>
        <p:nvSpPr>
          <p:cNvPr id="64" name="TextBox 63"/>
          <p:cNvSpPr txBox="1"/>
          <p:nvPr/>
        </p:nvSpPr>
        <p:spPr>
          <a:xfrm>
            <a:off x="485775" y="5034109"/>
            <a:ext cx="2912197" cy="179984"/>
          </a:xfrm>
          <a:prstGeom prst="rect">
            <a:avLst/>
          </a:prstGeom>
          <a:noFill/>
        </p:spPr>
        <p:txBody>
          <a:bodyPr wrap="none" lIns="0" rIns="0" tIns="0" bIns="0">
            <a:spAutoFit/>
          </a:bodyPr>
          <a:lstStyle/>
          <a:p>
            <a:r>
              <a:rPr sz="1055" b="0">
                <a:solidFill>
                  <a:srgbClr val="2E2E2E"/>
                </a:solidFill>
                <a:latin typeface="Calibri"/>
              </a:rPr>
              <a:t>segment is expected to dominate the market, losing</a:t>
            </a:r>
          </a:p>
        </p:txBody>
      </p:sp>
      <p:pic>
        <p:nvPicPr>
          <p:cNvPr id="65" name="Picture 64" descr="lock.png"/>
          <p:cNvPicPr>
            <a:picLocks noChangeAspect="1"/>
          </p:cNvPicPr>
          <p:nvPr/>
        </p:nvPicPr>
        <p:blipFill>
          <a:blip r:embed="rId10"/>
          <a:stretch>
            <a:fillRect/>
          </a:stretch>
        </p:blipFill>
        <p:spPr>
          <a:xfrm>
            <a:off x="472846" y="5185655"/>
            <a:ext cx="123551" cy="179710"/>
          </a:xfrm>
          <a:prstGeom prst="rect">
            <a:avLst/>
          </a:prstGeom>
        </p:spPr>
      </p:pic>
      <p:sp>
        <p:nvSpPr>
          <p:cNvPr id="66" name="TextBox 65"/>
          <p:cNvSpPr txBox="1"/>
          <p:nvPr/>
        </p:nvSpPr>
        <p:spPr>
          <a:xfrm>
            <a:off x="633642" y="5195043"/>
            <a:ext cx="1334023" cy="179984"/>
          </a:xfrm>
          <a:prstGeom prst="rect">
            <a:avLst/>
          </a:prstGeom>
          <a:noFill/>
        </p:spPr>
        <p:txBody>
          <a:bodyPr wrap="none" lIns="0" rIns="0" tIns="0" bIns="0">
            <a:spAutoFit/>
          </a:bodyPr>
          <a:lstStyle/>
          <a:p>
            <a:r>
              <a:rPr sz="1055" b="0">
                <a:solidFill>
                  <a:srgbClr val="2E2E2E"/>
                </a:solidFill>
                <a:latin typeface="Calibri"/>
              </a:rPr>
              <a:t>BPS and accounting for</a:t>
            </a:r>
          </a:p>
        </p:txBody>
      </p:sp>
      <p:pic>
        <p:nvPicPr>
          <p:cNvPr id="67" name="Picture 66" descr="lock.png"/>
          <p:cNvPicPr>
            <a:picLocks noChangeAspect="1"/>
          </p:cNvPicPr>
          <p:nvPr/>
        </p:nvPicPr>
        <p:blipFill>
          <a:blip r:embed="rId10"/>
          <a:stretch>
            <a:fillRect/>
          </a:stretch>
        </p:blipFill>
        <p:spPr>
          <a:xfrm>
            <a:off x="1914747" y="5185655"/>
            <a:ext cx="123551" cy="179710"/>
          </a:xfrm>
          <a:prstGeom prst="rect">
            <a:avLst/>
          </a:prstGeom>
        </p:spPr>
      </p:pic>
      <p:sp>
        <p:nvSpPr>
          <p:cNvPr id="68" name="TextBox 67"/>
          <p:cNvSpPr txBox="1"/>
          <p:nvPr/>
        </p:nvSpPr>
        <p:spPr>
          <a:xfrm>
            <a:off x="2075543" y="5195043"/>
            <a:ext cx="875109" cy="179984"/>
          </a:xfrm>
          <a:prstGeom prst="rect">
            <a:avLst/>
          </a:prstGeom>
          <a:noFill/>
        </p:spPr>
        <p:txBody>
          <a:bodyPr wrap="none" lIns="0" rIns="0" tIns="0" bIns="0">
            <a:spAutoFit/>
          </a:bodyPr>
          <a:lstStyle/>
          <a:p>
            <a:r>
              <a:rPr sz="1055" b="0">
                <a:solidFill>
                  <a:srgbClr val="2E2E2E"/>
                </a:solidFill>
                <a:latin typeface="Calibri"/>
              </a:rPr>
              <a:t>share by 2036.</a:t>
            </a:r>
          </a:p>
        </p:txBody>
      </p:sp>
      <p:sp>
        <p:nvSpPr>
          <p:cNvPr id="69" name="TextBox 68"/>
          <p:cNvSpPr txBox="1"/>
          <p:nvPr/>
        </p:nvSpPr>
        <p:spPr>
          <a:xfrm>
            <a:off x="485775" y="5404258"/>
            <a:ext cx="2570368" cy="179984"/>
          </a:xfrm>
          <a:prstGeom prst="rect">
            <a:avLst/>
          </a:prstGeom>
          <a:noFill/>
        </p:spPr>
        <p:txBody>
          <a:bodyPr wrap="none" lIns="0" rIns="0" tIns="0" bIns="0">
            <a:spAutoFit/>
          </a:bodyPr>
          <a:lstStyle/>
          <a:p>
            <a:r>
              <a:rPr sz="1055" b="0">
                <a:solidFill>
                  <a:srgbClr val="2E2E2E"/>
                </a:solidFill>
                <a:latin typeface="Calibri"/>
              </a:rPr>
              <a:t>▪ ¶ Direct (to brand owners/oems) segment is</a:t>
            </a:r>
          </a:p>
        </p:txBody>
      </p:sp>
      <p:sp>
        <p:nvSpPr>
          <p:cNvPr id="70" name="TextBox 69"/>
          <p:cNvSpPr txBox="1"/>
          <p:nvPr/>
        </p:nvSpPr>
        <p:spPr>
          <a:xfrm>
            <a:off x="485775" y="5565192"/>
            <a:ext cx="1197816" cy="179984"/>
          </a:xfrm>
          <a:prstGeom prst="rect">
            <a:avLst/>
          </a:prstGeom>
          <a:noFill/>
        </p:spPr>
        <p:txBody>
          <a:bodyPr wrap="none" lIns="0" rIns="0" tIns="0" bIns="0">
            <a:spAutoFit/>
          </a:bodyPr>
          <a:lstStyle/>
          <a:p>
            <a:r>
              <a:rPr sz="1055" b="0">
                <a:solidFill>
                  <a:srgbClr val="2E2E2E"/>
                </a:solidFill>
                <a:latin typeface="Calibri"/>
              </a:rPr>
              <a:t>projected to register</a:t>
            </a:r>
          </a:p>
        </p:txBody>
      </p:sp>
      <p:pic>
        <p:nvPicPr>
          <p:cNvPr id="71" name="Picture 70" descr="lock.png"/>
          <p:cNvPicPr>
            <a:picLocks noChangeAspect="1"/>
          </p:cNvPicPr>
          <p:nvPr/>
        </p:nvPicPr>
        <p:blipFill>
          <a:blip r:embed="rId10"/>
          <a:stretch>
            <a:fillRect/>
          </a:stretch>
        </p:blipFill>
        <p:spPr>
          <a:xfrm>
            <a:off x="1630672" y="5555804"/>
            <a:ext cx="123551" cy="179710"/>
          </a:xfrm>
          <a:prstGeom prst="rect">
            <a:avLst/>
          </a:prstGeom>
        </p:spPr>
      </p:pic>
      <p:sp>
        <p:nvSpPr>
          <p:cNvPr id="72" name="TextBox 71"/>
          <p:cNvSpPr txBox="1"/>
          <p:nvPr/>
        </p:nvSpPr>
        <p:spPr>
          <a:xfrm>
            <a:off x="1791468" y="5565192"/>
            <a:ext cx="1577363" cy="179984"/>
          </a:xfrm>
          <a:prstGeom prst="rect">
            <a:avLst/>
          </a:prstGeom>
          <a:noFill/>
        </p:spPr>
        <p:txBody>
          <a:bodyPr wrap="none" lIns="0" rIns="0" tIns="0" bIns="0">
            <a:spAutoFit/>
          </a:bodyPr>
          <a:lstStyle/>
          <a:p>
            <a:r>
              <a:rPr sz="1055" b="0">
                <a:solidFill>
                  <a:srgbClr val="2E2E2E"/>
                </a:solidFill>
                <a:latin typeface="Calibri"/>
              </a:rPr>
              <a:t>X higher value than indirect</a:t>
            </a:r>
          </a:p>
        </p:txBody>
      </p:sp>
      <p:sp>
        <p:nvSpPr>
          <p:cNvPr id="73" name="TextBox 72"/>
          <p:cNvSpPr txBox="1"/>
          <p:nvPr/>
        </p:nvSpPr>
        <p:spPr>
          <a:xfrm>
            <a:off x="485775" y="5726126"/>
            <a:ext cx="2844617" cy="179984"/>
          </a:xfrm>
          <a:prstGeom prst="rect">
            <a:avLst/>
          </a:prstGeom>
          <a:noFill/>
        </p:spPr>
        <p:txBody>
          <a:bodyPr wrap="none" lIns="0" rIns="0" tIns="0" bIns="0">
            <a:spAutoFit/>
          </a:bodyPr>
          <a:lstStyle/>
          <a:p>
            <a:r>
              <a:rPr sz="1055" b="0">
                <a:solidFill>
                  <a:srgbClr val="2E2E2E"/>
                </a:solidFill>
                <a:latin typeface="Calibri"/>
              </a:rPr>
              <a:t>(distributors and packaging merchants) segment in</a:t>
            </a:r>
          </a:p>
        </p:txBody>
      </p:sp>
      <p:sp>
        <p:nvSpPr>
          <p:cNvPr id="74" name="TextBox 73"/>
          <p:cNvSpPr txBox="1"/>
          <p:nvPr/>
        </p:nvSpPr>
        <p:spPr>
          <a:xfrm>
            <a:off x="485775" y="5887061"/>
            <a:ext cx="382404" cy="179984"/>
          </a:xfrm>
          <a:prstGeom prst="rect">
            <a:avLst/>
          </a:prstGeom>
          <a:noFill/>
        </p:spPr>
        <p:txBody>
          <a:bodyPr wrap="none" lIns="0" rIns="0" tIns="0" bIns="0">
            <a:spAutoFit/>
          </a:bodyPr>
          <a:lstStyle/>
          <a:p>
            <a:r>
              <a:rPr sz="1055" b="0">
                <a:solidFill>
                  <a:srgbClr val="2E2E2E"/>
                </a:solidFill>
                <a:latin typeface="Calibri"/>
              </a:rPr>
              <a:t>2036.</a:t>
            </a:r>
          </a:p>
        </p:txBody>
      </p:sp>
      <p:sp>
        <p:nvSpPr>
          <p:cNvPr id="75" name="TextBox 74"/>
          <p:cNvSpPr txBox="1"/>
          <p:nvPr/>
        </p:nvSpPr>
        <p:spPr>
          <a:xfrm>
            <a:off x="3838575" y="4229437"/>
            <a:ext cx="2016993" cy="186689"/>
          </a:xfrm>
          <a:prstGeom prst="rect">
            <a:avLst/>
          </a:prstGeom>
          <a:noFill/>
        </p:spPr>
        <p:txBody>
          <a:bodyPr wrap="none" lIns="0" rIns="0" tIns="0" bIns="0">
            <a:spAutoFit/>
          </a:bodyPr>
          <a:lstStyle/>
          <a:p>
            <a:r>
              <a:rPr sz="1100" b="0">
                <a:solidFill>
                  <a:srgbClr val="2E2E2E"/>
                </a:solidFill>
                <a:latin typeface="Calibri"/>
              </a:rPr>
              <a:t>● Direct (to brand owners/OEMs):</a:t>
            </a:r>
          </a:p>
        </p:txBody>
      </p:sp>
      <p:pic>
        <p:nvPicPr>
          <p:cNvPr id="76" name="Picture 75" descr="lock.png"/>
          <p:cNvPicPr>
            <a:picLocks noChangeAspect="1"/>
          </p:cNvPicPr>
          <p:nvPr/>
        </p:nvPicPr>
        <p:blipFill>
          <a:blip r:embed="rId10"/>
          <a:stretch>
            <a:fillRect/>
          </a:stretch>
        </p:blipFill>
        <p:spPr>
          <a:xfrm>
            <a:off x="5803619" y="4219658"/>
            <a:ext cx="128699" cy="187198"/>
          </a:xfrm>
          <a:prstGeom prst="rect">
            <a:avLst/>
          </a:prstGeom>
        </p:spPr>
      </p:pic>
      <p:sp>
        <p:nvSpPr>
          <p:cNvPr id="77" name="TextBox 76"/>
          <p:cNvSpPr txBox="1"/>
          <p:nvPr/>
        </p:nvSpPr>
        <p:spPr>
          <a:xfrm>
            <a:off x="597111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8" name="Picture 77" descr="lock.png"/>
          <p:cNvPicPr>
            <a:picLocks noChangeAspect="1"/>
          </p:cNvPicPr>
          <p:nvPr/>
        </p:nvPicPr>
        <p:blipFill>
          <a:blip r:embed="rId10"/>
          <a:stretch>
            <a:fillRect/>
          </a:stretch>
        </p:blipFill>
        <p:spPr>
          <a:xfrm>
            <a:off x="6830565" y="4219658"/>
            <a:ext cx="128699" cy="187198"/>
          </a:xfrm>
          <a:prstGeom prst="rect">
            <a:avLst/>
          </a:prstGeom>
        </p:spPr>
      </p:pic>
      <p:sp>
        <p:nvSpPr>
          <p:cNvPr id="79" name="TextBox 78"/>
          <p:cNvSpPr txBox="1"/>
          <p:nvPr/>
        </p:nvSpPr>
        <p:spPr>
          <a:xfrm>
            <a:off x="6998061"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80" name="TextBox 79"/>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81" name="TextBox 80"/>
          <p:cNvSpPr txBox="1"/>
          <p:nvPr/>
        </p:nvSpPr>
        <p:spPr>
          <a:xfrm>
            <a:off x="3838575" y="4615009"/>
            <a:ext cx="2985343" cy="186689"/>
          </a:xfrm>
          <a:prstGeom prst="rect">
            <a:avLst/>
          </a:prstGeom>
          <a:noFill/>
        </p:spPr>
        <p:txBody>
          <a:bodyPr wrap="none" lIns="0" rIns="0" tIns="0" bIns="0">
            <a:spAutoFit/>
          </a:bodyPr>
          <a:lstStyle/>
          <a:p>
            <a:r>
              <a:rPr sz="1100" b="1">
                <a:solidFill>
                  <a:srgbClr val="0E72AE"/>
                </a:solidFill>
                <a:latin typeface="Calibri"/>
              </a:rPr>
              <a:t>● Indirect (distributors and packaging merchants):</a:t>
            </a:r>
          </a:p>
        </p:txBody>
      </p:sp>
      <p:pic>
        <p:nvPicPr>
          <p:cNvPr id="82" name="Picture 81" descr="lock.png"/>
          <p:cNvPicPr>
            <a:picLocks noChangeAspect="1"/>
          </p:cNvPicPr>
          <p:nvPr/>
        </p:nvPicPr>
        <p:blipFill>
          <a:blip r:embed="rId10"/>
          <a:stretch>
            <a:fillRect/>
          </a:stretch>
        </p:blipFill>
        <p:spPr>
          <a:xfrm>
            <a:off x="6771969" y="4605230"/>
            <a:ext cx="128699" cy="187198"/>
          </a:xfrm>
          <a:prstGeom prst="rect">
            <a:avLst/>
          </a:prstGeom>
        </p:spPr>
      </p:pic>
      <p:sp>
        <p:nvSpPr>
          <p:cNvPr id="83" name="TextBox 82"/>
          <p:cNvSpPr txBox="1"/>
          <p:nvPr/>
        </p:nvSpPr>
        <p:spPr>
          <a:xfrm>
            <a:off x="6939465" y="4615009"/>
            <a:ext cx="926405" cy="186689"/>
          </a:xfrm>
          <a:prstGeom prst="rect">
            <a:avLst/>
          </a:prstGeom>
          <a:noFill/>
        </p:spPr>
        <p:txBody>
          <a:bodyPr wrap="none" lIns="0" rIns="0" tIns="0" bIns="0">
            <a:spAutoFit/>
          </a:bodyPr>
          <a:lstStyle/>
          <a:p>
            <a:r>
              <a:rPr sz="1100" b="1">
                <a:solidFill>
                  <a:srgbClr val="0E72AE"/>
                </a:solidFill>
                <a:latin typeface="Calibri"/>
              </a:rPr>
              <a:t>of 2026 value ·</a:t>
            </a:r>
          </a:p>
        </p:txBody>
      </p:sp>
      <p:pic>
        <p:nvPicPr>
          <p:cNvPr id="84" name="Picture 83" descr="lock.png"/>
          <p:cNvPicPr>
            <a:picLocks noChangeAspect="1"/>
          </p:cNvPicPr>
          <p:nvPr/>
        </p:nvPicPr>
        <p:blipFill>
          <a:blip r:embed="rId10"/>
          <a:stretch>
            <a:fillRect/>
          </a:stretch>
        </p:blipFill>
        <p:spPr>
          <a:xfrm>
            <a:off x="3825107" y="4772870"/>
            <a:ext cx="128699" cy="187198"/>
          </a:xfrm>
          <a:prstGeom prst="rect">
            <a:avLst/>
          </a:prstGeom>
        </p:spPr>
      </p:pic>
      <p:sp>
        <p:nvSpPr>
          <p:cNvPr id="85" name="TextBox 84"/>
          <p:cNvSpPr txBox="1"/>
          <p:nvPr/>
        </p:nvSpPr>
        <p:spPr>
          <a:xfrm>
            <a:off x="3992603" y="4782649"/>
            <a:ext cx="1245889" cy="186689"/>
          </a:xfrm>
          <a:prstGeom prst="rect">
            <a:avLst/>
          </a:prstGeom>
          <a:noFill/>
        </p:spPr>
        <p:txBody>
          <a:bodyPr wrap="none" lIns="0" rIns="0" tIns="0" bIns="0">
            <a:spAutoFit/>
          </a:bodyPr>
          <a:lstStyle/>
          <a:p>
            <a:r>
              <a:rPr sz="1100" b="1">
                <a:solidFill>
                  <a:srgbClr val="0E72AE"/>
                </a:solidFill>
                <a:latin typeface="Calibri"/>
              </a:rPr>
              <a:t>CAGR grows fastest.</a:t>
            </a:r>
          </a:p>
        </p:txBody>
      </p:sp>
      <p:sp>
        <p:nvSpPr>
          <p:cNvPr id="86" name="TextBox 8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Sales Channel segment is projected to grow at a</a:t>
            </a:r>
          </a:p>
        </p:txBody>
      </p:sp>
      <p:sp>
        <p:nvSpPr>
          <p:cNvPr id="87" name="TextBox 86"/>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8" name="Picture 87" descr="lock.png"/>
          <p:cNvPicPr>
            <a:picLocks noChangeAspect="1"/>
          </p:cNvPicPr>
          <p:nvPr/>
        </p:nvPicPr>
        <p:blipFill>
          <a:blip r:embed="rId10"/>
          <a:stretch>
            <a:fillRect/>
          </a:stretch>
        </p:blipFill>
        <p:spPr>
          <a:xfrm>
            <a:off x="9048826" y="6007677"/>
            <a:ext cx="134549" cy="195707"/>
          </a:xfrm>
          <a:prstGeom prst="rect">
            <a:avLst/>
          </a:prstGeom>
        </p:spPr>
      </p:pic>
      <p:sp>
        <p:nvSpPr>
          <p:cNvPr id="89" name="TextBox 88"/>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Sales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Sales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Sales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588353" cy="186689"/>
          </a:xfrm>
          <a:prstGeom prst="rect">
            <a:avLst/>
          </a:prstGeom>
          <a:noFill/>
        </p:spPr>
        <p:txBody>
          <a:bodyPr wrap="none" lIns="0" rIns="0" tIns="0" bIns="0">
            <a:spAutoFit/>
          </a:bodyPr>
          <a:lstStyle/>
          <a:p>
            <a:r>
              <a:rPr sz="1100" b="0">
                <a:solidFill>
                  <a:srgbClr val="2E2E2E"/>
                </a:solidFill>
                <a:latin typeface="Calibri"/>
              </a:rPr>
              <a:t>Direct (to brand owners/oems) followed by indirect (distributors and packaging merchants) are expected to be the two most attractive sales channel segments in the global corrugated partition market in</a:t>
            </a:r>
          </a:p>
        </p:txBody>
      </p:sp>
      <p:sp>
        <p:nvSpPr>
          <p:cNvPr id="21" name="TextBox 20"/>
          <p:cNvSpPr txBox="1"/>
          <p:nvPr/>
        </p:nvSpPr>
        <p:spPr>
          <a:xfrm>
            <a:off x="257175" y="5945505"/>
            <a:ext cx="8896109" cy="186689"/>
          </a:xfrm>
          <a:prstGeom prst="rect">
            <a:avLst/>
          </a:prstGeom>
          <a:noFill/>
        </p:spPr>
        <p:txBody>
          <a:bodyPr wrap="none" lIns="0" rIns="0" tIns="0" bIns="0">
            <a:spAutoFit/>
          </a:bodyPr>
          <a:lstStyle/>
          <a:p>
            <a:r>
              <a:rPr sz="1100" b="0">
                <a:solidFill>
                  <a:srgbClr val="2E2E2E"/>
                </a:solidFill>
                <a:latin typeface="Calibri"/>
              </a:rPr>
              <a:t>terms of value over the forecast period. Direct (to brand owners/OEMs) and indirect (distributors and packaging merchants) exhibit a CAGR index of 96 and</a:t>
            </a:r>
          </a:p>
        </p:txBody>
      </p:sp>
      <p:pic>
        <p:nvPicPr>
          <p:cNvPr id="22" name="Picture 21" descr="lock.png"/>
          <p:cNvPicPr>
            <a:picLocks noChangeAspect="1"/>
          </p:cNvPicPr>
          <p:nvPr/>
        </p:nvPicPr>
        <p:blipFill>
          <a:blip r:embed="rId6"/>
          <a:stretch>
            <a:fillRect/>
          </a:stretch>
        </p:blipFill>
        <p:spPr>
          <a:xfrm>
            <a:off x="9101336" y="5935726"/>
            <a:ext cx="128699" cy="187198"/>
          </a:xfrm>
          <a:prstGeom prst="rect">
            <a:avLst/>
          </a:prstGeom>
        </p:spPr>
      </p:pic>
      <p:sp>
        <p:nvSpPr>
          <p:cNvPr id="23" name="TextBox 22"/>
          <p:cNvSpPr txBox="1"/>
          <p:nvPr/>
        </p:nvSpPr>
        <p:spPr>
          <a:xfrm>
            <a:off x="9268832"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4" name="Picture 23" descr="lock.png"/>
          <p:cNvPicPr>
            <a:picLocks noChangeAspect="1"/>
          </p:cNvPicPr>
          <p:nvPr/>
        </p:nvPicPr>
        <p:blipFill>
          <a:blip r:embed="rId6"/>
          <a:stretch>
            <a:fillRect/>
          </a:stretch>
        </p:blipFill>
        <p:spPr>
          <a:xfrm>
            <a:off x="10877805" y="5935726"/>
            <a:ext cx="128699" cy="187198"/>
          </a:xfrm>
          <a:prstGeom prst="rect">
            <a:avLst/>
          </a:prstGeom>
        </p:spPr>
      </p:pic>
      <p:sp>
        <p:nvSpPr>
          <p:cNvPr id="25" name="TextBox 24"/>
          <p:cNvSpPr txBox="1"/>
          <p:nvPr/>
        </p:nvSpPr>
        <p:spPr>
          <a:xfrm>
            <a:off x="11045301" y="5945505"/>
            <a:ext cx="463376" cy="186689"/>
          </a:xfrm>
          <a:prstGeom prst="rect">
            <a:avLst/>
          </a:prstGeom>
          <a:noFill/>
        </p:spPr>
        <p:txBody>
          <a:bodyPr wrap="none" lIns="0" rIns="0" tIns="0" bIns="0">
            <a:spAutoFit/>
          </a:bodyPr>
          <a:lstStyle/>
          <a:p>
            <a:r>
              <a:rPr sz="1100" b="0">
                <a:solidFill>
                  <a:srgbClr val="2E2E2E"/>
                </a:solidFill>
                <a:latin typeface="Calibri"/>
              </a:rPr>
              <a:t>and 66</a:t>
            </a:r>
          </a:p>
        </p:txBody>
      </p:sp>
      <p:sp>
        <p:nvSpPr>
          <p:cNvPr id="26" name="TextBox 25"/>
          <p:cNvSpPr txBox="1"/>
          <p:nvPr/>
        </p:nvSpPr>
        <p:spPr>
          <a:xfrm>
            <a:off x="257175" y="611314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7" name="Picture 26" descr="lock.png"/>
          <p:cNvPicPr>
            <a:picLocks noChangeAspect="1"/>
          </p:cNvPicPr>
          <p:nvPr/>
        </p:nvPicPr>
        <p:blipFill>
          <a:blip r:embed="rId6"/>
          <a:stretch>
            <a:fillRect/>
          </a:stretch>
        </p:blipFill>
        <p:spPr>
          <a:xfrm>
            <a:off x="2811579" y="6103366"/>
            <a:ext cx="128699" cy="187198"/>
          </a:xfrm>
          <a:prstGeom prst="rect">
            <a:avLst/>
          </a:prstGeom>
        </p:spPr>
      </p:pic>
      <p:sp>
        <p:nvSpPr>
          <p:cNvPr id="28" name="TextBox 27"/>
          <p:cNvSpPr txBox="1"/>
          <p:nvPr/>
        </p:nvSpPr>
        <p:spPr>
          <a:xfrm>
            <a:off x="2979074" y="6113145"/>
            <a:ext cx="4443717" cy="186689"/>
          </a:xfrm>
          <a:prstGeom prst="rect">
            <a:avLst/>
          </a:prstGeom>
          <a:noFill/>
        </p:spPr>
        <p:txBody>
          <a:bodyPr wrap="none" lIns="0" rIns="0" tIns="0" bIns="0">
            <a:spAutoFit/>
          </a:bodyPr>
          <a:lstStyle/>
          <a:p>
            <a:r>
              <a:rPr sz="1100" b="0">
                <a:solidFill>
                  <a:srgbClr val="2E2E2E"/>
                </a:solidFill>
                <a:latin typeface="Calibri"/>
              </a:rPr>
              <a:t>. Bubbles right of the CAGR-Index line grow faster than the segment average.</a:t>
            </a:r>
          </a:p>
        </p:txBody>
      </p:sp>
      <p:sp>
        <p:nvSpPr>
          <p:cNvPr id="29"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Direct (to brand owners/OEMs)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Indirect (distributors and packaging merchants)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Sales Channel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19350"/>
          </a:xfrm>
          <a:prstGeom prst="roundRect">
            <a:avLst>
              <a:gd name="adj" fmla="val 31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Sales Channel (MT)</a:t>
            </a:r>
          </a:p>
        </p:txBody>
      </p:sp>
      <p:graphicFrame>
        <p:nvGraphicFramePr>
          <p:cNvPr id="13" name="Table 12"/>
          <p:cNvGraphicFramePr>
            <a:graphicFrameLocks noGrp="1"/>
          </p:cNvGraphicFramePr>
          <p:nvPr/>
        </p:nvGraphicFramePr>
        <p:xfrm>
          <a:off x="152400" y="1238250"/>
          <a:ext cx="11887200" cy="1952625"/>
        </p:xfrm>
        <a:graphic>
          <a:graphicData uri="http://schemas.openxmlformats.org/drawingml/2006/table">
            <a:tbl>
              <a:tblPr>
                <a:tableStyleId>{5C22544A-7EE6-4342-B048-85BDC9FD1C3A}</a:tableStyleId>
              </a:tblPr>
              <a:tblGrid>
                <a:gridCol w="649304"/>
                <a:gridCol w="674370"/>
                <a:gridCol w="674370"/>
                <a:gridCol w="674370"/>
                <a:gridCol w="674370"/>
                <a:gridCol w="674370"/>
                <a:gridCol w="674370"/>
                <a:gridCol w="674370"/>
                <a:gridCol w="674370"/>
                <a:gridCol w="674370"/>
                <a:gridCol w="674370"/>
                <a:gridCol w="674370"/>
                <a:gridCol w="674370"/>
                <a:gridCol w="674370"/>
                <a:gridCol w="674370"/>
                <a:gridCol w="674370"/>
                <a:gridCol w="674370"/>
                <a:gridCol w="447976"/>
              </a:tblGrid>
              <a:tr h="438912">
                <a:tc>
                  <a:txBody>
                    <a:bodyPr wrap="none"/>
                    <a:lstStyle/>
                    <a:p>
                      <a:pPr algn="l"/>
                      <a:r>
                        <a:rPr sz="1100" b="1">
                          <a:solidFill>
                            <a:srgbClr val="0B2E4A"/>
                          </a:solidFill>
                          <a:latin typeface="Calibri"/>
                        </a:rPr>
                        <a:t>Sales</a:t>
                      </a:r>
                      <a:endParaRPr sz="1100"/>
                    </a:p>
                    <a:p>
                      <a:pPr algn="l"/>
                      <a:r>
                        <a:rPr sz="1100" b="1">
                          <a:solidFill>
                            <a:srgbClr val="0B2E4A"/>
                          </a:solidFill>
                          <a:latin typeface="Calibri"/>
                        </a:rPr>
                        <a:t>Channel</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504571">
                <a:tc>
                  <a:txBody>
                    <a:bodyPr wrap="none"/>
                    <a:lstStyle/>
                    <a:p>
                      <a:pPr algn="l"/>
                      <a:r>
                        <a:rPr sz="1100" b="1">
                          <a:solidFill>
                            <a:srgbClr val="2E2E2E"/>
                          </a:solidFill>
                          <a:latin typeface="Calibri"/>
                        </a:rPr>
                        <a:t>Direct</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504571">
                <a:tc>
                  <a:txBody>
                    <a:bodyPr wrap="none"/>
                    <a:lstStyle/>
                    <a:p>
                      <a:pPr algn="l"/>
                      <a:r>
                        <a:rPr sz="1100" b="1">
                          <a:solidFill>
                            <a:srgbClr val="2E2E2E"/>
                          </a:solidFill>
                          <a:latin typeface="Calibri"/>
                        </a:rPr>
                        <a:t>Indirect</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504571">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3200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33775"/>
            <a:ext cx="11906250" cy="3095625"/>
          </a:xfrm>
          <a:prstGeom prst="roundRect">
            <a:avLst>
              <a:gd name="adj" fmla="val 24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195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Sales Channel</a:t>
            </a:r>
          </a:p>
        </p:txBody>
      </p:sp>
      <p:sp>
        <p:nvSpPr>
          <p:cNvPr id="17" name="Rectangle 16"/>
          <p:cNvSpPr/>
          <p:nvPr/>
        </p:nvSpPr>
        <p:spPr>
          <a:xfrm>
            <a:off x="276225" y="3857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43350"/>
            <a:ext cx="11639550" cy="2609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33961" y="2167318"/>
            <a:ext cx="366712" cy="533400"/>
          </a:xfrm>
          <a:prstGeom prst="rect">
            <a:avLst/>
          </a:prstGeom>
        </p:spPr>
      </p:pic>
      <p:sp>
        <p:nvSpPr>
          <p:cNvPr id="21" name="TextBox 20"/>
          <p:cNvSpPr txBox="1"/>
          <p:nvPr/>
        </p:nvSpPr>
        <p:spPr>
          <a:xfrm>
            <a:off x="276225" y="3952875"/>
            <a:ext cx="3843548" cy="194310"/>
          </a:xfrm>
          <a:prstGeom prst="rect">
            <a:avLst/>
          </a:prstGeom>
          <a:noFill/>
        </p:spPr>
        <p:txBody>
          <a:bodyPr wrap="none" lIns="0" rIns="0" tIns="0" bIns="0">
            <a:spAutoFit/>
          </a:bodyPr>
          <a:lstStyle/>
          <a:p>
            <a:r>
              <a:rPr sz="1150" b="0">
                <a:solidFill>
                  <a:srgbClr val="2E2E2E"/>
                </a:solidFill>
                <a:latin typeface="Calibri"/>
              </a:rPr>
              <a:t>Direct (to brand owners/oems) segment is projected to register</a:t>
            </a:r>
          </a:p>
        </p:txBody>
      </p:sp>
      <p:pic>
        <p:nvPicPr>
          <p:cNvPr id="22" name="Picture 21" descr="lock.png"/>
          <p:cNvPicPr>
            <a:picLocks noChangeAspect="1"/>
          </p:cNvPicPr>
          <p:nvPr/>
        </p:nvPicPr>
        <p:blipFill>
          <a:blip r:embed="rId4"/>
          <a:stretch>
            <a:fillRect/>
          </a:stretch>
        </p:blipFill>
        <p:spPr>
          <a:xfrm>
            <a:off x="4068927" y="3942651"/>
            <a:ext cx="134549" cy="195707"/>
          </a:xfrm>
          <a:prstGeom prst="rect">
            <a:avLst/>
          </a:prstGeom>
        </p:spPr>
      </p:pic>
      <p:sp>
        <p:nvSpPr>
          <p:cNvPr id="23" name="TextBox 22"/>
          <p:cNvSpPr txBox="1"/>
          <p:nvPr/>
        </p:nvSpPr>
        <p:spPr>
          <a:xfrm>
            <a:off x="4244036" y="3952875"/>
            <a:ext cx="7443452" cy="194310"/>
          </a:xfrm>
          <a:prstGeom prst="rect">
            <a:avLst/>
          </a:prstGeom>
          <a:noFill/>
        </p:spPr>
        <p:txBody>
          <a:bodyPr wrap="none" lIns="0" rIns="0" tIns="0" bIns="0">
            <a:spAutoFit/>
          </a:bodyPr>
          <a:lstStyle/>
          <a:p>
            <a:r>
              <a:rPr sz="1150" b="0">
                <a:solidFill>
                  <a:srgbClr val="2E2E2E"/>
                </a:solidFill>
                <a:latin typeface="Calibri"/>
              </a:rPr>
              <a:t>X higher volume than indirect (distributors and packaging merchants) segment in 2036. Among corrugated partition by sales</a:t>
            </a:r>
          </a:p>
        </p:txBody>
      </p:sp>
      <p:sp>
        <p:nvSpPr>
          <p:cNvPr id="24" name="TextBox 23"/>
          <p:cNvSpPr txBox="1"/>
          <p:nvPr/>
        </p:nvSpPr>
        <p:spPr>
          <a:xfrm>
            <a:off x="276225" y="4128135"/>
            <a:ext cx="6540891" cy="194310"/>
          </a:xfrm>
          <a:prstGeom prst="rect">
            <a:avLst/>
          </a:prstGeom>
          <a:noFill/>
        </p:spPr>
        <p:txBody>
          <a:bodyPr wrap="none" lIns="0" rIns="0" tIns="0" bIns="0">
            <a:spAutoFit/>
          </a:bodyPr>
          <a:lstStyle/>
          <a:p>
            <a:r>
              <a:rPr sz="1150" b="0">
                <a:solidFill>
                  <a:srgbClr val="2E2E2E"/>
                </a:solidFill>
                <a:latin typeface="Calibri"/>
              </a:rPr>
              <a:t>channel, indirect (distributors and packaging merchants) segment is expected to witness the highest CAGR of</a:t>
            </a:r>
          </a:p>
        </p:txBody>
      </p:sp>
      <p:pic>
        <p:nvPicPr>
          <p:cNvPr id="25" name="Picture 24" descr="lock.png"/>
          <p:cNvPicPr>
            <a:picLocks noChangeAspect="1"/>
          </p:cNvPicPr>
          <p:nvPr/>
        </p:nvPicPr>
        <p:blipFill>
          <a:blip r:embed="rId4"/>
          <a:stretch>
            <a:fillRect/>
          </a:stretch>
        </p:blipFill>
        <p:spPr>
          <a:xfrm>
            <a:off x="6766270" y="4117911"/>
            <a:ext cx="134549" cy="195707"/>
          </a:xfrm>
          <a:prstGeom prst="rect">
            <a:avLst/>
          </a:prstGeom>
        </p:spPr>
      </p:pic>
      <p:sp>
        <p:nvSpPr>
          <p:cNvPr id="26" name="TextBox 25"/>
          <p:cNvSpPr txBox="1"/>
          <p:nvPr/>
        </p:nvSpPr>
        <p:spPr>
          <a:xfrm>
            <a:off x="6941379" y="4128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55972"/>
            <a:ext cx="7813141" cy="194310"/>
          </a:xfrm>
          <a:prstGeom prst="rect">
            <a:avLst/>
          </a:prstGeom>
          <a:noFill/>
        </p:spPr>
        <p:txBody>
          <a:bodyPr wrap="none" lIns="0" rIns="0" tIns="0" bIns="0">
            <a:spAutoFit/>
          </a:bodyPr>
          <a:lstStyle/>
          <a:p>
            <a:r>
              <a:rPr sz="1150" b="0">
                <a:solidFill>
                  <a:srgbClr val="2E2E2E"/>
                </a:solidFill>
                <a:latin typeface="Calibri"/>
              </a:rPr>
              <a:t>In terms of volume share by sales channel, the direct (to brand owners/oems) segment is expected to dominate the market, losing</a:t>
            </a:r>
          </a:p>
        </p:txBody>
      </p:sp>
      <p:pic>
        <p:nvPicPr>
          <p:cNvPr id="28" name="Picture 27" descr="lock.png"/>
          <p:cNvPicPr>
            <a:picLocks noChangeAspect="1"/>
          </p:cNvPicPr>
          <p:nvPr/>
        </p:nvPicPr>
        <p:blipFill>
          <a:blip r:embed="rId4"/>
          <a:stretch>
            <a:fillRect/>
          </a:stretch>
        </p:blipFill>
        <p:spPr>
          <a:xfrm>
            <a:off x="8038520" y="4345749"/>
            <a:ext cx="134549" cy="195707"/>
          </a:xfrm>
          <a:prstGeom prst="rect">
            <a:avLst/>
          </a:prstGeom>
        </p:spPr>
      </p:pic>
      <p:sp>
        <p:nvSpPr>
          <p:cNvPr id="29" name="TextBox 28"/>
          <p:cNvSpPr txBox="1"/>
          <p:nvPr/>
        </p:nvSpPr>
        <p:spPr>
          <a:xfrm>
            <a:off x="8213629" y="4355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608773" y="4345749"/>
            <a:ext cx="134549" cy="195707"/>
          </a:xfrm>
          <a:prstGeom prst="rect">
            <a:avLst/>
          </a:prstGeom>
        </p:spPr>
      </p:pic>
      <p:sp>
        <p:nvSpPr>
          <p:cNvPr id="31" name="TextBox 30"/>
          <p:cNvSpPr txBox="1"/>
          <p:nvPr/>
        </p:nvSpPr>
        <p:spPr>
          <a:xfrm>
            <a:off x="9783882" y="43559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Sales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Sales Channel (US$ Mn)</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073029"/>
                <a:gridCol w="636128"/>
                <a:gridCol w="636128"/>
                <a:gridCol w="636128"/>
                <a:gridCol w="636128"/>
                <a:gridCol w="636128"/>
                <a:gridCol w="636128"/>
                <a:gridCol w="636128"/>
                <a:gridCol w="636128"/>
                <a:gridCol w="636128"/>
                <a:gridCol w="636128"/>
                <a:gridCol w="636128"/>
                <a:gridCol w="636128"/>
                <a:gridCol w="636128"/>
                <a:gridCol w="636128"/>
                <a:gridCol w="636128"/>
                <a:gridCol w="636128"/>
                <a:gridCol w="63612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Sales Channel</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45826" y="1589913"/>
            <a:ext cx="366712" cy="533400"/>
          </a:xfrm>
          <a:prstGeom prst="rect">
            <a:avLst/>
          </a:prstGeom>
        </p:spPr>
      </p:pic>
      <p:sp>
        <p:nvSpPr>
          <p:cNvPr id="21" name="TextBox 20"/>
          <p:cNvSpPr txBox="1"/>
          <p:nvPr/>
        </p:nvSpPr>
        <p:spPr>
          <a:xfrm>
            <a:off x="276225" y="2990850"/>
            <a:ext cx="3843548" cy="194310"/>
          </a:xfrm>
          <a:prstGeom prst="rect">
            <a:avLst/>
          </a:prstGeom>
          <a:noFill/>
        </p:spPr>
        <p:txBody>
          <a:bodyPr wrap="none" lIns="0" rIns="0" tIns="0" bIns="0">
            <a:spAutoFit/>
          </a:bodyPr>
          <a:lstStyle/>
          <a:p>
            <a:r>
              <a:rPr sz="1150" b="0">
                <a:solidFill>
                  <a:srgbClr val="2E2E2E"/>
                </a:solidFill>
                <a:latin typeface="Calibri"/>
              </a:rPr>
              <a:t>Direct (to brand owners/oems) segment is projected to register</a:t>
            </a:r>
          </a:p>
        </p:txBody>
      </p:sp>
      <p:pic>
        <p:nvPicPr>
          <p:cNvPr id="22" name="Picture 21" descr="lock.png"/>
          <p:cNvPicPr>
            <a:picLocks noChangeAspect="1"/>
          </p:cNvPicPr>
          <p:nvPr/>
        </p:nvPicPr>
        <p:blipFill>
          <a:blip r:embed="rId4"/>
          <a:stretch>
            <a:fillRect/>
          </a:stretch>
        </p:blipFill>
        <p:spPr>
          <a:xfrm>
            <a:off x="4068927" y="2980626"/>
            <a:ext cx="134549" cy="195707"/>
          </a:xfrm>
          <a:prstGeom prst="rect">
            <a:avLst/>
          </a:prstGeom>
        </p:spPr>
      </p:pic>
      <p:sp>
        <p:nvSpPr>
          <p:cNvPr id="23" name="TextBox 22"/>
          <p:cNvSpPr txBox="1"/>
          <p:nvPr/>
        </p:nvSpPr>
        <p:spPr>
          <a:xfrm>
            <a:off x="4244036" y="2990850"/>
            <a:ext cx="7319652" cy="194310"/>
          </a:xfrm>
          <a:prstGeom prst="rect">
            <a:avLst/>
          </a:prstGeom>
          <a:noFill/>
        </p:spPr>
        <p:txBody>
          <a:bodyPr wrap="none" lIns="0" rIns="0" tIns="0" bIns="0">
            <a:spAutoFit/>
          </a:bodyPr>
          <a:lstStyle/>
          <a:p>
            <a:r>
              <a:rPr sz="1150" b="0">
                <a:solidFill>
                  <a:srgbClr val="2E2E2E"/>
                </a:solidFill>
                <a:latin typeface="Calibri"/>
              </a:rPr>
              <a:t>X higher value than indirect (distributors and packaging merchants) segment in 2036. Among corrugated partition by sales</a:t>
            </a:r>
          </a:p>
        </p:txBody>
      </p:sp>
      <p:sp>
        <p:nvSpPr>
          <p:cNvPr id="24" name="TextBox 23"/>
          <p:cNvSpPr txBox="1"/>
          <p:nvPr/>
        </p:nvSpPr>
        <p:spPr>
          <a:xfrm>
            <a:off x="276225" y="3166110"/>
            <a:ext cx="6540891" cy="194310"/>
          </a:xfrm>
          <a:prstGeom prst="rect">
            <a:avLst/>
          </a:prstGeom>
          <a:noFill/>
        </p:spPr>
        <p:txBody>
          <a:bodyPr wrap="none" lIns="0" rIns="0" tIns="0" bIns="0">
            <a:spAutoFit/>
          </a:bodyPr>
          <a:lstStyle/>
          <a:p>
            <a:r>
              <a:rPr sz="1150" b="0">
                <a:solidFill>
                  <a:srgbClr val="2E2E2E"/>
                </a:solidFill>
                <a:latin typeface="Calibri"/>
              </a:rPr>
              <a:t>channel, indirect (distributors and packaging merchants) segment is expected to witness the highest CAGR of</a:t>
            </a:r>
          </a:p>
        </p:txBody>
      </p:sp>
      <p:pic>
        <p:nvPicPr>
          <p:cNvPr id="25" name="Picture 24" descr="lock.png"/>
          <p:cNvPicPr>
            <a:picLocks noChangeAspect="1"/>
          </p:cNvPicPr>
          <p:nvPr/>
        </p:nvPicPr>
        <p:blipFill>
          <a:blip r:embed="rId4"/>
          <a:stretch>
            <a:fillRect/>
          </a:stretch>
        </p:blipFill>
        <p:spPr>
          <a:xfrm>
            <a:off x="6766270" y="3155886"/>
            <a:ext cx="134549" cy="195707"/>
          </a:xfrm>
          <a:prstGeom prst="rect">
            <a:avLst/>
          </a:prstGeom>
        </p:spPr>
      </p:pic>
      <p:sp>
        <p:nvSpPr>
          <p:cNvPr id="26" name="TextBox 25"/>
          <p:cNvSpPr txBox="1"/>
          <p:nvPr/>
        </p:nvSpPr>
        <p:spPr>
          <a:xfrm>
            <a:off x="6941379"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689341" cy="194310"/>
          </a:xfrm>
          <a:prstGeom prst="rect">
            <a:avLst/>
          </a:prstGeom>
          <a:noFill/>
        </p:spPr>
        <p:txBody>
          <a:bodyPr wrap="none" lIns="0" rIns="0" tIns="0" bIns="0">
            <a:spAutoFit/>
          </a:bodyPr>
          <a:lstStyle/>
          <a:p>
            <a:r>
              <a:rPr sz="1150" b="0">
                <a:solidFill>
                  <a:srgbClr val="2E2E2E"/>
                </a:solidFill>
                <a:latin typeface="Calibri"/>
              </a:rPr>
              <a:t>In terms of value share by sales channel, the direct (to brand owners/oems) segment is expected to dominate the market, losing</a:t>
            </a:r>
          </a:p>
        </p:txBody>
      </p:sp>
      <p:pic>
        <p:nvPicPr>
          <p:cNvPr id="28" name="Picture 27" descr="lock.png"/>
          <p:cNvPicPr>
            <a:picLocks noChangeAspect="1"/>
          </p:cNvPicPr>
          <p:nvPr/>
        </p:nvPicPr>
        <p:blipFill>
          <a:blip r:embed="rId4"/>
          <a:stretch>
            <a:fillRect/>
          </a:stretch>
        </p:blipFill>
        <p:spPr>
          <a:xfrm>
            <a:off x="7914720" y="3383724"/>
            <a:ext cx="134549" cy="195707"/>
          </a:xfrm>
          <a:prstGeom prst="rect">
            <a:avLst/>
          </a:prstGeom>
        </p:spPr>
      </p:pic>
      <p:sp>
        <p:nvSpPr>
          <p:cNvPr id="29" name="TextBox 28"/>
          <p:cNvSpPr txBox="1"/>
          <p:nvPr/>
        </p:nvSpPr>
        <p:spPr>
          <a:xfrm>
            <a:off x="8089829"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84972" y="3383724"/>
            <a:ext cx="134549" cy="195707"/>
          </a:xfrm>
          <a:prstGeom prst="rect">
            <a:avLst/>
          </a:prstGeom>
        </p:spPr>
      </p:pic>
      <p:sp>
        <p:nvSpPr>
          <p:cNvPr id="31" name="TextBox 30"/>
          <p:cNvSpPr txBox="1"/>
          <p:nvPr/>
        </p:nvSpPr>
        <p:spPr>
          <a:xfrm>
            <a:off x="9660082"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Sales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Sales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5763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45287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7667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Indirect</a:t>
            </a:r>
          </a:p>
        </p:txBody>
      </p:sp>
      <p:sp>
        <p:nvSpPr>
          <p:cNvPr id="19" name="BPS Value 1"/>
          <p:cNvSpPr txBox="1"/>
          <p:nvPr/>
        </p:nvSpPr>
        <p:spPr>
          <a:xfrm>
            <a:off x="6896100" y="243858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74382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73906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66286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a:t>
            </a:r>
          </a:p>
        </p:txBody>
      </p:sp>
      <p:sp>
        <p:nvSpPr>
          <p:cNvPr id="23" name="BPS Value 2"/>
          <p:cNvSpPr txBox="1"/>
          <p:nvPr/>
        </p:nvSpPr>
        <p:spPr>
          <a:xfrm>
            <a:off x="6896100" y="472477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Sales Channel</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30104" cy="194310"/>
          </a:xfrm>
          <a:prstGeom prst="rect">
            <a:avLst/>
          </a:prstGeom>
          <a:noFill/>
        </p:spPr>
        <p:txBody>
          <a:bodyPr wrap="none" lIns="0" rIns="0" tIns="0" bIns="0">
            <a:spAutoFit/>
          </a:bodyPr>
          <a:lstStyle/>
          <a:p>
            <a:r>
              <a:rPr sz="1150" b="0">
                <a:solidFill>
                  <a:srgbClr val="2E2E2E"/>
                </a:solidFill>
                <a:latin typeface="Calibri"/>
              </a:rPr>
              <a:t>Among corrugated partition by sales channel, indirect (distributors</a:t>
            </a:r>
          </a:p>
        </p:txBody>
      </p:sp>
      <p:sp>
        <p:nvSpPr>
          <p:cNvPr id="31" name="TextBox 30"/>
          <p:cNvSpPr txBox="1"/>
          <p:nvPr/>
        </p:nvSpPr>
        <p:spPr>
          <a:xfrm>
            <a:off x="7829550" y="1575435"/>
            <a:ext cx="3758827" cy="194310"/>
          </a:xfrm>
          <a:prstGeom prst="rect">
            <a:avLst/>
          </a:prstGeom>
          <a:noFill/>
        </p:spPr>
        <p:txBody>
          <a:bodyPr wrap="none" lIns="0" rIns="0" tIns="0" bIns="0">
            <a:spAutoFit/>
          </a:bodyPr>
          <a:lstStyle/>
          <a:p>
            <a:r>
              <a:rPr sz="1150" b="0">
                <a:solidFill>
                  <a:srgbClr val="2E2E2E"/>
                </a:solidFill>
                <a:latin typeface="Calibri"/>
              </a:rPr>
              <a:t>and packaging merchants) segment is expected to witness the</a:t>
            </a:r>
          </a:p>
        </p:txBody>
      </p:sp>
      <p:sp>
        <p:nvSpPr>
          <p:cNvPr id="32" name="TextBox 31"/>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33" name="Picture 32" descr="lock.png"/>
          <p:cNvPicPr>
            <a:picLocks noChangeAspect="1"/>
          </p:cNvPicPr>
          <p:nvPr/>
        </p:nvPicPr>
        <p:blipFill>
          <a:blip r:embed="rId5"/>
          <a:stretch>
            <a:fillRect/>
          </a:stretch>
        </p:blipFill>
        <p:spPr>
          <a:xfrm>
            <a:off x="8811057" y="1740471"/>
            <a:ext cx="134549" cy="195707"/>
          </a:xfrm>
          <a:prstGeom prst="rect">
            <a:avLst/>
          </a:prstGeom>
        </p:spPr>
      </p:pic>
      <p:sp>
        <p:nvSpPr>
          <p:cNvPr id="34" name="TextBox 33"/>
          <p:cNvSpPr txBox="1"/>
          <p:nvPr/>
        </p:nvSpPr>
        <p:spPr>
          <a:xfrm>
            <a:off x="8986166"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5" name="TextBox 34"/>
          <p:cNvSpPr txBox="1"/>
          <p:nvPr/>
        </p:nvSpPr>
        <p:spPr>
          <a:xfrm>
            <a:off x="7829550" y="1978533"/>
            <a:ext cx="3671540" cy="194310"/>
          </a:xfrm>
          <a:prstGeom prst="rect">
            <a:avLst/>
          </a:prstGeom>
          <a:noFill/>
        </p:spPr>
        <p:txBody>
          <a:bodyPr wrap="none" lIns="0" rIns="0" tIns="0" bIns="0">
            <a:spAutoFit/>
          </a:bodyPr>
          <a:lstStyle/>
          <a:p>
            <a:r>
              <a:rPr sz="1150" b="0">
                <a:solidFill>
                  <a:srgbClr val="2E2E2E"/>
                </a:solidFill>
                <a:latin typeface="Calibri"/>
              </a:rPr>
              <a:t>In terms of value share by sales channel, the direct (to brand</a:t>
            </a:r>
          </a:p>
        </p:txBody>
      </p:sp>
      <p:sp>
        <p:nvSpPr>
          <p:cNvPr id="36" name="TextBox 35"/>
          <p:cNvSpPr txBox="1"/>
          <p:nvPr/>
        </p:nvSpPr>
        <p:spPr>
          <a:xfrm>
            <a:off x="7829550" y="2153793"/>
            <a:ext cx="4057650" cy="194310"/>
          </a:xfrm>
          <a:prstGeom prst="rect">
            <a:avLst/>
          </a:prstGeom>
          <a:noFill/>
        </p:spPr>
        <p:txBody>
          <a:bodyPr wrap="none" lIns="0" rIns="0" tIns="0" bIns="0">
            <a:spAutoFit/>
          </a:bodyPr>
          <a:lstStyle/>
          <a:p>
            <a:r>
              <a:rPr sz="1150" b="0">
                <a:solidFill>
                  <a:srgbClr val="2E2E2E"/>
                </a:solidFill>
                <a:latin typeface="Calibri"/>
              </a:rPr>
              <a:t>owners/oems) segment is expected to dominate the market, losing</a:t>
            </a:r>
          </a:p>
        </p:txBody>
      </p:sp>
      <p:pic>
        <p:nvPicPr>
          <p:cNvPr id="37" name="Picture 36" descr="lock.png"/>
          <p:cNvPicPr>
            <a:picLocks noChangeAspect="1"/>
          </p:cNvPicPr>
          <p:nvPr/>
        </p:nvPicPr>
        <p:blipFill>
          <a:blip r:embed="rId5"/>
          <a:stretch>
            <a:fillRect/>
          </a:stretch>
        </p:blipFill>
        <p:spPr>
          <a:xfrm>
            <a:off x="7815470" y="2318829"/>
            <a:ext cx="134549" cy="195707"/>
          </a:xfrm>
          <a:prstGeom prst="rect">
            <a:avLst/>
          </a:prstGeom>
        </p:spPr>
      </p:pic>
      <p:sp>
        <p:nvSpPr>
          <p:cNvPr id="38" name="TextBox 37"/>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9" name="Picture 38" descr="lock.png"/>
          <p:cNvPicPr>
            <a:picLocks noChangeAspect="1"/>
          </p:cNvPicPr>
          <p:nvPr/>
        </p:nvPicPr>
        <p:blipFill>
          <a:blip r:embed="rId5"/>
          <a:stretch>
            <a:fillRect/>
          </a:stretch>
        </p:blipFill>
        <p:spPr>
          <a:xfrm>
            <a:off x="9385722" y="2318829"/>
            <a:ext cx="134549" cy="195707"/>
          </a:xfrm>
          <a:prstGeom prst="rect">
            <a:avLst/>
          </a:prstGeom>
        </p:spPr>
      </p:pic>
      <p:sp>
        <p:nvSpPr>
          <p:cNvPr id="40" name="TextBox 39"/>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gridCol w="713858"/>
                <a:gridCol w="713858"/>
                <a:gridCol w="713858"/>
                <a:gridCol w="713858"/>
                <a:gridCol w="713858"/>
                <a:gridCol w="713858"/>
                <a:gridCol w="713858"/>
                <a:gridCol w="713858"/>
                <a:gridCol w="713858"/>
                <a:gridCol w="713858"/>
                <a:gridCol w="713858"/>
                <a:gridCol w="713858"/>
                <a:gridCol w="713858"/>
                <a:gridCol w="713858"/>
                <a:gridCol w="71385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Sales Channel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Direct (to brand owners/OEMs)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Indirect (distributors and packaging merchants)</a:t>
            </a:r>
          </a:p>
        </p:txBody>
      </p:sp>
      <p:sp>
        <p:nvSpPr>
          <p:cNvPr id="49" name="Rectangle 48"/>
          <p:cNvSpPr/>
          <p:nvPr/>
        </p:nvSpPr>
        <p:spPr>
          <a:xfrm>
            <a:off x="1857375" y="4662488"/>
            <a:ext cx="643890" cy="190976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3B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517645" y="1482090"/>
            <a:ext cx="330041" cy="480060"/>
          </a:xfrm>
          <a:prstGeom prst="rect">
            <a:avLst/>
          </a:prstGeom>
        </p:spPr>
      </p:pic>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gridCol w="713858"/>
                <a:gridCol w="713858"/>
                <a:gridCol w="713858"/>
                <a:gridCol w="713858"/>
                <a:gridCol w="713858"/>
                <a:gridCol w="713858"/>
                <a:gridCol w="713858"/>
                <a:gridCol w="713858"/>
                <a:gridCol w="713858"/>
                <a:gridCol w="713858"/>
                <a:gridCol w="713858"/>
                <a:gridCol w="713858"/>
                <a:gridCol w="713858"/>
                <a:gridCol w="713858"/>
                <a:gridCol w="71385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Sales Channel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Direct (to brand owners/OEMs)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Indirect (distributors and packaging merchants)</a:t>
            </a:r>
          </a:p>
        </p:txBody>
      </p:sp>
      <p:sp>
        <p:nvSpPr>
          <p:cNvPr id="49" name="Rectangle 48"/>
          <p:cNvSpPr/>
          <p:nvPr/>
        </p:nvSpPr>
        <p:spPr>
          <a:xfrm>
            <a:off x="1857375" y="4662488"/>
            <a:ext cx="643890" cy="190976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517645" y="1482090"/>
            <a:ext cx="330041" cy="480060"/>
          </a:xfrm>
          <a:prstGeom prst="rect">
            <a:avLst/>
          </a:prstGeom>
        </p:spPr>
      </p:pic>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Partition Type × 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Board Construction × 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Cell Configuration × End Use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Partition Type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Partition Type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partition type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Partition Type × End Use, 2026E and 2036F (US$ Mn)</a:t>
            </a:r>
          </a:p>
        </p:txBody>
      </p:sp>
      <p:graphicFrame>
        <p:nvGraphicFramePr>
          <p:cNvPr id="13" name="Table 12"/>
          <p:cNvGraphicFramePr>
            <a:graphicFrameLocks noGrp="1"/>
          </p:cNvGraphicFramePr>
          <p:nvPr/>
        </p:nvGraphicFramePr>
        <p:xfrm>
          <a:off x="152400" y="1238250"/>
          <a:ext cx="11887193" cy="1866897"/>
        </p:xfrm>
        <a:graphic>
          <a:graphicData uri="http://schemas.openxmlformats.org/drawingml/2006/table">
            <a:tbl>
              <a:tblPr>
                <a:tableStyleId>{5C22544A-7EE6-4342-B048-85BDC9FD1C3A}</a:tableStyleId>
              </a:tblPr>
              <a:tblGrid>
                <a:gridCol w="2760297"/>
                <a:gridCol w="570431"/>
                <a:gridCol w="570431"/>
                <a:gridCol w="570431"/>
                <a:gridCol w="570431"/>
                <a:gridCol w="570431"/>
                <a:gridCol w="570431"/>
                <a:gridCol w="570431"/>
                <a:gridCol w="570431"/>
                <a:gridCol w="570431"/>
                <a:gridCol w="570431"/>
                <a:gridCol w="570431"/>
                <a:gridCol w="570431"/>
                <a:gridCol w="570431"/>
                <a:gridCol w="570431"/>
                <a:gridCol w="570431"/>
                <a:gridCol w="570431"/>
              </a:tblGrid>
              <a:tr h="631697">
                <a:tc rowSpan="2">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a:t>
                      </a:r>
                      <a:endParaRPr sz="1100"/>
                    </a:p>
                    <a:p>
                      <a:pPr algn="ctr"/>
                      <a:r>
                        <a:rPr sz="1100" b="1">
                          <a:solidFill>
                            <a:srgbClr val="0B2E4A"/>
                          </a:solidFill>
                          <a:latin typeface="Calibri"/>
                        </a:rPr>
                        <a:t>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9454" y="2344368"/>
            <a:ext cx="366712" cy="533400"/>
          </a:xfrm>
          <a:prstGeom prst="rect">
            <a:avLst/>
          </a:prstGeom>
        </p:spPr>
      </p:pic>
      <p:sp>
        <p:nvSpPr>
          <p:cNvPr id="21" name="TextBox 20"/>
          <p:cNvSpPr txBox="1"/>
          <p:nvPr/>
        </p:nvSpPr>
        <p:spPr>
          <a:xfrm>
            <a:off x="276225" y="3867150"/>
            <a:ext cx="10180178" cy="194310"/>
          </a:xfrm>
          <a:prstGeom prst="rect">
            <a:avLst/>
          </a:prstGeom>
          <a:noFill/>
        </p:spPr>
        <p:txBody>
          <a:bodyPr wrap="none" lIns="0" rIns="0" tIns="0" bIns="0">
            <a:spAutoFit/>
          </a:bodyPr>
          <a:lstStyle/>
          <a:p>
            <a:r>
              <a:rPr sz="1150" b="0">
                <a:solidFill>
                  <a:srgbClr val="2E2E2E"/>
                </a:solidFill>
                <a:latin typeface="Calibri"/>
              </a:rPr>
              <a:t>Flat dividers &amp; layer pads segment is projected to account for the largest share of the global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405557" y="3856926"/>
            <a:ext cx="134549" cy="195707"/>
          </a:xfrm>
          <a:prstGeom prst="rect">
            <a:avLst/>
          </a:prstGeom>
        </p:spPr>
      </p:pic>
      <p:sp>
        <p:nvSpPr>
          <p:cNvPr id="23" name="TextBox 22"/>
          <p:cNvSpPr txBox="1"/>
          <p:nvPr/>
        </p:nvSpPr>
        <p:spPr>
          <a:xfrm>
            <a:off x="10580666" y="3867150"/>
            <a:ext cx="1072877" cy="194310"/>
          </a:xfrm>
          <a:prstGeom prst="rect">
            <a:avLst/>
          </a:prstGeom>
          <a:noFill/>
        </p:spPr>
        <p:txBody>
          <a:bodyPr wrap="none" lIns="0" rIns="0" tIns="0" bIns="0">
            <a:spAutoFit/>
          </a:bodyPr>
          <a:lstStyle/>
          <a:p>
            <a:r>
              <a:rPr sz="1150" b="0">
                <a:solidFill>
                  <a:srgbClr val="2E2E2E"/>
                </a:solidFill>
                <a:latin typeface="Calibri"/>
              </a:rPr>
              <a:t>Mn in 2036. 'Flat</a:t>
            </a:r>
          </a:p>
        </p:txBody>
      </p:sp>
      <p:sp>
        <p:nvSpPr>
          <p:cNvPr id="24" name="TextBox 23"/>
          <p:cNvSpPr txBox="1"/>
          <p:nvPr/>
        </p:nvSpPr>
        <p:spPr>
          <a:xfrm>
            <a:off x="276225" y="4042410"/>
            <a:ext cx="4323060" cy="194310"/>
          </a:xfrm>
          <a:prstGeom prst="rect">
            <a:avLst/>
          </a:prstGeom>
          <a:noFill/>
        </p:spPr>
        <p:txBody>
          <a:bodyPr wrap="none" lIns="0" rIns="0" tIns="0" bIns="0">
            <a:spAutoFit/>
          </a:bodyPr>
          <a:lstStyle/>
          <a:p>
            <a:r>
              <a:rPr sz="1150" b="0">
                <a:solidFill>
                  <a:srgbClr val="2E2E2E"/>
                </a:solidFill>
                <a:latin typeface="Calibri"/>
              </a:rPr>
              <a:t>Dividers &amp; Layer Pads × Others' is the single largest cross-sectional cell (</a:t>
            </a:r>
          </a:p>
        </p:txBody>
      </p:sp>
      <p:pic>
        <p:nvPicPr>
          <p:cNvPr id="25" name="Picture 24" descr="lock.png"/>
          <p:cNvPicPr>
            <a:picLocks noChangeAspect="1"/>
          </p:cNvPicPr>
          <p:nvPr/>
        </p:nvPicPr>
        <p:blipFill>
          <a:blip r:embed="rId4"/>
          <a:stretch>
            <a:fillRect/>
          </a:stretch>
        </p:blipFill>
        <p:spPr>
          <a:xfrm>
            <a:off x="4548439" y="4032186"/>
            <a:ext cx="134549" cy="195707"/>
          </a:xfrm>
          <a:prstGeom prst="rect">
            <a:avLst/>
          </a:prstGeom>
        </p:spPr>
      </p:pic>
      <p:sp>
        <p:nvSpPr>
          <p:cNvPr id="26" name="TextBox 25"/>
          <p:cNvSpPr txBox="1"/>
          <p:nvPr/>
        </p:nvSpPr>
        <p:spPr>
          <a:xfrm>
            <a:off x="4723548" y="4042410"/>
            <a:ext cx="6919708" cy="194310"/>
          </a:xfrm>
          <a:prstGeom prst="rect">
            <a:avLst/>
          </a:prstGeom>
          <a:noFill/>
        </p:spPr>
        <p:txBody>
          <a:bodyPr wrap="none" lIns="0" rIns="0" tIns="0" bIns="0">
            <a:spAutoFit/>
          </a:bodyPr>
          <a:lstStyle/>
          <a:p>
            <a:r>
              <a:rPr sz="1150" b="0">
                <a:solidFill>
                  <a:srgbClr val="2E2E2E"/>
                </a:solidFill>
                <a:latin typeface="Calibri"/>
              </a:rPr>
              <a:t>US$ Mn, 2026E), while 'Flat Dividers &amp; Layer Pads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262145" y="4207446"/>
            <a:ext cx="134549" cy="195707"/>
          </a:xfrm>
          <a:prstGeom prst="rect">
            <a:avLst/>
          </a:prstGeom>
        </p:spPr>
      </p:pic>
      <p:sp>
        <p:nvSpPr>
          <p:cNvPr id="28" name="TextBox 27"/>
          <p:cNvSpPr txBox="1"/>
          <p:nvPr/>
        </p:nvSpPr>
        <p:spPr>
          <a:xfrm>
            <a:off x="437254" y="421767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29" name="TextBox 28"/>
          <p:cNvSpPr txBox="1"/>
          <p:nvPr/>
        </p:nvSpPr>
        <p:spPr>
          <a:xfrm>
            <a:off x="276225" y="4445507"/>
            <a:ext cx="5585879" cy="194310"/>
          </a:xfrm>
          <a:prstGeom prst="rect">
            <a:avLst/>
          </a:prstGeom>
          <a:noFill/>
        </p:spPr>
        <p:txBody>
          <a:bodyPr wrap="none" lIns="0" rIns="0" tIns="0" bIns="0">
            <a:spAutoFit/>
          </a:bodyPr>
          <a:lstStyle/>
          <a:p>
            <a:r>
              <a:rPr sz="1150" b="0">
                <a:solidFill>
                  <a:srgbClr val="2E2E2E"/>
                </a:solidFill>
                <a:latin typeface="Calibri"/>
              </a:rPr>
              <a:t>Combined, the top three partition type × end use cells generate an absolute $ opportunity of</a:t>
            </a:r>
          </a:p>
        </p:txBody>
      </p:sp>
      <p:pic>
        <p:nvPicPr>
          <p:cNvPr id="30" name="Picture 29" descr="lock.png"/>
          <p:cNvPicPr>
            <a:picLocks noChangeAspect="1"/>
          </p:cNvPicPr>
          <p:nvPr/>
        </p:nvPicPr>
        <p:blipFill>
          <a:blip r:embed="rId4"/>
          <a:stretch>
            <a:fillRect/>
          </a:stretch>
        </p:blipFill>
        <p:spPr>
          <a:xfrm>
            <a:off x="5811258" y="4435284"/>
            <a:ext cx="134549" cy="195707"/>
          </a:xfrm>
          <a:prstGeom prst="rect">
            <a:avLst/>
          </a:prstGeom>
        </p:spPr>
      </p:pic>
      <p:sp>
        <p:nvSpPr>
          <p:cNvPr id="31" name="TextBox 30"/>
          <p:cNvSpPr txBox="1"/>
          <p:nvPr/>
        </p:nvSpPr>
        <p:spPr>
          <a:xfrm>
            <a:off x="5986367" y="444550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Partition Type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Partition Type × End Use, 2026E (% of each row)</a:t>
            </a:r>
          </a:p>
        </p:txBody>
      </p:sp>
      <p:graphicFrame>
        <p:nvGraphicFramePr>
          <p:cNvPr id="13" name="Table 12"/>
          <p:cNvGraphicFramePr>
            <a:graphicFrameLocks noGrp="1"/>
          </p:cNvGraphicFramePr>
          <p:nvPr/>
        </p:nvGraphicFramePr>
        <p:xfrm>
          <a:off x="152400" y="1238250"/>
          <a:ext cx="11887200" cy="1619249"/>
        </p:xfrm>
        <a:graphic>
          <a:graphicData uri="http://schemas.openxmlformats.org/drawingml/2006/table">
            <a:tbl>
              <a:tblPr>
                <a:tableStyleId>{5C22544A-7EE6-4342-B048-85BDC9FD1C3A}</a:tableStyleId>
              </a:tblPr>
              <a:tblGrid>
                <a:gridCol w="2275403"/>
                <a:gridCol w="954259"/>
                <a:gridCol w="1598062"/>
                <a:gridCol w="1323387"/>
                <a:gridCol w="1192720"/>
                <a:gridCol w="1787231"/>
                <a:gridCol w="1697958"/>
                <a:gridCol w="514374"/>
                <a:gridCol w="543806"/>
              </a:tblGrid>
              <a:tr h="631697">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88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8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7286625"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575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Partition Type, 2026E (% share)</a:t>
            </a:r>
          </a:p>
        </p:txBody>
      </p:sp>
      <p:graphicFrame>
        <p:nvGraphicFramePr>
          <p:cNvPr id="17" name="Chart 16"/>
          <p:cNvGraphicFramePr>
            <a:graphicFrameLocks noGrp="1"/>
          </p:cNvGraphicFramePr>
          <p:nvPr/>
        </p:nvGraphicFramePr>
        <p:xfrm>
          <a:off x="238125" y="3486150"/>
          <a:ext cx="7096125" cy="30861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00400"/>
            <a:ext cx="445770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2861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24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09975"/>
            <a:ext cx="41910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047011" y="209702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4116149"/>
            <a:ext cx="440818" cy="641190"/>
          </a:xfrm>
          <a:prstGeom prst="rect">
            <a:avLst/>
          </a:prstGeom>
        </p:spPr>
      </p:pic>
      <p:sp>
        <p:nvSpPr>
          <p:cNvPr id="25" name="TextBox 24"/>
          <p:cNvSpPr txBox="1"/>
          <p:nvPr/>
        </p:nvSpPr>
        <p:spPr>
          <a:xfrm>
            <a:off x="7715250" y="3619500"/>
            <a:ext cx="3801045" cy="194310"/>
          </a:xfrm>
          <a:prstGeom prst="rect">
            <a:avLst/>
          </a:prstGeom>
          <a:noFill/>
        </p:spPr>
        <p:txBody>
          <a:bodyPr wrap="none" lIns="0" rIns="0" tIns="0" bIns="0">
            <a:spAutoFit/>
          </a:bodyPr>
          <a:lstStyle/>
          <a:p>
            <a:r>
              <a:rPr sz="1150" b="0">
                <a:solidFill>
                  <a:srgbClr val="2E2E2E"/>
                </a:solidFill>
                <a:latin typeface="Calibri"/>
              </a:rPr>
              <a:t>▪ 'Others' holds the highest share of 'Slotted (Interlocking Grid)</a:t>
            </a:r>
          </a:p>
        </p:txBody>
      </p:sp>
      <p:sp>
        <p:nvSpPr>
          <p:cNvPr id="26" name="TextBox 25"/>
          <p:cNvSpPr txBox="1"/>
          <p:nvPr/>
        </p:nvSpPr>
        <p:spPr>
          <a:xfrm>
            <a:off x="7715250" y="3794760"/>
            <a:ext cx="833263" cy="194310"/>
          </a:xfrm>
          <a:prstGeom prst="rect">
            <a:avLst/>
          </a:prstGeom>
          <a:noFill/>
        </p:spPr>
        <p:txBody>
          <a:bodyPr wrap="none" lIns="0" rIns="0" tIns="0" bIns="0">
            <a:spAutoFit/>
          </a:bodyPr>
          <a:lstStyle/>
          <a:p>
            <a:r>
              <a:rPr sz="1150" b="0">
                <a:solidFill>
                  <a:srgbClr val="2E2E2E"/>
                </a:solidFill>
                <a:latin typeface="Calibri"/>
              </a:rPr>
              <a:t>Partitions' at</a:t>
            </a:r>
          </a:p>
        </p:txBody>
      </p:sp>
      <p:pic>
        <p:nvPicPr>
          <p:cNvPr id="27" name="Picture 26" descr="lock.png"/>
          <p:cNvPicPr>
            <a:picLocks noChangeAspect="1"/>
          </p:cNvPicPr>
          <p:nvPr/>
        </p:nvPicPr>
        <p:blipFill>
          <a:blip r:embed="rId5"/>
          <a:stretch>
            <a:fillRect/>
          </a:stretch>
        </p:blipFill>
        <p:spPr>
          <a:xfrm>
            <a:off x="8497667" y="3784536"/>
            <a:ext cx="134549" cy="195707"/>
          </a:xfrm>
          <a:prstGeom prst="rect">
            <a:avLst/>
          </a:prstGeom>
        </p:spPr>
      </p:pic>
      <p:sp>
        <p:nvSpPr>
          <p:cNvPr id="28" name="TextBox 27"/>
          <p:cNvSpPr txBox="1"/>
          <p:nvPr/>
        </p:nvSpPr>
        <p:spPr>
          <a:xfrm>
            <a:off x="8672777" y="37947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022597"/>
            <a:ext cx="3886336" cy="194310"/>
          </a:xfrm>
          <a:prstGeom prst="rect">
            <a:avLst/>
          </a:prstGeom>
          <a:noFill/>
        </p:spPr>
        <p:txBody>
          <a:bodyPr wrap="none" lIns="0" rIns="0" tIns="0" bIns="0">
            <a:spAutoFit/>
          </a:bodyPr>
          <a:lstStyle/>
          <a:p>
            <a:r>
              <a:rPr sz="1150" b="0">
                <a:solidFill>
                  <a:srgbClr val="2E2E2E"/>
                </a:solidFill>
                <a:latin typeface="Calibri"/>
              </a:rPr>
              <a:t>▪ 'Slotted (Interlocking Grid) Partitions' is the most concentrated</a:t>
            </a:r>
          </a:p>
        </p:txBody>
      </p:sp>
      <p:sp>
        <p:nvSpPr>
          <p:cNvPr id="30" name="TextBox 29"/>
          <p:cNvSpPr txBox="1"/>
          <p:nvPr/>
        </p:nvSpPr>
        <p:spPr>
          <a:xfrm>
            <a:off x="7715250" y="4197857"/>
            <a:ext cx="2026480" cy="194310"/>
          </a:xfrm>
          <a:prstGeom prst="rect">
            <a:avLst/>
          </a:prstGeom>
          <a:noFill/>
        </p:spPr>
        <p:txBody>
          <a:bodyPr wrap="none" lIns="0" rIns="0" tIns="0" bIns="0">
            <a:spAutoFit/>
          </a:bodyPr>
          <a:lstStyle/>
          <a:p>
            <a:r>
              <a:rPr sz="1150" b="0">
                <a:solidFill>
                  <a:srgbClr val="2E2E2E"/>
                </a:solidFill>
                <a:latin typeface="Calibri"/>
              </a:rPr>
              <a:t>partition type sub-segment, with</a:t>
            </a:r>
          </a:p>
        </p:txBody>
      </p:sp>
      <p:pic>
        <p:nvPicPr>
          <p:cNvPr id="31" name="Picture 30" descr="lock.png"/>
          <p:cNvPicPr>
            <a:picLocks noChangeAspect="1"/>
          </p:cNvPicPr>
          <p:nvPr/>
        </p:nvPicPr>
        <p:blipFill>
          <a:blip r:embed="rId5"/>
          <a:stretch>
            <a:fillRect/>
          </a:stretch>
        </p:blipFill>
        <p:spPr>
          <a:xfrm>
            <a:off x="9690884" y="4187634"/>
            <a:ext cx="134549" cy="195707"/>
          </a:xfrm>
          <a:prstGeom prst="rect">
            <a:avLst/>
          </a:prstGeom>
        </p:spPr>
      </p:pic>
      <p:sp>
        <p:nvSpPr>
          <p:cNvPr id="32" name="TextBox 31"/>
          <p:cNvSpPr txBox="1"/>
          <p:nvPr/>
        </p:nvSpPr>
        <p:spPr>
          <a:xfrm>
            <a:off x="9865994" y="4197857"/>
            <a:ext cx="1462819" cy="194310"/>
          </a:xfrm>
          <a:prstGeom prst="rect">
            <a:avLst/>
          </a:prstGeom>
          <a:noFill/>
        </p:spPr>
        <p:txBody>
          <a:bodyPr wrap="none" lIns="0" rIns="0" tIns="0" bIns="0">
            <a:spAutoFit/>
          </a:bodyPr>
          <a:lstStyle/>
          <a:p>
            <a:r>
              <a:rPr sz="1150" b="0">
                <a:solidFill>
                  <a:srgbClr val="2E2E2E"/>
                </a:solidFill>
                <a:latin typeface="Calibri"/>
              </a:rPr>
              <a:t>of its value via 'Others'.</a:t>
            </a:r>
          </a:p>
        </p:txBody>
      </p:sp>
      <p:sp>
        <p:nvSpPr>
          <p:cNvPr id="33" name="TextBox 32"/>
          <p:cNvSpPr txBox="1"/>
          <p:nvPr/>
        </p:nvSpPr>
        <p:spPr>
          <a:xfrm>
            <a:off x="7715250" y="442569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4" name="Picture 33" descr="lock.png"/>
          <p:cNvPicPr>
            <a:picLocks noChangeAspect="1"/>
          </p:cNvPicPr>
          <p:nvPr/>
        </p:nvPicPr>
        <p:blipFill>
          <a:blip r:embed="rId5"/>
          <a:stretch>
            <a:fillRect/>
          </a:stretch>
        </p:blipFill>
        <p:spPr>
          <a:xfrm>
            <a:off x="9685465" y="4415472"/>
            <a:ext cx="134549" cy="195707"/>
          </a:xfrm>
          <a:prstGeom prst="rect">
            <a:avLst/>
          </a:prstGeom>
        </p:spPr>
      </p:pic>
      <p:sp>
        <p:nvSpPr>
          <p:cNvPr id="35" name="TextBox 34"/>
          <p:cNvSpPr txBox="1"/>
          <p:nvPr/>
        </p:nvSpPr>
        <p:spPr>
          <a:xfrm>
            <a:off x="9860574" y="442569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6" name="TextBox 35"/>
          <p:cNvSpPr txBox="1"/>
          <p:nvPr/>
        </p:nvSpPr>
        <p:spPr>
          <a:xfrm>
            <a:off x="7715250" y="46009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7" name="lockshield_17"/>
          <p:cNvSpPr/>
          <p:nvPr/>
        </p:nvSpPr>
        <p:spPr>
          <a:xfrm>
            <a:off x="238125" y="3486150"/>
            <a:ext cx="7096125" cy="3086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Partition Type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Partition Type × End Use, 2026E–2036F</a:t>
            </a:r>
          </a:p>
        </p:txBody>
      </p:sp>
      <p:graphicFrame>
        <p:nvGraphicFramePr>
          <p:cNvPr id="13" name="Table 12"/>
          <p:cNvGraphicFramePr>
            <a:graphicFrameLocks noGrp="1"/>
          </p:cNvGraphicFramePr>
          <p:nvPr/>
        </p:nvGraphicFramePr>
        <p:xfrm>
          <a:off x="152400" y="1238250"/>
          <a:ext cx="11887207" cy="1866897"/>
        </p:xfrm>
        <a:graphic>
          <a:graphicData uri="http://schemas.openxmlformats.org/drawingml/2006/table">
            <a:tbl>
              <a:tblPr>
                <a:tableStyleId>{5C22544A-7EE6-4342-B048-85BDC9FD1C3A}</a:tableStyleId>
              </a:tblPr>
              <a:tblGrid>
                <a:gridCol w="2338807"/>
                <a:gridCol w="596775"/>
                <a:gridCol w="596775"/>
                <a:gridCol w="596775"/>
                <a:gridCol w="596775"/>
                <a:gridCol w="596775"/>
                <a:gridCol w="596775"/>
                <a:gridCol w="596775"/>
                <a:gridCol w="596775"/>
                <a:gridCol w="596775"/>
                <a:gridCol w="596775"/>
                <a:gridCol w="596775"/>
                <a:gridCol w="596775"/>
                <a:gridCol w="596775"/>
                <a:gridCol w="596775"/>
                <a:gridCol w="596775"/>
                <a:gridCol w="596775"/>
              </a:tblGrid>
              <a:tr h="631697">
                <a:tc rowSpan="2">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53340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'Flat Dividers &amp; Layer Pads × Food &amp; Beverage' ranks highest (5/5); 'Slotted Partitions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078717" y="2344368"/>
            <a:ext cx="366712" cy="533400"/>
          </a:xfrm>
          <a:prstGeom prst="rect">
            <a:avLst/>
          </a:prstGeom>
        </p:spPr>
      </p:pic>
      <p:sp>
        <p:nvSpPr>
          <p:cNvPr id="33" name="TextBox 32"/>
          <p:cNvSpPr txBox="1"/>
          <p:nvPr/>
        </p:nvSpPr>
        <p:spPr>
          <a:xfrm>
            <a:off x="276225" y="3867150"/>
            <a:ext cx="3433067" cy="194310"/>
          </a:xfrm>
          <a:prstGeom prst="rect">
            <a:avLst/>
          </a:prstGeom>
          <a:noFill/>
        </p:spPr>
        <p:txBody>
          <a:bodyPr wrap="none" lIns="0" rIns="0" tIns="0" bIns="0">
            <a:spAutoFit/>
          </a:bodyPr>
          <a:lstStyle/>
          <a:p>
            <a:r>
              <a:rPr sz="1150" b="0">
                <a:solidFill>
                  <a:srgbClr val="2E2E2E"/>
                </a:solidFill>
                <a:latin typeface="Calibri"/>
              </a:rPr>
              <a:t>▪ 1. Flat Dividers &amp; Layer Pads × Electronics &amp; Electrical –</a:t>
            </a:r>
          </a:p>
        </p:txBody>
      </p:sp>
      <p:pic>
        <p:nvPicPr>
          <p:cNvPr id="34" name="Picture 33" descr="lock.png"/>
          <p:cNvPicPr>
            <a:picLocks noChangeAspect="1"/>
          </p:cNvPicPr>
          <p:nvPr/>
        </p:nvPicPr>
        <p:blipFill>
          <a:blip r:embed="rId4"/>
          <a:stretch>
            <a:fillRect/>
          </a:stretch>
        </p:blipFill>
        <p:spPr>
          <a:xfrm>
            <a:off x="3658446" y="3856926"/>
            <a:ext cx="134549" cy="195707"/>
          </a:xfrm>
          <a:prstGeom prst="rect">
            <a:avLst/>
          </a:prstGeom>
        </p:spPr>
      </p:pic>
      <p:sp>
        <p:nvSpPr>
          <p:cNvPr id="35" name="TextBox 34"/>
          <p:cNvSpPr txBox="1"/>
          <p:nvPr/>
        </p:nvSpPr>
        <p:spPr>
          <a:xfrm>
            <a:off x="3833556" y="38671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95707" y="3856926"/>
            <a:ext cx="134549" cy="195707"/>
          </a:xfrm>
          <a:prstGeom prst="rect">
            <a:avLst/>
          </a:prstGeom>
        </p:spPr>
      </p:pic>
      <p:sp>
        <p:nvSpPr>
          <p:cNvPr id="37" name="TextBox 36"/>
          <p:cNvSpPr txBox="1"/>
          <p:nvPr/>
        </p:nvSpPr>
        <p:spPr>
          <a:xfrm>
            <a:off x="4070817" y="38671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094987"/>
            <a:ext cx="3099289" cy="194310"/>
          </a:xfrm>
          <a:prstGeom prst="rect">
            <a:avLst/>
          </a:prstGeom>
          <a:noFill/>
        </p:spPr>
        <p:txBody>
          <a:bodyPr wrap="none" lIns="0" rIns="0" tIns="0" bIns="0">
            <a:spAutoFit/>
          </a:bodyPr>
          <a:lstStyle/>
          <a:p>
            <a:r>
              <a:rPr sz="1150" b="0">
                <a:solidFill>
                  <a:srgbClr val="2E2E2E"/>
                </a:solidFill>
                <a:latin typeface="Calibri"/>
              </a:rPr>
              <a:t>▪ 2. Flat Dividers &amp; Layer Pads × Food &amp; Beverage –</a:t>
            </a:r>
          </a:p>
        </p:txBody>
      </p:sp>
      <p:pic>
        <p:nvPicPr>
          <p:cNvPr id="39" name="Picture 38" descr="lock.png"/>
          <p:cNvPicPr>
            <a:picLocks noChangeAspect="1"/>
          </p:cNvPicPr>
          <p:nvPr/>
        </p:nvPicPr>
        <p:blipFill>
          <a:blip r:embed="rId4"/>
          <a:stretch>
            <a:fillRect/>
          </a:stretch>
        </p:blipFill>
        <p:spPr>
          <a:xfrm>
            <a:off x="3324668" y="4084764"/>
            <a:ext cx="134549" cy="195707"/>
          </a:xfrm>
          <a:prstGeom prst="rect">
            <a:avLst/>
          </a:prstGeom>
        </p:spPr>
      </p:pic>
      <p:sp>
        <p:nvSpPr>
          <p:cNvPr id="40" name="TextBox 39"/>
          <p:cNvSpPr txBox="1"/>
          <p:nvPr/>
        </p:nvSpPr>
        <p:spPr>
          <a:xfrm>
            <a:off x="3499777" y="409498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561929" y="4084764"/>
            <a:ext cx="134549" cy="195707"/>
          </a:xfrm>
          <a:prstGeom prst="rect">
            <a:avLst/>
          </a:prstGeom>
        </p:spPr>
      </p:pic>
      <p:sp>
        <p:nvSpPr>
          <p:cNvPr id="42" name="TextBox 41"/>
          <p:cNvSpPr txBox="1"/>
          <p:nvPr/>
        </p:nvSpPr>
        <p:spPr>
          <a:xfrm>
            <a:off x="3737038" y="409498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22825"/>
            <a:ext cx="4236913" cy="194310"/>
          </a:xfrm>
          <a:prstGeom prst="rect">
            <a:avLst/>
          </a:prstGeom>
          <a:noFill/>
        </p:spPr>
        <p:txBody>
          <a:bodyPr wrap="none" lIns="0" rIns="0" tIns="0" bIns="0">
            <a:spAutoFit/>
          </a:bodyPr>
          <a:lstStyle/>
          <a:p>
            <a:r>
              <a:rPr sz="1150" b="0">
                <a:solidFill>
                  <a:srgbClr val="2E2E2E"/>
                </a:solidFill>
                <a:latin typeface="Calibri"/>
              </a:rPr>
              <a:t>▪ 3. Flat Dividers &amp; Layer Pads × Glassware, Ceramics &amp; Home Goods –</a:t>
            </a:r>
          </a:p>
        </p:txBody>
      </p:sp>
      <p:pic>
        <p:nvPicPr>
          <p:cNvPr id="44" name="Picture 43" descr="lock.png"/>
          <p:cNvPicPr>
            <a:picLocks noChangeAspect="1"/>
          </p:cNvPicPr>
          <p:nvPr/>
        </p:nvPicPr>
        <p:blipFill>
          <a:blip r:embed="rId4"/>
          <a:stretch>
            <a:fillRect/>
          </a:stretch>
        </p:blipFill>
        <p:spPr>
          <a:xfrm>
            <a:off x="4462292" y="4312602"/>
            <a:ext cx="134549" cy="195707"/>
          </a:xfrm>
          <a:prstGeom prst="rect">
            <a:avLst/>
          </a:prstGeom>
        </p:spPr>
      </p:pic>
      <p:sp>
        <p:nvSpPr>
          <p:cNvPr id="45" name="TextBox 44"/>
          <p:cNvSpPr txBox="1"/>
          <p:nvPr/>
        </p:nvSpPr>
        <p:spPr>
          <a:xfrm>
            <a:off x="4637401" y="43228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699553" y="4312602"/>
            <a:ext cx="134549" cy="195707"/>
          </a:xfrm>
          <a:prstGeom prst="rect">
            <a:avLst/>
          </a:prstGeom>
        </p:spPr>
      </p:pic>
      <p:sp>
        <p:nvSpPr>
          <p:cNvPr id="47" name="TextBox 46"/>
          <p:cNvSpPr txBox="1"/>
          <p:nvPr/>
        </p:nvSpPr>
        <p:spPr>
          <a:xfrm>
            <a:off x="4874662" y="4322825"/>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8" name="TextBox 47"/>
          <p:cNvSpPr txBox="1"/>
          <p:nvPr/>
        </p:nvSpPr>
        <p:spPr>
          <a:xfrm>
            <a:off x="276225" y="4550663"/>
            <a:ext cx="2485739" cy="194310"/>
          </a:xfrm>
          <a:prstGeom prst="rect">
            <a:avLst/>
          </a:prstGeom>
          <a:noFill/>
        </p:spPr>
        <p:txBody>
          <a:bodyPr wrap="none" lIns="0" rIns="0" tIns="0" bIns="0">
            <a:spAutoFit/>
          </a:bodyPr>
          <a:lstStyle/>
          <a:p>
            <a:r>
              <a:rPr sz="1150" b="0">
                <a:solidFill>
                  <a:srgbClr val="2E2E2E"/>
                </a:solidFill>
                <a:latin typeface="Calibri"/>
              </a:rPr>
              <a:t>▪ 4. Flat Dividers &amp; Layer Pads × Others –</a:t>
            </a:r>
          </a:p>
        </p:txBody>
      </p:sp>
      <p:pic>
        <p:nvPicPr>
          <p:cNvPr id="49" name="Picture 48" descr="lock.png"/>
          <p:cNvPicPr>
            <a:picLocks noChangeAspect="1"/>
          </p:cNvPicPr>
          <p:nvPr/>
        </p:nvPicPr>
        <p:blipFill>
          <a:blip r:embed="rId4"/>
          <a:stretch>
            <a:fillRect/>
          </a:stretch>
        </p:blipFill>
        <p:spPr>
          <a:xfrm>
            <a:off x="2711118" y="4540440"/>
            <a:ext cx="134549" cy="195707"/>
          </a:xfrm>
          <a:prstGeom prst="rect">
            <a:avLst/>
          </a:prstGeom>
        </p:spPr>
      </p:pic>
      <p:sp>
        <p:nvSpPr>
          <p:cNvPr id="50" name="TextBox 49"/>
          <p:cNvSpPr txBox="1"/>
          <p:nvPr/>
        </p:nvSpPr>
        <p:spPr>
          <a:xfrm>
            <a:off x="2886227" y="45506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948379" y="4540440"/>
            <a:ext cx="134549" cy="195707"/>
          </a:xfrm>
          <a:prstGeom prst="rect">
            <a:avLst/>
          </a:prstGeom>
        </p:spPr>
      </p:pic>
      <p:sp>
        <p:nvSpPr>
          <p:cNvPr id="52" name="TextBox 51"/>
          <p:cNvSpPr txBox="1"/>
          <p:nvPr/>
        </p:nvSpPr>
        <p:spPr>
          <a:xfrm>
            <a:off x="3123488" y="455066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778501"/>
            <a:ext cx="4302521" cy="194310"/>
          </a:xfrm>
          <a:prstGeom prst="rect">
            <a:avLst/>
          </a:prstGeom>
          <a:noFill/>
        </p:spPr>
        <p:txBody>
          <a:bodyPr wrap="none" lIns="0" rIns="0" tIns="0" bIns="0">
            <a:spAutoFit/>
          </a:bodyPr>
          <a:lstStyle/>
          <a:p>
            <a:r>
              <a:rPr sz="1150" b="0">
                <a:solidFill>
                  <a:srgbClr val="2E2E2E"/>
                </a:solidFill>
                <a:latin typeface="Calibri"/>
              </a:rPr>
              <a:t>▪ 5. Flat Dividers &amp; Layer Pads × Automotive &amp; Industrial Components –</a:t>
            </a:r>
          </a:p>
        </p:txBody>
      </p:sp>
      <p:pic>
        <p:nvPicPr>
          <p:cNvPr id="54" name="Picture 53" descr="lock.png"/>
          <p:cNvPicPr>
            <a:picLocks noChangeAspect="1"/>
          </p:cNvPicPr>
          <p:nvPr/>
        </p:nvPicPr>
        <p:blipFill>
          <a:blip r:embed="rId4"/>
          <a:stretch>
            <a:fillRect/>
          </a:stretch>
        </p:blipFill>
        <p:spPr>
          <a:xfrm>
            <a:off x="4527900" y="4768278"/>
            <a:ext cx="134549" cy="195707"/>
          </a:xfrm>
          <a:prstGeom prst="rect">
            <a:avLst/>
          </a:prstGeom>
        </p:spPr>
      </p:pic>
      <p:sp>
        <p:nvSpPr>
          <p:cNvPr id="55" name="TextBox 54"/>
          <p:cNvSpPr txBox="1"/>
          <p:nvPr/>
        </p:nvSpPr>
        <p:spPr>
          <a:xfrm>
            <a:off x="4703010" y="47785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765161" y="4768278"/>
            <a:ext cx="134549" cy="195707"/>
          </a:xfrm>
          <a:prstGeom prst="rect">
            <a:avLst/>
          </a:prstGeom>
        </p:spPr>
      </p:pic>
      <p:sp>
        <p:nvSpPr>
          <p:cNvPr id="57" name="TextBox 56"/>
          <p:cNvSpPr txBox="1"/>
          <p:nvPr/>
        </p:nvSpPr>
        <p:spPr>
          <a:xfrm>
            <a:off x="4940271" y="477850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867150"/>
            <a:ext cx="1657350" cy="194310"/>
          </a:xfrm>
          <a:prstGeom prst="rect">
            <a:avLst/>
          </a:prstGeom>
          <a:noFill/>
        </p:spPr>
        <p:txBody>
          <a:bodyPr wrap="none" lIns="0" rIns="0" tIns="0" bIns="0">
            <a:spAutoFit/>
          </a:bodyPr>
          <a:lstStyle/>
          <a:p>
            <a:r>
              <a:rPr sz="1150" b="0">
                <a:solidFill>
                  <a:srgbClr val="2E2E2E"/>
                </a:solidFill>
                <a:latin typeface="Calibri"/>
              </a:rPr>
              <a:t>▪ 'Flat Dividers &amp; Layer Pads</a:t>
            </a:r>
          </a:p>
        </p:txBody>
      </p:sp>
      <p:sp>
        <p:nvSpPr>
          <p:cNvPr id="59" name="TextBox 58"/>
          <p:cNvSpPr txBox="1"/>
          <p:nvPr/>
        </p:nvSpPr>
        <p:spPr>
          <a:xfrm>
            <a:off x="6029325" y="4042410"/>
            <a:ext cx="1564940" cy="194310"/>
          </a:xfrm>
          <a:prstGeom prst="rect">
            <a:avLst/>
          </a:prstGeom>
          <a:noFill/>
        </p:spPr>
        <p:txBody>
          <a:bodyPr wrap="none" lIns="0" rIns="0" tIns="0" bIns="0">
            <a:spAutoFit/>
          </a:bodyPr>
          <a:lstStyle/>
          <a:p>
            <a:r>
              <a:rPr sz="1150" b="0">
                <a:solidFill>
                  <a:srgbClr val="2E2E2E"/>
                </a:solidFill>
                <a:latin typeface="Calibri"/>
              </a:rPr>
              <a:t>× Electronics &amp; Electrical'</a:t>
            </a:r>
          </a:p>
        </p:txBody>
      </p:sp>
      <p:sp>
        <p:nvSpPr>
          <p:cNvPr id="60" name="TextBox 59"/>
          <p:cNvSpPr txBox="1"/>
          <p:nvPr/>
        </p:nvSpPr>
        <p:spPr>
          <a:xfrm>
            <a:off x="6029325" y="421767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07446"/>
            <a:ext cx="134549" cy="195707"/>
          </a:xfrm>
          <a:prstGeom prst="rect">
            <a:avLst/>
          </a:prstGeom>
        </p:spPr>
      </p:pic>
      <p:sp>
        <p:nvSpPr>
          <p:cNvPr id="62" name="TextBox 61"/>
          <p:cNvSpPr txBox="1"/>
          <p:nvPr/>
        </p:nvSpPr>
        <p:spPr>
          <a:xfrm>
            <a:off x="6510192" y="421767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439292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382706"/>
            <a:ext cx="134549" cy="195707"/>
          </a:xfrm>
          <a:prstGeom prst="rect">
            <a:avLst/>
          </a:prstGeom>
        </p:spPr>
      </p:pic>
      <p:sp>
        <p:nvSpPr>
          <p:cNvPr id="65" name="TextBox 64"/>
          <p:cNvSpPr txBox="1"/>
          <p:nvPr/>
        </p:nvSpPr>
        <p:spPr>
          <a:xfrm>
            <a:off x="6302527" y="439292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456818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3867150"/>
            <a:ext cx="1657350" cy="194310"/>
          </a:xfrm>
          <a:prstGeom prst="rect">
            <a:avLst/>
          </a:prstGeom>
          <a:noFill/>
        </p:spPr>
        <p:txBody>
          <a:bodyPr wrap="none" lIns="0" rIns="0" tIns="0" bIns="0">
            <a:spAutoFit/>
          </a:bodyPr>
          <a:lstStyle/>
          <a:p>
            <a:r>
              <a:rPr sz="1150" b="0">
                <a:solidFill>
                  <a:srgbClr val="2E2E2E"/>
                </a:solidFill>
                <a:latin typeface="Calibri"/>
              </a:rPr>
              <a:t>▪ 'Flat Dividers &amp; Layer Pads</a:t>
            </a:r>
          </a:p>
        </p:txBody>
      </p:sp>
      <p:sp>
        <p:nvSpPr>
          <p:cNvPr id="68" name="TextBox 67"/>
          <p:cNvSpPr txBox="1"/>
          <p:nvPr/>
        </p:nvSpPr>
        <p:spPr>
          <a:xfrm>
            <a:off x="8124825" y="4042410"/>
            <a:ext cx="1564940" cy="194310"/>
          </a:xfrm>
          <a:prstGeom prst="rect">
            <a:avLst/>
          </a:prstGeom>
          <a:noFill/>
        </p:spPr>
        <p:txBody>
          <a:bodyPr wrap="none" lIns="0" rIns="0" tIns="0" bIns="0">
            <a:spAutoFit/>
          </a:bodyPr>
          <a:lstStyle/>
          <a:p>
            <a:r>
              <a:rPr sz="1150" b="0">
                <a:solidFill>
                  <a:srgbClr val="2E2E2E"/>
                </a:solidFill>
                <a:latin typeface="Calibri"/>
              </a:rPr>
              <a:t>× Electronics &amp; Electrical'</a:t>
            </a:r>
          </a:p>
        </p:txBody>
      </p:sp>
      <p:sp>
        <p:nvSpPr>
          <p:cNvPr id="69" name="TextBox 68"/>
          <p:cNvSpPr txBox="1"/>
          <p:nvPr/>
        </p:nvSpPr>
        <p:spPr>
          <a:xfrm>
            <a:off x="8124825" y="421767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07446"/>
            <a:ext cx="134549" cy="195707"/>
          </a:xfrm>
          <a:prstGeom prst="rect">
            <a:avLst/>
          </a:prstGeom>
        </p:spPr>
      </p:pic>
      <p:sp>
        <p:nvSpPr>
          <p:cNvPr id="71" name="TextBox 70"/>
          <p:cNvSpPr txBox="1"/>
          <p:nvPr/>
        </p:nvSpPr>
        <p:spPr>
          <a:xfrm>
            <a:off x="8938584" y="42176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07446"/>
            <a:ext cx="134549" cy="195707"/>
          </a:xfrm>
          <a:prstGeom prst="rect">
            <a:avLst/>
          </a:prstGeom>
        </p:spPr>
      </p:pic>
      <p:sp>
        <p:nvSpPr>
          <p:cNvPr id="73" name="TextBox 72"/>
          <p:cNvSpPr txBox="1"/>
          <p:nvPr/>
        </p:nvSpPr>
        <p:spPr>
          <a:xfrm>
            <a:off x="8124825" y="439292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56818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Board Construction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Board Construction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board construction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Board Construction × End Use, 2026E and 2036F (US$ Mn)</a:t>
            </a:r>
          </a:p>
        </p:txBody>
      </p:sp>
      <p:graphicFrame>
        <p:nvGraphicFramePr>
          <p:cNvPr id="13" name="Table 12"/>
          <p:cNvGraphicFramePr>
            <a:graphicFrameLocks noGrp="1"/>
          </p:cNvGraphicFramePr>
          <p:nvPr/>
        </p:nvGraphicFramePr>
        <p:xfrm>
          <a:off x="152400" y="1238250"/>
          <a:ext cx="11887196" cy="1866897"/>
        </p:xfrm>
        <a:graphic>
          <a:graphicData uri="http://schemas.openxmlformats.org/drawingml/2006/table">
            <a:tbl>
              <a:tblPr>
                <a:tableStyleId>{5C22544A-7EE6-4342-B048-85BDC9FD1C3A}</a:tableStyleId>
              </a:tblPr>
              <a:tblGrid>
                <a:gridCol w="1194636"/>
                <a:gridCol w="668285"/>
                <a:gridCol w="668285"/>
                <a:gridCol w="668285"/>
                <a:gridCol w="668285"/>
                <a:gridCol w="668285"/>
                <a:gridCol w="668285"/>
                <a:gridCol w="668285"/>
                <a:gridCol w="668285"/>
                <a:gridCol w="668285"/>
                <a:gridCol w="668285"/>
                <a:gridCol w="668285"/>
                <a:gridCol w="668285"/>
                <a:gridCol w="668285"/>
                <a:gridCol w="668285"/>
                <a:gridCol w="668285"/>
                <a:gridCol w="668285"/>
              </a:tblGrid>
              <a:tr h="631697">
                <a:tc rowSpan="2">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06626" y="2344368"/>
            <a:ext cx="366712" cy="533400"/>
          </a:xfrm>
          <a:prstGeom prst="rect">
            <a:avLst/>
          </a:prstGeom>
        </p:spPr>
      </p:pic>
      <p:sp>
        <p:nvSpPr>
          <p:cNvPr id="21" name="TextBox 20"/>
          <p:cNvSpPr txBox="1"/>
          <p:nvPr/>
        </p:nvSpPr>
        <p:spPr>
          <a:xfrm>
            <a:off x="276225" y="3867150"/>
            <a:ext cx="9301026" cy="194310"/>
          </a:xfrm>
          <a:prstGeom prst="rect">
            <a:avLst/>
          </a:prstGeom>
          <a:noFill/>
        </p:spPr>
        <p:txBody>
          <a:bodyPr wrap="none" lIns="0" rIns="0" tIns="0" bIns="0">
            <a:spAutoFit/>
          </a:bodyPr>
          <a:lstStyle/>
          <a:p>
            <a:r>
              <a:rPr sz="1150" b="0">
                <a:solidFill>
                  <a:srgbClr val="2E2E2E"/>
                </a:solidFill>
                <a:latin typeface="Calibri"/>
              </a:rPr>
              <a:t>Triple wall segment is projected to account for the largest share of the global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9526405" y="3856926"/>
            <a:ext cx="134549" cy="195707"/>
          </a:xfrm>
          <a:prstGeom prst="rect">
            <a:avLst/>
          </a:prstGeom>
        </p:spPr>
      </p:pic>
      <p:sp>
        <p:nvSpPr>
          <p:cNvPr id="23" name="TextBox 22"/>
          <p:cNvSpPr txBox="1"/>
          <p:nvPr/>
        </p:nvSpPr>
        <p:spPr>
          <a:xfrm>
            <a:off x="9701514" y="3867150"/>
            <a:ext cx="2154845" cy="194310"/>
          </a:xfrm>
          <a:prstGeom prst="rect">
            <a:avLst/>
          </a:prstGeom>
          <a:noFill/>
        </p:spPr>
        <p:txBody>
          <a:bodyPr wrap="none" lIns="0" rIns="0" tIns="0" bIns="0">
            <a:spAutoFit/>
          </a:bodyPr>
          <a:lstStyle/>
          <a:p>
            <a:r>
              <a:rPr sz="1150" b="0">
                <a:solidFill>
                  <a:srgbClr val="2E2E2E"/>
                </a:solidFill>
                <a:latin typeface="Calibri"/>
              </a:rPr>
              <a:t>Mn in 2036. 'Double Wall × Others'</a:t>
            </a:r>
          </a:p>
        </p:txBody>
      </p:sp>
      <p:sp>
        <p:nvSpPr>
          <p:cNvPr id="24" name="TextBox 23"/>
          <p:cNvSpPr txBox="1"/>
          <p:nvPr/>
        </p:nvSpPr>
        <p:spPr>
          <a:xfrm>
            <a:off x="276225" y="4042410"/>
            <a:ext cx="2435535" cy="194310"/>
          </a:xfrm>
          <a:prstGeom prst="rect">
            <a:avLst/>
          </a:prstGeom>
          <a:noFill/>
        </p:spPr>
        <p:txBody>
          <a:bodyPr wrap="none" lIns="0" rIns="0" tIns="0" bIns="0">
            <a:spAutoFit/>
          </a:bodyPr>
          <a:lstStyle/>
          <a:p>
            <a:r>
              <a:rPr sz="1150" b="0">
                <a:solidFill>
                  <a:srgbClr val="2E2E2E"/>
                </a:solidFill>
                <a:latin typeface="Calibri"/>
              </a:rPr>
              <a:t>is the single largest cross-sectional cell (</a:t>
            </a:r>
          </a:p>
        </p:txBody>
      </p:sp>
      <p:pic>
        <p:nvPicPr>
          <p:cNvPr id="25" name="Picture 24" descr="lock.png"/>
          <p:cNvPicPr>
            <a:picLocks noChangeAspect="1"/>
          </p:cNvPicPr>
          <p:nvPr/>
        </p:nvPicPr>
        <p:blipFill>
          <a:blip r:embed="rId4"/>
          <a:stretch>
            <a:fillRect/>
          </a:stretch>
        </p:blipFill>
        <p:spPr>
          <a:xfrm>
            <a:off x="2660913" y="4032186"/>
            <a:ext cx="134549" cy="195707"/>
          </a:xfrm>
          <a:prstGeom prst="rect">
            <a:avLst/>
          </a:prstGeom>
        </p:spPr>
      </p:pic>
      <p:sp>
        <p:nvSpPr>
          <p:cNvPr id="26" name="TextBox 25"/>
          <p:cNvSpPr txBox="1"/>
          <p:nvPr/>
        </p:nvSpPr>
        <p:spPr>
          <a:xfrm>
            <a:off x="2836023" y="4042410"/>
            <a:ext cx="6026578" cy="194310"/>
          </a:xfrm>
          <a:prstGeom prst="rect">
            <a:avLst/>
          </a:prstGeom>
          <a:noFill/>
        </p:spPr>
        <p:txBody>
          <a:bodyPr wrap="none" lIns="0" rIns="0" tIns="0" bIns="0">
            <a:spAutoFit/>
          </a:bodyPr>
          <a:lstStyle/>
          <a:p>
            <a:r>
              <a:rPr sz="1150" b="0">
                <a:solidFill>
                  <a:srgbClr val="2E2E2E"/>
                </a:solidFill>
                <a:latin typeface="Calibri"/>
              </a:rPr>
              <a:t>US$ Mn, 2026E), while 'Triple Wall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8811755" y="4032186"/>
            <a:ext cx="134549" cy="195707"/>
          </a:xfrm>
          <a:prstGeom prst="rect">
            <a:avLst/>
          </a:prstGeom>
        </p:spPr>
      </p:pic>
      <p:sp>
        <p:nvSpPr>
          <p:cNvPr id="28" name="TextBox 27"/>
          <p:cNvSpPr txBox="1"/>
          <p:nvPr/>
        </p:nvSpPr>
        <p:spPr>
          <a:xfrm>
            <a:off x="8986865" y="404241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29" name="TextBox 28"/>
          <p:cNvSpPr txBox="1"/>
          <p:nvPr/>
        </p:nvSpPr>
        <p:spPr>
          <a:xfrm>
            <a:off x="276225" y="4270247"/>
            <a:ext cx="5903652" cy="194310"/>
          </a:xfrm>
          <a:prstGeom prst="rect">
            <a:avLst/>
          </a:prstGeom>
          <a:noFill/>
        </p:spPr>
        <p:txBody>
          <a:bodyPr wrap="none" lIns="0" rIns="0" tIns="0" bIns="0">
            <a:spAutoFit/>
          </a:bodyPr>
          <a:lstStyle/>
          <a:p>
            <a:r>
              <a:rPr sz="1150" b="0">
                <a:solidFill>
                  <a:srgbClr val="2E2E2E"/>
                </a:solidFill>
                <a:latin typeface="Calibri"/>
              </a:rPr>
              <a:t>Combined, the top three board construction × end use cells generate an absolute $ opportunity of</a:t>
            </a:r>
          </a:p>
        </p:txBody>
      </p:sp>
      <p:pic>
        <p:nvPicPr>
          <p:cNvPr id="30" name="Picture 29" descr="lock.png"/>
          <p:cNvPicPr>
            <a:picLocks noChangeAspect="1"/>
          </p:cNvPicPr>
          <p:nvPr/>
        </p:nvPicPr>
        <p:blipFill>
          <a:blip r:embed="rId4"/>
          <a:stretch>
            <a:fillRect/>
          </a:stretch>
        </p:blipFill>
        <p:spPr>
          <a:xfrm>
            <a:off x="6129030" y="4260024"/>
            <a:ext cx="134549" cy="195707"/>
          </a:xfrm>
          <a:prstGeom prst="rect">
            <a:avLst/>
          </a:prstGeom>
        </p:spPr>
      </p:pic>
      <p:sp>
        <p:nvSpPr>
          <p:cNvPr id="31" name="TextBox 30"/>
          <p:cNvSpPr txBox="1"/>
          <p:nvPr/>
        </p:nvSpPr>
        <p:spPr>
          <a:xfrm>
            <a:off x="6304140" y="427024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Board Construction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Board Construction × End Use, 2026E (% of each row)</a:t>
            </a:r>
          </a:p>
        </p:txBody>
      </p:sp>
      <p:graphicFrame>
        <p:nvGraphicFramePr>
          <p:cNvPr id="13" name="Table 12"/>
          <p:cNvGraphicFramePr>
            <a:graphicFrameLocks noGrp="1"/>
          </p:cNvGraphicFramePr>
          <p:nvPr/>
        </p:nvGraphicFramePr>
        <p:xfrm>
          <a:off x="152400" y="1238250"/>
          <a:ext cx="11887199" cy="1428752"/>
        </p:xfrm>
        <a:graphic>
          <a:graphicData uri="http://schemas.openxmlformats.org/drawingml/2006/table">
            <a:tbl>
              <a:tblPr>
                <a:tableStyleId>{5C22544A-7EE6-4342-B048-85BDC9FD1C3A}</a:tableStyleId>
              </a:tblPr>
              <a:tblGrid>
                <a:gridCol w="1189472"/>
                <a:gridCol w="1038980"/>
                <a:gridCol w="1746668"/>
                <a:gridCol w="1503046"/>
                <a:gridCol w="1320921"/>
                <a:gridCol w="2056497"/>
                <a:gridCol w="1973435"/>
                <a:gridCol w="514374"/>
                <a:gridCol w="543806"/>
              </a:tblGrid>
              <a:tr h="438912">
                <a:tc>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7286625"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0670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Board Construction, 2026E (% share)</a:t>
            </a:r>
          </a:p>
        </p:txBody>
      </p:sp>
      <p:graphicFrame>
        <p:nvGraphicFramePr>
          <p:cNvPr id="17" name="Chart 16"/>
          <p:cNvGraphicFramePr>
            <a:graphicFrameLocks noGrp="1"/>
          </p:cNvGraphicFramePr>
          <p:nvPr/>
        </p:nvGraphicFramePr>
        <p:xfrm>
          <a:off x="238125" y="3295650"/>
          <a:ext cx="7096125" cy="32766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009900"/>
            <a:ext cx="4457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0956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3337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419475"/>
            <a:ext cx="41910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504045" y="1905381"/>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990419"/>
            <a:ext cx="440818" cy="641190"/>
          </a:xfrm>
          <a:prstGeom prst="rect">
            <a:avLst/>
          </a:prstGeom>
        </p:spPr>
      </p:pic>
      <p:sp>
        <p:nvSpPr>
          <p:cNvPr id="25" name="TextBox 24"/>
          <p:cNvSpPr txBox="1"/>
          <p:nvPr/>
        </p:nvSpPr>
        <p:spPr>
          <a:xfrm>
            <a:off x="7715250" y="3429000"/>
            <a:ext cx="3174342" cy="194310"/>
          </a:xfrm>
          <a:prstGeom prst="rect">
            <a:avLst/>
          </a:prstGeom>
          <a:noFill/>
        </p:spPr>
        <p:txBody>
          <a:bodyPr wrap="none" lIns="0" rIns="0" tIns="0" bIns="0">
            <a:spAutoFit/>
          </a:bodyPr>
          <a:lstStyle/>
          <a:p>
            <a:r>
              <a:rPr sz="1150" b="0">
                <a:solidFill>
                  <a:srgbClr val="2E2E2E"/>
                </a:solidFill>
                <a:latin typeface="Calibri"/>
              </a:rPr>
              <a:t>▪ 'Others' holds the highest share of 'Double Wall' at</a:t>
            </a:r>
          </a:p>
        </p:txBody>
      </p:sp>
      <p:pic>
        <p:nvPicPr>
          <p:cNvPr id="26" name="Picture 25" descr="lock.png"/>
          <p:cNvPicPr>
            <a:picLocks noChangeAspect="1"/>
          </p:cNvPicPr>
          <p:nvPr/>
        </p:nvPicPr>
        <p:blipFill>
          <a:blip r:embed="rId5"/>
          <a:stretch>
            <a:fillRect/>
          </a:stretch>
        </p:blipFill>
        <p:spPr>
          <a:xfrm>
            <a:off x="10838746" y="3418776"/>
            <a:ext cx="134549" cy="195707"/>
          </a:xfrm>
          <a:prstGeom prst="rect">
            <a:avLst/>
          </a:prstGeom>
        </p:spPr>
      </p:pic>
      <p:sp>
        <p:nvSpPr>
          <p:cNvPr id="27" name="TextBox 26"/>
          <p:cNvSpPr txBox="1"/>
          <p:nvPr/>
        </p:nvSpPr>
        <p:spPr>
          <a:xfrm>
            <a:off x="11013855" y="342900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8" name="TextBox 27"/>
          <p:cNvSpPr txBox="1"/>
          <p:nvPr/>
        </p:nvSpPr>
        <p:spPr>
          <a:xfrm>
            <a:off x="7715250" y="3656837"/>
            <a:ext cx="3635027" cy="194310"/>
          </a:xfrm>
          <a:prstGeom prst="rect">
            <a:avLst/>
          </a:prstGeom>
          <a:noFill/>
        </p:spPr>
        <p:txBody>
          <a:bodyPr wrap="none" lIns="0" rIns="0" tIns="0" bIns="0">
            <a:spAutoFit/>
          </a:bodyPr>
          <a:lstStyle/>
          <a:p>
            <a:r>
              <a:rPr sz="1150" b="0">
                <a:solidFill>
                  <a:srgbClr val="2E2E2E"/>
                </a:solidFill>
                <a:latin typeface="Calibri"/>
              </a:rPr>
              <a:t>▪ 'Double Wall' is the most concentrated board construction</a:t>
            </a:r>
          </a:p>
        </p:txBody>
      </p:sp>
      <p:sp>
        <p:nvSpPr>
          <p:cNvPr id="29" name="TextBox 28"/>
          <p:cNvSpPr txBox="1"/>
          <p:nvPr/>
        </p:nvSpPr>
        <p:spPr>
          <a:xfrm>
            <a:off x="7715250" y="383209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0" name="Picture 29" descr="lock.png"/>
          <p:cNvPicPr>
            <a:picLocks noChangeAspect="1"/>
          </p:cNvPicPr>
          <p:nvPr/>
        </p:nvPicPr>
        <p:blipFill>
          <a:blip r:embed="rId5"/>
          <a:stretch>
            <a:fillRect/>
          </a:stretch>
        </p:blipFill>
        <p:spPr>
          <a:xfrm>
            <a:off x="8843110" y="3821874"/>
            <a:ext cx="134549" cy="195707"/>
          </a:xfrm>
          <a:prstGeom prst="rect">
            <a:avLst/>
          </a:prstGeom>
        </p:spPr>
      </p:pic>
      <p:sp>
        <p:nvSpPr>
          <p:cNvPr id="31" name="TextBox 30"/>
          <p:cNvSpPr txBox="1"/>
          <p:nvPr/>
        </p:nvSpPr>
        <p:spPr>
          <a:xfrm>
            <a:off x="9018219" y="3832097"/>
            <a:ext cx="1462819" cy="194310"/>
          </a:xfrm>
          <a:prstGeom prst="rect">
            <a:avLst/>
          </a:prstGeom>
          <a:noFill/>
        </p:spPr>
        <p:txBody>
          <a:bodyPr wrap="none" lIns="0" rIns="0" tIns="0" bIns="0">
            <a:spAutoFit/>
          </a:bodyPr>
          <a:lstStyle/>
          <a:p>
            <a:r>
              <a:rPr sz="1150" b="0">
                <a:solidFill>
                  <a:srgbClr val="2E2E2E"/>
                </a:solidFill>
                <a:latin typeface="Calibri"/>
              </a:rPr>
              <a:t>of its value via 'Others'.</a:t>
            </a:r>
          </a:p>
        </p:txBody>
      </p:sp>
      <p:sp>
        <p:nvSpPr>
          <p:cNvPr id="32" name="TextBox 31"/>
          <p:cNvSpPr txBox="1"/>
          <p:nvPr/>
        </p:nvSpPr>
        <p:spPr>
          <a:xfrm>
            <a:off x="7715250" y="405993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3" name="Picture 32" descr="lock.png"/>
          <p:cNvPicPr>
            <a:picLocks noChangeAspect="1"/>
          </p:cNvPicPr>
          <p:nvPr/>
        </p:nvPicPr>
        <p:blipFill>
          <a:blip r:embed="rId5"/>
          <a:stretch>
            <a:fillRect/>
          </a:stretch>
        </p:blipFill>
        <p:spPr>
          <a:xfrm>
            <a:off x="9685465" y="4049712"/>
            <a:ext cx="134549" cy="195707"/>
          </a:xfrm>
          <a:prstGeom prst="rect">
            <a:avLst/>
          </a:prstGeom>
        </p:spPr>
      </p:pic>
      <p:sp>
        <p:nvSpPr>
          <p:cNvPr id="34" name="TextBox 33"/>
          <p:cNvSpPr txBox="1"/>
          <p:nvPr/>
        </p:nvSpPr>
        <p:spPr>
          <a:xfrm>
            <a:off x="9860574" y="405993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5" name="TextBox 34"/>
          <p:cNvSpPr txBox="1"/>
          <p:nvPr/>
        </p:nvSpPr>
        <p:spPr>
          <a:xfrm>
            <a:off x="7715250" y="423519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6" name="lockshield_17"/>
          <p:cNvSpPr/>
          <p:nvPr/>
        </p:nvSpPr>
        <p:spPr>
          <a:xfrm>
            <a:off x="238125" y="3295650"/>
            <a:ext cx="7096125" cy="32766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Board Construction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Board Construction × End Use, 2026E–2036F</a:t>
            </a:r>
          </a:p>
        </p:txBody>
      </p:sp>
      <p:graphicFrame>
        <p:nvGraphicFramePr>
          <p:cNvPr id="13" name="Table 12"/>
          <p:cNvGraphicFramePr>
            <a:graphicFrameLocks noGrp="1"/>
          </p:cNvGraphicFramePr>
          <p:nvPr/>
        </p:nvGraphicFramePr>
        <p:xfrm>
          <a:off x="152400" y="1238250"/>
          <a:ext cx="11887197" cy="1866897"/>
        </p:xfrm>
        <a:graphic>
          <a:graphicData uri="http://schemas.openxmlformats.org/drawingml/2006/table">
            <a:tbl>
              <a:tblPr>
                <a:tableStyleId>{5C22544A-7EE6-4342-B048-85BDC9FD1C3A}</a:tableStyleId>
              </a:tblPr>
              <a:tblGrid>
                <a:gridCol w="986381"/>
                <a:gridCol w="681301"/>
                <a:gridCol w="681301"/>
                <a:gridCol w="681301"/>
                <a:gridCol w="681301"/>
                <a:gridCol w="681301"/>
                <a:gridCol w="681301"/>
                <a:gridCol w="681301"/>
                <a:gridCol w="681301"/>
                <a:gridCol w="681301"/>
                <a:gridCol w="681301"/>
                <a:gridCol w="681301"/>
                <a:gridCol w="681301"/>
                <a:gridCol w="681301"/>
                <a:gridCol w="681301"/>
                <a:gridCol w="681301"/>
                <a:gridCol w="681301"/>
              </a:tblGrid>
              <a:tr h="631697">
                <a:tc rowSpan="2">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53340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'Double Wall × Electronics &amp; Electrical' ranks highest (5/5); 'Single Wall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02499" y="2344368"/>
            <a:ext cx="366712" cy="533400"/>
          </a:xfrm>
          <a:prstGeom prst="rect">
            <a:avLst/>
          </a:prstGeom>
        </p:spPr>
      </p:pic>
      <p:sp>
        <p:nvSpPr>
          <p:cNvPr id="33" name="TextBox 32"/>
          <p:cNvSpPr txBox="1"/>
          <p:nvPr/>
        </p:nvSpPr>
        <p:spPr>
          <a:xfrm>
            <a:off x="276225" y="3867150"/>
            <a:ext cx="2539937" cy="194310"/>
          </a:xfrm>
          <a:prstGeom prst="rect">
            <a:avLst/>
          </a:prstGeom>
          <a:noFill/>
        </p:spPr>
        <p:txBody>
          <a:bodyPr wrap="none" lIns="0" rIns="0" tIns="0" bIns="0">
            <a:spAutoFit/>
          </a:bodyPr>
          <a:lstStyle/>
          <a:p>
            <a:r>
              <a:rPr sz="1150" b="0">
                <a:solidFill>
                  <a:srgbClr val="2E2E2E"/>
                </a:solidFill>
                <a:latin typeface="Calibri"/>
              </a:rPr>
              <a:t>▪ 1. Triple Wall × Electronics &amp; Electrical –</a:t>
            </a:r>
          </a:p>
        </p:txBody>
      </p:sp>
      <p:pic>
        <p:nvPicPr>
          <p:cNvPr id="34" name="Picture 33" descr="lock.png"/>
          <p:cNvPicPr>
            <a:picLocks noChangeAspect="1"/>
          </p:cNvPicPr>
          <p:nvPr/>
        </p:nvPicPr>
        <p:blipFill>
          <a:blip r:embed="rId4"/>
          <a:stretch>
            <a:fillRect/>
          </a:stretch>
        </p:blipFill>
        <p:spPr>
          <a:xfrm>
            <a:off x="2765316" y="3856926"/>
            <a:ext cx="134549" cy="195707"/>
          </a:xfrm>
          <a:prstGeom prst="rect">
            <a:avLst/>
          </a:prstGeom>
        </p:spPr>
      </p:pic>
      <p:sp>
        <p:nvSpPr>
          <p:cNvPr id="35" name="TextBox 34"/>
          <p:cNvSpPr txBox="1"/>
          <p:nvPr/>
        </p:nvSpPr>
        <p:spPr>
          <a:xfrm>
            <a:off x="2940426" y="38671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002577" y="3856926"/>
            <a:ext cx="134549" cy="195707"/>
          </a:xfrm>
          <a:prstGeom prst="rect">
            <a:avLst/>
          </a:prstGeom>
        </p:spPr>
      </p:pic>
      <p:sp>
        <p:nvSpPr>
          <p:cNvPr id="37" name="TextBox 36"/>
          <p:cNvSpPr txBox="1"/>
          <p:nvPr/>
        </p:nvSpPr>
        <p:spPr>
          <a:xfrm>
            <a:off x="3177687" y="38671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094987"/>
            <a:ext cx="2206159" cy="194310"/>
          </a:xfrm>
          <a:prstGeom prst="rect">
            <a:avLst/>
          </a:prstGeom>
          <a:noFill/>
        </p:spPr>
        <p:txBody>
          <a:bodyPr wrap="none" lIns="0" rIns="0" tIns="0" bIns="0">
            <a:spAutoFit/>
          </a:bodyPr>
          <a:lstStyle/>
          <a:p>
            <a:r>
              <a:rPr sz="1150" b="0">
                <a:solidFill>
                  <a:srgbClr val="2E2E2E"/>
                </a:solidFill>
                <a:latin typeface="Calibri"/>
              </a:rPr>
              <a:t>▪ 2. Triple Wall × Food &amp; Beverage –</a:t>
            </a:r>
          </a:p>
        </p:txBody>
      </p:sp>
      <p:pic>
        <p:nvPicPr>
          <p:cNvPr id="39" name="Picture 38" descr="lock.png"/>
          <p:cNvPicPr>
            <a:picLocks noChangeAspect="1"/>
          </p:cNvPicPr>
          <p:nvPr/>
        </p:nvPicPr>
        <p:blipFill>
          <a:blip r:embed="rId4"/>
          <a:stretch>
            <a:fillRect/>
          </a:stretch>
        </p:blipFill>
        <p:spPr>
          <a:xfrm>
            <a:off x="2431538" y="4084764"/>
            <a:ext cx="134549" cy="195707"/>
          </a:xfrm>
          <a:prstGeom prst="rect">
            <a:avLst/>
          </a:prstGeom>
        </p:spPr>
      </p:pic>
      <p:sp>
        <p:nvSpPr>
          <p:cNvPr id="40" name="TextBox 39"/>
          <p:cNvSpPr txBox="1"/>
          <p:nvPr/>
        </p:nvSpPr>
        <p:spPr>
          <a:xfrm>
            <a:off x="2606647" y="409498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2668799" y="4084764"/>
            <a:ext cx="134549" cy="195707"/>
          </a:xfrm>
          <a:prstGeom prst="rect">
            <a:avLst/>
          </a:prstGeom>
        </p:spPr>
      </p:pic>
      <p:sp>
        <p:nvSpPr>
          <p:cNvPr id="42" name="TextBox 41"/>
          <p:cNvSpPr txBox="1"/>
          <p:nvPr/>
        </p:nvSpPr>
        <p:spPr>
          <a:xfrm>
            <a:off x="2843908" y="409498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22825"/>
            <a:ext cx="2627510" cy="194310"/>
          </a:xfrm>
          <a:prstGeom prst="rect">
            <a:avLst/>
          </a:prstGeom>
          <a:noFill/>
        </p:spPr>
        <p:txBody>
          <a:bodyPr wrap="none" lIns="0" rIns="0" tIns="0" bIns="0">
            <a:spAutoFit/>
          </a:bodyPr>
          <a:lstStyle/>
          <a:p>
            <a:r>
              <a:rPr sz="1150" b="0">
                <a:solidFill>
                  <a:srgbClr val="2E2E2E"/>
                </a:solidFill>
                <a:latin typeface="Calibri"/>
              </a:rPr>
              <a:t>▪ 3. Double Wall × Electronics &amp; Electrical –</a:t>
            </a:r>
          </a:p>
        </p:txBody>
      </p:sp>
      <p:pic>
        <p:nvPicPr>
          <p:cNvPr id="44" name="Picture 43" descr="lock.png"/>
          <p:cNvPicPr>
            <a:picLocks noChangeAspect="1"/>
          </p:cNvPicPr>
          <p:nvPr/>
        </p:nvPicPr>
        <p:blipFill>
          <a:blip r:embed="rId4"/>
          <a:stretch>
            <a:fillRect/>
          </a:stretch>
        </p:blipFill>
        <p:spPr>
          <a:xfrm>
            <a:off x="2852889" y="4312602"/>
            <a:ext cx="134549" cy="195707"/>
          </a:xfrm>
          <a:prstGeom prst="rect">
            <a:avLst/>
          </a:prstGeom>
        </p:spPr>
      </p:pic>
      <p:sp>
        <p:nvSpPr>
          <p:cNvPr id="45" name="TextBox 44"/>
          <p:cNvSpPr txBox="1"/>
          <p:nvPr/>
        </p:nvSpPr>
        <p:spPr>
          <a:xfrm>
            <a:off x="3027999" y="43228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090150" y="4312602"/>
            <a:ext cx="134549" cy="195707"/>
          </a:xfrm>
          <a:prstGeom prst="rect">
            <a:avLst/>
          </a:prstGeom>
        </p:spPr>
      </p:pic>
      <p:sp>
        <p:nvSpPr>
          <p:cNvPr id="47" name="TextBox 46"/>
          <p:cNvSpPr txBox="1"/>
          <p:nvPr/>
        </p:nvSpPr>
        <p:spPr>
          <a:xfrm>
            <a:off x="3265260" y="432282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550663"/>
            <a:ext cx="2293732" cy="194310"/>
          </a:xfrm>
          <a:prstGeom prst="rect">
            <a:avLst/>
          </a:prstGeom>
          <a:noFill/>
        </p:spPr>
        <p:txBody>
          <a:bodyPr wrap="none" lIns="0" rIns="0" tIns="0" bIns="0">
            <a:spAutoFit/>
          </a:bodyPr>
          <a:lstStyle/>
          <a:p>
            <a:r>
              <a:rPr sz="1150" b="0">
                <a:solidFill>
                  <a:srgbClr val="2E2E2E"/>
                </a:solidFill>
                <a:latin typeface="Calibri"/>
              </a:rPr>
              <a:t>▪ 4. Double Wall × Food &amp; Beverage –</a:t>
            </a:r>
          </a:p>
        </p:txBody>
      </p:sp>
      <p:pic>
        <p:nvPicPr>
          <p:cNvPr id="49" name="Picture 48" descr="lock.png"/>
          <p:cNvPicPr>
            <a:picLocks noChangeAspect="1"/>
          </p:cNvPicPr>
          <p:nvPr/>
        </p:nvPicPr>
        <p:blipFill>
          <a:blip r:embed="rId4"/>
          <a:stretch>
            <a:fillRect/>
          </a:stretch>
        </p:blipFill>
        <p:spPr>
          <a:xfrm>
            <a:off x="2519111" y="4540440"/>
            <a:ext cx="134549" cy="195707"/>
          </a:xfrm>
          <a:prstGeom prst="rect">
            <a:avLst/>
          </a:prstGeom>
        </p:spPr>
      </p:pic>
      <p:sp>
        <p:nvSpPr>
          <p:cNvPr id="50" name="TextBox 49"/>
          <p:cNvSpPr txBox="1"/>
          <p:nvPr/>
        </p:nvSpPr>
        <p:spPr>
          <a:xfrm>
            <a:off x="2694220" y="45506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756372" y="4540440"/>
            <a:ext cx="134549" cy="195707"/>
          </a:xfrm>
          <a:prstGeom prst="rect">
            <a:avLst/>
          </a:prstGeom>
        </p:spPr>
      </p:pic>
      <p:sp>
        <p:nvSpPr>
          <p:cNvPr id="52" name="TextBox 51"/>
          <p:cNvSpPr txBox="1"/>
          <p:nvPr/>
        </p:nvSpPr>
        <p:spPr>
          <a:xfrm>
            <a:off x="2931481" y="455066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778501"/>
            <a:ext cx="3343783" cy="194310"/>
          </a:xfrm>
          <a:prstGeom prst="rect">
            <a:avLst/>
          </a:prstGeom>
          <a:noFill/>
        </p:spPr>
        <p:txBody>
          <a:bodyPr wrap="none" lIns="0" rIns="0" tIns="0" bIns="0">
            <a:spAutoFit/>
          </a:bodyPr>
          <a:lstStyle/>
          <a:p>
            <a:r>
              <a:rPr sz="1150" b="0">
                <a:solidFill>
                  <a:srgbClr val="2E2E2E"/>
                </a:solidFill>
                <a:latin typeface="Calibri"/>
              </a:rPr>
              <a:t>▪ 5. Triple Wall × Glassware, Ceramics &amp; Home Goods –</a:t>
            </a:r>
          </a:p>
        </p:txBody>
      </p:sp>
      <p:pic>
        <p:nvPicPr>
          <p:cNvPr id="54" name="Picture 53" descr="lock.png"/>
          <p:cNvPicPr>
            <a:picLocks noChangeAspect="1"/>
          </p:cNvPicPr>
          <p:nvPr/>
        </p:nvPicPr>
        <p:blipFill>
          <a:blip r:embed="rId4"/>
          <a:stretch>
            <a:fillRect/>
          </a:stretch>
        </p:blipFill>
        <p:spPr>
          <a:xfrm>
            <a:off x="3569162" y="4768278"/>
            <a:ext cx="134549" cy="195707"/>
          </a:xfrm>
          <a:prstGeom prst="rect">
            <a:avLst/>
          </a:prstGeom>
        </p:spPr>
      </p:pic>
      <p:sp>
        <p:nvSpPr>
          <p:cNvPr id="55" name="TextBox 54"/>
          <p:cNvSpPr txBox="1"/>
          <p:nvPr/>
        </p:nvSpPr>
        <p:spPr>
          <a:xfrm>
            <a:off x="3744271" y="47785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806423" y="4768278"/>
            <a:ext cx="134549" cy="195707"/>
          </a:xfrm>
          <a:prstGeom prst="rect">
            <a:avLst/>
          </a:prstGeom>
        </p:spPr>
      </p:pic>
      <p:sp>
        <p:nvSpPr>
          <p:cNvPr id="57" name="TextBox 56"/>
          <p:cNvSpPr txBox="1"/>
          <p:nvPr/>
        </p:nvSpPr>
        <p:spPr>
          <a:xfrm>
            <a:off x="3981532" y="477850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867150"/>
            <a:ext cx="1617712" cy="194310"/>
          </a:xfrm>
          <a:prstGeom prst="rect">
            <a:avLst/>
          </a:prstGeom>
          <a:noFill/>
        </p:spPr>
        <p:txBody>
          <a:bodyPr wrap="none" lIns="0" rIns="0" tIns="0" bIns="0">
            <a:spAutoFit/>
          </a:bodyPr>
          <a:lstStyle/>
          <a:p>
            <a:r>
              <a:rPr sz="1150" b="0">
                <a:solidFill>
                  <a:srgbClr val="2E2E2E"/>
                </a:solidFill>
                <a:latin typeface="Calibri"/>
              </a:rPr>
              <a:t>▪ 'Triple Wall × Electronics</a:t>
            </a:r>
          </a:p>
        </p:txBody>
      </p:sp>
      <p:sp>
        <p:nvSpPr>
          <p:cNvPr id="59" name="TextBox 58"/>
          <p:cNvSpPr txBox="1"/>
          <p:nvPr/>
        </p:nvSpPr>
        <p:spPr>
          <a:xfrm>
            <a:off x="6029325" y="4042410"/>
            <a:ext cx="1093415" cy="194310"/>
          </a:xfrm>
          <a:prstGeom prst="rect">
            <a:avLst/>
          </a:prstGeom>
          <a:noFill/>
        </p:spPr>
        <p:txBody>
          <a:bodyPr wrap="none" lIns="0" rIns="0" tIns="0" bIns="0">
            <a:spAutoFit/>
          </a:bodyPr>
          <a:lstStyle/>
          <a:p>
            <a:r>
              <a:rPr sz="1150" b="0">
                <a:solidFill>
                  <a:srgbClr val="2E2E2E"/>
                </a:solidFill>
                <a:latin typeface="Calibri"/>
              </a:rPr>
              <a:t>&amp; Electrical' adds</a:t>
            </a:r>
          </a:p>
        </p:txBody>
      </p:sp>
      <p:pic>
        <p:nvPicPr>
          <p:cNvPr id="60" name="Picture 59" descr="lock.png"/>
          <p:cNvPicPr>
            <a:picLocks noChangeAspect="1"/>
          </p:cNvPicPr>
          <p:nvPr/>
        </p:nvPicPr>
        <p:blipFill>
          <a:blip r:embed="rId4"/>
          <a:stretch>
            <a:fillRect/>
          </a:stretch>
        </p:blipFill>
        <p:spPr>
          <a:xfrm>
            <a:off x="7071894" y="4032186"/>
            <a:ext cx="134549" cy="195707"/>
          </a:xfrm>
          <a:prstGeom prst="rect">
            <a:avLst/>
          </a:prstGeom>
        </p:spPr>
      </p:pic>
      <p:sp>
        <p:nvSpPr>
          <p:cNvPr id="61" name="TextBox 60"/>
          <p:cNvSpPr txBox="1"/>
          <p:nvPr/>
        </p:nvSpPr>
        <p:spPr>
          <a:xfrm>
            <a:off x="7247003" y="404241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2" name="TextBox 61"/>
          <p:cNvSpPr txBox="1"/>
          <p:nvPr/>
        </p:nvSpPr>
        <p:spPr>
          <a:xfrm>
            <a:off x="6029325" y="4217670"/>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207446"/>
            <a:ext cx="134549" cy="195707"/>
          </a:xfrm>
          <a:prstGeom prst="rect">
            <a:avLst/>
          </a:prstGeom>
        </p:spPr>
      </p:pic>
      <p:sp>
        <p:nvSpPr>
          <p:cNvPr id="64" name="TextBox 63"/>
          <p:cNvSpPr txBox="1"/>
          <p:nvPr/>
        </p:nvSpPr>
        <p:spPr>
          <a:xfrm>
            <a:off x="7110081" y="4217670"/>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5" name="TextBox 64"/>
          <p:cNvSpPr txBox="1"/>
          <p:nvPr/>
        </p:nvSpPr>
        <p:spPr>
          <a:xfrm>
            <a:off x="6029325" y="439292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6" name="TextBox 65"/>
          <p:cNvSpPr txBox="1"/>
          <p:nvPr/>
        </p:nvSpPr>
        <p:spPr>
          <a:xfrm>
            <a:off x="8124825" y="3867150"/>
            <a:ext cx="1617712" cy="194310"/>
          </a:xfrm>
          <a:prstGeom prst="rect">
            <a:avLst/>
          </a:prstGeom>
          <a:noFill/>
        </p:spPr>
        <p:txBody>
          <a:bodyPr wrap="none" lIns="0" rIns="0" tIns="0" bIns="0">
            <a:spAutoFit/>
          </a:bodyPr>
          <a:lstStyle/>
          <a:p>
            <a:r>
              <a:rPr sz="1150" b="0">
                <a:solidFill>
                  <a:srgbClr val="2E2E2E"/>
                </a:solidFill>
                <a:latin typeface="Calibri"/>
              </a:rPr>
              <a:t>▪ 'Triple Wall × Electronics</a:t>
            </a:r>
          </a:p>
        </p:txBody>
      </p:sp>
      <p:sp>
        <p:nvSpPr>
          <p:cNvPr id="67" name="TextBox 66"/>
          <p:cNvSpPr txBox="1"/>
          <p:nvPr/>
        </p:nvSpPr>
        <p:spPr>
          <a:xfrm>
            <a:off x="8124825" y="4042410"/>
            <a:ext cx="1426306" cy="194310"/>
          </a:xfrm>
          <a:prstGeom prst="rect">
            <a:avLst/>
          </a:prstGeom>
          <a:noFill/>
        </p:spPr>
        <p:txBody>
          <a:bodyPr wrap="none" lIns="0" rIns="0" t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032186"/>
            <a:ext cx="134549" cy="195707"/>
          </a:xfrm>
          <a:prstGeom prst="rect">
            <a:avLst/>
          </a:prstGeom>
        </p:spPr>
      </p:pic>
      <p:sp>
        <p:nvSpPr>
          <p:cNvPr id="69" name="TextBox 68"/>
          <p:cNvSpPr txBox="1"/>
          <p:nvPr/>
        </p:nvSpPr>
        <p:spPr>
          <a:xfrm>
            <a:off x="8124825" y="42176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207446"/>
            <a:ext cx="134549" cy="195707"/>
          </a:xfrm>
          <a:prstGeom prst="rect">
            <a:avLst/>
          </a:prstGeom>
        </p:spPr>
      </p:pic>
      <p:sp>
        <p:nvSpPr>
          <p:cNvPr id="71" name="TextBox 70"/>
          <p:cNvSpPr txBox="1"/>
          <p:nvPr/>
        </p:nvSpPr>
        <p:spPr>
          <a:xfrm>
            <a:off x="8695529" y="4217670"/>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39292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Cell Configuration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Cell Configuration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cell configuration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Cell Configuration × End Use, 2026E and 2036F (US$ Mn)</a:t>
            </a:r>
          </a:p>
        </p:txBody>
      </p:sp>
      <p:graphicFrame>
        <p:nvGraphicFramePr>
          <p:cNvPr id="13" name="Table 12"/>
          <p:cNvGraphicFramePr>
            <a:graphicFrameLocks noGrp="1"/>
          </p:cNvGraphicFramePr>
          <p:nvPr/>
        </p:nvGraphicFramePr>
        <p:xfrm>
          <a:off x="152400" y="1238250"/>
          <a:ext cx="11887202" cy="2114549"/>
        </p:xfrm>
        <a:graphic>
          <a:graphicData uri="http://schemas.openxmlformats.org/drawingml/2006/table">
            <a:tbl>
              <a:tblPr>
                <a:tableStyleId>{5C22544A-7EE6-4342-B048-85BDC9FD1C3A}</a:tableStyleId>
              </a:tblPr>
              <a:tblGrid>
                <a:gridCol w="1370418"/>
                <a:gridCol w="657299"/>
                <a:gridCol w="657299"/>
                <a:gridCol w="657299"/>
                <a:gridCol w="657299"/>
                <a:gridCol w="657299"/>
                <a:gridCol w="657299"/>
                <a:gridCol w="657299"/>
                <a:gridCol w="657299"/>
                <a:gridCol w="657299"/>
                <a:gridCol w="657299"/>
                <a:gridCol w="657299"/>
                <a:gridCol w="657299"/>
                <a:gridCol w="657299"/>
                <a:gridCol w="657299"/>
                <a:gridCol w="657299"/>
                <a:gridCol w="657299"/>
              </a:tblGrid>
              <a:tr h="631697">
                <a:tc rowSpan="2">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142">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814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05275"/>
            <a:ext cx="1163955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4519" y="2468245"/>
            <a:ext cx="366712" cy="533400"/>
          </a:xfrm>
          <a:prstGeom prst="rect">
            <a:avLst/>
          </a:prstGeom>
        </p:spPr>
      </p:pic>
      <p:sp>
        <p:nvSpPr>
          <p:cNvPr id="21" name="TextBox 20"/>
          <p:cNvSpPr txBox="1"/>
          <p:nvPr/>
        </p:nvSpPr>
        <p:spPr>
          <a:xfrm>
            <a:off x="276225" y="4114800"/>
            <a:ext cx="9394018" cy="194310"/>
          </a:xfrm>
          <a:prstGeom prst="rect">
            <a:avLst/>
          </a:prstGeom>
          <a:noFill/>
        </p:spPr>
        <p:txBody>
          <a:bodyPr wrap="none" lIns="0" rIns="0" tIns="0" bIns="0">
            <a:spAutoFit/>
          </a:bodyPr>
          <a:lstStyle/>
          <a:p>
            <a:r>
              <a:rPr sz="1150" b="0">
                <a:solidFill>
                  <a:srgbClr val="2E2E2E"/>
                </a:solidFill>
                <a:latin typeface="Calibri"/>
              </a:rPr>
              <a:t>6 to 12 cells segment is projected to account for the largest share of the global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9619397" y="4104576"/>
            <a:ext cx="134549" cy="195707"/>
          </a:xfrm>
          <a:prstGeom prst="rect">
            <a:avLst/>
          </a:prstGeom>
        </p:spPr>
      </p:pic>
      <p:sp>
        <p:nvSpPr>
          <p:cNvPr id="23" name="TextBox 22"/>
          <p:cNvSpPr txBox="1"/>
          <p:nvPr/>
        </p:nvSpPr>
        <p:spPr>
          <a:xfrm>
            <a:off x="9794507" y="4114800"/>
            <a:ext cx="1704144" cy="194310"/>
          </a:xfrm>
          <a:prstGeom prst="rect">
            <a:avLst/>
          </a:prstGeom>
          <a:noFill/>
        </p:spPr>
        <p:txBody>
          <a:bodyPr wrap="none" lIns="0" rIns="0" tIns="0" bIns="0">
            <a:spAutoFit/>
          </a:bodyPr>
          <a:lstStyle/>
          <a:p>
            <a:r>
              <a:rPr sz="1150" b="0">
                <a:solidFill>
                  <a:srgbClr val="2E2E2E"/>
                </a:solidFill>
                <a:latin typeface="Calibri"/>
              </a:rPr>
              <a:t>Mn in 2036. 'Up to 4 Cells ×</a:t>
            </a:r>
          </a:p>
        </p:txBody>
      </p:sp>
      <p:sp>
        <p:nvSpPr>
          <p:cNvPr id="24" name="TextBox 23"/>
          <p:cNvSpPr txBox="1"/>
          <p:nvPr/>
        </p:nvSpPr>
        <p:spPr>
          <a:xfrm>
            <a:off x="276225" y="4290060"/>
            <a:ext cx="4655380" cy="194310"/>
          </a:xfrm>
          <a:prstGeom prst="rect">
            <a:avLst/>
          </a:prstGeom>
          <a:noFill/>
        </p:spPr>
        <p:txBody>
          <a:bodyPr wrap="none" lIns="0" rIns="0" tIns="0" bIns="0">
            <a:spAutoFit/>
          </a:bodyPr>
          <a:lstStyle/>
          <a:p>
            <a:r>
              <a:rPr sz="1150" b="0">
                <a:solidFill>
                  <a:srgbClr val="2E2E2E"/>
                </a:solidFill>
                <a:latin typeface="Calibri"/>
              </a:rPr>
              <a:t>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4880759" y="4279836"/>
            <a:ext cx="134549" cy="195707"/>
          </a:xfrm>
          <a:prstGeom prst="rect">
            <a:avLst/>
          </a:prstGeom>
        </p:spPr>
      </p:pic>
      <p:sp>
        <p:nvSpPr>
          <p:cNvPr id="26" name="TextBox 25"/>
          <p:cNvSpPr txBox="1"/>
          <p:nvPr/>
        </p:nvSpPr>
        <p:spPr>
          <a:xfrm>
            <a:off x="5055869" y="4290060"/>
            <a:ext cx="6109872" cy="194310"/>
          </a:xfrm>
          <a:prstGeom prst="rect">
            <a:avLst/>
          </a:prstGeom>
          <a:noFill/>
        </p:spPr>
        <p:txBody>
          <a:bodyPr wrap="none" lIns="0" rIns="0" tIns="0" bIns="0">
            <a:spAutoFit/>
          </a:bodyPr>
          <a:lstStyle/>
          <a:p>
            <a:r>
              <a:rPr sz="1150" b="0">
                <a:solidFill>
                  <a:srgbClr val="2E2E2E"/>
                </a:solidFill>
                <a:latin typeface="Calibri"/>
              </a:rPr>
              <a:t>US$ Mn, 2026E), while '6 to 12 Cells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114895" y="4279836"/>
            <a:ext cx="134549" cy="195707"/>
          </a:xfrm>
          <a:prstGeom prst="rect">
            <a:avLst/>
          </a:prstGeom>
        </p:spPr>
      </p:pic>
      <p:sp>
        <p:nvSpPr>
          <p:cNvPr id="28" name="TextBox 27"/>
          <p:cNvSpPr txBox="1"/>
          <p:nvPr/>
        </p:nvSpPr>
        <p:spPr>
          <a:xfrm>
            <a:off x="11290005" y="4290060"/>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29" name="TextBox 28"/>
          <p:cNvSpPr txBox="1"/>
          <p:nvPr/>
        </p:nvSpPr>
        <p:spPr>
          <a:xfrm>
            <a:off x="276225" y="4465320"/>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30" name="TextBox 29"/>
          <p:cNvSpPr txBox="1"/>
          <p:nvPr/>
        </p:nvSpPr>
        <p:spPr>
          <a:xfrm>
            <a:off x="276225" y="4693157"/>
            <a:ext cx="5802957" cy="194310"/>
          </a:xfrm>
          <a:prstGeom prst="rect">
            <a:avLst/>
          </a:prstGeom>
          <a:noFill/>
        </p:spPr>
        <p:txBody>
          <a:bodyPr wrap="none" lIns="0" rIns="0" tIns="0" bIns="0">
            <a:spAutoFit/>
          </a:bodyPr>
          <a:lstStyle/>
          <a:p>
            <a:r>
              <a:rPr sz="1150" b="0">
                <a:solidFill>
                  <a:srgbClr val="2E2E2E"/>
                </a:solidFill>
                <a:latin typeface="Calibri"/>
              </a:rPr>
              <a:t>Combined, the top three cell configuration × end use cells generate an absolute $ opportunity of</a:t>
            </a:r>
          </a:p>
        </p:txBody>
      </p:sp>
      <p:pic>
        <p:nvPicPr>
          <p:cNvPr id="31" name="Picture 30" descr="lock.png"/>
          <p:cNvPicPr>
            <a:picLocks noChangeAspect="1"/>
          </p:cNvPicPr>
          <p:nvPr/>
        </p:nvPicPr>
        <p:blipFill>
          <a:blip r:embed="rId4"/>
          <a:stretch>
            <a:fillRect/>
          </a:stretch>
        </p:blipFill>
        <p:spPr>
          <a:xfrm>
            <a:off x="6028336" y="4682934"/>
            <a:ext cx="134549" cy="195707"/>
          </a:xfrm>
          <a:prstGeom prst="rect">
            <a:avLst/>
          </a:prstGeom>
        </p:spPr>
      </p:pic>
      <p:sp>
        <p:nvSpPr>
          <p:cNvPr id="32" name="TextBox 31"/>
          <p:cNvSpPr txBox="1"/>
          <p:nvPr/>
        </p:nvSpPr>
        <p:spPr>
          <a:xfrm>
            <a:off x="6203445" y="46931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Cell Configuration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Cell Configuration × End Use, 2026E (% of each row)</a:t>
            </a:r>
          </a:p>
        </p:txBody>
      </p:sp>
      <p:graphicFrame>
        <p:nvGraphicFramePr>
          <p:cNvPr id="13" name="Table 12"/>
          <p:cNvGraphicFramePr>
            <a:graphicFrameLocks noGrp="1"/>
          </p:cNvGraphicFramePr>
          <p:nvPr/>
        </p:nvGraphicFramePr>
        <p:xfrm>
          <a:off x="152400" y="1238250"/>
          <a:ext cx="11887201" cy="1676402"/>
        </p:xfrm>
        <a:graphic>
          <a:graphicData uri="http://schemas.openxmlformats.org/drawingml/2006/table">
            <a:tbl>
              <a:tblPr>
                <a:tableStyleId>{5C22544A-7EE6-4342-B048-85BDC9FD1C3A}</a:tableStyleId>
              </a:tblPr>
              <a:tblGrid>
                <a:gridCol w="1140022"/>
                <a:gridCol w="1042838"/>
                <a:gridCol w="1753436"/>
                <a:gridCol w="1511227"/>
                <a:gridCol w="1326759"/>
                <a:gridCol w="2068759"/>
                <a:gridCol w="1985980"/>
                <a:gridCol w="514374"/>
                <a:gridCol w="543806"/>
              </a:tblGrid>
              <a:tr h="438912">
                <a:tc>
                  <a:txBody>
                    <a:bodyPr wrap="none"/>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7498">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98">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98">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98">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7286625"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147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Cell Configuration, 2026E (% share)</a:t>
            </a:r>
          </a:p>
        </p:txBody>
      </p:sp>
      <p:graphicFrame>
        <p:nvGraphicFramePr>
          <p:cNvPr id="17" name="Chart 16"/>
          <p:cNvGraphicFramePr>
            <a:graphicFrameLocks noGrp="1"/>
          </p:cNvGraphicFramePr>
          <p:nvPr/>
        </p:nvGraphicFramePr>
        <p:xfrm>
          <a:off x="238125" y="3543300"/>
          <a:ext cx="7096125" cy="302895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57550"/>
            <a:ext cx="445770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432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814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67125"/>
            <a:ext cx="419100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79321" y="2029206"/>
            <a:ext cx="366712" cy="533400"/>
          </a:xfrm>
          <a:prstGeom prst="rect">
            <a:avLst/>
          </a:prstGeom>
        </p:spPr>
      </p:pic>
      <p:pic>
        <p:nvPicPr>
          <p:cNvPr id="24" name="Picture 23" descr="lock.png"/>
          <p:cNvPicPr>
            <a:picLocks noChangeAspect="1"/>
          </p:cNvPicPr>
          <p:nvPr/>
        </p:nvPicPr>
        <p:blipFill>
          <a:blip r:embed="rId5"/>
          <a:stretch>
            <a:fillRect/>
          </a:stretch>
        </p:blipFill>
        <p:spPr>
          <a:xfrm>
            <a:off x="3737844" y="4194492"/>
            <a:ext cx="384961" cy="559943"/>
          </a:xfrm>
          <a:prstGeom prst="rect">
            <a:avLst/>
          </a:prstGeom>
        </p:spPr>
      </p:pic>
      <p:sp>
        <p:nvSpPr>
          <p:cNvPr id="25" name="TextBox 24"/>
          <p:cNvSpPr txBox="1"/>
          <p:nvPr/>
        </p:nvSpPr>
        <p:spPr>
          <a:xfrm>
            <a:off x="7715250" y="3676650"/>
            <a:ext cx="3313546" cy="194310"/>
          </a:xfrm>
          <a:prstGeom prst="rect">
            <a:avLst/>
          </a:prstGeom>
          <a:noFill/>
        </p:spPr>
        <p:txBody>
          <a:bodyPr wrap="none" lIns="0" rIns="0" tIns="0" bIns="0">
            <a:spAutoFit/>
          </a:bodyPr>
          <a:lstStyle/>
          <a:p>
            <a:r>
              <a:rPr sz="1150" b="0">
                <a:solidFill>
                  <a:srgbClr val="2E2E2E"/>
                </a:solidFill>
                <a:latin typeface="Calibri"/>
              </a:rPr>
              <a:t>▪ 'Others' holds the highest share of 'Above 24 Cells' at</a:t>
            </a:r>
          </a:p>
        </p:txBody>
      </p:sp>
      <p:pic>
        <p:nvPicPr>
          <p:cNvPr id="26" name="Picture 25" descr="lock.png"/>
          <p:cNvPicPr>
            <a:picLocks noChangeAspect="1"/>
          </p:cNvPicPr>
          <p:nvPr/>
        </p:nvPicPr>
        <p:blipFill>
          <a:blip r:embed="rId5"/>
          <a:stretch>
            <a:fillRect/>
          </a:stretch>
        </p:blipFill>
        <p:spPr>
          <a:xfrm>
            <a:off x="10977950" y="3666426"/>
            <a:ext cx="134549" cy="195707"/>
          </a:xfrm>
          <a:prstGeom prst="rect">
            <a:avLst/>
          </a:prstGeom>
        </p:spPr>
      </p:pic>
      <p:sp>
        <p:nvSpPr>
          <p:cNvPr id="27" name="TextBox 26"/>
          <p:cNvSpPr txBox="1"/>
          <p:nvPr/>
        </p:nvSpPr>
        <p:spPr>
          <a:xfrm>
            <a:off x="11153059" y="367665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8" name="TextBox 27"/>
          <p:cNvSpPr txBox="1"/>
          <p:nvPr/>
        </p:nvSpPr>
        <p:spPr>
          <a:xfrm>
            <a:off x="7715250" y="3904487"/>
            <a:ext cx="3673537" cy="194310"/>
          </a:xfrm>
          <a:prstGeom prst="rect">
            <a:avLst/>
          </a:prstGeom>
          <a:noFill/>
        </p:spPr>
        <p:txBody>
          <a:bodyPr wrap="none" lIns="0" rIns="0" tIns="0" bIns="0">
            <a:spAutoFit/>
          </a:bodyPr>
          <a:lstStyle/>
          <a:p>
            <a:r>
              <a:rPr sz="1150" b="0">
                <a:solidFill>
                  <a:srgbClr val="2E2E2E"/>
                </a:solidFill>
                <a:latin typeface="Calibri"/>
              </a:rPr>
              <a:t>▪ 'Above 24 Cells' is the most concentrated cell configuration</a:t>
            </a:r>
          </a:p>
        </p:txBody>
      </p:sp>
      <p:sp>
        <p:nvSpPr>
          <p:cNvPr id="29" name="TextBox 28"/>
          <p:cNvSpPr txBox="1"/>
          <p:nvPr/>
        </p:nvSpPr>
        <p:spPr>
          <a:xfrm>
            <a:off x="7715250" y="407974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0" name="Picture 29" descr="lock.png"/>
          <p:cNvPicPr>
            <a:picLocks noChangeAspect="1"/>
          </p:cNvPicPr>
          <p:nvPr/>
        </p:nvPicPr>
        <p:blipFill>
          <a:blip r:embed="rId5"/>
          <a:stretch>
            <a:fillRect/>
          </a:stretch>
        </p:blipFill>
        <p:spPr>
          <a:xfrm>
            <a:off x="8843110" y="4069524"/>
            <a:ext cx="134549" cy="195707"/>
          </a:xfrm>
          <a:prstGeom prst="rect">
            <a:avLst/>
          </a:prstGeom>
        </p:spPr>
      </p:pic>
      <p:sp>
        <p:nvSpPr>
          <p:cNvPr id="31" name="TextBox 30"/>
          <p:cNvSpPr txBox="1"/>
          <p:nvPr/>
        </p:nvSpPr>
        <p:spPr>
          <a:xfrm>
            <a:off x="9018219" y="4079747"/>
            <a:ext cx="1462819" cy="194310"/>
          </a:xfrm>
          <a:prstGeom prst="rect">
            <a:avLst/>
          </a:prstGeom>
          <a:noFill/>
        </p:spPr>
        <p:txBody>
          <a:bodyPr wrap="none" lIns="0" rIns="0" tIns="0" bIns="0">
            <a:spAutoFit/>
          </a:bodyPr>
          <a:lstStyle/>
          <a:p>
            <a:r>
              <a:rPr sz="1150" b="0">
                <a:solidFill>
                  <a:srgbClr val="2E2E2E"/>
                </a:solidFill>
                <a:latin typeface="Calibri"/>
              </a:rPr>
              <a:t>of its value via 'Others'.</a:t>
            </a:r>
          </a:p>
        </p:txBody>
      </p:sp>
      <p:sp>
        <p:nvSpPr>
          <p:cNvPr id="32" name="TextBox 31"/>
          <p:cNvSpPr txBox="1"/>
          <p:nvPr/>
        </p:nvSpPr>
        <p:spPr>
          <a:xfrm>
            <a:off x="7715250" y="430758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3" name="Picture 32" descr="lock.png"/>
          <p:cNvPicPr>
            <a:picLocks noChangeAspect="1"/>
          </p:cNvPicPr>
          <p:nvPr/>
        </p:nvPicPr>
        <p:blipFill>
          <a:blip r:embed="rId5"/>
          <a:stretch>
            <a:fillRect/>
          </a:stretch>
        </p:blipFill>
        <p:spPr>
          <a:xfrm>
            <a:off x="9685465" y="4297362"/>
            <a:ext cx="134549" cy="195707"/>
          </a:xfrm>
          <a:prstGeom prst="rect">
            <a:avLst/>
          </a:prstGeom>
        </p:spPr>
      </p:pic>
      <p:sp>
        <p:nvSpPr>
          <p:cNvPr id="34" name="TextBox 33"/>
          <p:cNvSpPr txBox="1"/>
          <p:nvPr/>
        </p:nvSpPr>
        <p:spPr>
          <a:xfrm>
            <a:off x="9860574" y="430758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5" name="TextBox 34"/>
          <p:cNvSpPr txBox="1"/>
          <p:nvPr/>
        </p:nvSpPr>
        <p:spPr>
          <a:xfrm>
            <a:off x="7715250" y="448284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6" name="lockshield_17"/>
          <p:cNvSpPr/>
          <p:nvPr/>
        </p:nvSpPr>
        <p:spPr>
          <a:xfrm>
            <a:off x="238125" y="3543300"/>
            <a:ext cx="7096125" cy="30289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Cell Configuration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Cell Configuration × End Use, 2026E–2036F</a:t>
            </a:r>
          </a:p>
        </p:txBody>
      </p:sp>
      <p:graphicFrame>
        <p:nvGraphicFramePr>
          <p:cNvPr id="13" name="Table 12"/>
          <p:cNvGraphicFramePr>
            <a:graphicFrameLocks noGrp="1"/>
          </p:cNvGraphicFramePr>
          <p:nvPr/>
        </p:nvGraphicFramePr>
        <p:xfrm>
          <a:off x="152400" y="1238250"/>
          <a:ext cx="11887204" cy="2114549"/>
        </p:xfrm>
        <a:graphic>
          <a:graphicData uri="http://schemas.openxmlformats.org/drawingml/2006/table">
            <a:tbl>
              <a:tblPr>
                <a:tableStyleId>{5C22544A-7EE6-4342-B048-85BDC9FD1C3A}</a:tableStyleId>
              </a:tblPr>
              <a:tblGrid>
                <a:gridCol w="1134772"/>
                <a:gridCol w="672027"/>
                <a:gridCol w="672027"/>
                <a:gridCol w="672027"/>
                <a:gridCol w="672027"/>
                <a:gridCol w="672027"/>
                <a:gridCol w="672027"/>
                <a:gridCol w="672027"/>
                <a:gridCol w="672027"/>
                <a:gridCol w="672027"/>
                <a:gridCol w="672027"/>
                <a:gridCol w="672027"/>
                <a:gridCol w="672027"/>
                <a:gridCol w="672027"/>
                <a:gridCol w="672027"/>
                <a:gridCol w="672027"/>
                <a:gridCol w="672027"/>
              </a:tblGrid>
              <a:tr h="631697">
                <a:tc rowSpan="2">
                  <a:txBody>
                    <a:bodyPr wrap="none"/>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142">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5600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814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40195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05275"/>
            <a:ext cx="5334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 to 4 Cells × Electronics &amp; Electrical' ranks highest (5/5); '13 to 24 Cells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76697" y="2468245"/>
            <a:ext cx="366712" cy="533400"/>
          </a:xfrm>
          <a:prstGeom prst="rect">
            <a:avLst/>
          </a:prstGeom>
        </p:spPr>
      </p:pic>
      <p:sp>
        <p:nvSpPr>
          <p:cNvPr id="33" name="TextBox 32"/>
          <p:cNvSpPr txBox="1"/>
          <p:nvPr/>
        </p:nvSpPr>
        <p:spPr>
          <a:xfrm>
            <a:off x="276225" y="4114800"/>
            <a:ext cx="2289453" cy="194310"/>
          </a:xfrm>
          <a:prstGeom prst="rect">
            <a:avLst/>
          </a:prstGeom>
          <a:noFill/>
        </p:spPr>
        <p:txBody>
          <a:bodyPr wrap="none" lIns="0" rIns="0" tIns="0" bIns="0">
            <a:spAutoFit/>
          </a:bodyPr>
          <a:lstStyle/>
          <a:p>
            <a:r>
              <a:rPr sz="1150" b="0">
                <a:solidFill>
                  <a:srgbClr val="2E2E2E"/>
                </a:solidFill>
                <a:latin typeface="Calibri"/>
              </a:rPr>
              <a:t>▪ 1. 6 to 12 Cells × Food &amp; Beverage –</a:t>
            </a:r>
          </a:p>
        </p:txBody>
      </p:sp>
      <p:pic>
        <p:nvPicPr>
          <p:cNvPr id="34" name="Picture 33" descr="lock.png"/>
          <p:cNvPicPr>
            <a:picLocks noChangeAspect="1"/>
          </p:cNvPicPr>
          <p:nvPr/>
        </p:nvPicPr>
        <p:blipFill>
          <a:blip r:embed="rId4"/>
          <a:stretch>
            <a:fillRect/>
          </a:stretch>
        </p:blipFill>
        <p:spPr>
          <a:xfrm>
            <a:off x="2514832" y="4104576"/>
            <a:ext cx="134549" cy="195707"/>
          </a:xfrm>
          <a:prstGeom prst="rect">
            <a:avLst/>
          </a:prstGeom>
        </p:spPr>
      </p:pic>
      <p:sp>
        <p:nvSpPr>
          <p:cNvPr id="35" name="TextBox 34"/>
          <p:cNvSpPr txBox="1"/>
          <p:nvPr/>
        </p:nvSpPr>
        <p:spPr>
          <a:xfrm>
            <a:off x="2689942" y="41148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752093" y="4104576"/>
            <a:ext cx="134549" cy="195707"/>
          </a:xfrm>
          <a:prstGeom prst="rect">
            <a:avLst/>
          </a:prstGeom>
        </p:spPr>
      </p:pic>
      <p:sp>
        <p:nvSpPr>
          <p:cNvPr id="37" name="TextBox 36"/>
          <p:cNvSpPr txBox="1"/>
          <p:nvPr/>
        </p:nvSpPr>
        <p:spPr>
          <a:xfrm>
            <a:off x="2927203" y="41148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342638"/>
            <a:ext cx="2623232" cy="194310"/>
          </a:xfrm>
          <a:prstGeom prst="rect">
            <a:avLst/>
          </a:prstGeom>
          <a:noFill/>
        </p:spPr>
        <p:txBody>
          <a:bodyPr wrap="none" lIns="0" rIns="0" tIns="0" bIns="0">
            <a:spAutoFit/>
          </a:bodyPr>
          <a:lstStyle/>
          <a:p>
            <a:r>
              <a:rPr sz="1150" b="0">
                <a:solidFill>
                  <a:srgbClr val="2E2E2E"/>
                </a:solidFill>
                <a:latin typeface="Calibri"/>
              </a:rPr>
              <a:t>▪ 2. 6 to 12 Cells × Electronics &amp; Electrical –</a:t>
            </a:r>
          </a:p>
        </p:txBody>
      </p:sp>
      <p:pic>
        <p:nvPicPr>
          <p:cNvPr id="39" name="Picture 38" descr="lock.png"/>
          <p:cNvPicPr>
            <a:picLocks noChangeAspect="1"/>
          </p:cNvPicPr>
          <p:nvPr/>
        </p:nvPicPr>
        <p:blipFill>
          <a:blip r:embed="rId4"/>
          <a:stretch>
            <a:fillRect/>
          </a:stretch>
        </p:blipFill>
        <p:spPr>
          <a:xfrm>
            <a:off x="2848611" y="4332414"/>
            <a:ext cx="134549" cy="195707"/>
          </a:xfrm>
          <a:prstGeom prst="rect">
            <a:avLst/>
          </a:prstGeom>
        </p:spPr>
      </p:pic>
      <p:sp>
        <p:nvSpPr>
          <p:cNvPr id="40" name="TextBox 39"/>
          <p:cNvSpPr txBox="1"/>
          <p:nvPr/>
        </p:nvSpPr>
        <p:spPr>
          <a:xfrm>
            <a:off x="3023720" y="434263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085872" y="4332414"/>
            <a:ext cx="134549" cy="195707"/>
          </a:xfrm>
          <a:prstGeom prst="rect">
            <a:avLst/>
          </a:prstGeom>
        </p:spPr>
      </p:pic>
      <p:sp>
        <p:nvSpPr>
          <p:cNvPr id="42" name="TextBox 41"/>
          <p:cNvSpPr txBox="1"/>
          <p:nvPr/>
        </p:nvSpPr>
        <p:spPr>
          <a:xfrm>
            <a:off x="3260981" y="4342638"/>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570475"/>
            <a:ext cx="2645481" cy="194310"/>
          </a:xfrm>
          <a:prstGeom prst="rect">
            <a:avLst/>
          </a:prstGeom>
          <a:noFill/>
        </p:spPr>
        <p:txBody>
          <a:bodyPr wrap="none" lIns="0" rIns="0" tIns="0" bIns="0">
            <a:spAutoFit/>
          </a:bodyPr>
          <a:lstStyle/>
          <a:p>
            <a:r>
              <a:rPr sz="1150" b="0">
                <a:solidFill>
                  <a:srgbClr val="2E2E2E"/>
                </a:solidFill>
                <a:latin typeface="Calibri"/>
              </a:rPr>
              <a:t>▪ 3. Up to 4 Cells × Electronics &amp; Electrical –</a:t>
            </a:r>
          </a:p>
        </p:txBody>
      </p:sp>
      <p:pic>
        <p:nvPicPr>
          <p:cNvPr id="44" name="Picture 43" descr="lock.png"/>
          <p:cNvPicPr>
            <a:picLocks noChangeAspect="1"/>
          </p:cNvPicPr>
          <p:nvPr/>
        </p:nvPicPr>
        <p:blipFill>
          <a:blip r:embed="rId4"/>
          <a:stretch>
            <a:fillRect/>
          </a:stretch>
        </p:blipFill>
        <p:spPr>
          <a:xfrm>
            <a:off x="2870860" y="4560252"/>
            <a:ext cx="134549" cy="195707"/>
          </a:xfrm>
          <a:prstGeom prst="rect">
            <a:avLst/>
          </a:prstGeom>
        </p:spPr>
      </p:pic>
      <p:sp>
        <p:nvSpPr>
          <p:cNvPr id="45" name="TextBox 44"/>
          <p:cNvSpPr txBox="1"/>
          <p:nvPr/>
        </p:nvSpPr>
        <p:spPr>
          <a:xfrm>
            <a:off x="3045970" y="45704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108121" y="4560252"/>
            <a:ext cx="134549" cy="195707"/>
          </a:xfrm>
          <a:prstGeom prst="rect">
            <a:avLst/>
          </a:prstGeom>
        </p:spPr>
      </p:pic>
      <p:sp>
        <p:nvSpPr>
          <p:cNvPr id="47" name="TextBox 46"/>
          <p:cNvSpPr txBox="1"/>
          <p:nvPr/>
        </p:nvSpPr>
        <p:spPr>
          <a:xfrm>
            <a:off x="3283231" y="45704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798313"/>
            <a:ext cx="3427077" cy="194310"/>
          </a:xfrm>
          <a:prstGeom prst="rect">
            <a:avLst/>
          </a:prstGeom>
          <a:noFill/>
        </p:spPr>
        <p:txBody>
          <a:bodyPr wrap="none" lIns="0" rIns="0" tIns="0" bIns="0">
            <a:spAutoFit/>
          </a:bodyPr>
          <a:lstStyle/>
          <a:p>
            <a:r>
              <a:rPr sz="1150" b="0">
                <a:solidFill>
                  <a:srgbClr val="2E2E2E"/>
                </a:solidFill>
                <a:latin typeface="Calibri"/>
              </a:rPr>
              <a:t>▪ 4. 6 to 12 Cells × Glassware, Ceramics &amp; Home Goods –</a:t>
            </a:r>
          </a:p>
        </p:txBody>
      </p:sp>
      <p:pic>
        <p:nvPicPr>
          <p:cNvPr id="49" name="Picture 48" descr="lock.png"/>
          <p:cNvPicPr>
            <a:picLocks noChangeAspect="1"/>
          </p:cNvPicPr>
          <p:nvPr/>
        </p:nvPicPr>
        <p:blipFill>
          <a:blip r:embed="rId4"/>
          <a:stretch>
            <a:fillRect/>
          </a:stretch>
        </p:blipFill>
        <p:spPr>
          <a:xfrm>
            <a:off x="3652456" y="4788090"/>
            <a:ext cx="134549" cy="195707"/>
          </a:xfrm>
          <a:prstGeom prst="rect">
            <a:avLst/>
          </a:prstGeom>
        </p:spPr>
      </p:pic>
      <p:sp>
        <p:nvSpPr>
          <p:cNvPr id="50" name="TextBox 49"/>
          <p:cNvSpPr txBox="1"/>
          <p:nvPr/>
        </p:nvSpPr>
        <p:spPr>
          <a:xfrm>
            <a:off x="3827565" y="47983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889717" y="4788090"/>
            <a:ext cx="134549" cy="195707"/>
          </a:xfrm>
          <a:prstGeom prst="rect">
            <a:avLst/>
          </a:prstGeom>
        </p:spPr>
      </p:pic>
      <p:sp>
        <p:nvSpPr>
          <p:cNvPr id="52" name="TextBox 51"/>
          <p:cNvSpPr txBox="1"/>
          <p:nvPr/>
        </p:nvSpPr>
        <p:spPr>
          <a:xfrm>
            <a:off x="4064826" y="47983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5026151"/>
            <a:ext cx="2311703" cy="194310"/>
          </a:xfrm>
          <a:prstGeom prst="rect">
            <a:avLst/>
          </a:prstGeom>
          <a:noFill/>
        </p:spPr>
        <p:txBody>
          <a:bodyPr wrap="none" lIns="0" rIns="0" tIns="0" bIns="0">
            <a:spAutoFit/>
          </a:bodyPr>
          <a:lstStyle/>
          <a:p>
            <a:r>
              <a:rPr sz="1150" b="0">
                <a:solidFill>
                  <a:srgbClr val="2E2E2E"/>
                </a:solidFill>
                <a:latin typeface="Calibri"/>
              </a:rPr>
              <a:t>▪ 5. Up to 4 Cells × Food &amp; Beverage –</a:t>
            </a:r>
          </a:p>
        </p:txBody>
      </p:sp>
      <p:pic>
        <p:nvPicPr>
          <p:cNvPr id="54" name="Picture 53" descr="lock.png"/>
          <p:cNvPicPr>
            <a:picLocks noChangeAspect="1"/>
          </p:cNvPicPr>
          <p:nvPr/>
        </p:nvPicPr>
        <p:blipFill>
          <a:blip r:embed="rId4"/>
          <a:stretch>
            <a:fillRect/>
          </a:stretch>
        </p:blipFill>
        <p:spPr>
          <a:xfrm>
            <a:off x="2537082" y="5015928"/>
            <a:ext cx="134549" cy="195707"/>
          </a:xfrm>
          <a:prstGeom prst="rect">
            <a:avLst/>
          </a:prstGeom>
        </p:spPr>
      </p:pic>
      <p:sp>
        <p:nvSpPr>
          <p:cNvPr id="55" name="TextBox 54"/>
          <p:cNvSpPr txBox="1"/>
          <p:nvPr/>
        </p:nvSpPr>
        <p:spPr>
          <a:xfrm>
            <a:off x="2712191" y="50261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2774343" y="5015928"/>
            <a:ext cx="134549" cy="195707"/>
          </a:xfrm>
          <a:prstGeom prst="rect">
            <a:avLst/>
          </a:prstGeom>
        </p:spPr>
      </p:pic>
      <p:sp>
        <p:nvSpPr>
          <p:cNvPr id="57" name="TextBox 56"/>
          <p:cNvSpPr txBox="1"/>
          <p:nvPr/>
        </p:nvSpPr>
        <p:spPr>
          <a:xfrm>
            <a:off x="2949452" y="50261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4114800"/>
            <a:ext cx="1485323" cy="194310"/>
          </a:xfrm>
          <a:prstGeom prst="rect">
            <a:avLst/>
          </a:prstGeom>
          <a:noFill/>
        </p:spPr>
        <p:txBody>
          <a:bodyPr wrap="none" lIns="0" rIns="0" tIns="0" bIns="0">
            <a:spAutoFit/>
          </a:bodyPr>
          <a:lstStyle/>
          <a:p>
            <a:r>
              <a:rPr sz="1150" b="0">
                <a:solidFill>
                  <a:srgbClr val="2E2E2E"/>
                </a:solidFill>
                <a:latin typeface="Calibri"/>
              </a:rPr>
              <a:t>▪ '6 to 12 Cells × Food &amp;</a:t>
            </a:r>
          </a:p>
        </p:txBody>
      </p:sp>
      <p:sp>
        <p:nvSpPr>
          <p:cNvPr id="59" name="TextBox 58"/>
          <p:cNvSpPr txBox="1"/>
          <p:nvPr/>
        </p:nvSpPr>
        <p:spPr>
          <a:xfrm>
            <a:off x="6029325" y="4290060"/>
            <a:ext cx="975320" cy="194310"/>
          </a:xfrm>
          <a:prstGeom prst="rect">
            <a:avLst/>
          </a:prstGeom>
          <a:noFill/>
        </p:spPr>
        <p:txBody>
          <a:bodyPr wrap="none" lIns="0" rIns="0" tIns="0" bIns="0">
            <a:spAutoFit/>
          </a:bodyPr>
          <a:lstStyle/>
          <a:p>
            <a:r>
              <a:rPr sz="1150" b="0">
                <a:solidFill>
                  <a:srgbClr val="2E2E2E"/>
                </a:solidFill>
                <a:latin typeface="Calibri"/>
              </a:rPr>
              <a:t>Beverage' adds</a:t>
            </a:r>
          </a:p>
        </p:txBody>
      </p:sp>
      <p:pic>
        <p:nvPicPr>
          <p:cNvPr id="60" name="Picture 59" descr="lock.png"/>
          <p:cNvPicPr>
            <a:picLocks noChangeAspect="1"/>
          </p:cNvPicPr>
          <p:nvPr/>
        </p:nvPicPr>
        <p:blipFill>
          <a:blip r:embed="rId4"/>
          <a:stretch>
            <a:fillRect/>
          </a:stretch>
        </p:blipFill>
        <p:spPr>
          <a:xfrm>
            <a:off x="6953799" y="4279836"/>
            <a:ext cx="134549" cy="195707"/>
          </a:xfrm>
          <a:prstGeom prst="rect">
            <a:avLst/>
          </a:prstGeom>
        </p:spPr>
      </p:pic>
      <p:sp>
        <p:nvSpPr>
          <p:cNvPr id="61" name="TextBox 60"/>
          <p:cNvSpPr txBox="1"/>
          <p:nvPr/>
        </p:nvSpPr>
        <p:spPr>
          <a:xfrm>
            <a:off x="7128908" y="429006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2" name="TextBox 61"/>
          <p:cNvSpPr txBox="1"/>
          <p:nvPr/>
        </p:nvSpPr>
        <p:spPr>
          <a:xfrm>
            <a:off x="6029325" y="4465320"/>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455096"/>
            <a:ext cx="134549" cy="195707"/>
          </a:xfrm>
          <a:prstGeom prst="rect">
            <a:avLst/>
          </a:prstGeom>
        </p:spPr>
      </p:pic>
      <p:sp>
        <p:nvSpPr>
          <p:cNvPr id="64" name="TextBox 63"/>
          <p:cNvSpPr txBox="1"/>
          <p:nvPr/>
        </p:nvSpPr>
        <p:spPr>
          <a:xfrm>
            <a:off x="7110081" y="4465320"/>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5" name="TextBox 64"/>
          <p:cNvSpPr txBox="1"/>
          <p:nvPr/>
        </p:nvSpPr>
        <p:spPr>
          <a:xfrm>
            <a:off x="6029325" y="464057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6" name="TextBox 65"/>
          <p:cNvSpPr txBox="1"/>
          <p:nvPr/>
        </p:nvSpPr>
        <p:spPr>
          <a:xfrm>
            <a:off x="8124825" y="4114800"/>
            <a:ext cx="1657350" cy="194310"/>
          </a:xfrm>
          <a:prstGeom prst="rect">
            <a:avLst/>
          </a:prstGeom>
          <a:noFill/>
        </p:spPr>
        <p:txBody>
          <a:bodyPr wrap="none" lIns="0" rIns="0" tIns="0" bIns="0">
            <a:spAutoFit/>
          </a:bodyPr>
          <a:lstStyle/>
          <a:p>
            <a:r>
              <a:rPr sz="1150" b="0">
                <a:solidFill>
                  <a:srgbClr val="2E2E2E"/>
                </a:solidFill>
                <a:latin typeface="Calibri"/>
              </a:rPr>
              <a:t>▪ '6 to 12 Cells × Electronics</a:t>
            </a:r>
          </a:p>
        </p:txBody>
      </p:sp>
      <p:sp>
        <p:nvSpPr>
          <p:cNvPr id="67" name="TextBox 66"/>
          <p:cNvSpPr txBox="1"/>
          <p:nvPr/>
        </p:nvSpPr>
        <p:spPr>
          <a:xfrm>
            <a:off x="8124825" y="4290060"/>
            <a:ext cx="1426306" cy="194310"/>
          </a:xfrm>
          <a:prstGeom prst="rect">
            <a:avLst/>
          </a:prstGeom>
          <a:noFill/>
        </p:spPr>
        <p:txBody>
          <a:bodyPr wrap="none" lIns="0" rIns="0" t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279836"/>
            <a:ext cx="134549" cy="195707"/>
          </a:xfrm>
          <a:prstGeom prst="rect">
            <a:avLst/>
          </a:prstGeom>
        </p:spPr>
      </p:pic>
      <p:sp>
        <p:nvSpPr>
          <p:cNvPr id="69" name="TextBox 68"/>
          <p:cNvSpPr txBox="1"/>
          <p:nvPr/>
        </p:nvSpPr>
        <p:spPr>
          <a:xfrm>
            <a:off x="8124825" y="44653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455096"/>
            <a:ext cx="134549" cy="195707"/>
          </a:xfrm>
          <a:prstGeom prst="rect">
            <a:avLst/>
          </a:prstGeom>
        </p:spPr>
      </p:pic>
      <p:sp>
        <p:nvSpPr>
          <p:cNvPr id="71" name="TextBox 70"/>
          <p:cNvSpPr txBox="1"/>
          <p:nvPr/>
        </p:nvSpPr>
        <p:spPr>
          <a:xfrm>
            <a:off x="8695529" y="4465320"/>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64057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22059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2525395"/>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687445"/>
            <a:ext cx="5067300" cy="237871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Partition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Board Construction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Source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Cell Configuration</a:t>
            </a:r>
          </a:p>
        </p:txBody>
      </p:sp>
      <p:sp>
        <p:nvSpPr>
          <p:cNvPr id="8" name="TextBox 7"/>
          <p:cNvSpPr txBox="1"/>
          <p:nvPr/>
        </p:nvSpPr>
        <p:spPr>
          <a:xfrm>
            <a:off x="6096000" y="3687445"/>
            <a:ext cx="5067300" cy="214249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Customization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Sales Channel</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Partition Type × End Use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Board Construction × End Use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Cell Configuration × End Use</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Summary, By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848100" cy="186689"/>
          </a:xfrm>
          <a:prstGeom prst="rect">
            <a:avLst/>
          </a:prstGeom>
          <a:noFill/>
        </p:spPr>
        <p:txBody>
          <a:bodyPr wrap="none" lIns="0" rIns="0" tIns="0" bIns="0">
            <a:spAutoFit/>
          </a:bodyPr>
          <a:lstStyle/>
          <a:p>
            <a:r>
              <a:rPr sz="1100" b="0">
                <a:solidFill>
                  <a:srgbClr val="2E2E2E"/>
                </a:solidFill>
                <a:latin typeface="Calibri"/>
              </a:rPr>
              <a:t>North America corrugated partition market is projected to register</a:t>
            </a:r>
          </a:p>
        </p:txBody>
      </p:sp>
      <p:pic>
        <p:nvPicPr>
          <p:cNvPr id="36" name="Picture 35" descr="lock.png"/>
          <p:cNvPicPr>
            <a:picLocks noChangeAspect="1"/>
          </p:cNvPicPr>
          <p:nvPr/>
        </p:nvPicPr>
        <p:blipFill>
          <a:blip r:embed="rId6"/>
          <a:stretch>
            <a:fillRect/>
          </a:stretch>
        </p:blipFill>
        <p:spPr>
          <a:xfrm>
            <a:off x="8035157" y="2204848"/>
            <a:ext cx="128699" cy="187198"/>
          </a:xfrm>
          <a:prstGeom prst="rect">
            <a:avLst/>
          </a:prstGeom>
        </p:spPr>
      </p:pic>
      <p:sp>
        <p:nvSpPr>
          <p:cNvPr id="37" name="TextBox 36"/>
          <p:cNvSpPr txBox="1"/>
          <p:nvPr/>
        </p:nvSpPr>
        <p:spPr>
          <a:xfrm>
            <a:off x="8202653" y="2214627"/>
            <a:ext cx="3679750"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 2036. North</a:t>
            </a:r>
          </a:p>
        </p:txBody>
      </p:sp>
      <p:sp>
        <p:nvSpPr>
          <p:cNvPr id="38" name="TextBox 37"/>
          <p:cNvSpPr txBox="1"/>
          <p:nvPr/>
        </p:nvSpPr>
        <p:spPr>
          <a:xfrm>
            <a:off x="8048625" y="2382267"/>
            <a:ext cx="3122860" cy="186689"/>
          </a:xfrm>
          <a:prstGeom prst="rect">
            <a:avLst/>
          </a:prstGeom>
          <a:noFill/>
        </p:spPr>
        <p:txBody>
          <a:bodyPr wrap="none" lIns="0" rIns="0" tIns="0" bIns="0">
            <a:spAutoFit/>
          </a:bodyPr>
          <a:lstStyle/>
          <a:p>
            <a:r>
              <a:rPr sz="1100" b="0">
                <a:solidFill>
                  <a:srgbClr val="2E2E2E"/>
                </a:solidFill>
                <a:latin typeface="Calibri"/>
              </a:rPr>
              <a:t>America corrugated partition market volume stood at</a:t>
            </a:r>
          </a:p>
        </p:txBody>
      </p:sp>
      <p:pic>
        <p:nvPicPr>
          <p:cNvPr id="39" name="Picture 38" descr="lock.png"/>
          <p:cNvPicPr>
            <a:picLocks noChangeAspect="1"/>
          </p:cNvPicPr>
          <p:nvPr/>
        </p:nvPicPr>
        <p:blipFill>
          <a:blip r:embed="rId6"/>
          <a:stretch>
            <a:fillRect/>
          </a:stretch>
        </p:blipFill>
        <p:spPr>
          <a:xfrm>
            <a:off x="11119537" y="2372488"/>
            <a:ext cx="128699" cy="187198"/>
          </a:xfrm>
          <a:prstGeom prst="rect">
            <a:avLst/>
          </a:prstGeom>
        </p:spPr>
      </p:pic>
      <p:sp>
        <p:nvSpPr>
          <p:cNvPr id="40" name="TextBox 39"/>
          <p:cNvSpPr txBox="1"/>
          <p:nvPr/>
        </p:nvSpPr>
        <p:spPr>
          <a:xfrm>
            <a:off x="11287032" y="2382267"/>
            <a:ext cx="401166" cy="186689"/>
          </a:xfrm>
          <a:prstGeom prst="rect">
            <a:avLst/>
          </a:prstGeom>
          <a:noFill/>
        </p:spPr>
        <p:txBody>
          <a:bodyPr wrap="none" lIns="0" rIns="0" tIns="0" bIns="0">
            <a:spAutoFit/>
          </a:bodyPr>
          <a:lstStyle/>
          <a:p>
            <a:r>
              <a:rPr sz="1100" b="0">
                <a:solidFill>
                  <a:srgbClr val="2E2E2E"/>
                </a:solidFill>
                <a:latin typeface="Calibri"/>
              </a:rPr>
              <a:t>MT in</a:t>
            </a:r>
          </a:p>
        </p:txBody>
      </p:sp>
      <p:sp>
        <p:nvSpPr>
          <p:cNvPr id="41" name="TextBox 40"/>
          <p:cNvSpPr txBox="1"/>
          <p:nvPr/>
        </p:nvSpPr>
        <p:spPr>
          <a:xfrm>
            <a:off x="8048625" y="2549907"/>
            <a:ext cx="1779339" cy="186689"/>
          </a:xfrm>
          <a:prstGeom prst="rect">
            <a:avLst/>
          </a:prstGeom>
          <a:noFill/>
        </p:spPr>
        <p:txBody>
          <a:bodyPr wrap="none" lIns="0" rIns="0" tIns="0" bIns="0">
            <a:spAutoFit/>
          </a:bodyPr>
          <a:lstStyle/>
          <a:p>
            <a:r>
              <a:rPr sz="1100" b="0">
                <a:solidFill>
                  <a:srgbClr val="2E2E2E"/>
                </a:solidFill>
                <a:latin typeface="Calibri"/>
              </a:rPr>
              <a:t>2025 and is expected to reach</a:t>
            </a:r>
          </a:p>
        </p:txBody>
      </p:sp>
      <p:pic>
        <p:nvPicPr>
          <p:cNvPr id="42" name="Picture 41" descr="lock.png"/>
          <p:cNvPicPr>
            <a:picLocks noChangeAspect="1"/>
          </p:cNvPicPr>
          <p:nvPr/>
        </p:nvPicPr>
        <p:blipFill>
          <a:blip r:embed="rId6"/>
          <a:stretch>
            <a:fillRect/>
          </a:stretch>
        </p:blipFill>
        <p:spPr>
          <a:xfrm>
            <a:off x="9776016" y="2540128"/>
            <a:ext cx="128699" cy="187198"/>
          </a:xfrm>
          <a:prstGeom prst="rect">
            <a:avLst/>
          </a:prstGeom>
        </p:spPr>
      </p:pic>
      <p:sp>
        <p:nvSpPr>
          <p:cNvPr id="43" name="TextBox 42"/>
          <p:cNvSpPr txBox="1"/>
          <p:nvPr/>
        </p:nvSpPr>
        <p:spPr>
          <a:xfrm>
            <a:off x="9943511" y="2549907"/>
            <a:ext cx="1773319" cy="186689"/>
          </a:xfrm>
          <a:prstGeom prst="rect">
            <a:avLst/>
          </a:prstGeom>
          <a:noFill/>
        </p:spPr>
        <p:txBody>
          <a:bodyPr wrap="none" lIns="0" rIns="0" tIns="0" bIns="0">
            <a:spAutoFit/>
          </a:bodyPr>
          <a:lstStyle/>
          <a:p>
            <a:r>
              <a:rPr sz="1100" b="0">
                <a:solidFill>
                  <a:srgbClr val="2E2E2E"/>
                </a:solidFill>
                <a:latin typeface="Calibri"/>
              </a:rPr>
              <a:t>MT by 2036 end, at a CAGR of</a:t>
            </a:r>
          </a:p>
        </p:txBody>
      </p:sp>
      <p:pic>
        <p:nvPicPr>
          <p:cNvPr id="44" name="Picture 43" descr="lock.png"/>
          <p:cNvPicPr>
            <a:picLocks noChangeAspect="1"/>
          </p:cNvPicPr>
          <p:nvPr/>
        </p:nvPicPr>
        <p:blipFill>
          <a:blip r:embed="rId6"/>
          <a:stretch>
            <a:fillRect/>
          </a:stretch>
        </p:blipFill>
        <p:spPr>
          <a:xfrm>
            <a:off x="8035157" y="2707768"/>
            <a:ext cx="128699" cy="187198"/>
          </a:xfrm>
          <a:prstGeom prst="rect">
            <a:avLst/>
          </a:prstGeom>
        </p:spPr>
      </p:pic>
      <p:sp>
        <p:nvSpPr>
          <p:cNvPr id="45" name="TextBox 44"/>
          <p:cNvSpPr txBox="1"/>
          <p:nvPr/>
        </p:nvSpPr>
        <p:spPr>
          <a:xfrm>
            <a:off x="8202653"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7" name="TextBox 46"/>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48" name="TextBox 47"/>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49" name="Picture 48" descr="lock.png"/>
          <p:cNvPicPr>
            <a:picLocks noChangeAspect="1"/>
          </p:cNvPicPr>
          <p:nvPr/>
        </p:nvPicPr>
        <p:blipFill>
          <a:blip r:embed="rId6"/>
          <a:stretch>
            <a:fillRect/>
          </a:stretch>
        </p:blipFill>
        <p:spPr>
          <a:xfrm>
            <a:off x="10136079" y="4446251"/>
            <a:ext cx="134549" cy="195707"/>
          </a:xfrm>
          <a:prstGeom prst="rect">
            <a:avLst/>
          </a:prstGeom>
        </p:spPr>
      </p:pic>
      <p:sp>
        <p:nvSpPr>
          <p:cNvPr id="50" name="TextBox 49"/>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1" name="TextBox 50"/>
          <p:cNvSpPr txBox="1"/>
          <p:nvPr/>
        </p:nvSpPr>
        <p:spPr>
          <a:xfrm>
            <a:off x="8048625" y="4684312"/>
            <a:ext cx="3653569" cy="194310"/>
          </a:xfrm>
          <a:prstGeom prst="rect">
            <a:avLst/>
          </a:prstGeom>
          <a:noFill/>
        </p:spPr>
        <p:txBody>
          <a:bodyPr wrap="none" lIns="0" rIns="0" tIns="0" bIns="0">
            <a:spAutoFit/>
          </a:bodyPr>
          <a:lstStyle/>
          <a:p>
            <a:r>
              <a:rPr sz="1150" b="0">
                <a:solidFill>
                  <a:srgbClr val="2E2E2E"/>
                </a:solidFill>
                <a:latin typeface="Calibri"/>
              </a:rPr>
              <a:t>▪ Demand concentrates in 'Flat Dividers &amp; Layer Pads' within</a:t>
            </a:r>
          </a:p>
        </p:txBody>
      </p:sp>
      <p:sp>
        <p:nvSpPr>
          <p:cNvPr id="52" name="TextBox 51"/>
          <p:cNvSpPr txBox="1"/>
          <p:nvPr/>
        </p:nvSpPr>
        <p:spPr>
          <a:xfrm>
            <a:off x="8048625" y="4859572"/>
            <a:ext cx="948791" cy="194310"/>
          </a:xfrm>
          <a:prstGeom prst="rect">
            <a:avLst/>
          </a:prstGeom>
          <a:noFill/>
        </p:spPr>
        <p:txBody>
          <a:bodyPr wrap="none" lIns="0" rIns="0" tIns="0" bIns="0">
            <a:spAutoFit/>
          </a:bodyPr>
          <a:lstStyle/>
          <a:p>
            <a:r>
              <a:rPr sz="1150" b="0">
                <a:solidFill>
                  <a:srgbClr val="2E2E2E"/>
                </a:solidFill>
                <a:latin typeface="Calibri"/>
              </a:rPr>
              <a:t>Partition Type.</a:t>
            </a:r>
          </a:p>
        </p:txBody>
      </p:sp>
      <p:sp>
        <p:nvSpPr>
          <p:cNvPr id="53" name="TextBox 52"/>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4" name="TextBox 53"/>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5"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Partition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7" name="Connector 26"/>
          <p:cNvCxnSpPr/>
          <p:nvPr/>
        </p:nvCxnSpPr>
        <p:spPr>
          <a:xfrm flipV="1">
            <a:off x="1825625" y="2710233"/>
            <a:ext cx="0" cy="40931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6941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694180" y="27102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606550" y="2816005"/>
            <a:ext cx="438150" cy="20448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606550" y="291937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557833"/>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4162425" y="1670329"/>
            <a:ext cx="0" cy="52190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4030980" y="219223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40309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943350" y="1805200"/>
            <a:ext cx="438150" cy="26072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943350" y="193698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994025" y="1517929"/>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6499225" y="2177125"/>
            <a:ext cx="0" cy="46776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6367780" y="26448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6367780" y="217712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6280150" y="2298006"/>
            <a:ext cx="438150" cy="23368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6280150" y="241613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5330825" y="2024725"/>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45" name="TextBox 44"/>
          <p:cNvSpPr txBox="1"/>
          <p:nvPr/>
        </p:nvSpPr>
        <p:spPr>
          <a:xfrm>
            <a:off x="6572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Slotted (Interlocking…</a:t>
            </a:r>
          </a:p>
        </p:txBody>
      </p:sp>
      <p:sp>
        <p:nvSpPr>
          <p:cNvPr id="46" name="TextBox 45"/>
          <p:cNvSpPr txBox="1"/>
          <p:nvPr/>
        </p:nvSpPr>
        <p:spPr>
          <a:xfrm>
            <a:off x="29940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Die-Cut &amp; Folded Part…</a:t>
            </a:r>
          </a:p>
        </p:txBody>
      </p:sp>
      <p:sp>
        <p:nvSpPr>
          <p:cNvPr id="47" name="TextBox 46"/>
          <p:cNvSpPr txBox="1"/>
          <p:nvPr/>
        </p:nvSpPr>
        <p:spPr>
          <a:xfrm>
            <a:off x="5330825" y="3365510"/>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Flat Dividers &amp; Layer…</a:t>
            </a:r>
          </a:p>
        </p:txBody>
      </p:sp>
      <p:sp>
        <p:nvSpPr>
          <p:cNvPr id="48" name="Rounded Rectangle 47"/>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50" name="Connector 49"/>
          <p:cNvCxnSpPr/>
          <p:nvPr/>
        </p:nvCxnSpPr>
        <p:spPr>
          <a:xfrm>
            <a:off x="619125" y="432402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619125" y="475857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619125" y="562766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619125" y="606220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619125" y="4324028"/>
            <a:ext cx="0" cy="173817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590550" y="432402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590550" y="475857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90550" y="562766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590550" y="606220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1" name="FMI Scale tick"/>
          <p:cNvSpPr txBox="1"/>
          <p:nvPr/>
        </p:nvSpPr>
        <p:spPr>
          <a:xfrm>
            <a:off x="219075" y="4257353"/>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sp>
        <p:nvSpPr>
          <p:cNvPr id="62" name="FMI Scale tick"/>
          <p:cNvSpPr txBox="1"/>
          <p:nvPr/>
        </p:nvSpPr>
        <p:spPr>
          <a:xfrm>
            <a:off x="219075" y="4691897"/>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63"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64" name="FMI Scale tick"/>
          <p:cNvSpPr txBox="1"/>
          <p:nvPr/>
        </p:nvSpPr>
        <p:spPr>
          <a:xfrm>
            <a:off x="219075" y="5560985"/>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65" name="FMI Scale tick"/>
          <p:cNvSpPr txBox="1"/>
          <p:nvPr/>
        </p:nvSpPr>
        <p:spPr>
          <a:xfrm>
            <a:off x="219075" y="5995529"/>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cxnSp>
        <p:nvCxnSpPr>
          <p:cNvPr id="66" name="Connector 65"/>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2152650" y="5193116"/>
            <a:ext cx="457200" cy="29714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619125" y="5499787"/>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9" name="Rectangle 68"/>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1" name="TextBox 70"/>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72" name="TextBox 71"/>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73" name="Rounded Rectangle 72"/>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5" name="Rectangle 74"/>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lock.png"/>
          <p:cNvPicPr>
            <a:picLocks noChangeAspect="1"/>
          </p:cNvPicPr>
          <p:nvPr/>
        </p:nvPicPr>
        <p:blipFill>
          <a:blip r:embed="rId4"/>
          <a:stretch>
            <a:fillRect/>
          </a:stretch>
        </p:blipFill>
        <p:spPr>
          <a:xfrm>
            <a:off x="1761275" y="2530909"/>
            <a:ext cx="128699" cy="187198"/>
          </a:xfrm>
          <a:prstGeom prst="rect">
            <a:avLst/>
          </a:prstGeom>
        </p:spPr>
      </p:pic>
      <p:pic>
        <p:nvPicPr>
          <p:cNvPr id="79" name="Picture 78" descr="lock.png"/>
          <p:cNvPicPr>
            <a:picLocks noChangeAspect="1"/>
          </p:cNvPicPr>
          <p:nvPr/>
        </p:nvPicPr>
        <p:blipFill>
          <a:blip r:embed="rId4"/>
          <a:stretch>
            <a:fillRect/>
          </a:stretch>
        </p:blipFill>
        <p:spPr>
          <a:xfrm>
            <a:off x="4098075" y="1491005"/>
            <a:ext cx="128699" cy="187198"/>
          </a:xfrm>
          <a:prstGeom prst="rect">
            <a:avLst/>
          </a:prstGeom>
        </p:spPr>
      </p:pic>
      <p:pic>
        <p:nvPicPr>
          <p:cNvPr id="80" name="Picture 79" descr="lock.png"/>
          <p:cNvPicPr>
            <a:picLocks noChangeAspect="1"/>
          </p:cNvPicPr>
          <p:nvPr/>
        </p:nvPicPr>
        <p:blipFill>
          <a:blip r:embed="rId4"/>
          <a:stretch>
            <a:fillRect/>
          </a:stretch>
        </p:blipFill>
        <p:spPr>
          <a:xfrm>
            <a:off x="6434875" y="1997801"/>
            <a:ext cx="128699" cy="187198"/>
          </a:xfrm>
          <a:prstGeom prst="rect">
            <a:avLst/>
          </a:prstGeom>
        </p:spPr>
      </p:pic>
      <p:pic>
        <p:nvPicPr>
          <p:cNvPr id="81" name="Picture 80" descr="lock.png"/>
          <p:cNvPicPr>
            <a:picLocks noChangeAspect="1"/>
          </p:cNvPicPr>
          <p:nvPr/>
        </p:nvPicPr>
        <p:blipFill>
          <a:blip r:embed="rId4"/>
          <a:stretch>
            <a:fillRect/>
          </a:stretch>
        </p:blipFill>
        <p:spPr>
          <a:xfrm>
            <a:off x="2316900" y="5472862"/>
            <a:ext cx="128699" cy="187198"/>
          </a:xfrm>
          <a:prstGeom prst="rect">
            <a:avLst/>
          </a:prstGeom>
        </p:spPr>
      </p:pic>
      <p:pic>
        <p:nvPicPr>
          <p:cNvPr id="82" name="Picture 81" descr="lock.png"/>
          <p:cNvPicPr>
            <a:picLocks noChangeAspect="1"/>
          </p:cNvPicPr>
          <p:nvPr/>
        </p:nvPicPr>
        <p:blipFill>
          <a:blip r:embed="rId4"/>
          <a:stretch>
            <a:fillRect/>
          </a:stretch>
        </p:blipFill>
        <p:spPr>
          <a:xfrm>
            <a:off x="5841150" y="4267488"/>
            <a:ext cx="128699" cy="187198"/>
          </a:xfrm>
          <a:prstGeom prst="rect">
            <a:avLst/>
          </a:prstGeom>
        </p:spPr>
      </p:pic>
      <p:sp>
        <p:nvSpPr>
          <p:cNvPr id="83" name="TextBox 82"/>
          <p:cNvSpPr txBox="1"/>
          <p:nvPr/>
        </p:nvSpPr>
        <p:spPr>
          <a:xfrm>
            <a:off x="8048625" y="1471995"/>
            <a:ext cx="3403401" cy="194310"/>
          </a:xfrm>
          <a:prstGeom prst="rect">
            <a:avLst/>
          </a:prstGeom>
          <a:noFill/>
        </p:spPr>
        <p:txBody>
          <a:bodyPr wrap="none" lIns="0" rIns="0" tIns="0" bIns="0">
            <a:spAutoFit/>
          </a:bodyPr>
          <a:lstStyle/>
          <a:p>
            <a:r>
              <a:rPr sz="1150" b="0">
                <a:solidFill>
                  <a:srgbClr val="2E2E2E"/>
                </a:solidFill>
                <a:latin typeface="Calibri"/>
              </a:rPr>
              <a:t>Die-cut &amp; folded partitions (h-dividers, tube/cell inserts)</a:t>
            </a:r>
          </a:p>
        </p:txBody>
      </p:sp>
      <p:sp>
        <p:nvSpPr>
          <p:cNvPr id="84" name="TextBox 83"/>
          <p:cNvSpPr txBox="1"/>
          <p:nvPr/>
        </p:nvSpPr>
        <p:spPr>
          <a:xfrm>
            <a:off x="8048625" y="1647255"/>
            <a:ext cx="3767956" cy="194310"/>
          </a:xfrm>
          <a:prstGeom prst="rect">
            <a:avLst/>
          </a:prstGeom>
          <a:noFill/>
        </p:spPr>
        <p:txBody>
          <a:bodyPr wrap="none" lIns="0" rIns="0" tIns="0" bIns="0">
            <a:spAutoFit/>
          </a:bodyPr>
          <a:lstStyle/>
          <a:p>
            <a:r>
              <a:rPr sz="1150" b="0">
                <a:solidFill>
                  <a:srgbClr val="2E2E2E"/>
                </a:solidFill>
                <a:latin typeface="Calibri"/>
              </a:rPr>
              <a:t>segment is expected to command the highest average price of</a:t>
            </a:r>
          </a:p>
        </p:txBody>
      </p:sp>
      <p:sp>
        <p:nvSpPr>
          <p:cNvPr id="85" name="TextBox 84"/>
          <p:cNvSpPr txBox="1"/>
          <p:nvPr/>
        </p:nvSpPr>
        <p:spPr>
          <a:xfrm>
            <a:off x="8048625" y="1822515"/>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86" name="Picture 85" descr="lock.png"/>
          <p:cNvPicPr>
            <a:picLocks noChangeAspect="1"/>
          </p:cNvPicPr>
          <p:nvPr/>
        </p:nvPicPr>
        <p:blipFill>
          <a:blip r:embed="rId4"/>
          <a:stretch>
            <a:fillRect/>
          </a:stretch>
        </p:blipFill>
        <p:spPr>
          <a:xfrm>
            <a:off x="8309028" y="1812291"/>
            <a:ext cx="134549" cy="195707"/>
          </a:xfrm>
          <a:prstGeom prst="rect">
            <a:avLst/>
          </a:prstGeom>
        </p:spPr>
      </p:pic>
      <p:sp>
        <p:nvSpPr>
          <p:cNvPr id="87" name="TextBox 86"/>
          <p:cNvSpPr txBox="1"/>
          <p:nvPr/>
        </p:nvSpPr>
        <p:spPr>
          <a:xfrm>
            <a:off x="8484137" y="1822515"/>
            <a:ext cx="3115825" cy="194310"/>
          </a:xfrm>
          <a:prstGeom prst="rect">
            <a:avLst/>
          </a:prstGeom>
          <a:noFill/>
        </p:spPr>
        <p:txBody>
          <a:bodyPr wrap="none" lIns="0" rIns="0" tIns="0" bIns="0">
            <a:spAutoFit/>
          </a:bodyPr>
          <a:lstStyle/>
          <a:p>
            <a:r>
              <a:rPr sz="1150" b="0">
                <a:solidFill>
                  <a:srgbClr val="2E2E2E"/>
                </a:solidFill>
                <a:latin typeface="Calibri"/>
              </a:rPr>
              <a:t>per MT in 2036. Average selling price of corrugated</a:t>
            </a:r>
          </a:p>
        </p:txBody>
      </p:sp>
      <p:sp>
        <p:nvSpPr>
          <p:cNvPr id="88" name="TextBox 87"/>
          <p:cNvSpPr txBox="1"/>
          <p:nvPr/>
        </p:nvSpPr>
        <p:spPr>
          <a:xfrm>
            <a:off x="8048625" y="1997775"/>
            <a:ext cx="1767755" cy="194310"/>
          </a:xfrm>
          <a:prstGeom prst="rect">
            <a:avLst/>
          </a:prstGeom>
          <a:noFill/>
        </p:spPr>
        <p:txBody>
          <a:bodyPr wrap="none" lIns="0" rIns="0" tIns="0" bIns="0">
            <a:spAutoFit/>
          </a:bodyPr>
          <a:lstStyle/>
          <a:p>
            <a:r>
              <a:rPr sz="1150" b="0">
                <a:solidFill>
                  <a:srgbClr val="2E2E2E"/>
                </a:solidFill>
                <a:latin typeface="Calibri"/>
              </a:rPr>
              <a:t>partition is estimated at US$</a:t>
            </a:r>
          </a:p>
        </p:txBody>
      </p:sp>
      <p:pic>
        <p:nvPicPr>
          <p:cNvPr id="89" name="Picture 88" descr="lock.png"/>
          <p:cNvPicPr>
            <a:picLocks noChangeAspect="1"/>
          </p:cNvPicPr>
          <p:nvPr/>
        </p:nvPicPr>
        <p:blipFill>
          <a:blip r:embed="rId4"/>
          <a:stretch>
            <a:fillRect/>
          </a:stretch>
        </p:blipFill>
        <p:spPr>
          <a:xfrm>
            <a:off x="9765534" y="1987551"/>
            <a:ext cx="134549" cy="195707"/>
          </a:xfrm>
          <a:prstGeom prst="rect">
            <a:avLst/>
          </a:prstGeom>
        </p:spPr>
      </p:pic>
      <p:sp>
        <p:nvSpPr>
          <p:cNvPr id="90" name="TextBox 89"/>
          <p:cNvSpPr txBox="1"/>
          <p:nvPr/>
        </p:nvSpPr>
        <p:spPr>
          <a:xfrm>
            <a:off x="9940643" y="1997775"/>
            <a:ext cx="1359557" cy="194310"/>
          </a:xfrm>
          <a:prstGeom prst="rect">
            <a:avLst/>
          </a:prstGeom>
          <a:noFill/>
        </p:spPr>
        <p:txBody>
          <a:bodyPr wrap="none" lIns="0" rIns="0" tIns="0" bIns="0">
            <a:spAutoFit/>
          </a:bodyPr>
          <a:lstStyle/>
          <a:p>
            <a:r>
              <a:rPr sz="1150" b="0">
                <a:solidFill>
                  <a:srgbClr val="2E2E2E"/>
                </a:solidFill>
                <a:latin typeface="Calibri"/>
              </a:rPr>
              <a:t>per MT in 2025 and is</a:t>
            </a:r>
          </a:p>
        </p:txBody>
      </p:sp>
      <p:sp>
        <p:nvSpPr>
          <p:cNvPr id="91" name="TextBox 90"/>
          <p:cNvSpPr txBox="1"/>
          <p:nvPr/>
        </p:nvSpPr>
        <p:spPr>
          <a:xfrm>
            <a:off x="8048625" y="2173035"/>
            <a:ext cx="1764617" cy="194310"/>
          </a:xfrm>
          <a:prstGeom prst="rect">
            <a:avLst/>
          </a:prstGeom>
          <a:noFill/>
        </p:spPr>
        <p:txBody>
          <a:bodyPr wrap="none" lIns="0" rIns="0" tIns="0" bIns="0">
            <a:spAutoFit/>
          </a:bodyPr>
          <a:lstStyle/>
          <a:p>
            <a:r>
              <a:rPr sz="1150" b="0">
                <a:solidFill>
                  <a:srgbClr val="2E2E2E"/>
                </a:solidFill>
                <a:latin typeface="Calibri"/>
              </a:rPr>
              <a:t>projected to increase to US$</a:t>
            </a:r>
          </a:p>
        </p:txBody>
      </p:sp>
      <p:pic>
        <p:nvPicPr>
          <p:cNvPr id="92" name="Picture 91" descr="lock.png"/>
          <p:cNvPicPr>
            <a:picLocks noChangeAspect="1"/>
          </p:cNvPicPr>
          <p:nvPr/>
        </p:nvPicPr>
        <p:blipFill>
          <a:blip r:embed="rId4"/>
          <a:stretch>
            <a:fillRect/>
          </a:stretch>
        </p:blipFill>
        <p:spPr>
          <a:xfrm>
            <a:off x="9762396" y="2162811"/>
            <a:ext cx="134549" cy="195707"/>
          </a:xfrm>
          <a:prstGeom prst="rect">
            <a:avLst/>
          </a:prstGeom>
        </p:spPr>
      </p:pic>
      <p:sp>
        <p:nvSpPr>
          <p:cNvPr id="93" name="TextBox 92"/>
          <p:cNvSpPr txBox="1"/>
          <p:nvPr/>
        </p:nvSpPr>
        <p:spPr>
          <a:xfrm>
            <a:off x="9937506" y="2173035"/>
            <a:ext cx="1048630" cy="194310"/>
          </a:xfrm>
          <a:prstGeom prst="rect">
            <a:avLst/>
          </a:prstGeom>
          <a:noFill/>
        </p:spPr>
        <p:txBody>
          <a:bodyPr wrap="none" lIns="0" rIns="0" tIns="0" bIns="0">
            <a:spAutoFit/>
          </a:bodyPr>
          <a:lstStyle/>
          <a:p>
            <a:r>
              <a:rPr sz="1150" b="0">
                <a:solidFill>
                  <a:srgbClr val="2E2E2E"/>
                </a:solidFill>
                <a:latin typeface="Calibri"/>
              </a:rPr>
              <a:t>per MT by 2036.</a:t>
            </a:r>
          </a:p>
        </p:txBody>
      </p:sp>
      <p:sp>
        <p:nvSpPr>
          <p:cNvPr id="94" name="TextBox 93"/>
          <p:cNvSpPr txBox="1"/>
          <p:nvPr/>
        </p:nvSpPr>
        <p:spPr>
          <a:xfrm>
            <a:off x="8048625" y="2400873"/>
            <a:ext cx="3596518" cy="194310"/>
          </a:xfrm>
          <a:prstGeom prst="rect">
            <a:avLst/>
          </a:prstGeom>
          <a:noFill/>
        </p:spPr>
        <p:txBody>
          <a:bodyPr wrap="none" lIns="0" rIns="0" tIns="0" bIns="0">
            <a:spAutoFit/>
          </a:bodyPr>
          <a:lstStyle/>
          <a:p>
            <a:r>
              <a:rPr sz="1150" b="0">
                <a:solidFill>
                  <a:srgbClr val="2E2E2E"/>
                </a:solidFill>
                <a:latin typeface="Calibri"/>
              </a:rPr>
              <a:t>Canada is the highest-priced country, while U.S. is the most</a:t>
            </a:r>
          </a:p>
        </p:txBody>
      </p:sp>
      <p:sp>
        <p:nvSpPr>
          <p:cNvPr id="95" name="TextBox 94"/>
          <p:cNvSpPr txBox="1"/>
          <p:nvPr/>
        </p:nvSpPr>
        <p:spPr>
          <a:xfrm>
            <a:off x="8048625" y="2576133"/>
            <a:ext cx="3714898" cy="194310"/>
          </a:xfrm>
          <a:prstGeom prst="rect">
            <a:avLst/>
          </a:prstGeom>
          <a:noFill/>
        </p:spPr>
        <p:txBody>
          <a:bodyPr wrap="none" lIns="0" rIns="0" tIns="0" bIns="0">
            <a:spAutoFit/>
          </a:bodyPr>
          <a:lstStyle/>
          <a:p>
            <a:r>
              <a:rPr sz="1150" b="0">
                <a:solidFill>
                  <a:srgbClr val="2E2E2E"/>
                </a:solidFill>
                <a:latin typeface="Calibri"/>
              </a:rPr>
              <a:t>price-competitive market. Against the North America price of</a:t>
            </a:r>
          </a:p>
        </p:txBody>
      </p:sp>
      <p:pic>
        <p:nvPicPr>
          <p:cNvPr id="96" name="Picture 95" descr="lock.png"/>
          <p:cNvPicPr>
            <a:picLocks noChangeAspect="1"/>
          </p:cNvPicPr>
          <p:nvPr/>
        </p:nvPicPr>
        <p:blipFill>
          <a:blip r:embed="rId4"/>
          <a:stretch>
            <a:fillRect/>
          </a:stretch>
        </p:blipFill>
        <p:spPr>
          <a:xfrm>
            <a:off x="8034545" y="2741169"/>
            <a:ext cx="134549" cy="195707"/>
          </a:xfrm>
          <a:prstGeom prst="rect">
            <a:avLst/>
          </a:prstGeom>
        </p:spPr>
      </p:pic>
      <p:sp>
        <p:nvSpPr>
          <p:cNvPr id="97" name="TextBox 96"/>
          <p:cNvSpPr txBox="1"/>
          <p:nvPr/>
        </p:nvSpPr>
        <p:spPr>
          <a:xfrm>
            <a:off x="8209654" y="2751393"/>
            <a:ext cx="3081349" cy="194310"/>
          </a:xfrm>
          <a:prstGeom prst="rect">
            <a:avLst/>
          </a:prstGeom>
          <a:noFill/>
        </p:spPr>
        <p:txBody>
          <a:bodyPr wrap="none" lIns="0" rIns="0" tIns="0" bIns="0">
            <a:spAutoFit/>
          </a:bodyPr>
          <a:lstStyle/>
          <a:p>
            <a:r>
              <a:rPr sz="1150" b="0">
                <a:solidFill>
                  <a:srgbClr val="2E2E2E"/>
                </a:solidFill>
                <a:latin typeface="Calibri"/>
              </a:rPr>
              <a:t>US$/MT, 1 of 2 countries price above and 1 below.</a:t>
            </a:r>
          </a:p>
        </p:txBody>
      </p:sp>
      <p:sp>
        <p:nvSpPr>
          <p:cNvPr id="98" name="TextBox 97"/>
          <p:cNvSpPr txBox="1"/>
          <p:nvPr/>
        </p:nvSpPr>
        <p:spPr>
          <a:xfrm>
            <a:off x="8048625" y="2979230"/>
            <a:ext cx="1677330" cy="194310"/>
          </a:xfrm>
          <a:prstGeom prst="rect">
            <a:avLst/>
          </a:prstGeom>
          <a:noFill/>
        </p:spPr>
        <p:txBody>
          <a:bodyPr wrap="none" lIns="0" rIns="0" tIns="0" bIns="0">
            <a:spAutoFit/>
          </a:bodyPr>
          <a:lstStyle/>
          <a:p>
            <a:r>
              <a:rPr sz="1150" b="0">
                <a:solidFill>
                  <a:srgbClr val="2E2E2E"/>
                </a:solidFill>
                <a:latin typeface="Calibri"/>
              </a:rPr>
              <a:t>'Canada' is the dearest at +</a:t>
            </a:r>
          </a:p>
        </p:txBody>
      </p:sp>
      <p:pic>
        <p:nvPicPr>
          <p:cNvPr id="99" name="Picture 98" descr="lock.png"/>
          <p:cNvPicPr>
            <a:picLocks noChangeAspect="1"/>
          </p:cNvPicPr>
          <p:nvPr/>
        </p:nvPicPr>
        <p:blipFill>
          <a:blip r:embed="rId4"/>
          <a:stretch>
            <a:fillRect/>
          </a:stretch>
        </p:blipFill>
        <p:spPr>
          <a:xfrm>
            <a:off x="9675109" y="2969007"/>
            <a:ext cx="134549" cy="195707"/>
          </a:xfrm>
          <a:prstGeom prst="rect">
            <a:avLst/>
          </a:prstGeom>
        </p:spPr>
      </p:pic>
      <p:sp>
        <p:nvSpPr>
          <p:cNvPr id="100" name="TextBox 99"/>
          <p:cNvSpPr txBox="1"/>
          <p:nvPr/>
        </p:nvSpPr>
        <p:spPr>
          <a:xfrm>
            <a:off x="9850218" y="2979230"/>
            <a:ext cx="1961728" cy="194310"/>
          </a:xfrm>
          <a:prstGeom prst="rect">
            <a:avLst/>
          </a:prstGeom>
          <a:noFill/>
        </p:spPr>
        <p:txBody>
          <a:bodyPr wrap="none" lIns="0" rIns="0" tIns="0" bIns="0">
            <a:spAutoFit/>
          </a:bodyPr>
          <a:lstStyle/>
          <a:p>
            <a:r>
              <a:rPr sz="1150" b="0">
                <a:solidFill>
                  <a:srgbClr val="2E2E2E"/>
                </a:solidFill>
                <a:latin typeface="Calibri"/>
              </a:rPr>
              <a:t>versus North America, 'U.S.' the</a:t>
            </a:r>
          </a:p>
        </p:txBody>
      </p:sp>
      <p:sp>
        <p:nvSpPr>
          <p:cNvPr id="101" name="TextBox 100"/>
          <p:cNvSpPr txBox="1"/>
          <p:nvPr/>
        </p:nvSpPr>
        <p:spPr>
          <a:xfrm>
            <a:off x="8048625" y="3154490"/>
            <a:ext cx="842962" cy="194310"/>
          </a:xfrm>
          <a:prstGeom prst="rect">
            <a:avLst/>
          </a:prstGeom>
          <a:noFill/>
        </p:spPr>
        <p:txBody>
          <a:bodyPr wrap="none" lIns="0" rIns="0" tIns="0" bIns="0">
            <a:spAutoFit/>
          </a:bodyPr>
          <a:lstStyle/>
          <a:p>
            <a:r>
              <a:rPr sz="1150" b="0">
                <a:solidFill>
                  <a:srgbClr val="2E2E2E"/>
                </a:solidFill>
                <a:latin typeface="Calibri"/>
              </a:rPr>
              <a:t>cheapest at -</a:t>
            </a:r>
          </a:p>
        </p:txBody>
      </p:sp>
      <p:pic>
        <p:nvPicPr>
          <p:cNvPr id="102" name="Picture 101" descr="lock.png"/>
          <p:cNvPicPr>
            <a:picLocks noChangeAspect="1"/>
          </p:cNvPicPr>
          <p:nvPr/>
        </p:nvPicPr>
        <p:blipFill>
          <a:blip r:embed="rId4"/>
          <a:stretch>
            <a:fillRect/>
          </a:stretch>
        </p:blipFill>
        <p:spPr>
          <a:xfrm>
            <a:off x="8840741" y="3144267"/>
            <a:ext cx="134549" cy="195707"/>
          </a:xfrm>
          <a:prstGeom prst="rect">
            <a:avLst/>
          </a:prstGeom>
        </p:spPr>
      </p:pic>
      <p:sp>
        <p:nvSpPr>
          <p:cNvPr id="103" name="TextBox 102"/>
          <p:cNvSpPr txBox="1"/>
          <p:nvPr/>
        </p:nvSpPr>
        <p:spPr>
          <a:xfrm>
            <a:off x="9015850" y="3154490"/>
            <a:ext cx="2728205" cy="194310"/>
          </a:xfrm>
          <a:prstGeom prst="rect">
            <a:avLst/>
          </a:prstGeom>
          <a:noFill/>
        </p:spPr>
        <p:txBody>
          <a:bodyPr wrap="none" lIns="0" rIns="0" tIns="0" bIns="0">
            <a:spAutoFit/>
          </a:bodyPr>
          <a:lstStyle/>
          <a:p>
            <a:r>
              <a:rPr sz="1150" b="0">
                <a:solidFill>
                  <a:srgbClr val="2E2E2E"/>
                </a:solidFill>
                <a:latin typeface="Calibri"/>
              </a:rPr>
              <a:t>pointing to premiumisation headroom in the</a:t>
            </a:r>
          </a:p>
        </p:txBody>
      </p:sp>
      <p:sp>
        <p:nvSpPr>
          <p:cNvPr id="104" name="TextBox 103"/>
          <p:cNvSpPr txBox="1"/>
          <p:nvPr/>
        </p:nvSpPr>
        <p:spPr>
          <a:xfrm>
            <a:off x="8048625" y="3329750"/>
            <a:ext cx="1458540" cy="194310"/>
          </a:xfrm>
          <a:prstGeom prst="rect">
            <a:avLst/>
          </a:prstGeom>
          <a:noFill/>
        </p:spPr>
        <p:txBody>
          <a:bodyPr wrap="none" lIns="0" rIns="0" tIns="0" bIns="0">
            <a:spAutoFit/>
          </a:bodyPr>
          <a:lstStyle/>
          <a:p>
            <a:r>
              <a:rPr sz="1150" b="0">
                <a:solidFill>
                  <a:srgbClr val="2E2E2E"/>
                </a:solidFill>
                <a:latin typeface="Calibri"/>
              </a:rPr>
              <a:t>lower-priced countries.</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470206"/>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
            </a:r>
          </a:p>
          <a:p>
            <a:pPr algn="l">
              <a:lnSpc>
                <a:spcPct val="100000"/>
              </a:lnSpc>
              <a:spcBef>
                <a:spcPts val="0"/>
              </a:spcBef>
              <a:spcAft>
                <a:spcPts val="300"/>
              </a:spcAft>
            </a:pPr>
            <a:r>
              <a:rPr sz="1100" b="0">
                <a:solidFill>
                  <a:srgbClr val="2E2E2E"/>
                </a:solidFill>
                <a:latin typeface="Calibri"/>
              </a:rPr>
              <a:t/>
            </a:r>
          </a:p>
          <a:p>
            <a:pPr algn="l">
              <a:lnSpc>
                <a:spcPct val="100000"/>
              </a:lnSpc>
              <a:spcBef>
                <a:spcPts val="0"/>
              </a:spcBef>
              <a:spcAft>
                <a:spcPts val="300"/>
              </a:spcAft>
            </a:pPr>
            <a:r>
              <a:rPr sz="1100" b="0">
                <a:solidFill>
                  <a:srgbClr val="2E2E2E"/>
                </a:solidFill>
                <a:latin typeface="Calibri"/>
              </a:rPr>
              <a:t/>
            </a: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72435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048204"/>
            <a:ext cx="3867150" cy="143198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847008" cy="186689"/>
          </a:xfrm>
          <a:prstGeom prst="rect">
            <a:avLst/>
          </a:prstGeom>
          <a:noFill/>
        </p:spPr>
        <p:txBody>
          <a:bodyPr wrap="none" lIns="0" rIns="0" tIns="0" bIns="0">
            <a:spAutoFit/>
          </a:bodyPr>
          <a:lstStyle/>
          <a:p>
            <a:r>
              <a:rPr sz="1100" b="0">
                <a:solidFill>
                  <a:srgbClr val="2E2E2E"/>
                </a:solidFill>
                <a:latin typeface="Calibri"/>
              </a:rPr>
              <a:t>Corrugated partition market value in North America is expected to</a:t>
            </a:r>
          </a:p>
        </p:txBody>
      </p:sp>
      <p:sp>
        <p:nvSpPr>
          <p:cNvPr id="36" name="TextBox 35"/>
          <p:cNvSpPr txBox="1"/>
          <p:nvPr/>
        </p:nvSpPr>
        <p:spPr>
          <a:xfrm>
            <a:off x="8048625" y="2214627"/>
            <a:ext cx="550416" cy="186689"/>
          </a:xfrm>
          <a:prstGeom prst="rect">
            <a:avLst/>
          </a:prstGeom>
          <a:noFill/>
        </p:spPr>
        <p:txBody>
          <a:bodyPr wrap="none" lIns="0" rIns="0" tIns="0" bIns="0">
            <a:spAutoFit/>
          </a:bodyPr>
          <a:lstStyle/>
          <a:p>
            <a:r>
              <a:rPr sz="1100" b="0">
                <a:solidFill>
                  <a:srgbClr val="2E2E2E"/>
                </a:solidFill>
                <a:latin typeface="Calibri"/>
              </a:rPr>
              <a:t>increase</a:t>
            </a:r>
          </a:p>
        </p:txBody>
      </p:sp>
      <p:pic>
        <p:nvPicPr>
          <p:cNvPr id="37" name="Picture 36" descr="lock.png"/>
          <p:cNvPicPr>
            <a:picLocks noChangeAspect="1"/>
          </p:cNvPicPr>
          <p:nvPr/>
        </p:nvPicPr>
        <p:blipFill>
          <a:blip r:embed="rId6"/>
          <a:stretch>
            <a:fillRect/>
          </a:stretch>
        </p:blipFill>
        <p:spPr>
          <a:xfrm>
            <a:off x="8547092" y="2204848"/>
            <a:ext cx="128699" cy="187198"/>
          </a:xfrm>
          <a:prstGeom prst="rect">
            <a:avLst/>
          </a:prstGeom>
        </p:spPr>
      </p:pic>
      <p:sp>
        <p:nvSpPr>
          <p:cNvPr id="38" name="TextBox 37"/>
          <p:cNvSpPr txBox="1"/>
          <p:nvPr/>
        </p:nvSpPr>
        <p:spPr>
          <a:xfrm>
            <a:off x="8714588" y="2214627"/>
            <a:ext cx="2964333" cy="186689"/>
          </a:xfrm>
          <a:prstGeom prst="rect">
            <a:avLst/>
          </a:prstGeom>
          <a:noFill/>
        </p:spPr>
        <p:txBody>
          <a:bodyPr wrap="none" lIns="0" rIns="0" tIns="0" bIns="0">
            <a:spAutoFit/>
          </a:bodyPr>
          <a:lstStyle/>
          <a:p>
            <a:r>
              <a:rPr sz="1100" b="0">
                <a:solidFill>
                  <a:srgbClr val="2E2E2E"/>
                </a:solidFill>
                <a:latin typeface="Calibri"/>
              </a:rPr>
              <a:t>X between 2025 and 2036. In 2025, the corrugated</a:t>
            </a:r>
          </a:p>
        </p:txBody>
      </p:sp>
      <p:sp>
        <p:nvSpPr>
          <p:cNvPr id="39" name="TextBox 38"/>
          <p:cNvSpPr txBox="1"/>
          <p:nvPr/>
        </p:nvSpPr>
        <p:spPr>
          <a:xfrm>
            <a:off x="8048625" y="2382267"/>
            <a:ext cx="3077294" cy="186689"/>
          </a:xfrm>
          <a:prstGeom prst="rect">
            <a:avLst/>
          </a:prstGeom>
          <a:noFill/>
        </p:spPr>
        <p:txBody>
          <a:bodyPr wrap="none" lIns="0" rIns="0" tIns="0" bIns="0">
            <a:spAutoFit/>
          </a:bodyPr>
          <a:lstStyle/>
          <a:p>
            <a:r>
              <a:rPr sz="1100" b="0">
                <a:solidFill>
                  <a:srgbClr val="2E2E2E"/>
                </a:solidFill>
                <a:latin typeface="Calibri"/>
              </a:rPr>
              <a:t>partition market in North America was valued at US$</a:t>
            </a:r>
          </a:p>
        </p:txBody>
      </p:sp>
      <p:pic>
        <p:nvPicPr>
          <p:cNvPr id="40" name="Picture 39" descr="lock.png"/>
          <p:cNvPicPr>
            <a:picLocks noChangeAspect="1"/>
          </p:cNvPicPr>
          <p:nvPr/>
        </p:nvPicPr>
        <p:blipFill>
          <a:blip r:embed="rId6"/>
          <a:stretch>
            <a:fillRect/>
          </a:stretch>
        </p:blipFill>
        <p:spPr>
          <a:xfrm>
            <a:off x="11073970" y="2372488"/>
            <a:ext cx="128699" cy="187198"/>
          </a:xfrm>
          <a:prstGeom prst="rect">
            <a:avLst/>
          </a:prstGeom>
        </p:spPr>
      </p:pic>
      <p:sp>
        <p:nvSpPr>
          <p:cNvPr id="41" name="TextBox 40"/>
          <p:cNvSpPr txBox="1"/>
          <p:nvPr/>
        </p:nvSpPr>
        <p:spPr>
          <a:xfrm>
            <a:off x="11241466" y="2382267"/>
            <a:ext cx="632817" cy="186689"/>
          </a:xfrm>
          <a:prstGeom prst="rect">
            <a:avLst/>
          </a:prstGeom>
          <a:noFill/>
        </p:spPr>
        <p:txBody>
          <a:bodyPr wrap="none" lIns="0" rIns="0" tIns="0" bIns="0">
            <a:spAutoFit/>
          </a:bodyPr>
          <a:lstStyle/>
          <a:p>
            <a:r>
              <a:rPr sz="1100" b="0">
                <a:solidFill>
                  <a:srgbClr val="2E2E2E"/>
                </a:solidFill>
                <a:latin typeface="Calibri"/>
              </a:rPr>
              <a:t>Mn and is</a:t>
            </a:r>
          </a:p>
        </p:txBody>
      </p:sp>
      <p:sp>
        <p:nvSpPr>
          <p:cNvPr id="42" name="TextBox 41"/>
          <p:cNvSpPr txBox="1"/>
          <p:nvPr/>
        </p:nvSpPr>
        <p:spPr>
          <a:xfrm>
            <a:off x="8048625" y="2549907"/>
            <a:ext cx="1737593" cy="186689"/>
          </a:xfrm>
          <a:prstGeom prst="rect">
            <a:avLst/>
          </a:prstGeom>
          <a:noFill/>
        </p:spPr>
        <p:txBody>
          <a:bodyPr wrap="none" lIns="0" rIns="0" tIns="0" bIns="0">
            <a:spAutoFit/>
          </a:bodyPr>
          <a:lstStyle/>
          <a:p>
            <a:r>
              <a:rPr sz="1100" b="0">
                <a:solidFill>
                  <a:srgbClr val="2E2E2E"/>
                </a:solidFill>
                <a:latin typeface="Calibri"/>
              </a:rPr>
              <a:t>estimated to account for US$</a:t>
            </a:r>
          </a:p>
        </p:txBody>
      </p:sp>
      <p:pic>
        <p:nvPicPr>
          <p:cNvPr id="43" name="Picture 42" descr="lock.png"/>
          <p:cNvPicPr>
            <a:picLocks noChangeAspect="1"/>
          </p:cNvPicPr>
          <p:nvPr/>
        </p:nvPicPr>
        <p:blipFill>
          <a:blip r:embed="rId6"/>
          <a:stretch>
            <a:fillRect/>
          </a:stretch>
        </p:blipFill>
        <p:spPr>
          <a:xfrm>
            <a:off x="9734269" y="2540128"/>
            <a:ext cx="128699" cy="187198"/>
          </a:xfrm>
          <a:prstGeom prst="rect">
            <a:avLst/>
          </a:prstGeom>
        </p:spPr>
      </p:pic>
      <p:sp>
        <p:nvSpPr>
          <p:cNvPr id="44" name="TextBox 43"/>
          <p:cNvSpPr txBox="1"/>
          <p:nvPr/>
        </p:nvSpPr>
        <p:spPr>
          <a:xfrm>
            <a:off x="9901765" y="2549907"/>
            <a:ext cx="1977156" cy="186689"/>
          </a:xfrm>
          <a:prstGeom prst="rect">
            <a:avLst/>
          </a:prstGeom>
          <a:noFill/>
        </p:spPr>
        <p:txBody>
          <a:bodyPr wrap="none" lIns="0" rIns="0" tIns="0" bIns="0">
            <a:spAutoFit/>
          </a:bodyPr>
          <a:lstStyle/>
          <a:p>
            <a:r>
              <a:rPr sz="1100" b="0">
                <a:solidFill>
                  <a:srgbClr val="2E2E2E"/>
                </a:solidFill>
                <a:latin typeface="Calibri"/>
              </a:rPr>
              <a:t>Mn by the end of 2026, reflecting</a:t>
            </a:r>
          </a:p>
        </p:txBody>
      </p:sp>
      <p:sp>
        <p:nvSpPr>
          <p:cNvPr id="45" name="TextBox 44"/>
          <p:cNvSpPr txBox="1"/>
          <p:nvPr/>
        </p:nvSpPr>
        <p:spPr>
          <a:xfrm>
            <a:off x="8048625" y="2717547"/>
            <a:ext cx="1322313" cy="186689"/>
          </a:xfrm>
          <a:prstGeom prst="rect">
            <a:avLst/>
          </a:prstGeom>
          <a:noFill/>
        </p:spPr>
        <p:txBody>
          <a:bodyPr wrap="none" lIns="0" rIns="0" tIns="0" bIns="0">
            <a:spAutoFit/>
          </a:bodyPr>
          <a:lstStyle/>
          <a:p>
            <a:r>
              <a:rPr sz="1100" b="0">
                <a:solidFill>
                  <a:srgbClr val="2E2E2E"/>
                </a:solidFill>
                <a:latin typeface="Calibri"/>
              </a:rPr>
              <a:t>a Y-o-Y growth rate of</a:t>
            </a:r>
          </a:p>
        </p:txBody>
      </p:sp>
      <p:pic>
        <p:nvPicPr>
          <p:cNvPr id="46" name="Picture 45" descr="lock.png"/>
          <p:cNvPicPr>
            <a:picLocks noChangeAspect="1"/>
          </p:cNvPicPr>
          <p:nvPr/>
        </p:nvPicPr>
        <p:blipFill>
          <a:blip r:embed="rId6"/>
          <a:stretch>
            <a:fillRect/>
          </a:stretch>
        </p:blipFill>
        <p:spPr>
          <a:xfrm>
            <a:off x="9318989" y="2707768"/>
            <a:ext cx="128699" cy="187198"/>
          </a:xfrm>
          <a:prstGeom prst="rect">
            <a:avLst/>
          </a:prstGeom>
        </p:spPr>
      </p:pic>
      <p:sp>
        <p:nvSpPr>
          <p:cNvPr id="47" name="TextBox 46"/>
          <p:cNvSpPr txBox="1"/>
          <p:nvPr/>
        </p:nvSpPr>
        <p:spPr>
          <a:xfrm>
            <a:off x="9486485"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8" name="TextBox 47"/>
          <p:cNvSpPr txBox="1"/>
          <p:nvPr/>
        </p:nvSpPr>
        <p:spPr>
          <a:xfrm>
            <a:off x="8048625" y="2935479"/>
            <a:ext cx="3491210" cy="186689"/>
          </a:xfrm>
          <a:prstGeom prst="rect">
            <a:avLst/>
          </a:prstGeom>
          <a:noFill/>
        </p:spPr>
        <p:txBody>
          <a:bodyPr wrap="none" lIns="0" rIns="0" tIns="0" bIns="0">
            <a:spAutoFit/>
          </a:bodyPr>
          <a:lstStyle/>
          <a:p>
            <a:r>
              <a:rPr sz="1100" b="0">
                <a:solidFill>
                  <a:srgbClr val="2E2E2E"/>
                </a:solidFill>
                <a:latin typeface="Calibri"/>
              </a:rPr>
              <a:t>The market in North America is expected to account for US$</a:t>
            </a:r>
          </a:p>
        </p:txBody>
      </p:sp>
      <p:pic>
        <p:nvPicPr>
          <p:cNvPr id="49" name="Picture 48" descr="lock.png"/>
          <p:cNvPicPr>
            <a:picLocks noChangeAspect="1"/>
          </p:cNvPicPr>
          <p:nvPr/>
        </p:nvPicPr>
        <p:blipFill>
          <a:blip r:embed="rId6"/>
          <a:stretch>
            <a:fillRect/>
          </a:stretch>
        </p:blipFill>
        <p:spPr>
          <a:xfrm>
            <a:off x="8035157" y="3093340"/>
            <a:ext cx="128699" cy="187198"/>
          </a:xfrm>
          <a:prstGeom prst="rect">
            <a:avLst/>
          </a:prstGeom>
        </p:spPr>
      </p:pic>
      <p:sp>
        <p:nvSpPr>
          <p:cNvPr id="50" name="TextBox 49"/>
          <p:cNvSpPr txBox="1"/>
          <p:nvPr/>
        </p:nvSpPr>
        <p:spPr>
          <a:xfrm>
            <a:off x="8202653" y="3103119"/>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51" name="Picture 50" descr="lock.png"/>
          <p:cNvPicPr>
            <a:picLocks noChangeAspect="1"/>
          </p:cNvPicPr>
          <p:nvPr/>
        </p:nvPicPr>
        <p:blipFill>
          <a:blip r:embed="rId6"/>
          <a:stretch>
            <a:fillRect/>
          </a:stretch>
        </p:blipFill>
        <p:spPr>
          <a:xfrm>
            <a:off x="9646261" y="3093340"/>
            <a:ext cx="128699" cy="187198"/>
          </a:xfrm>
          <a:prstGeom prst="rect">
            <a:avLst/>
          </a:prstGeom>
        </p:spPr>
      </p:pic>
      <p:sp>
        <p:nvSpPr>
          <p:cNvPr id="52" name="TextBox 51"/>
          <p:cNvSpPr txBox="1"/>
          <p:nvPr/>
        </p:nvSpPr>
        <p:spPr>
          <a:xfrm>
            <a:off x="9813757" y="3103119"/>
            <a:ext cx="1849462" cy="186689"/>
          </a:xfrm>
          <a:prstGeom prst="rect">
            <a:avLst/>
          </a:prstGeom>
          <a:noFill/>
        </p:spPr>
        <p:txBody>
          <a:bodyPr wrap="none" lIns="0" rIns="0" tIns="0" bIns="0">
            <a:spAutoFit/>
          </a:bodyPr>
          <a:lstStyle/>
          <a:p>
            <a:r>
              <a:rPr sz="1100" b="0">
                <a:solidFill>
                  <a:srgbClr val="2E2E2E"/>
                </a:solidFill>
                <a:latin typeface="Calibri"/>
              </a:rPr>
              <a:t>over the forecast period. North</a:t>
            </a:r>
          </a:p>
        </p:txBody>
      </p:sp>
      <p:sp>
        <p:nvSpPr>
          <p:cNvPr id="53" name="TextBox 52"/>
          <p:cNvSpPr txBox="1"/>
          <p:nvPr/>
        </p:nvSpPr>
        <p:spPr>
          <a:xfrm>
            <a:off x="8048625" y="3270759"/>
            <a:ext cx="3764880" cy="186689"/>
          </a:xfrm>
          <a:prstGeom prst="rect">
            <a:avLst/>
          </a:prstGeom>
          <a:noFill/>
        </p:spPr>
        <p:txBody>
          <a:bodyPr wrap="none" lIns="0" rIns="0" tIns="0" bIns="0">
            <a:spAutoFit/>
          </a:bodyPr>
          <a:lstStyle/>
          <a:p>
            <a:r>
              <a:rPr sz="1100" b="0">
                <a:solidFill>
                  <a:srgbClr val="2E2E2E"/>
                </a:solidFill>
                <a:latin typeface="Calibri"/>
              </a:rPr>
              <a:t>America is expected to create an incremental opportunity of US$</a:t>
            </a:r>
          </a:p>
        </p:txBody>
      </p:sp>
      <p:pic>
        <p:nvPicPr>
          <p:cNvPr id="54" name="Picture 53" descr="lock.png"/>
          <p:cNvPicPr>
            <a:picLocks noChangeAspect="1"/>
          </p:cNvPicPr>
          <p:nvPr/>
        </p:nvPicPr>
        <p:blipFill>
          <a:blip r:embed="rId6"/>
          <a:stretch>
            <a:fillRect/>
          </a:stretch>
        </p:blipFill>
        <p:spPr>
          <a:xfrm>
            <a:off x="8035157" y="3428620"/>
            <a:ext cx="128699" cy="187198"/>
          </a:xfrm>
          <a:prstGeom prst="rect">
            <a:avLst/>
          </a:prstGeom>
        </p:spPr>
      </p:pic>
      <p:sp>
        <p:nvSpPr>
          <p:cNvPr id="55" name="TextBox 54"/>
          <p:cNvSpPr txBox="1"/>
          <p:nvPr/>
        </p:nvSpPr>
        <p:spPr>
          <a:xfrm>
            <a:off x="8202653" y="3438399"/>
            <a:ext cx="3504579" cy="186689"/>
          </a:xfrm>
          <a:prstGeom prst="rect">
            <a:avLst/>
          </a:prstGeom>
          <a:noFill/>
        </p:spPr>
        <p:txBody>
          <a:bodyPr wrap="none" lIns="0" rIns="0" tIns="0" bIns="0">
            <a:spAutoFit/>
          </a:bodyPr>
          <a:lstStyle/>
          <a:p>
            <a:r>
              <a:rPr sz="1100" b="0">
                <a:solidFill>
                  <a:srgbClr val="2E2E2E"/>
                </a:solidFill>
                <a:latin typeface="Calibri"/>
              </a:rPr>
              <a:t>Mn for the overall corrugated partition market from 2025 to</a:t>
            </a:r>
          </a:p>
        </p:txBody>
      </p:sp>
      <p:sp>
        <p:nvSpPr>
          <p:cNvPr id="56" name="TextBox 55"/>
          <p:cNvSpPr txBox="1"/>
          <p:nvPr/>
        </p:nvSpPr>
        <p:spPr>
          <a:xfrm>
            <a:off x="8048625" y="360603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57" name="TextBox 56"/>
          <p:cNvSpPr txBox="1"/>
          <p:nvPr/>
        </p:nvSpPr>
        <p:spPr>
          <a:xfrm>
            <a:off x="8048625" y="3823971"/>
            <a:ext cx="2837184" cy="186689"/>
          </a:xfrm>
          <a:prstGeom prst="rect">
            <a:avLst/>
          </a:prstGeom>
          <a:noFill/>
        </p:spPr>
        <p:txBody>
          <a:bodyPr wrap="none" lIns="0" rIns="0" tIns="0" bIns="0">
            <a:spAutoFit/>
          </a:bodyPr>
          <a:lstStyle/>
          <a:p>
            <a:r>
              <a:rPr sz="1100" b="0">
                <a:solidFill>
                  <a:srgbClr val="2E2E2E"/>
                </a:solidFill>
                <a:latin typeface="Calibri"/>
              </a:rPr>
              <a:t>Absolute $ value for 2026 is estimated to be US$</a:t>
            </a:r>
          </a:p>
        </p:txBody>
      </p:sp>
      <p:pic>
        <p:nvPicPr>
          <p:cNvPr id="58" name="Picture 57" descr="lock.png"/>
          <p:cNvPicPr>
            <a:picLocks noChangeAspect="1"/>
          </p:cNvPicPr>
          <p:nvPr/>
        </p:nvPicPr>
        <p:blipFill>
          <a:blip r:embed="rId6"/>
          <a:stretch>
            <a:fillRect/>
          </a:stretch>
        </p:blipFill>
        <p:spPr>
          <a:xfrm>
            <a:off x="10833861" y="3814192"/>
            <a:ext cx="128699" cy="187198"/>
          </a:xfrm>
          <a:prstGeom prst="rect">
            <a:avLst/>
          </a:prstGeom>
        </p:spPr>
      </p:pic>
      <p:sp>
        <p:nvSpPr>
          <p:cNvPr id="59" name="TextBox 58"/>
          <p:cNvSpPr txBox="1"/>
          <p:nvPr/>
        </p:nvSpPr>
        <p:spPr>
          <a:xfrm>
            <a:off x="11001357" y="3823971"/>
            <a:ext cx="304303" cy="186689"/>
          </a:xfrm>
          <a:prstGeom prst="rect">
            <a:avLst/>
          </a:prstGeom>
          <a:noFill/>
        </p:spPr>
        <p:txBody>
          <a:bodyPr wrap="none" lIns="0" rIns="0" tIns="0" bIns="0">
            <a:spAutoFit/>
          </a:bodyPr>
          <a:lstStyle/>
          <a:p>
            <a:r>
              <a:rPr sz="1100" b="0">
                <a:solidFill>
                  <a:srgbClr val="2E2E2E"/>
                </a:solidFill>
                <a:latin typeface="Calibri"/>
              </a:rPr>
              <a:t>Mn.</a:t>
            </a:r>
          </a:p>
        </p:txBody>
      </p:sp>
      <p:sp>
        <p:nvSpPr>
          <p:cNvPr id="60" name="TextBox 59"/>
          <p:cNvSpPr txBox="1"/>
          <p:nvPr/>
        </p:nvSpPr>
        <p:spPr>
          <a:xfrm>
            <a:off x="8048625" y="5057729"/>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61" name="Picture 60" descr="lock.png"/>
          <p:cNvPicPr>
            <a:picLocks noChangeAspect="1"/>
          </p:cNvPicPr>
          <p:nvPr/>
        </p:nvPicPr>
        <p:blipFill>
          <a:blip r:embed="rId6"/>
          <a:stretch>
            <a:fillRect/>
          </a:stretch>
        </p:blipFill>
        <p:spPr>
          <a:xfrm>
            <a:off x="10136079" y="5047505"/>
            <a:ext cx="134549" cy="195707"/>
          </a:xfrm>
          <a:prstGeom prst="rect">
            <a:avLst/>
          </a:prstGeom>
        </p:spPr>
      </p:pic>
      <p:sp>
        <p:nvSpPr>
          <p:cNvPr id="62" name="TextBox 61"/>
          <p:cNvSpPr txBox="1"/>
          <p:nvPr/>
        </p:nvSpPr>
        <p:spPr>
          <a:xfrm>
            <a:off x="10311188" y="5057729"/>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3" name="TextBox 62"/>
          <p:cNvSpPr txBox="1"/>
          <p:nvPr/>
        </p:nvSpPr>
        <p:spPr>
          <a:xfrm>
            <a:off x="8048625" y="5285566"/>
            <a:ext cx="3653569" cy="194310"/>
          </a:xfrm>
          <a:prstGeom prst="rect">
            <a:avLst/>
          </a:prstGeom>
          <a:noFill/>
        </p:spPr>
        <p:txBody>
          <a:bodyPr wrap="none" lIns="0" rIns="0" tIns="0" bIns="0">
            <a:spAutoFit/>
          </a:bodyPr>
          <a:lstStyle/>
          <a:p>
            <a:r>
              <a:rPr sz="1150" b="0">
                <a:solidFill>
                  <a:srgbClr val="2E2E2E"/>
                </a:solidFill>
                <a:latin typeface="Calibri"/>
              </a:rPr>
              <a:t>▪ Demand concentrates in 'Flat Dividers &amp; Layer Pads' within</a:t>
            </a:r>
          </a:p>
        </p:txBody>
      </p:sp>
      <p:sp>
        <p:nvSpPr>
          <p:cNvPr id="64" name="TextBox 63"/>
          <p:cNvSpPr txBox="1"/>
          <p:nvPr/>
        </p:nvSpPr>
        <p:spPr>
          <a:xfrm>
            <a:off x="8048625" y="5460826"/>
            <a:ext cx="948791" cy="194310"/>
          </a:xfrm>
          <a:prstGeom prst="rect">
            <a:avLst/>
          </a:prstGeom>
          <a:noFill/>
        </p:spPr>
        <p:txBody>
          <a:bodyPr wrap="none" lIns="0" rIns="0" tIns="0" bIns="0">
            <a:spAutoFit/>
          </a:bodyPr>
          <a:lstStyle/>
          <a:p>
            <a:r>
              <a:rPr sz="1150" b="0">
                <a:solidFill>
                  <a:srgbClr val="2E2E2E"/>
                </a:solidFill>
                <a:latin typeface="Calibri"/>
              </a:rPr>
              <a:t>Partition Type.</a:t>
            </a:r>
          </a:p>
        </p:txBody>
      </p:sp>
      <p:sp>
        <p:nvSpPr>
          <p:cNvPr id="65" name="TextBox 64"/>
          <p:cNvSpPr txBox="1"/>
          <p:nvPr/>
        </p:nvSpPr>
        <p:spPr>
          <a:xfrm>
            <a:off x="8048625" y="5688664"/>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66" name="TextBox 65"/>
          <p:cNvSpPr txBox="1"/>
          <p:nvPr/>
        </p:nvSpPr>
        <p:spPr>
          <a:xfrm>
            <a:off x="8048625" y="5916502"/>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5356" y="2029222"/>
            <a:ext cx="202455" cy="294480"/>
          </a:xfrm>
          <a:prstGeom prst="rect">
            <a:avLst/>
          </a:prstGeom>
        </p:spPr>
      </p:pic>
      <p:pic>
        <p:nvPicPr>
          <p:cNvPr id="27" name="Picture 26" descr="lock.png"/>
          <p:cNvPicPr>
            <a:picLocks noChangeAspect="1"/>
          </p:cNvPicPr>
          <p:nvPr/>
        </p:nvPicPr>
        <p:blipFill>
          <a:blip r:embed="rId6"/>
          <a:stretch>
            <a:fillRect/>
          </a:stretch>
        </p:blipFill>
        <p:spPr>
          <a:xfrm>
            <a:off x="8532694" y="1990329"/>
            <a:ext cx="255933" cy="372266"/>
          </a:xfrm>
          <a:prstGeom prst="rect">
            <a:avLst/>
          </a:prstGeom>
        </p:spPr>
      </p:pic>
      <p:pic>
        <p:nvPicPr>
          <p:cNvPr id="28" name="Picture 27" descr="lock.png"/>
          <p:cNvPicPr>
            <a:picLocks noChangeAspect="1"/>
          </p:cNvPicPr>
          <p:nvPr/>
        </p:nvPicPr>
        <p:blipFill>
          <a:blip r:embed="rId6"/>
          <a:stretch>
            <a:fillRect/>
          </a:stretch>
        </p:blipFill>
        <p:spPr>
          <a:xfrm>
            <a:off x="1321594" y="3950970"/>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3950970"/>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3950970"/>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3950970"/>
            <a:ext cx="157162" cy="228600"/>
          </a:xfrm>
          <a:prstGeom prst="rect">
            <a:avLst/>
          </a:prstGeom>
        </p:spPr>
      </p:pic>
      <p:sp>
        <p:nvSpPr>
          <p:cNvPr id="32" name="TextBox 31"/>
          <p:cNvSpPr txBox="1"/>
          <p:nvPr/>
        </p:nvSpPr>
        <p:spPr>
          <a:xfrm>
            <a:off x="276225" y="4876800"/>
            <a:ext cx="4547269" cy="194310"/>
          </a:xfrm>
          <a:prstGeom prst="rect">
            <a:avLst/>
          </a:prstGeom>
          <a:noFill/>
        </p:spPr>
        <p:txBody>
          <a:bodyPr wrap="none" lIns="0" rIns="0" tIns="0" bIns="0">
            <a:spAutoFit/>
          </a:bodyPr>
          <a:lstStyle/>
          <a:p>
            <a:r>
              <a:rPr sz="1150" b="0">
                <a:solidFill>
                  <a:srgbClr val="2E2E2E"/>
                </a:solidFill>
                <a:latin typeface="Calibri"/>
              </a:rPr>
              <a:t>Corrugated partition market value in North America is expected to increase</a:t>
            </a:r>
          </a:p>
        </p:txBody>
      </p:sp>
      <p:pic>
        <p:nvPicPr>
          <p:cNvPr id="33" name="Picture 32" descr="lock.png"/>
          <p:cNvPicPr>
            <a:picLocks noChangeAspect="1"/>
          </p:cNvPicPr>
          <p:nvPr/>
        </p:nvPicPr>
        <p:blipFill>
          <a:blip r:embed="rId6"/>
          <a:stretch>
            <a:fillRect/>
          </a:stretch>
        </p:blipFill>
        <p:spPr>
          <a:xfrm>
            <a:off x="4772648" y="4866576"/>
            <a:ext cx="134549" cy="195707"/>
          </a:xfrm>
          <a:prstGeom prst="rect">
            <a:avLst/>
          </a:prstGeom>
        </p:spPr>
      </p:pic>
      <p:sp>
        <p:nvSpPr>
          <p:cNvPr id="34" name="TextBox 33"/>
          <p:cNvSpPr txBox="1"/>
          <p:nvPr/>
        </p:nvSpPr>
        <p:spPr>
          <a:xfrm>
            <a:off x="4947757" y="4876800"/>
            <a:ext cx="6266209" cy="194310"/>
          </a:xfrm>
          <a:prstGeom prst="rect">
            <a:avLst/>
          </a:prstGeom>
          <a:noFill/>
        </p:spPr>
        <p:txBody>
          <a:bodyPr wrap="none" lIns="0" rIns="0" tIns="0" bIns="0">
            <a:spAutoFit/>
          </a:bodyPr>
          <a:lstStyle/>
          <a:p>
            <a:r>
              <a:rPr sz="1150" b="0">
                <a:solidFill>
                  <a:srgbClr val="2E2E2E"/>
                </a:solidFill>
                <a:latin typeface="Calibri"/>
              </a:rPr>
              <a:t>X between 2025 and 2036. In 2025, the corrugated partition market in North America was valued at US$</a:t>
            </a:r>
          </a:p>
        </p:txBody>
      </p:sp>
      <p:pic>
        <p:nvPicPr>
          <p:cNvPr id="35" name="Picture 34" descr="lock.png"/>
          <p:cNvPicPr>
            <a:picLocks noChangeAspect="1"/>
          </p:cNvPicPr>
          <p:nvPr/>
        </p:nvPicPr>
        <p:blipFill>
          <a:blip r:embed="rId6"/>
          <a:stretch>
            <a:fillRect/>
          </a:stretch>
        </p:blipFill>
        <p:spPr>
          <a:xfrm>
            <a:off x="11163121" y="4866576"/>
            <a:ext cx="134549" cy="195707"/>
          </a:xfrm>
          <a:prstGeom prst="rect">
            <a:avLst/>
          </a:prstGeom>
        </p:spPr>
      </p:pic>
      <p:sp>
        <p:nvSpPr>
          <p:cNvPr id="36" name="TextBox 35"/>
          <p:cNvSpPr txBox="1"/>
          <p:nvPr/>
        </p:nvSpPr>
        <p:spPr>
          <a:xfrm>
            <a:off x="11338230" y="4876800"/>
            <a:ext cx="277874" cy="194310"/>
          </a:xfrm>
          <a:prstGeom prst="rect">
            <a:avLst/>
          </a:prstGeom>
          <a:noFill/>
        </p:spPr>
        <p:txBody>
          <a:bodyPr wrap="none" lIns="0" rIns="0" tIns="0" bIns="0">
            <a:spAutoFit/>
          </a:bodyPr>
          <a:lstStyle/>
          <a:p>
            <a:r>
              <a:rPr sz="1150" b="0">
                <a:solidFill>
                  <a:srgbClr val="2E2E2E"/>
                </a:solidFill>
                <a:latin typeface="Calibri"/>
              </a:rPr>
              <a:t>Mn</a:t>
            </a:r>
          </a:p>
        </p:txBody>
      </p:sp>
      <p:sp>
        <p:nvSpPr>
          <p:cNvPr id="37" name="TextBox 36"/>
          <p:cNvSpPr txBox="1"/>
          <p:nvPr/>
        </p:nvSpPr>
        <p:spPr>
          <a:xfrm>
            <a:off x="276225" y="5052060"/>
            <a:ext cx="2193354" cy="194310"/>
          </a:xfrm>
          <a:prstGeom prst="rect">
            <a:avLst/>
          </a:prstGeom>
          <a:noFill/>
        </p:spPr>
        <p:txBody>
          <a:bodyPr wrap="none" lIns="0" rIns="0" tIns="0" bIns="0">
            <a:spAutoFit/>
          </a:bodyPr>
          <a:lstStyle/>
          <a:p>
            <a:r>
              <a:rPr sz="1150" b="0">
                <a:solidFill>
                  <a:srgbClr val="2E2E2E"/>
                </a:solidFill>
                <a:latin typeface="Calibri"/>
              </a:rPr>
              <a:t>and is estimated to account for US$</a:t>
            </a:r>
          </a:p>
        </p:txBody>
      </p:sp>
      <p:pic>
        <p:nvPicPr>
          <p:cNvPr id="38" name="Picture 37" descr="lock.png"/>
          <p:cNvPicPr>
            <a:picLocks noChangeAspect="1"/>
          </p:cNvPicPr>
          <p:nvPr/>
        </p:nvPicPr>
        <p:blipFill>
          <a:blip r:embed="rId6"/>
          <a:stretch>
            <a:fillRect/>
          </a:stretch>
        </p:blipFill>
        <p:spPr>
          <a:xfrm>
            <a:off x="2418733" y="5041836"/>
            <a:ext cx="134549" cy="195707"/>
          </a:xfrm>
          <a:prstGeom prst="rect">
            <a:avLst/>
          </a:prstGeom>
        </p:spPr>
      </p:pic>
      <p:sp>
        <p:nvSpPr>
          <p:cNvPr id="39" name="TextBox 38"/>
          <p:cNvSpPr txBox="1"/>
          <p:nvPr/>
        </p:nvSpPr>
        <p:spPr>
          <a:xfrm>
            <a:off x="2593842" y="5052060"/>
            <a:ext cx="3399408" cy="194310"/>
          </a:xfrm>
          <a:prstGeom prst="rect">
            <a:avLst/>
          </a:prstGeom>
          <a:noFill/>
        </p:spPr>
        <p:txBody>
          <a:bodyPr wrap="none" lIns="0" rIns="0" tIns="0" bIns="0">
            <a:spAutoFit/>
          </a:bodyPr>
          <a:lstStyle/>
          <a:p>
            <a:r>
              <a:rPr sz="1150" b="0">
                <a:solidFill>
                  <a:srgbClr val="2E2E2E"/>
                </a:solidFill>
                <a:latin typeface="Calibri"/>
              </a:rPr>
              <a:t>Mn by the end of 2026, reflecting a Y-o-Y growth rate of</a:t>
            </a:r>
          </a:p>
        </p:txBody>
      </p:sp>
      <p:pic>
        <p:nvPicPr>
          <p:cNvPr id="40" name="Picture 39" descr="lock.png"/>
          <p:cNvPicPr>
            <a:picLocks noChangeAspect="1"/>
          </p:cNvPicPr>
          <p:nvPr/>
        </p:nvPicPr>
        <p:blipFill>
          <a:blip r:embed="rId6"/>
          <a:stretch>
            <a:fillRect/>
          </a:stretch>
        </p:blipFill>
        <p:spPr>
          <a:xfrm>
            <a:off x="5942404" y="5041836"/>
            <a:ext cx="134549" cy="195707"/>
          </a:xfrm>
          <a:prstGeom prst="rect">
            <a:avLst/>
          </a:prstGeom>
        </p:spPr>
      </p:pic>
      <p:sp>
        <p:nvSpPr>
          <p:cNvPr id="41" name="TextBox 40"/>
          <p:cNvSpPr txBox="1"/>
          <p:nvPr/>
        </p:nvSpPr>
        <p:spPr>
          <a:xfrm>
            <a:off x="6117513" y="5052060"/>
            <a:ext cx="3716325" cy="194310"/>
          </a:xfrm>
          <a:prstGeom prst="rect">
            <a:avLst/>
          </a:prstGeom>
          <a:noFill/>
        </p:spPr>
        <p:txBody>
          <a:bodyPr wrap="none" lIns="0" rIns="0" tIns="0" bIns="0">
            <a:spAutoFit/>
          </a:bodyPr>
          <a:lstStyle/>
          <a:p>
            <a:r>
              <a:rPr sz="1150" b="0">
                <a:solidFill>
                  <a:srgbClr val="2E2E2E"/>
                </a:solidFill>
                <a:latin typeface="Calibri"/>
              </a:rPr>
              <a:t>. The market in North America is expected to account for US$</a:t>
            </a:r>
          </a:p>
        </p:txBody>
      </p:sp>
      <p:pic>
        <p:nvPicPr>
          <p:cNvPr id="42" name="Picture 41" descr="lock.png"/>
          <p:cNvPicPr>
            <a:picLocks noChangeAspect="1"/>
          </p:cNvPicPr>
          <p:nvPr/>
        </p:nvPicPr>
        <p:blipFill>
          <a:blip r:embed="rId6"/>
          <a:stretch>
            <a:fillRect/>
          </a:stretch>
        </p:blipFill>
        <p:spPr>
          <a:xfrm>
            <a:off x="9782992" y="5041836"/>
            <a:ext cx="134549" cy="195707"/>
          </a:xfrm>
          <a:prstGeom prst="rect">
            <a:avLst/>
          </a:prstGeom>
        </p:spPr>
      </p:pic>
      <p:sp>
        <p:nvSpPr>
          <p:cNvPr id="43" name="TextBox 42"/>
          <p:cNvSpPr txBox="1"/>
          <p:nvPr/>
        </p:nvSpPr>
        <p:spPr>
          <a:xfrm>
            <a:off x="9958102" y="5052060"/>
            <a:ext cx="1560072" cy="194310"/>
          </a:xfrm>
          <a:prstGeom prst="rect">
            <a:avLst/>
          </a:prstGeom>
          <a:noFill/>
        </p:spPr>
        <p:txBody>
          <a:bodyPr wrap="none" lIns="0" rIns="0" tIns="0" bIns="0">
            <a:spAutoFit/>
          </a:bodyPr>
          <a:lstStyle/>
          <a:p>
            <a:r>
              <a:rPr sz="1150" b="0">
                <a:solidFill>
                  <a:srgbClr val="2E2E2E"/>
                </a:solidFill>
                <a:latin typeface="Calibri"/>
              </a:rPr>
              <a:t>Mn by 2036 at a CAGR of</a:t>
            </a:r>
          </a:p>
        </p:txBody>
      </p:sp>
      <p:pic>
        <p:nvPicPr>
          <p:cNvPr id="44" name="Picture 43" descr="lock.png"/>
          <p:cNvPicPr>
            <a:picLocks noChangeAspect="1"/>
          </p:cNvPicPr>
          <p:nvPr/>
        </p:nvPicPr>
        <p:blipFill>
          <a:blip r:embed="rId6"/>
          <a:stretch>
            <a:fillRect/>
          </a:stretch>
        </p:blipFill>
        <p:spPr>
          <a:xfrm>
            <a:off x="262145" y="5217096"/>
            <a:ext cx="134549" cy="195707"/>
          </a:xfrm>
          <a:prstGeom prst="rect">
            <a:avLst/>
          </a:prstGeom>
        </p:spPr>
      </p:pic>
      <p:sp>
        <p:nvSpPr>
          <p:cNvPr id="45" name="TextBox 44"/>
          <p:cNvSpPr txBox="1"/>
          <p:nvPr/>
        </p:nvSpPr>
        <p:spPr>
          <a:xfrm>
            <a:off x="437254" y="522732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6" name="TextBox 45"/>
          <p:cNvSpPr txBox="1"/>
          <p:nvPr/>
        </p:nvSpPr>
        <p:spPr>
          <a:xfrm>
            <a:off x="276225" y="5455157"/>
            <a:ext cx="4313932" cy="194310"/>
          </a:xfrm>
          <a:prstGeom prst="rect">
            <a:avLst/>
          </a:prstGeom>
          <a:noFill/>
        </p:spPr>
        <p:txBody>
          <a:bodyPr wrap="none" lIns="0" rIns="0" tIns="0" bIns="0">
            <a:spAutoFit/>
          </a:bodyPr>
          <a:lstStyle/>
          <a:p>
            <a:r>
              <a:rPr sz="1150" b="0">
                <a:solidFill>
                  <a:srgbClr val="2E2E2E"/>
                </a:solidFill>
                <a:latin typeface="Calibri"/>
              </a:rPr>
              <a:t>North America is expected to create an incremental opportunity of US$</a:t>
            </a:r>
          </a:p>
        </p:txBody>
      </p:sp>
      <p:pic>
        <p:nvPicPr>
          <p:cNvPr id="47" name="Picture 46" descr="lock.png"/>
          <p:cNvPicPr>
            <a:picLocks noChangeAspect="1"/>
          </p:cNvPicPr>
          <p:nvPr/>
        </p:nvPicPr>
        <p:blipFill>
          <a:blip r:embed="rId6"/>
          <a:stretch>
            <a:fillRect/>
          </a:stretch>
        </p:blipFill>
        <p:spPr>
          <a:xfrm>
            <a:off x="4539310" y="5444934"/>
            <a:ext cx="134549" cy="195707"/>
          </a:xfrm>
          <a:prstGeom prst="rect">
            <a:avLst/>
          </a:prstGeom>
        </p:spPr>
      </p:pic>
      <p:sp>
        <p:nvSpPr>
          <p:cNvPr id="48" name="TextBox 47"/>
          <p:cNvSpPr txBox="1"/>
          <p:nvPr/>
        </p:nvSpPr>
        <p:spPr>
          <a:xfrm>
            <a:off x="4714420" y="5455157"/>
            <a:ext cx="6946540"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2025 to 2036. Absolute $ value for 2026 is estimated to be US$</a:t>
            </a:r>
          </a:p>
        </p:txBody>
      </p:sp>
      <p:pic>
        <p:nvPicPr>
          <p:cNvPr id="49" name="Picture 48" descr="lock.png"/>
          <p:cNvPicPr>
            <a:picLocks noChangeAspect="1"/>
          </p:cNvPicPr>
          <p:nvPr/>
        </p:nvPicPr>
        <p:blipFill>
          <a:blip r:embed="rId6"/>
          <a:stretch>
            <a:fillRect/>
          </a:stretch>
        </p:blipFill>
        <p:spPr>
          <a:xfrm>
            <a:off x="262145" y="5620194"/>
            <a:ext cx="134549" cy="195707"/>
          </a:xfrm>
          <a:prstGeom prst="rect">
            <a:avLst/>
          </a:prstGeom>
        </p:spPr>
      </p:pic>
      <p:sp>
        <p:nvSpPr>
          <p:cNvPr id="50" name="TextBox 49"/>
          <p:cNvSpPr txBox="1"/>
          <p:nvPr/>
        </p:nvSpPr>
        <p:spPr>
          <a:xfrm>
            <a:off x="437254" y="5630417"/>
            <a:ext cx="4294820" cy="194310"/>
          </a:xfrm>
          <a:prstGeom prst="rect">
            <a:avLst/>
          </a:prstGeom>
          <a:noFill/>
        </p:spPr>
        <p:txBody>
          <a:bodyPr wrap="none" lIns="0" rIns="0" tIns="0" bIns="0">
            <a:spAutoFit/>
          </a:bodyPr>
          <a:lstStyle/>
          <a:p>
            <a:r>
              <a:rPr sz="1150" b="0">
                <a:solidFill>
                  <a:srgbClr val="2E2E2E"/>
                </a:solidFill>
                <a:latin typeface="Calibri"/>
              </a:rPr>
              <a:t>Mn. North America corrugated partition market is projected to register</a:t>
            </a:r>
          </a:p>
        </p:txBody>
      </p:sp>
      <p:pic>
        <p:nvPicPr>
          <p:cNvPr id="51" name="Picture 50" descr="lock.png"/>
          <p:cNvPicPr>
            <a:picLocks noChangeAspect="1"/>
          </p:cNvPicPr>
          <p:nvPr/>
        </p:nvPicPr>
        <p:blipFill>
          <a:blip r:embed="rId6"/>
          <a:stretch>
            <a:fillRect/>
          </a:stretch>
        </p:blipFill>
        <p:spPr>
          <a:xfrm>
            <a:off x="4681228" y="5620194"/>
            <a:ext cx="134549" cy="195707"/>
          </a:xfrm>
          <a:prstGeom prst="rect">
            <a:avLst/>
          </a:prstGeom>
        </p:spPr>
      </p:pic>
      <p:sp>
        <p:nvSpPr>
          <p:cNvPr id="52" name="TextBox 51"/>
          <p:cNvSpPr txBox="1"/>
          <p:nvPr/>
        </p:nvSpPr>
        <p:spPr>
          <a:xfrm>
            <a:off x="4856337" y="5630417"/>
            <a:ext cx="3462163" cy="194310"/>
          </a:xfrm>
          <a:prstGeom prst="rect">
            <a:avLst/>
          </a:prstGeom>
          <a:noFill/>
        </p:spPr>
        <p:txBody>
          <a:bodyPr wrap="none" lIns="0" rIns="0" tIns="0" bIns="0">
            <a:spAutoFit/>
          </a:bodyPr>
          <a:lstStyle/>
          <a:p>
            <a:r>
              <a:rPr sz="1150" b="0">
                <a:solidFill>
                  <a:srgbClr val="2E2E2E"/>
                </a:solidFill>
                <a:latin typeface="Calibri"/>
              </a:rPr>
              <a:t>X increase in volume by the end of forecast period, 2036.</a:t>
            </a:r>
          </a:p>
        </p:txBody>
      </p:sp>
      <p:sp>
        <p:nvSpPr>
          <p:cNvPr id="53" name="TextBox 52"/>
          <p:cNvSpPr txBox="1"/>
          <p:nvPr/>
        </p:nvSpPr>
        <p:spPr>
          <a:xfrm>
            <a:off x="276225" y="5858255"/>
            <a:ext cx="3642729" cy="194310"/>
          </a:xfrm>
          <a:prstGeom prst="rect">
            <a:avLst/>
          </a:prstGeom>
          <a:noFill/>
        </p:spPr>
        <p:txBody>
          <a:bodyPr wrap="none" lIns="0" rIns="0" tIns="0" bIns="0">
            <a:spAutoFit/>
          </a:bodyPr>
          <a:lstStyle/>
          <a:p>
            <a:r>
              <a:rPr sz="1150" b="0">
                <a:solidFill>
                  <a:srgbClr val="2E2E2E"/>
                </a:solidFill>
                <a:latin typeface="Calibri"/>
              </a:rPr>
              <a:t>North America corrugated partition market volume stood at</a:t>
            </a:r>
          </a:p>
        </p:txBody>
      </p:sp>
      <p:pic>
        <p:nvPicPr>
          <p:cNvPr id="54" name="Picture 53" descr="lock.png"/>
          <p:cNvPicPr>
            <a:picLocks noChangeAspect="1"/>
          </p:cNvPicPr>
          <p:nvPr/>
        </p:nvPicPr>
        <p:blipFill>
          <a:blip r:embed="rId6"/>
          <a:stretch>
            <a:fillRect/>
          </a:stretch>
        </p:blipFill>
        <p:spPr>
          <a:xfrm>
            <a:off x="3868108" y="5848032"/>
            <a:ext cx="134549" cy="195707"/>
          </a:xfrm>
          <a:prstGeom prst="rect">
            <a:avLst/>
          </a:prstGeom>
        </p:spPr>
      </p:pic>
      <p:sp>
        <p:nvSpPr>
          <p:cNvPr id="55" name="TextBox 54"/>
          <p:cNvSpPr txBox="1"/>
          <p:nvPr/>
        </p:nvSpPr>
        <p:spPr>
          <a:xfrm>
            <a:off x="4043217" y="5858255"/>
            <a:ext cx="2229581" cy="194310"/>
          </a:xfrm>
          <a:prstGeom prst="rect">
            <a:avLst/>
          </a:prstGeom>
          <a:noFill/>
        </p:spPr>
        <p:txBody>
          <a:bodyPr wrap="none" lIns="0" rIns="0" tIns="0" bIns="0">
            <a:spAutoFit/>
          </a:bodyPr>
          <a:lstStyle/>
          <a:p>
            <a:r>
              <a:rPr sz="1150" b="0">
                <a:solidFill>
                  <a:srgbClr val="2E2E2E"/>
                </a:solidFill>
                <a:latin typeface="Calibri"/>
              </a:rPr>
              <a:t>MT in 2025 and is expected to reach</a:t>
            </a:r>
          </a:p>
        </p:txBody>
      </p:sp>
      <p:pic>
        <p:nvPicPr>
          <p:cNvPr id="56" name="Picture 55" descr="lock.png"/>
          <p:cNvPicPr>
            <a:picLocks noChangeAspect="1"/>
          </p:cNvPicPr>
          <p:nvPr/>
        </p:nvPicPr>
        <p:blipFill>
          <a:blip r:embed="rId6"/>
          <a:stretch>
            <a:fillRect/>
          </a:stretch>
        </p:blipFill>
        <p:spPr>
          <a:xfrm>
            <a:off x="6221953" y="5848032"/>
            <a:ext cx="134549" cy="195707"/>
          </a:xfrm>
          <a:prstGeom prst="rect">
            <a:avLst/>
          </a:prstGeom>
        </p:spPr>
      </p:pic>
      <p:sp>
        <p:nvSpPr>
          <p:cNvPr id="57" name="TextBox 56"/>
          <p:cNvSpPr txBox="1"/>
          <p:nvPr/>
        </p:nvSpPr>
        <p:spPr>
          <a:xfrm>
            <a:off x="6397062" y="5858255"/>
            <a:ext cx="1850461" cy="194310"/>
          </a:xfrm>
          <a:prstGeom prst="rect">
            <a:avLst/>
          </a:prstGeom>
          <a:noFill/>
        </p:spPr>
        <p:txBody>
          <a:bodyPr wrap="none" lIns="0" rIns="0" tIns="0" bIns="0">
            <a:spAutoFit/>
          </a:bodyPr>
          <a:lstStyle/>
          <a:p>
            <a:r>
              <a:rPr sz="1150" b="0">
                <a:solidFill>
                  <a:srgbClr val="2E2E2E"/>
                </a:solidFill>
                <a:latin typeface="Calibri"/>
              </a:rPr>
              <a:t>MT by 2036 end, at a CAGR of</a:t>
            </a:r>
          </a:p>
        </p:txBody>
      </p:sp>
      <p:pic>
        <p:nvPicPr>
          <p:cNvPr id="58" name="Picture 57" descr="lock.png"/>
          <p:cNvPicPr>
            <a:picLocks noChangeAspect="1"/>
          </p:cNvPicPr>
          <p:nvPr/>
        </p:nvPicPr>
        <p:blipFill>
          <a:blip r:embed="rId6"/>
          <a:stretch>
            <a:fillRect/>
          </a:stretch>
        </p:blipFill>
        <p:spPr>
          <a:xfrm>
            <a:off x="8196678" y="5848032"/>
            <a:ext cx="134549" cy="195707"/>
          </a:xfrm>
          <a:prstGeom prst="rect">
            <a:avLst/>
          </a:prstGeom>
        </p:spPr>
      </p:pic>
      <p:sp>
        <p:nvSpPr>
          <p:cNvPr id="59" name="TextBox 58"/>
          <p:cNvSpPr txBox="1"/>
          <p:nvPr/>
        </p:nvSpPr>
        <p:spPr>
          <a:xfrm>
            <a:off x="8371787" y="5858255"/>
            <a:ext cx="3164073" cy="194310"/>
          </a:xfrm>
          <a:prstGeom prst="rect">
            <a:avLst/>
          </a:prstGeom>
          <a:noFill/>
        </p:spPr>
        <p:txBody>
          <a:bodyPr wrap="none" lIns="0" rIns="0" tIns="0" bIns="0">
            <a:spAutoFit/>
          </a:bodyPr>
          <a:lstStyle/>
          <a:p>
            <a:r>
              <a:rPr sz="1150" b="0">
                <a:solidFill>
                  <a:srgbClr val="2E2E2E"/>
                </a:solidFill>
                <a:latin typeface="Calibri"/>
              </a:rPr>
              <a:t>. Value is projected to grow faster than volume over</a:t>
            </a:r>
          </a:p>
        </p:txBody>
      </p:sp>
      <p:sp>
        <p:nvSpPr>
          <p:cNvPr id="60" name="TextBox 59"/>
          <p:cNvSpPr txBox="1"/>
          <p:nvPr/>
        </p:nvSpPr>
        <p:spPr>
          <a:xfrm>
            <a:off x="276225" y="6033515"/>
            <a:ext cx="3932832" cy="194310"/>
          </a:xfrm>
          <a:prstGeom prst="rect">
            <a:avLst/>
          </a:prstGeom>
          <a:noFill/>
        </p:spPr>
        <p:txBody>
          <a:bodyPr wrap="none" lIns="0" rIns="0" tIns="0" bIns="0">
            <a:spAutoFit/>
          </a:bodyPr>
          <a:lstStyle/>
          <a:p>
            <a:r>
              <a:rPr sz="1150" b="0">
                <a:solidFill>
                  <a:srgbClr val="2E2E2E"/>
                </a:solidFill>
                <a:latin typeface="Calibri"/>
              </a:rPr>
              <a:t>the forecast period, owing to an increase in average selling price.</a:t>
            </a:r>
          </a:p>
        </p:txBody>
      </p:sp>
      <p:sp>
        <p:nvSpPr>
          <p:cNvPr id="61" name="lockshield_13"/>
          <p:cNvSpPr/>
          <p:nvPr/>
        </p:nvSpPr>
        <p:spPr>
          <a:xfrm>
            <a:off x="238125" y="1266825"/>
            <a:ext cx="4505325"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lockshield_16"/>
          <p:cNvSpPr/>
          <p:nvPr/>
        </p:nvSpPr>
        <p:spPr>
          <a:xfrm>
            <a:off x="5086350" y="1266825"/>
            <a:ext cx="6858000"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8"/>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42971">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42971">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7"/>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8"/>
            <a:ext cx="3743325" cy="149374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5666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5666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39"/>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9"/>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3484934" cy="186689"/>
          </a:xfrm>
          <a:prstGeom prst="rect">
            <a:avLst/>
          </a:prstGeom>
          <a:noFill/>
        </p:spPr>
        <p:txBody>
          <a:bodyPr wrap="none" lIns="0" rIns="0" tIns="0" bIns="0">
            <a:spAutoFit/>
          </a:bodyPr>
          <a:lstStyle/>
          <a:p>
            <a:r>
              <a:rPr sz="1100" b="0">
                <a:solidFill>
                  <a:srgbClr val="2E2E2E"/>
                </a:solidFill>
                <a:latin typeface="Calibri"/>
              </a:rPr>
              <a:t>The U.S. corrugated partition market is projected to register</a:t>
            </a:r>
          </a:p>
        </p:txBody>
      </p:sp>
      <p:pic>
        <p:nvPicPr>
          <p:cNvPr id="35" name="Picture 34" descr="lock.png"/>
          <p:cNvPicPr>
            <a:picLocks noChangeAspect="1"/>
          </p:cNvPicPr>
          <p:nvPr/>
        </p:nvPicPr>
        <p:blipFill>
          <a:blip r:embed="rId6"/>
          <a:stretch>
            <a:fillRect/>
          </a:stretch>
        </p:blipFill>
        <p:spPr>
          <a:xfrm>
            <a:off x="3690161" y="6150795"/>
            <a:ext cx="128699" cy="187198"/>
          </a:xfrm>
          <a:prstGeom prst="rect">
            <a:avLst/>
          </a:prstGeom>
        </p:spPr>
      </p:pic>
      <p:sp>
        <p:nvSpPr>
          <p:cNvPr id="36" name="TextBox 35"/>
          <p:cNvSpPr txBox="1"/>
          <p:nvPr/>
        </p:nvSpPr>
        <p:spPr>
          <a:xfrm>
            <a:off x="3857656" y="6160574"/>
            <a:ext cx="4339761" cy="186689"/>
          </a:xfrm>
          <a:prstGeom prst="rect">
            <a:avLst/>
          </a:prstGeom>
          <a:noFill/>
        </p:spPr>
        <p:txBody>
          <a:bodyPr wrap="none" lIns="0" rIns="0" tIns="0" bIns="0">
            <a:spAutoFit/>
          </a:bodyPr>
          <a:lstStyle/>
          <a:p>
            <a:r>
              <a:rPr sz="1100" b="0">
                <a:solidFill>
                  <a:srgbClr val="2E2E2E"/>
                </a:solidFill>
                <a:latin typeface="Calibri"/>
              </a:rPr>
              <a:t>X higher value than Canada in 2036. Canada posts the highest CAGR Index (</a:t>
            </a:r>
          </a:p>
        </p:txBody>
      </p:sp>
      <p:pic>
        <p:nvPicPr>
          <p:cNvPr id="37" name="Picture 36" descr="lock.png"/>
          <p:cNvPicPr>
            <a:picLocks noChangeAspect="1"/>
          </p:cNvPicPr>
          <p:nvPr/>
        </p:nvPicPr>
        <p:blipFill>
          <a:blip r:embed="rId6"/>
          <a:stretch>
            <a:fillRect/>
          </a:stretch>
        </p:blipFill>
        <p:spPr>
          <a:xfrm>
            <a:off x="8145470" y="6150795"/>
            <a:ext cx="128699" cy="187198"/>
          </a:xfrm>
          <a:prstGeom prst="rect">
            <a:avLst/>
          </a:prstGeom>
        </p:spPr>
      </p:pic>
      <p:sp>
        <p:nvSpPr>
          <p:cNvPr id="38" name="TextBox 37"/>
          <p:cNvSpPr txBox="1"/>
          <p:nvPr/>
        </p:nvSpPr>
        <p:spPr>
          <a:xfrm>
            <a:off x="8312965"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39" name="Picture 38" descr="lock.png"/>
          <p:cNvPicPr>
            <a:picLocks noChangeAspect="1"/>
          </p:cNvPicPr>
          <p:nvPr/>
        </p:nvPicPr>
        <p:blipFill>
          <a:blip r:embed="rId6"/>
          <a:stretch>
            <a:fillRect/>
          </a:stretch>
        </p:blipFill>
        <p:spPr>
          <a:xfrm>
            <a:off x="9050997" y="6150795"/>
            <a:ext cx="128699" cy="187198"/>
          </a:xfrm>
          <a:prstGeom prst="rect">
            <a:avLst/>
          </a:prstGeom>
        </p:spPr>
      </p:pic>
      <p:sp>
        <p:nvSpPr>
          <p:cNvPr id="40" name="TextBox 39"/>
          <p:cNvSpPr txBox="1"/>
          <p:nvPr/>
        </p:nvSpPr>
        <p:spPr>
          <a:xfrm>
            <a:off x="9218492" y="6160574"/>
            <a:ext cx="1069106" cy="186689"/>
          </a:xfrm>
          <a:prstGeom prst="rect">
            <a:avLst/>
          </a:prstGeom>
          <a:noFill/>
        </p:spPr>
        <p:txBody>
          <a:bodyPr wrap="none" lIns="0" rIns="0" tIns="0" bIns="0">
            <a:spAutoFit/>
          </a:bodyPr>
          <a:lstStyle/>
          <a:p>
            <a:r>
              <a:rPr sz="1100" b="0">
                <a:solidFill>
                  <a:srgbClr val="2E2E2E"/>
                </a:solidFill>
                <a:latin typeface="Calibri"/>
              </a:rPr>
              <a:t>against the North</a:t>
            </a:r>
          </a:p>
        </p:txBody>
      </p:sp>
      <p:sp>
        <p:nvSpPr>
          <p:cNvPr id="41" name="TextBox 40"/>
          <p:cNvSpPr txBox="1"/>
          <p:nvPr/>
        </p:nvSpPr>
        <p:spPr>
          <a:xfrm>
            <a:off x="257175" y="6328214"/>
            <a:ext cx="4080842" cy="186689"/>
          </a:xfrm>
          <a:prstGeom prst="rect">
            <a:avLst/>
          </a:prstGeom>
          <a:noFill/>
        </p:spPr>
        <p:txBody>
          <a:bodyPr wrap="none" lIns="0" rIns="0" tIns="0" bIns="0">
            <a:spAutoFit/>
          </a:bodyPr>
          <a:lstStyle/>
          <a:p>
            <a:r>
              <a:rPr sz="1100" b="0">
                <a:solidFill>
                  <a:srgbClr val="2E2E2E"/>
                </a:solidFill>
                <a:latin typeface="Calibri"/>
              </a:rPr>
              <a:t>America benchmark, while U.S. offers the largest absolute opportunity</a:t>
            </a:r>
          </a:p>
        </p:txBody>
      </p:sp>
      <p:pic>
        <p:nvPicPr>
          <p:cNvPr id="42" name="Picture 41" descr="lock.png"/>
          <p:cNvPicPr>
            <a:picLocks noChangeAspect="1"/>
          </p:cNvPicPr>
          <p:nvPr/>
        </p:nvPicPr>
        <p:blipFill>
          <a:blip r:embed="rId6"/>
          <a:stretch>
            <a:fillRect/>
          </a:stretch>
        </p:blipFill>
        <p:spPr>
          <a:xfrm>
            <a:off x="4286068" y="6318435"/>
            <a:ext cx="128699" cy="187198"/>
          </a:xfrm>
          <a:prstGeom prst="rect">
            <a:avLst/>
          </a:prstGeom>
        </p:spPr>
      </p:pic>
      <p:sp>
        <p:nvSpPr>
          <p:cNvPr id="43" name="TextBox 42"/>
          <p:cNvSpPr txBox="1"/>
          <p:nvPr/>
        </p:nvSpPr>
        <p:spPr>
          <a:xfrm>
            <a:off x="4453564"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44" name="Picture 43" descr="lock.png"/>
          <p:cNvPicPr>
            <a:picLocks noChangeAspect="1"/>
          </p:cNvPicPr>
          <p:nvPr/>
        </p:nvPicPr>
        <p:blipFill>
          <a:blip r:embed="rId6"/>
          <a:stretch>
            <a:fillRect/>
          </a:stretch>
        </p:blipFill>
        <p:spPr>
          <a:xfrm>
            <a:off x="7713563" y="6318435"/>
            <a:ext cx="128699" cy="187198"/>
          </a:xfrm>
          <a:prstGeom prst="rect">
            <a:avLst/>
          </a:prstGeom>
        </p:spPr>
      </p:pic>
      <p:sp>
        <p:nvSpPr>
          <p:cNvPr id="45" name="TextBox 44"/>
          <p:cNvSpPr txBox="1"/>
          <p:nvPr/>
        </p:nvSpPr>
        <p:spPr>
          <a:xfrm>
            <a:off x="7881058" y="6328214"/>
            <a:ext cx="1973336" cy="186689"/>
          </a:xfrm>
          <a:prstGeom prst="rect">
            <a:avLst/>
          </a:prstGeom>
          <a:noFill/>
        </p:spPr>
        <p:txBody>
          <a:bodyPr wrap="none" lIns="0" rIns="0" tIns="0" bIns="0">
            <a:spAutoFit/>
          </a:bodyPr>
          <a:lstStyle/>
          <a:p>
            <a:r>
              <a:rPr sz="1100" b="0">
                <a:solidFill>
                  <a:srgbClr val="2E2E2E"/>
                </a:solidFill>
                <a:latin typeface="Calibri"/>
              </a:rPr>
              <a:t>of the North America increment).</a:t>
            </a:r>
          </a:p>
        </p:txBody>
      </p:sp>
      <p:sp>
        <p:nvSpPr>
          <p:cNvPr id="46"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00350"/>
            <a:ext cx="11906250"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88607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242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09925"/>
            <a:ext cx="11639550" cy="1085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505325"/>
            <a:ext cx="3943350"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5910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8291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914900"/>
            <a:ext cx="3676650"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5910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4914900"/>
            <a:ext cx="3552825"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5910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4914900"/>
            <a:ext cx="3552825" cy="1638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'Flat Dividers &amp; Layer Pads'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3 partition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502099" cy="194310"/>
          </a:xfrm>
          <a:prstGeom prst="rect">
            <a:avLst/>
          </a:prstGeom>
          <a:noFill/>
        </p:spPr>
        <p:txBody>
          <a:bodyPr wrap="none" lIns="0" rIns="0" tIns="0" bIns="0">
            <a:spAutoFit/>
          </a:bodyPr>
          <a:lstStyle/>
          <a:p>
            <a:r>
              <a:rPr sz="1150" b="0">
                <a:solidFill>
                  <a:srgbClr val="2E2E2E"/>
                </a:solidFill>
                <a:latin typeface="Calibri"/>
              </a:rPr>
              <a:t>Global corrugated partition market is expected to witness</a:t>
            </a:r>
          </a:p>
        </p:txBody>
      </p:sp>
      <p:pic>
        <p:nvPicPr>
          <p:cNvPr id="32" name="Picture 31" descr="lock.png"/>
          <p:cNvPicPr>
            <a:picLocks noChangeAspect="1"/>
          </p:cNvPicPr>
          <p:nvPr/>
        </p:nvPicPr>
        <p:blipFill>
          <a:blip r:embed="rId4"/>
          <a:stretch>
            <a:fillRect/>
          </a:stretch>
        </p:blipFill>
        <p:spPr>
          <a:xfrm>
            <a:off x="3727478" y="1389951"/>
            <a:ext cx="134549" cy="195707"/>
          </a:xfrm>
          <a:prstGeom prst="rect">
            <a:avLst/>
          </a:prstGeom>
        </p:spPr>
      </p:pic>
      <p:sp>
        <p:nvSpPr>
          <p:cNvPr id="33" name="TextBox 32"/>
          <p:cNvSpPr txBox="1"/>
          <p:nvPr/>
        </p:nvSpPr>
        <p:spPr>
          <a:xfrm>
            <a:off x="3902587" y="1400175"/>
            <a:ext cx="5390765" cy="194310"/>
          </a:xfrm>
          <a:prstGeom prst="rect">
            <a:avLst/>
          </a:prstGeom>
          <a:noFill/>
        </p:spPr>
        <p:txBody>
          <a:bodyPr wrap="none" lIns="0" rIns="0" tIns="0" bIns="0">
            <a:spAutoFit/>
          </a:bodyPr>
          <a:lstStyle/>
          <a:p>
            <a:r>
              <a:rPr sz="1150" b="0">
                <a:solidFill>
                  <a:srgbClr val="2E2E2E"/>
                </a:solidFill>
                <a:latin typeface="Calibri"/>
              </a:rPr>
              <a:t>X increase in revenue by 2036 end. Global corrugated partition market accounted for US$</a:t>
            </a:r>
          </a:p>
        </p:txBody>
      </p:sp>
      <p:pic>
        <p:nvPicPr>
          <p:cNvPr id="34" name="Picture 33" descr="lock.png"/>
          <p:cNvPicPr>
            <a:picLocks noChangeAspect="1"/>
          </p:cNvPicPr>
          <p:nvPr/>
        </p:nvPicPr>
        <p:blipFill>
          <a:blip r:embed="rId4"/>
          <a:stretch>
            <a:fillRect/>
          </a:stretch>
        </p:blipFill>
        <p:spPr>
          <a:xfrm>
            <a:off x="9242507" y="1389951"/>
            <a:ext cx="134549" cy="195707"/>
          </a:xfrm>
          <a:prstGeom prst="rect">
            <a:avLst/>
          </a:prstGeom>
        </p:spPr>
      </p:pic>
      <p:sp>
        <p:nvSpPr>
          <p:cNvPr id="35" name="TextBox 34"/>
          <p:cNvSpPr txBox="1"/>
          <p:nvPr/>
        </p:nvSpPr>
        <p:spPr>
          <a:xfrm>
            <a:off x="9417616" y="1400175"/>
            <a:ext cx="2036179" cy="194310"/>
          </a:xfrm>
          <a:prstGeom prst="rect">
            <a:avLst/>
          </a:prstGeom>
          <a:noFill/>
        </p:spPr>
        <p:txBody>
          <a:bodyPr wrap="none" lIns="0" rIns="0" tIns="0" bIns="0">
            <a:spAutoFit/>
          </a:bodyPr>
          <a:lstStyle/>
          <a:p>
            <a:r>
              <a:rPr sz="1150" b="0">
                <a:solidFill>
                  <a:srgbClr val="2E2E2E"/>
                </a:solidFill>
                <a:latin typeface="Calibri"/>
              </a:rPr>
              <a:t>Mn in 2025, which is expected to</a:t>
            </a:r>
          </a:p>
        </p:txBody>
      </p:sp>
      <p:sp>
        <p:nvSpPr>
          <p:cNvPr id="36" name="TextBox 35"/>
          <p:cNvSpPr txBox="1"/>
          <p:nvPr/>
        </p:nvSpPr>
        <p:spPr>
          <a:xfrm>
            <a:off x="276225" y="1575435"/>
            <a:ext cx="999281" cy="194310"/>
          </a:xfrm>
          <a:prstGeom prst="rect">
            <a:avLst/>
          </a:prstGeom>
          <a:noFill/>
        </p:spPr>
        <p:txBody>
          <a:bodyPr wrap="none" lIns="0" rIns="0" tIns="0" bIns="0">
            <a:spAutoFit/>
          </a:bodyPr>
          <a:lstStyle/>
          <a:p>
            <a:r>
              <a:rPr sz="1150" b="0">
                <a:solidFill>
                  <a:srgbClr val="2E2E2E"/>
                </a:solidFill>
                <a:latin typeface="Calibri"/>
              </a:rPr>
              <a:t>increase to US$</a:t>
            </a:r>
          </a:p>
        </p:txBody>
      </p:sp>
      <p:pic>
        <p:nvPicPr>
          <p:cNvPr id="37" name="Picture 36" descr="lock.png"/>
          <p:cNvPicPr>
            <a:picLocks noChangeAspect="1"/>
          </p:cNvPicPr>
          <p:nvPr/>
        </p:nvPicPr>
        <p:blipFill>
          <a:blip r:embed="rId4"/>
          <a:stretch>
            <a:fillRect/>
          </a:stretch>
        </p:blipFill>
        <p:spPr>
          <a:xfrm>
            <a:off x="1224660" y="1565211"/>
            <a:ext cx="134549" cy="195707"/>
          </a:xfrm>
          <a:prstGeom prst="rect">
            <a:avLst/>
          </a:prstGeom>
        </p:spPr>
      </p:pic>
      <p:sp>
        <p:nvSpPr>
          <p:cNvPr id="38" name="TextBox 37"/>
          <p:cNvSpPr txBox="1"/>
          <p:nvPr/>
        </p:nvSpPr>
        <p:spPr>
          <a:xfrm>
            <a:off x="1399769" y="1575435"/>
            <a:ext cx="1527554" cy="194310"/>
          </a:xfrm>
          <a:prstGeom prst="rect">
            <a:avLst/>
          </a:prstGeom>
          <a:noFill/>
        </p:spPr>
        <p:txBody>
          <a:bodyPr wrap="none" lIns="0" rIns="0" tIns="0" bIns="0">
            <a:spAutoFit/>
          </a:bodyPr>
          <a:lstStyle/>
          <a:p>
            <a:r>
              <a:rPr sz="1150" b="0">
                <a:solidFill>
                  <a:srgbClr val="2E2E2E"/>
                </a:solidFill>
                <a:latin typeface="Calibri"/>
              </a:rPr>
              <a:t>Mn in 2036 at a CAGR of</a:t>
            </a:r>
          </a:p>
        </p:txBody>
      </p:sp>
      <p:pic>
        <p:nvPicPr>
          <p:cNvPr id="39" name="Picture 38" descr="lock.png"/>
          <p:cNvPicPr>
            <a:picLocks noChangeAspect="1"/>
          </p:cNvPicPr>
          <p:nvPr/>
        </p:nvPicPr>
        <p:blipFill>
          <a:blip r:embed="rId4"/>
          <a:stretch>
            <a:fillRect/>
          </a:stretch>
        </p:blipFill>
        <p:spPr>
          <a:xfrm>
            <a:off x="2876477" y="1565211"/>
            <a:ext cx="134549" cy="195707"/>
          </a:xfrm>
          <a:prstGeom prst="rect">
            <a:avLst/>
          </a:prstGeom>
        </p:spPr>
      </p:pic>
      <p:sp>
        <p:nvSpPr>
          <p:cNvPr id="40" name="TextBox 39"/>
          <p:cNvSpPr txBox="1"/>
          <p:nvPr/>
        </p:nvSpPr>
        <p:spPr>
          <a:xfrm>
            <a:off x="3051587" y="157543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1" name="TextBox 40"/>
          <p:cNvSpPr txBox="1"/>
          <p:nvPr/>
        </p:nvSpPr>
        <p:spPr>
          <a:xfrm>
            <a:off x="276225" y="1803273"/>
            <a:ext cx="11620500" cy="194310"/>
          </a:xfrm>
          <a:prstGeom prst="rect">
            <a:avLst/>
          </a:prstGeom>
          <a:noFill/>
        </p:spPr>
        <p:txBody>
          <a:bodyPr wrap="none" lIns="0" rIns="0" tIns="0" bIns="0">
            <a:spAutoFit/>
          </a:bodyPr>
          <a:lstStyle/>
          <a:p>
            <a:r>
              <a:rPr sz="1150" b="0">
                <a:solidFill>
                  <a:srgbClr val="2E2E2E"/>
                </a:solidFill>
                <a:latin typeface="Calibri"/>
              </a:rPr>
              <a:t>The global corrugated partition market has been analysed on the basis of partition type, board construction, material source and cell configuration across the globe. U.S. is expected to remain the</a:t>
            </a:r>
          </a:p>
        </p:txBody>
      </p:sp>
      <p:sp>
        <p:nvSpPr>
          <p:cNvPr id="42" name="TextBox 41"/>
          <p:cNvSpPr txBox="1"/>
          <p:nvPr/>
        </p:nvSpPr>
        <p:spPr>
          <a:xfrm>
            <a:off x="276225" y="1978533"/>
            <a:ext cx="6702915" cy="194310"/>
          </a:xfrm>
          <a:prstGeom prst="rect">
            <a:avLst/>
          </a:prstGeom>
          <a:noFill/>
        </p:spPr>
        <p:txBody>
          <a:bodyPr wrap="none" lIns="0" rIns="0" tIns="0" bIns="0">
            <a:spAutoFit/>
          </a:bodyPr>
          <a:lstStyle/>
          <a:p>
            <a:r>
              <a:rPr sz="1150" b="0">
                <a:solidFill>
                  <a:srgbClr val="2E2E2E"/>
                </a:solidFill>
                <a:latin typeface="Calibri"/>
              </a:rPr>
              <a:t>largest market for corrugated partition, while demand in Canada is projected to increase at the highest CAGR of</a:t>
            </a:r>
          </a:p>
        </p:txBody>
      </p:sp>
      <p:pic>
        <p:nvPicPr>
          <p:cNvPr id="43" name="Picture 42" descr="lock.png"/>
          <p:cNvPicPr>
            <a:picLocks noChangeAspect="1"/>
          </p:cNvPicPr>
          <p:nvPr/>
        </p:nvPicPr>
        <p:blipFill>
          <a:blip r:embed="rId4"/>
          <a:stretch>
            <a:fillRect/>
          </a:stretch>
        </p:blipFill>
        <p:spPr>
          <a:xfrm>
            <a:off x="6928294" y="1968309"/>
            <a:ext cx="134549" cy="195707"/>
          </a:xfrm>
          <a:prstGeom prst="rect">
            <a:avLst/>
          </a:prstGeom>
        </p:spPr>
      </p:pic>
      <p:sp>
        <p:nvSpPr>
          <p:cNvPr id="44" name="TextBox 43"/>
          <p:cNvSpPr txBox="1"/>
          <p:nvPr/>
        </p:nvSpPr>
        <p:spPr>
          <a:xfrm>
            <a:off x="7103403"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19450"/>
            <a:ext cx="5877693" cy="194310"/>
          </a:xfrm>
          <a:prstGeom prst="rect">
            <a:avLst/>
          </a:prstGeom>
          <a:noFill/>
        </p:spPr>
        <p:txBody>
          <a:bodyPr wrap="none" lIns="0" rIns="0" tIns="0" bIns="0">
            <a:spAutoFit/>
          </a:bodyPr>
          <a:lstStyle/>
          <a:p>
            <a:r>
              <a:rPr sz="1150" b="0">
                <a:solidFill>
                  <a:srgbClr val="2E2E2E"/>
                </a:solidFill>
                <a:latin typeface="Calibri"/>
              </a:rPr>
              <a:t>▪ The market is consolidated: the leading partition type category 'Flat Dividers &amp; Layer Pads' holds</a:t>
            </a:r>
          </a:p>
        </p:txBody>
      </p:sp>
      <p:pic>
        <p:nvPicPr>
          <p:cNvPr id="46" name="Picture 45" descr="lock.png"/>
          <p:cNvPicPr>
            <a:picLocks noChangeAspect="1"/>
          </p:cNvPicPr>
          <p:nvPr/>
        </p:nvPicPr>
        <p:blipFill>
          <a:blip r:embed="rId4"/>
          <a:stretch>
            <a:fillRect/>
          </a:stretch>
        </p:blipFill>
        <p:spPr>
          <a:xfrm>
            <a:off x="6103072" y="3209226"/>
            <a:ext cx="134549" cy="195707"/>
          </a:xfrm>
          <a:prstGeom prst="rect">
            <a:avLst/>
          </a:prstGeom>
        </p:spPr>
      </p:pic>
      <p:sp>
        <p:nvSpPr>
          <p:cNvPr id="47" name="TextBox 46"/>
          <p:cNvSpPr txBox="1"/>
          <p:nvPr/>
        </p:nvSpPr>
        <p:spPr>
          <a:xfrm>
            <a:off x="6278182" y="321945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8" name="TextBox 47"/>
          <p:cNvSpPr txBox="1"/>
          <p:nvPr/>
        </p:nvSpPr>
        <p:spPr>
          <a:xfrm>
            <a:off x="276225" y="3447287"/>
            <a:ext cx="5151722" cy="194310"/>
          </a:xfrm>
          <a:prstGeom prst="rect">
            <a:avLst/>
          </a:prstGeom>
          <a:noFill/>
        </p:spPr>
        <p:txBody>
          <a:bodyPr wrap="none" lIns="0" rIns="0" tIns="0" bIns="0">
            <a:spAutoFit/>
          </a:bodyPr>
          <a:lstStyle/>
          <a:p>
            <a:r>
              <a:rPr sz="1150" b="0">
                <a:solidFill>
                  <a:srgbClr val="2E2E2E"/>
                </a:solidFill>
                <a:latin typeface="Calibri"/>
              </a:rPr>
              <a:t>▪ Demand spans 2 countries and 10 segmentation lenses (3 partition type categories).</a:t>
            </a:r>
          </a:p>
        </p:txBody>
      </p:sp>
      <p:sp>
        <p:nvSpPr>
          <p:cNvPr id="49" name="TextBox 48"/>
          <p:cNvSpPr txBox="1"/>
          <p:nvPr/>
        </p:nvSpPr>
        <p:spPr>
          <a:xfrm>
            <a:off x="276225" y="3675125"/>
            <a:ext cx="2288914" cy="194310"/>
          </a:xfrm>
          <a:prstGeom prst="rect">
            <a:avLst/>
          </a:prstGeom>
          <a:noFill/>
        </p:spPr>
        <p:txBody>
          <a:bodyPr wrap="none" lIns="0" rIns="0" tIns="0" bIns="0">
            <a:spAutoFit/>
          </a:bodyPr>
          <a:lstStyle/>
          <a:p>
            <a:r>
              <a:rPr sz="1150" b="0">
                <a:solidFill>
                  <a:srgbClr val="2E2E2E"/>
                </a:solidFill>
                <a:latin typeface="Calibri"/>
              </a:rPr>
              <a:t>▪ U.S. is the largest country market at</a:t>
            </a:r>
          </a:p>
        </p:txBody>
      </p:sp>
      <p:pic>
        <p:nvPicPr>
          <p:cNvPr id="50" name="Picture 49" descr="lock.png"/>
          <p:cNvPicPr>
            <a:picLocks noChangeAspect="1"/>
          </p:cNvPicPr>
          <p:nvPr/>
        </p:nvPicPr>
        <p:blipFill>
          <a:blip r:embed="rId4"/>
          <a:stretch>
            <a:fillRect/>
          </a:stretch>
        </p:blipFill>
        <p:spPr>
          <a:xfrm>
            <a:off x="2514293" y="3664902"/>
            <a:ext cx="134549" cy="195707"/>
          </a:xfrm>
          <a:prstGeom prst="rect">
            <a:avLst/>
          </a:prstGeom>
        </p:spPr>
      </p:pic>
      <p:sp>
        <p:nvSpPr>
          <p:cNvPr id="51" name="TextBox 50"/>
          <p:cNvSpPr txBox="1"/>
          <p:nvPr/>
        </p:nvSpPr>
        <p:spPr>
          <a:xfrm>
            <a:off x="2689402" y="367512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2" name="TextBox 51"/>
          <p:cNvSpPr txBox="1"/>
          <p:nvPr/>
        </p:nvSpPr>
        <p:spPr>
          <a:xfrm>
            <a:off x="276225" y="4924425"/>
            <a:ext cx="3204294" cy="194310"/>
          </a:xfrm>
          <a:prstGeom prst="rect">
            <a:avLst/>
          </a:prstGeom>
          <a:noFill/>
        </p:spPr>
        <p:txBody>
          <a:bodyPr wrap="none" lIns="0" rIns="0" tIns="0" bIns="0">
            <a:spAutoFit/>
          </a:bodyPr>
          <a:lstStyle/>
          <a:p>
            <a:r>
              <a:rPr sz="1150" b="0">
                <a:solidFill>
                  <a:srgbClr val="2E2E2E"/>
                </a:solidFill>
                <a:latin typeface="Calibri"/>
              </a:rPr>
              <a:t>▪ Accelerating uptake of 'Flat Dividers &amp; Layer Pads' (</a:t>
            </a:r>
          </a:p>
        </p:txBody>
      </p:sp>
      <p:pic>
        <p:nvPicPr>
          <p:cNvPr id="53" name="Picture 52" descr="lock.png"/>
          <p:cNvPicPr>
            <a:picLocks noChangeAspect="1"/>
          </p:cNvPicPr>
          <p:nvPr/>
        </p:nvPicPr>
        <p:blipFill>
          <a:blip r:embed="rId4"/>
          <a:stretch>
            <a:fillRect/>
          </a:stretch>
        </p:blipFill>
        <p:spPr>
          <a:xfrm>
            <a:off x="3429673" y="4914201"/>
            <a:ext cx="134549" cy="195707"/>
          </a:xfrm>
          <a:prstGeom prst="rect">
            <a:avLst/>
          </a:prstGeom>
        </p:spPr>
      </p:pic>
      <p:sp>
        <p:nvSpPr>
          <p:cNvPr id="54" name="TextBox 53"/>
          <p:cNvSpPr txBox="1"/>
          <p:nvPr/>
        </p:nvSpPr>
        <p:spPr>
          <a:xfrm>
            <a:off x="276225" y="50996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5" name="TextBox 54"/>
          <p:cNvSpPr txBox="1"/>
          <p:nvPr/>
        </p:nvSpPr>
        <p:spPr>
          <a:xfrm>
            <a:off x="276225" y="5327522"/>
            <a:ext cx="2146510" cy="194310"/>
          </a:xfrm>
          <a:prstGeom prst="rect">
            <a:avLst/>
          </a:prstGeom>
          <a:noFill/>
        </p:spPr>
        <p:txBody>
          <a:bodyPr wrap="none" lIns="0" rIns="0" tIns="0" bIns="0">
            <a:spAutoFit/>
          </a:bodyPr>
          <a:lstStyle/>
          <a:p>
            <a:r>
              <a:rPr sz="1150" b="0">
                <a:solidFill>
                  <a:srgbClr val="2E2E2E"/>
                </a:solidFill>
                <a:latin typeface="Calibri"/>
              </a:rPr>
              <a:t>▪ Fast-growing demand in Canada (</a:t>
            </a:r>
          </a:p>
        </p:txBody>
      </p:sp>
      <p:pic>
        <p:nvPicPr>
          <p:cNvPr id="56" name="Picture 55" descr="lock.png"/>
          <p:cNvPicPr>
            <a:picLocks noChangeAspect="1"/>
          </p:cNvPicPr>
          <p:nvPr/>
        </p:nvPicPr>
        <p:blipFill>
          <a:blip r:embed="rId4"/>
          <a:stretch>
            <a:fillRect/>
          </a:stretch>
        </p:blipFill>
        <p:spPr>
          <a:xfrm>
            <a:off x="2371889" y="5317299"/>
            <a:ext cx="134549" cy="195707"/>
          </a:xfrm>
          <a:prstGeom prst="rect">
            <a:avLst/>
          </a:prstGeom>
        </p:spPr>
      </p:pic>
      <p:sp>
        <p:nvSpPr>
          <p:cNvPr id="57" name="TextBox 56"/>
          <p:cNvSpPr txBox="1"/>
          <p:nvPr/>
        </p:nvSpPr>
        <p:spPr>
          <a:xfrm>
            <a:off x="2546998" y="53275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276225" y="5555360"/>
            <a:ext cx="3382292" cy="194310"/>
          </a:xfrm>
          <a:prstGeom prst="rect">
            <a:avLst/>
          </a:prstGeom>
          <a:noFill/>
        </p:spPr>
        <p:txBody>
          <a:bodyPr wrap="none" lIns="0" rIns="0" tIns="0" bIns="0">
            <a:spAutoFit/>
          </a:bodyPr>
          <a:lstStyle/>
          <a:p>
            <a:r>
              <a:rPr sz="1150" b="0">
                <a:solidFill>
                  <a:srgbClr val="2E2E2E"/>
                </a:solidFill>
                <a:latin typeface="Calibri"/>
              </a:rPr>
              <a:t>▪ Momentum in Electronics &amp; Electrical within end use (</a:t>
            </a:r>
          </a:p>
        </p:txBody>
      </p:sp>
      <p:pic>
        <p:nvPicPr>
          <p:cNvPr id="59" name="Picture 58" descr="lock.png"/>
          <p:cNvPicPr>
            <a:picLocks noChangeAspect="1"/>
          </p:cNvPicPr>
          <p:nvPr/>
        </p:nvPicPr>
        <p:blipFill>
          <a:blip r:embed="rId4"/>
          <a:stretch>
            <a:fillRect/>
          </a:stretch>
        </p:blipFill>
        <p:spPr>
          <a:xfrm>
            <a:off x="3607671" y="5545137"/>
            <a:ext cx="134549" cy="195707"/>
          </a:xfrm>
          <a:prstGeom prst="rect">
            <a:avLst/>
          </a:prstGeom>
        </p:spPr>
      </p:pic>
      <p:sp>
        <p:nvSpPr>
          <p:cNvPr id="60" name="TextBox 59"/>
          <p:cNvSpPr txBox="1"/>
          <p:nvPr/>
        </p:nvSpPr>
        <p:spPr>
          <a:xfrm>
            <a:off x="3782780" y="5555360"/>
            <a:ext cx="151044" cy="194310"/>
          </a:xfrm>
          <a:prstGeom prst="rect">
            <a:avLst/>
          </a:prstGeom>
          <a:noFill/>
        </p:spPr>
        <p:txBody>
          <a:bodyPr wrap="none" lIns="0" rIns="0" tIns="0" bIns="0">
            <a:spAutoFit/>
          </a:bodyPr>
          <a:lstStyle/>
          <a:p>
            <a:r>
              <a:rPr sz="1150" b="0">
                <a:solidFill>
                  <a:srgbClr val="2E2E2E"/>
                </a:solidFill>
                <a:latin typeface="Calibri"/>
              </a:rPr>
              <a:t>).</a:t>
            </a:r>
          </a:p>
        </p:txBody>
      </p:sp>
      <p:sp>
        <p:nvSpPr>
          <p:cNvPr id="61" name="TextBox 60"/>
          <p:cNvSpPr txBox="1"/>
          <p:nvPr/>
        </p:nvSpPr>
        <p:spPr>
          <a:xfrm>
            <a:off x="4371975" y="4924425"/>
            <a:ext cx="3131238" cy="194310"/>
          </a:xfrm>
          <a:prstGeom prst="rect">
            <a:avLst/>
          </a:prstGeom>
          <a:noFill/>
        </p:spPr>
        <p:txBody>
          <a:bodyPr wrap="none" lIns="0" rIns="0" tIns="0" bIns="0">
            <a:spAutoFit/>
          </a:bodyPr>
          <a:lstStyle/>
          <a:p>
            <a:r>
              <a:rPr sz="1150" b="0">
                <a:solidFill>
                  <a:srgbClr val="2E2E2E"/>
                </a:solidFill>
                <a:latin typeface="Calibri"/>
              </a:rPr>
              <a:t>▪ Slower momentum in 'Die-Cut &amp; Folded Partitions</a:t>
            </a:r>
          </a:p>
        </p:txBody>
      </p:sp>
      <p:sp>
        <p:nvSpPr>
          <p:cNvPr id="62" name="TextBox 61"/>
          <p:cNvSpPr txBox="1"/>
          <p:nvPr/>
        </p:nvSpPr>
        <p:spPr>
          <a:xfrm>
            <a:off x="4371975" y="5099685"/>
            <a:ext cx="1911238" cy="194310"/>
          </a:xfrm>
          <a:prstGeom prst="rect">
            <a:avLst/>
          </a:prstGeom>
          <a:noFill/>
        </p:spPr>
        <p:txBody>
          <a:bodyPr wrap="none" lIns="0" rIns="0" tIns="0" bIns="0">
            <a:spAutoFit/>
          </a:bodyPr>
          <a:lstStyle/>
          <a:p>
            <a:r>
              <a:rPr sz="1150" b="0">
                <a:solidFill>
                  <a:srgbClr val="2E2E2E"/>
                </a:solidFill>
                <a:latin typeface="Calibri"/>
              </a:rPr>
              <a:t>(H-dividers, tube/cell inserts)' (</a:t>
            </a:r>
          </a:p>
        </p:txBody>
      </p:sp>
      <p:pic>
        <p:nvPicPr>
          <p:cNvPr id="63" name="Picture 62" descr="lock.png"/>
          <p:cNvPicPr>
            <a:picLocks noChangeAspect="1"/>
          </p:cNvPicPr>
          <p:nvPr/>
        </p:nvPicPr>
        <p:blipFill>
          <a:blip r:embed="rId4"/>
          <a:stretch>
            <a:fillRect/>
          </a:stretch>
        </p:blipFill>
        <p:spPr>
          <a:xfrm>
            <a:off x="6232367" y="5089461"/>
            <a:ext cx="134549" cy="195707"/>
          </a:xfrm>
          <a:prstGeom prst="rect">
            <a:avLst/>
          </a:prstGeom>
        </p:spPr>
      </p:pic>
      <p:sp>
        <p:nvSpPr>
          <p:cNvPr id="64" name="TextBox 63"/>
          <p:cNvSpPr txBox="1"/>
          <p:nvPr/>
        </p:nvSpPr>
        <p:spPr>
          <a:xfrm>
            <a:off x="6407476" y="509968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5" name="TextBox 64"/>
          <p:cNvSpPr txBox="1"/>
          <p:nvPr/>
        </p:nvSpPr>
        <p:spPr>
          <a:xfrm>
            <a:off x="4371975" y="5327522"/>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6" name="TextBox 65"/>
          <p:cNvSpPr txBox="1"/>
          <p:nvPr/>
        </p:nvSpPr>
        <p:spPr>
          <a:xfrm>
            <a:off x="4371975" y="550278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7" name="Picture 66" descr="lock.png"/>
          <p:cNvPicPr>
            <a:picLocks noChangeAspect="1"/>
          </p:cNvPicPr>
          <p:nvPr/>
        </p:nvPicPr>
        <p:blipFill>
          <a:blip r:embed="rId4"/>
          <a:stretch>
            <a:fillRect/>
          </a:stretch>
        </p:blipFill>
        <p:spPr>
          <a:xfrm>
            <a:off x="4883401" y="5492559"/>
            <a:ext cx="134549" cy="195707"/>
          </a:xfrm>
          <a:prstGeom prst="rect">
            <a:avLst/>
          </a:prstGeom>
        </p:spPr>
      </p:pic>
      <p:sp>
        <p:nvSpPr>
          <p:cNvPr id="68" name="TextBox 67"/>
          <p:cNvSpPr txBox="1"/>
          <p:nvPr/>
        </p:nvSpPr>
        <p:spPr>
          <a:xfrm>
            <a:off x="5058510" y="550278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9" name="TextBox 68"/>
          <p:cNvSpPr txBox="1"/>
          <p:nvPr/>
        </p:nvSpPr>
        <p:spPr>
          <a:xfrm>
            <a:off x="4371975" y="5730620"/>
            <a:ext cx="3511798" cy="194310"/>
          </a:xfrm>
          <a:prstGeom prst="rect">
            <a:avLst/>
          </a:prstGeom>
          <a:noFill/>
        </p:spPr>
        <p:txBody>
          <a:bodyPr wrap="none" lIns="0" rIns="0" tIns="0" bIns="0">
            <a:spAutoFit/>
          </a:bodyPr>
          <a:lstStyle/>
          <a:p>
            <a:r>
              <a:rPr sz="1150" b="0">
                <a:solidFill>
                  <a:srgbClr val="2E2E2E"/>
                </a:solidFill>
                <a:latin typeface="Calibri"/>
              </a:rPr>
              <a:t>▪ Value concentration in 'Flat Dividers &amp; Layer Pads' raises</a:t>
            </a:r>
          </a:p>
        </p:txBody>
      </p:sp>
      <p:sp>
        <p:nvSpPr>
          <p:cNvPr id="70" name="TextBox 69"/>
          <p:cNvSpPr txBox="1"/>
          <p:nvPr/>
        </p:nvSpPr>
        <p:spPr>
          <a:xfrm>
            <a:off x="4371975" y="5905880"/>
            <a:ext cx="1604305" cy="194310"/>
          </a:xfrm>
          <a:prstGeom prst="rect">
            <a:avLst/>
          </a:prstGeom>
          <a:noFill/>
        </p:spPr>
        <p:txBody>
          <a:bodyPr wrap="none" lIns="0" rIns="0" tIns="0" bIns="0">
            <a:spAutoFit/>
          </a:bodyPr>
          <a:lstStyle/>
          <a:p>
            <a:r>
              <a:rPr sz="1150" b="0">
                <a:solidFill>
                  <a:srgbClr val="2E2E2E"/>
                </a:solidFill>
                <a:latin typeface="Calibri"/>
              </a:rPr>
              <a:t>barriers for new entrants.</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'Flat Dividers &amp; Layer Pads'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partition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partition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2510854" cy="186689"/>
          </a:xfrm>
          <a:prstGeom prst="rect">
            <a:avLst/>
          </a:prstGeom>
          <a:noFill/>
        </p:spPr>
        <p:txBody>
          <a:bodyPr wrap="none" lIns="0" rIns="0" tIns="0" bIns="0">
            <a:spAutoFit/>
          </a:bodyPr>
          <a:lstStyle/>
          <a:p>
            <a:r>
              <a:rPr sz="1100" b="0">
                <a:solidFill>
                  <a:srgbClr val="2E2E2E"/>
                </a:solidFill>
                <a:latin typeface="Calibri"/>
              </a:rPr>
              <a:t>▪ Lead category 'Flat Dividers &amp; Layer Pads'</a:t>
            </a:r>
          </a:p>
        </p:txBody>
      </p:sp>
      <p:pic>
        <p:nvPicPr>
          <p:cNvPr id="41" name="Picture 40" descr="lock.png"/>
          <p:cNvPicPr>
            <a:picLocks noChangeAspect="1"/>
          </p:cNvPicPr>
          <p:nvPr/>
        </p:nvPicPr>
        <p:blipFill>
          <a:blip r:embed="rId5"/>
          <a:stretch>
            <a:fillRect/>
          </a:stretch>
        </p:blipFill>
        <p:spPr>
          <a:xfrm>
            <a:off x="8764456" y="1826260"/>
            <a:ext cx="128699" cy="187198"/>
          </a:xfrm>
          <a:prstGeom prst="rect">
            <a:avLst/>
          </a:prstGeom>
        </p:spPr>
      </p:pic>
      <p:sp>
        <p:nvSpPr>
          <p:cNvPr id="42" name="TextBox 41"/>
          <p:cNvSpPr txBox="1"/>
          <p:nvPr/>
        </p:nvSpPr>
        <p:spPr>
          <a:xfrm>
            <a:off x="8931951"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152053" cy="186689"/>
          </a:xfrm>
          <a:prstGeom prst="rect">
            <a:avLst/>
          </a:prstGeom>
          <a:noFill/>
        </p:spPr>
        <p:txBody>
          <a:bodyPr wrap="none" lIns="0" rIns="0" tIns="0" bIns="0">
            <a:spAutoFit/>
          </a:bodyPr>
          <a:lstStyle/>
          <a:p>
            <a:r>
              <a:rPr sz="1100" b="0">
                <a:solidFill>
                  <a:srgbClr val="2E2E2E"/>
                </a:solidFill>
                <a:latin typeface="Calibri"/>
              </a:rPr>
              <a:t>▪ Lead country U.S.</a:t>
            </a:r>
          </a:p>
        </p:txBody>
      </p:sp>
      <p:pic>
        <p:nvPicPr>
          <p:cNvPr id="44" name="Picture 43" descr="lock.png"/>
          <p:cNvPicPr>
            <a:picLocks noChangeAspect="1"/>
          </p:cNvPicPr>
          <p:nvPr/>
        </p:nvPicPr>
        <p:blipFill>
          <a:blip r:embed="rId5"/>
          <a:stretch>
            <a:fillRect/>
          </a:stretch>
        </p:blipFill>
        <p:spPr>
          <a:xfrm>
            <a:off x="7405655" y="2044192"/>
            <a:ext cx="128699" cy="187198"/>
          </a:xfrm>
          <a:prstGeom prst="rect">
            <a:avLst/>
          </a:prstGeom>
        </p:spPr>
      </p:pic>
      <p:sp>
        <p:nvSpPr>
          <p:cNvPr id="45" name="TextBox 44"/>
          <p:cNvSpPr txBox="1"/>
          <p:nvPr/>
        </p:nvSpPr>
        <p:spPr>
          <a:xfrm>
            <a:off x="7573151"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812357" cy="186689"/>
          </a:xfrm>
          <a:prstGeom prst="rect">
            <a:avLst/>
          </a:prstGeom>
          <a:noFill/>
        </p:spPr>
        <p:txBody>
          <a:bodyPr wrap="none" lIns="0" rIns="0" tIns="0" bIns="0">
            <a:spAutoFit/>
          </a:bodyPr>
          <a:lstStyle/>
          <a:p>
            <a:r>
              <a:rPr sz="1100" b="0">
                <a:solidFill>
                  <a:srgbClr val="2E2E2E"/>
                </a:solidFill>
                <a:latin typeface="Calibri"/>
              </a:rPr>
              <a:t>▪ Investment is flowing toward the fastest-growing tier 'Flat Dividers &amp; Layer Pads' (</a:t>
            </a:r>
          </a:p>
        </p:txBody>
      </p:sp>
      <p:pic>
        <p:nvPicPr>
          <p:cNvPr id="50" name="Picture 49" descr="lock.png"/>
          <p:cNvPicPr>
            <a:picLocks noChangeAspect="1"/>
          </p:cNvPicPr>
          <p:nvPr/>
        </p:nvPicPr>
        <p:blipFill>
          <a:blip r:embed="rId5"/>
          <a:stretch>
            <a:fillRect/>
          </a:stretch>
        </p:blipFill>
        <p:spPr>
          <a:xfrm>
            <a:off x="5036634" y="3304921"/>
            <a:ext cx="128699" cy="187198"/>
          </a:xfrm>
          <a:prstGeom prst="rect">
            <a:avLst/>
          </a:prstGeom>
        </p:spPr>
      </p:pic>
      <p:sp>
        <p:nvSpPr>
          <p:cNvPr id="51" name="TextBox 50"/>
          <p:cNvSpPr txBox="1"/>
          <p:nvPr/>
        </p:nvSpPr>
        <p:spPr>
          <a:xfrm>
            <a:off x="5204129" y="33147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52" name="TextBox 51"/>
          <p:cNvSpPr txBox="1"/>
          <p:nvPr/>
        </p:nvSpPr>
        <p:spPr>
          <a:xfrm>
            <a:off x="276225" y="3532632"/>
            <a:ext cx="653008" cy="186689"/>
          </a:xfrm>
          <a:prstGeom prst="rect">
            <a:avLst/>
          </a:prstGeom>
          <a:noFill/>
        </p:spPr>
        <p:txBody>
          <a:bodyPr wrap="none" lIns="0" rIns="0" tIns="0" bIns="0">
            <a:spAutoFit/>
          </a:bodyPr>
          <a:lstStyle/>
          <a:p>
            <a:r>
              <a:rPr sz="1100" b="0">
                <a:solidFill>
                  <a:srgbClr val="2E2E2E"/>
                </a:solidFill>
                <a:latin typeface="Calibri"/>
              </a:rPr>
              <a:t>▪ Canada (</a:t>
            </a:r>
          </a:p>
        </p:txBody>
      </p:sp>
      <p:pic>
        <p:nvPicPr>
          <p:cNvPr id="53" name="Picture 52" descr="lock.png"/>
          <p:cNvPicPr>
            <a:picLocks noChangeAspect="1"/>
          </p:cNvPicPr>
          <p:nvPr/>
        </p:nvPicPr>
        <p:blipFill>
          <a:blip r:embed="rId5"/>
          <a:stretch>
            <a:fillRect/>
          </a:stretch>
        </p:blipFill>
        <p:spPr>
          <a:xfrm>
            <a:off x="877284" y="3522853"/>
            <a:ext cx="128699" cy="187198"/>
          </a:xfrm>
          <a:prstGeom prst="rect">
            <a:avLst/>
          </a:prstGeom>
        </p:spPr>
      </p:pic>
      <p:sp>
        <p:nvSpPr>
          <p:cNvPr id="54" name="TextBox 53"/>
          <p:cNvSpPr txBox="1"/>
          <p:nvPr/>
        </p:nvSpPr>
        <p:spPr>
          <a:xfrm>
            <a:off x="1044780" y="3532632"/>
            <a:ext cx="2262832" cy="186689"/>
          </a:xfrm>
          <a:prstGeom prst="rect">
            <a:avLst/>
          </a:prstGeom>
          <a:noFill/>
        </p:spPr>
        <p:txBody>
          <a:bodyPr wrap="none" lIns="0" rIns="0" tIns="0" bIns="0">
            <a:spAutoFit/>
          </a:bodyPr>
          <a:lstStyle/>
          <a:p>
            <a:r>
              <a:rPr sz="1100" b="0">
                <a:solidFill>
                  <a:srgbClr val="2E2E2E"/>
                </a:solidFill>
                <a:latin typeface="Calibri"/>
              </a:rPr>
              <a:t>) is a priority country for new capacity.</a:t>
            </a:r>
          </a:p>
        </p:txBody>
      </p:sp>
      <p:sp>
        <p:nvSpPr>
          <p:cNvPr id="55" name="TextBox 54"/>
          <p:cNvSpPr txBox="1"/>
          <p:nvPr/>
        </p:nvSpPr>
        <p:spPr>
          <a:xfrm>
            <a:off x="276225" y="3750564"/>
            <a:ext cx="3391073" cy="186689"/>
          </a:xfrm>
          <a:prstGeom prst="rect">
            <a:avLst/>
          </a:prstGeom>
          <a:noFill/>
        </p:spPr>
        <p:txBody>
          <a:bodyPr wrap="none" lIns="0" rIns="0" tIns="0" bIns="0">
            <a:spAutoFit/>
          </a:bodyPr>
          <a:lstStyle/>
          <a:p>
            <a:r>
              <a:rPr sz="1100" b="0">
                <a:solidFill>
                  <a:srgbClr val="2E2E2E"/>
                </a:solidFill>
                <a:latin typeface="Calibri"/>
              </a:rPr>
              <a:t>▪ Scale players anchor around 'Flat Dividers &amp; Layer Pads' (</a:t>
            </a:r>
          </a:p>
        </p:txBody>
      </p:sp>
      <p:pic>
        <p:nvPicPr>
          <p:cNvPr id="56" name="Picture 55" descr="lock.png"/>
          <p:cNvPicPr>
            <a:picLocks noChangeAspect="1"/>
          </p:cNvPicPr>
          <p:nvPr/>
        </p:nvPicPr>
        <p:blipFill>
          <a:blip r:embed="rId5"/>
          <a:stretch>
            <a:fillRect/>
          </a:stretch>
        </p:blipFill>
        <p:spPr>
          <a:xfrm>
            <a:off x="3615350" y="3740785"/>
            <a:ext cx="128699" cy="187198"/>
          </a:xfrm>
          <a:prstGeom prst="rect">
            <a:avLst/>
          </a:prstGeom>
        </p:spPr>
      </p:pic>
      <p:sp>
        <p:nvSpPr>
          <p:cNvPr id="57" name="TextBox 56"/>
          <p:cNvSpPr txBox="1"/>
          <p:nvPr/>
        </p:nvSpPr>
        <p:spPr>
          <a:xfrm>
            <a:off x="3782846" y="3750564"/>
            <a:ext cx="466923"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58" name="TextBox 57"/>
          <p:cNvSpPr txBox="1"/>
          <p:nvPr/>
        </p:nvSpPr>
        <p:spPr>
          <a:xfrm>
            <a:off x="6305550" y="3314700"/>
            <a:ext cx="5209083" cy="186689"/>
          </a:xfrm>
          <a:prstGeom prst="rect">
            <a:avLst/>
          </a:prstGeom>
          <a:noFill/>
        </p:spPr>
        <p:txBody>
          <a:bodyPr wrap="none" lIns="0" rIns="0" tIns="0" bIns="0">
            <a:spAutoFit/>
          </a:bodyPr>
          <a:lstStyle/>
          <a:p>
            <a:r>
              <a:rPr sz="1100" b="0">
                <a:solidFill>
                  <a:srgbClr val="2E2E2E"/>
                </a:solidFill>
                <a:latin typeface="Calibri"/>
              </a:rPr>
              <a:t>▪ R&amp;D aligns with the migration to 'Flat Dividers &amp; Layer Pads' and adjacent premium tiers.</a:t>
            </a:r>
          </a:p>
        </p:txBody>
      </p:sp>
      <p:sp>
        <p:nvSpPr>
          <p:cNvPr id="59" name="TextBox 58"/>
          <p:cNvSpPr txBox="1"/>
          <p:nvPr/>
        </p:nvSpPr>
        <p:spPr>
          <a:xfrm>
            <a:off x="6305550" y="3532632"/>
            <a:ext cx="4451920" cy="186689"/>
          </a:xfrm>
          <a:prstGeom prst="rect">
            <a:avLst/>
          </a:prstGeom>
          <a:noFill/>
        </p:spPr>
        <p:txBody>
          <a:bodyPr wrap="none" lIns="0" rIns="0" tIns="0" bIns="0">
            <a:spAutoFit/>
          </a:bodyPr>
          <a:lstStyle/>
          <a:p>
            <a:r>
              <a:rPr sz="1100" b="0">
                <a:solidFill>
                  <a:srgbClr val="2E2E2E"/>
                </a:solidFill>
                <a:latin typeface="Calibri"/>
              </a:rPr>
              <a:t>▪ Development spend targets partition type categories gaining share to 2036.</a:t>
            </a:r>
          </a:p>
        </p:txBody>
      </p:sp>
      <p:sp>
        <p:nvSpPr>
          <p:cNvPr id="60" name="TextBox 59"/>
          <p:cNvSpPr txBox="1"/>
          <p:nvPr/>
        </p:nvSpPr>
        <p:spPr>
          <a:xfrm>
            <a:off x="6305550" y="3750564"/>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847947" y="3740785"/>
            <a:ext cx="128699" cy="187198"/>
          </a:xfrm>
          <a:prstGeom prst="rect">
            <a:avLst/>
          </a:prstGeom>
        </p:spPr>
      </p:pic>
      <p:sp>
        <p:nvSpPr>
          <p:cNvPr id="62" name="TextBox 61"/>
          <p:cNvSpPr txBox="1"/>
          <p:nvPr/>
        </p:nvSpPr>
        <p:spPr>
          <a:xfrm>
            <a:off x="8015443" y="3750564"/>
            <a:ext cx="924478"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'Flat Dividers &amp; Layer Pads' tier and Electronics &amp; Electrical within end use.</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05350"/>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029200"/>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456659" cy="194310"/>
          </a:xfrm>
          <a:prstGeom prst="rect">
            <a:avLst/>
          </a:prstGeom>
          <a:noFill/>
        </p:spPr>
        <p:txBody>
          <a:bodyPr wrap="none" lIns="0" rIns="0" tIns="0" bIns="0">
            <a:spAutoFit/>
          </a:bodyPr>
          <a:lstStyle/>
          <a:p>
            <a:r>
              <a:rPr sz="1150" b="0">
                <a:solidFill>
                  <a:srgbClr val="2E2E2E"/>
                </a:solidFill>
                <a:latin typeface="Calibri"/>
              </a:rPr>
              <a:t>▪ Balance scale in 'Flat Dividers &amp; Layer Pads' with targeted growth in 'Flat Dividers &amp; Layer</a:t>
            </a:r>
          </a:p>
        </p:txBody>
      </p:sp>
      <p:sp>
        <p:nvSpPr>
          <p:cNvPr id="32" name="TextBox 31"/>
          <p:cNvSpPr txBox="1"/>
          <p:nvPr/>
        </p:nvSpPr>
        <p:spPr>
          <a:xfrm>
            <a:off x="276225" y="1575435"/>
            <a:ext cx="1206375" cy="194310"/>
          </a:xfrm>
          <a:prstGeom prst="rect">
            <a:avLst/>
          </a:prstGeom>
          <a:noFill/>
        </p:spPr>
        <p:txBody>
          <a:bodyPr wrap="none" lIns="0" rIns="0" tIns="0" bIns="0">
            <a:spAutoFit/>
          </a:bodyPr>
          <a:lstStyle/>
          <a:p>
            <a:r>
              <a:rPr sz="1150" b="0">
                <a:solidFill>
                  <a:srgbClr val="2E2E2E"/>
                </a:solidFill>
                <a:latin typeface="Calibri"/>
              </a:rPr>
              <a:t>Pads', pursuing the</a:t>
            </a:r>
          </a:p>
        </p:txBody>
      </p:sp>
      <p:pic>
        <p:nvPicPr>
          <p:cNvPr id="33" name="Picture 32" descr="lock.png"/>
          <p:cNvPicPr>
            <a:picLocks noChangeAspect="1"/>
          </p:cNvPicPr>
          <p:nvPr/>
        </p:nvPicPr>
        <p:blipFill>
          <a:blip r:embed="rId4"/>
          <a:stretch>
            <a:fillRect/>
          </a:stretch>
        </p:blipFill>
        <p:spPr>
          <a:xfrm>
            <a:off x="1431754" y="1565211"/>
            <a:ext cx="134549" cy="195707"/>
          </a:xfrm>
          <a:prstGeom prst="rect">
            <a:avLst/>
          </a:prstGeom>
        </p:spPr>
      </p:pic>
      <p:sp>
        <p:nvSpPr>
          <p:cNvPr id="34" name="TextBox 33"/>
          <p:cNvSpPr txBox="1"/>
          <p:nvPr/>
        </p:nvSpPr>
        <p:spPr>
          <a:xfrm>
            <a:off x="1606864"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5" name="TextBox 34"/>
          <p:cNvSpPr txBox="1"/>
          <p:nvPr/>
        </p:nvSpPr>
        <p:spPr>
          <a:xfrm>
            <a:off x="276225" y="3219450"/>
            <a:ext cx="2403016" cy="194310"/>
          </a:xfrm>
          <a:prstGeom prst="rect">
            <a:avLst/>
          </a:prstGeom>
          <a:noFill/>
        </p:spPr>
        <p:txBody>
          <a:bodyPr wrap="none" lIns="0" rIns="0" tIns="0" bIns="0">
            <a:spAutoFit/>
          </a:bodyPr>
          <a:lstStyle/>
          <a:p>
            <a:r>
              <a:rPr sz="1150" b="0">
                <a:solidFill>
                  <a:srgbClr val="2E2E2E"/>
                </a:solidFill>
                <a:latin typeface="Calibri"/>
              </a:rPr>
              <a:t>▪ Prioritise 'Flat Dividers &amp; Layer Pads' (</a:t>
            </a:r>
          </a:p>
        </p:txBody>
      </p:sp>
      <p:pic>
        <p:nvPicPr>
          <p:cNvPr id="36" name="Picture 35" descr="lock.png"/>
          <p:cNvPicPr>
            <a:picLocks noChangeAspect="1"/>
          </p:cNvPicPr>
          <p:nvPr/>
        </p:nvPicPr>
        <p:blipFill>
          <a:blip r:embed="rId4"/>
          <a:stretch>
            <a:fillRect/>
          </a:stretch>
        </p:blipFill>
        <p:spPr>
          <a:xfrm>
            <a:off x="2628395" y="3209226"/>
            <a:ext cx="134549" cy="195707"/>
          </a:xfrm>
          <a:prstGeom prst="rect">
            <a:avLst/>
          </a:prstGeom>
        </p:spPr>
      </p:pic>
      <p:sp>
        <p:nvSpPr>
          <p:cNvPr id="37" name="TextBox 36"/>
          <p:cNvSpPr txBox="1"/>
          <p:nvPr/>
        </p:nvSpPr>
        <p:spPr>
          <a:xfrm>
            <a:off x="2803504" y="3219450"/>
            <a:ext cx="2293193" cy="194310"/>
          </a:xfrm>
          <a:prstGeom prst="rect">
            <a:avLst/>
          </a:prstGeom>
          <a:noFill/>
        </p:spPr>
        <p:txBody>
          <a:bodyPr wrap="none" lIns="0" rIns="0" tIns="0" bIns="0">
            <a:spAutoFit/>
          </a:bodyPr>
          <a:lstStyle/>
          <a:p>
            <a:r>
              <a:rPr sz="1150" b="0">
                <a:solidFill>
                  <a:srgbClr val="2E2E2E"/>
                </a:solidFill>
                <a:latin typeface="Calibri"/>
              </a:rPr>
              <a:t>); 'Flat Dividers &amp; Layer Pads' anchors</a:t>
            </a:r>
          </a:p>
        </p:txBody>
      </p:sp>
      <p:pic>
        <p:nvPicPr>
          <p:cNvPr id="38" name="Picture 37" descr="lock.png"/>
          <p:cNvPicPr>
            <a:picLocks noChangeAspect="1"/>
          </p:cNvPicPr>
          <p:nvPr/>
        </p:nvPicPr>
        <p:blipFill>
          <a:blip r:embed="rId4"/>
          <a:stretch>
            <a:fillRect/>
          </a:stretch>
        </p:blipFill>
        <p:spPr>
          <a:xfrm>
            <a:off x="5045851" y="3209226"/>
            <a:ext cx="134549" cy="195707"/>
          </a:xfrm>
          <a:prstGeom prst="rect">
            <a:avLst/>
          </a:prstGeom>
        </p:spPr>
      </p:pic>
      <p:sp>
        <p:nvSpPr>
          <p:cNvPr id="39" name="TextBox 38"/>
          <p:cNvSpPr txBox="1"/>
          <p:nvPr/>
        </p:nvSpPr>
        <p:spPr>
          <a:xfrm>
            <a:off x="5220960" y="3219450"/>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40" name="TextBox 39"/>
          <p:cNvSpPr txBox="1"/>
          <p:nvPr/>
        </p:nvSpPr>
        <p:spPr>
          <a:xfrm>
            <a:off x="276225" y="3394710"/>
            <a:ext cx="431911" cy="194310"/>
          </a:xfrm>
          <a:prstGeom prst="rect">
            <a:avLst/>
          </a:prstGeom>
          <a:noFill/>
        </p:spPr>
        <p:txBody>
          <a:bodyPr wrap="none" lIns="0" rIns="0" tIns="0" bIns="0">
            <a:spAutoFit/>
          </a:bodyPr>
          <a:lstStyle/>
          <a:p>
            <a:r>
              <a:rPr sz="1150" b="0">
                <a:solidFill>
                  <a:srgbClr val="2E2E2E"/>
                </a:solidFill>
                <a:latin typeface="Calibri"/>
              </a:rPr>
              <a:t>value.</a:t>
            </a:r>
          </a:p>
        </p:txBody>
      </p:sp>
      <p:sp>
        <p:nvSpPr>
          <p:cNvPr id="41" name="TextBox 40"/>
          <p:cNvSpPr txBox="1"/>
          <p:nvPr/>
        </p:nvSpPr>
        <p:spPr>
          <a:xfrm>
            <a:off x="6305550" y="3219450"/>
            <a:ext cx="1083431" cy="194310"/>
          </a:xfrm>
          <a:prstGeom prst="rect">
            <a:avLst/>
          </a:prstGeom>
          <a:noFill/>
        </p:spPr>
        <p:txBody>
          <a:bodyPr wrap="none" lIns="0" rIns="0" tIns="0" bIns="0">
            <a:spAutoFit/>
          </a:bodyPr>
          <a:lstStyle/>
          <a:p>
            <a:r>
              <a:rPr sz="1150" b="0">
                <a:solidFill>
                  <a:srgbClr val="2E2E2E"/>
                </a:solidFill>
                <a:latin typeface="Calibri"/>
              </a:rPr>
              <a:t>▪ Lead with U.S. (</a:t>
            </a:r>
          </a:p>
        </p:txBody>
      </p:sp>
      <p:pic>
        <p:nvPicPr>
          <p:cNvPr id="42" name="Picture 41" descr="lock.png"/>
          <p:cNvPicPr>
            <a:picLocks noChangeAspect="1"/>
          </p:cNvPicPr>
          <p:nvPr/>
        </p:nvPicPr>
        <p:blipFill>
          <a:blip r:embed="rId4"/>
          <a:stretch>
            <a:fillRect/>
          </a:stretch>
        </p:blipFill>
        <p:spPr>
          <a:xfrm>
            <a:off x="7338135" y="3209226"/>
            <a:ext cx="134549" cy="195707"/>
          </a:xfrm>
          <a:prstGeom prst="rect">
            <a:avLst/>
          </a:prstGeom>
        </p:spPr>
      </p:pic>
      <p:sp>
        <p:nvSpPr>
          <p:cNvPr id="43" name="TextBox 42"/>
          <p:cNvSpPr txBox="1"/>
          <p:nvPr/>
        </p:nvSpPr>
        <p:spPr>
          <a:xfrm>
            <a:off x="7513244" y="3219450"/>
            <a:ext cx="1772319" cy="194310"/>
          </a:xfrm>
          <a:prstGeom prst="rect">
            <a:avLst/>
          </a:prstGeom>
          <a:noFill/>
        </p:spPr>
        <p:txBody>
          <a:bodyPr wrap="none" lIns="0" rIns="0" tIns="0" bIns="0">
            <a:spAutoFit/>
          </a:bodyPr>
          <a:lstStyle/>
          <a:p>
            <a:r>
              <a:rPr sz="1150" b="0">
                <a:solidFill>
                  <a:srgbClr val="2E2E2E"/>
                </a:solidFill>
                <a:latin typeface="Calibri"/>
              </a:rPr>
              <a:t>); capture upside in Canada (</a:t>
            </a:r>
          </a:p>
        </p:txBody>
      </p:sp>
      <p:pic>
        <p:nvPicPr>
          <p:cNvPr id="44" name="Picture 43" descr="lock.png"/>
          <p:cNvPicPr>
            <a:picLocks noChangeAspect="1"/>
          </p:cNvPicPr>
          <p:nvPr/>
        </p:nvPicPr>
        <p:blipFill>
          <a:blip r:embed="rId4"/>
          <a:stretch>
            <a:fillRect/>
          </a:stretch>
        </p:blipFill>
        <p:spPr>
          <a:xfrm>
            <a:off x="9234718" y="3209226"/>
            <a:ext cx="134549" cy="195707"/>
          </a:xfrm>
          <a:prstGeom prst="rect">
            <a:avLst/>
          </a:prstGeom>
        </p:spPr>
      </p:pic>
      <p:sp>
        <p:nvSpPr>
          <p:cNvPr id="45" name="TextBox 44"/>
          <p:cNvSpPr txBox="1"/>
          <p:nvPr/>
        </p:nvSpPr>
        <p:spPr>
          <a:xfrm>
            <a:off x="9409827" y="321945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038725"/>
            <a:ext cx="1694160" cy="194310"/>
          </a:xfrm>
          <a:prstGeom prst="rect">
            <a:avLst/>
          </a:prstGeom>
          <a:noFill/>
        </p:spPr>
        <p:txBody>
          <a:bodyPr wrap="none" lIns="0" rIns="0" tIns="0" bIns="0">
            <a:spAutoFit/>
          </a:bodyPr>
          <a:lstStyle/>
          <a:p>
            <a:r>
              <a:rPr sz="1150" b="0">
                <a:solidFill>
                  <a:srgbClr val="2E2E2E"/>
                </a:solidFill>
                <a:latin typeface="Calibri"/>
              </a:rPr>
              <a:t>▪ Corrugated Partition adds</a:t>
            </a:r>
          </a:p>
        </p:txBody>
      </p:sp>
      <p:pic>
        <p:nvPicPr>
          <p:cNvPr id="47" name="Picture 46" descr="lock.png"/>
          <p:cNvPicPr>
            <a:picLocks noChangeAspect="1"/>
          </p:cNvPicPr>
          <p:nvPr/>
        </p:nvPicPr>
        <p:blipFill>
          <a:blip r:embed="rId4"/>
          <a:stretch>
            <a:fillRect/>
          </a:stretch>
        </p:blipFill>
        <p:spPr>
          <a:xfrm>
            <a:off x="1919539" y="5028501"/>
            <a:ext cx="134549" cy="195707"/>
          </a:xfrm>
          <a:prstGeom prst="rect">
            <a:avLst/>
          </a:prstGeom>
        </p:spPr>
      </p:pic>
      <p:sp>
        <p:nvSpPr>
          <p:cNvPr id="48" name="TextBox 47"/>
          <p:cNvSpPr txBox="1"/>
          <p:nvPr/>
        </p:nvSpPr>
        <p:spPr>
          <a:xfrm>
            <a:off x="2094648" y="5038725"/>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9" name="Picture 48" descr="lock.png"/>
          <p:cNvPicPr>
            <a:picLocks noChangeAspect="1"/>
          </p:cNvPicPr>
          <p:nvPr/>
        </p:nvPicPr>
        <p:blipFill>
          <a:blip r:embed="rId4"/>
          <a:stretch>
            <a:fillRect/>
          </a:stretch>
        </p:blipFill>
        <p:spPr>
          <a:xfrm>
            <a:off x="3858910" y="5028501"/>
            <a:ext cx="134549" cy="195707"/>
          </a:xfrm>
          <a:prstGeom prst="rect">
            <a:avLst/>
          </a:prstGeom>
        </p:spPr>
      </p:pic>
      <p:sp>
        <p:nvSpPr>
          <p:cNvPr id="50" name="TextBox 49"/>
          <p:cNvSpPr txBox="1"/>
          <p:nvPr/>
        </p:nvSpPr>
        <p:spPr>
          <a:xfrm>
            <a:off x="4034019" y="5038725"/>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51" name="TextBox 50"/>
          <p:cNvSpPr txBox="1"/>
          <p:nvPr/>
        </p:nvSpPr>
        <p:spPr>
          <a:xfrm>
            <a:off x="276225" y="5266563"/>
            <a:ext cx="634436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segment/country while seeding the fastest-growing pockets early.</a:t>
            </a:r>
          </a:p>
        </p:txBody>
      </p:sp>
      <p:sp>
        <p:nvSpPr>
          <p:cNvPr id="52" name="TextBox 51"/>
          <p:cNvSpPr txBox="1"/>
          <p:nvPr/>
        </p:nvSpPr>
        <p:spPr>
          <a:xfrm>
            <a:off x="276225" y="5494400"/>
            <a:ext cx="4894423" cy="194310"/>
          </a:xfrm>
          <a:prstGeom prst="rect">
            <a:avLst/>
          </a:prstGeom>
          <a:noFill/>
        </p:spPr>
        <p:txBody>
          <a:bodyPr wrap="none" lIns="0" rIns="0" tIns="0" bIns="0">
            <a:spAutoFit/>
          </a:bodyPr>
          <a:lstStyle/>
          <a:p>
            <a:r>
              <a:rPr sz="1150" b="0">
                <a:solidFill>
                  <a:srgbClr val="2E2E2E"/>
                </a:solidFill>
                <a:latin typeface="Calibri"/>
              </a:rPr>
              <a:t>▪ Defend share in 'Flat Dividers &amp; Layer Pads' as the value anchor of the portfolio.</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Corrugated Partition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26160"/>
            <a:ext cx="635826" cy="879140"/>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90056"/>
            <a:ext cx="635826" cy="1215244"/>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54397"/>
            <a:ext cx="635826" cy="1350903"/>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56706"/>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51931"/>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99531"/>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94756"/>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442356"/>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37581"/>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Corrugated Partition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rIns="0" t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rIns="0" t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rIns="0" t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886297"/>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78082"/>
            <a:ext cx="108107" cy="157246"/>
          </a:xfrm>
          <a:prstGeom prst="rect">
            <a:avLst/>
          </a:prstGeom>
        </p:spPr>
      </p:pic>
      <p:sp>
        <p:nvSpPr>
          <p:cNvPr id="56" name="TextBox 55"/>
          <p:cNvSpPr txBox="1"/>
          <p:nvPr/>
        </p:nvSpPr>
        <p:spPr>
          <a:xfrm>
            <a:off x="2032418" y="2629122"/>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620907"/>
            <a:ext cx="108107" cy="157246"/>
          </a:xfrm>
          <a:prstGeom prst="rect">
            <a:avLst/>
          </a:prstGeom>
        </p:spPr>
      </p:pic>
      <p:sp>
        <p:nvSpPr>
          <p:cNvPr id="58" name="TextBox 57"/>
          <p:cNvSpPr txBox="1"/>
          <p:nvPr/>
        </p:nvSpPr>
        <p:spPr>
          <a:xfrm>
            <a:off x="2032418" y="2371947"/>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363732"/>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78"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Corrugated Partition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lock.png"/>
          <p:cNvPicPr>
            <a:picLocks noChangeAspect="1"/>
          </p:cNvPicPr>
          <p:nvPr/>
        </p:nvPicPr>
        <p:blipFill>
          <a:blip r:embed="rId4"/>
          <a:stretch>
            <a:fillRect/>
          </a:stretch>
        </p:blipFill>
        <p:spPr>
          <a:xfrm>
            <a:off x="4250888" y="2339922"/>
            <a:ext cx="175498" cy="255270"/>
          </a:xfrm>
          <a:prstGeom prst="rect">
            <a:avLst/>
          </a:prstGeom>
        </p:spPr>
      </p:pic>
      <p:pic>
        <p:nvPicPr>
          <p:cNvPr id="51" name="Picture 50" descr="lock.png"/>
          <p:cNvPicPr>
            <a:picLocks noChangeAspect="1"/>
          </p:cNvPicPr>
          <p:nvPr/>
        </p:nvPicPr>
        <p:blipFill>
          <a:blip r:embed="rId4"/>
          <a:stretch>
            <a:fillRect/>
          </a:stretch>
        </p:blipFill>
        <p:spPr>
          <a:xfrm>
            <a:off x="4250888" y="2832772"/>
            <a:ext cx="175498" cy="255270"/>
          </a:xfrm>
          <a:prstGeom prst="rect">
            <a:avLst/>
          </a:prstGeom>
        </p:spPr>
      </p:pic>
      <p:pic>
        <p:nvPicPr>
          <p:cNvPr id="52" name="Picture 51" descr="lock.png"/>
          <p:cNvPicPr>
            <a:picLocks noChangeAspect="1"/>
          </p:cNvPicPr>
          <p:nvPr/>
        </p:nvPicPr>
        <p:blipFill>
          <a:blip r:embed="rId4"/>
          <a:stretch>
            <a:fillRect/>
          </a:stretch>
        </p:blipFill>
        <p:spPr>
          <a:xfrm>
            <a:off x="4250888" y="3325622"/>
            <a:ext cx="175498" cy="255270"/>
          </a:xfrm>
          <a:prstGeom prst="rect">
            <a:avLst/>
          </a:prstGeom>
        </p:spPr>
      </p:pic>
      <p:pic>
        <p:nvPicPr>
          <p:cNvPr id="53" name="Picture 52" descr="lock.png"/>
          <p:cNvPicPr>
            <a:picLocks noChangeAspect="1"/>
          </p:cNvPicPr>
          <p:nvPr/>
        </p:nvPicPr>
        <p:blipFill>
          <a:blip r:embed="rId4"/>
          <a:stretch>
            <a:fillRect/>
          </a:stretch>
        </p:blipFill>
        <p:spPr>
          <a:xfrm>
            <a:off x="9308663" y="2339922"/>
            <a:ext cx="175498" cy="255270"/>
          </a:xfrm>
          <a:prstGeom prst="rect">
            <a:avLst/>
          </a:prstGeom>
        </p:spPr>
      </p:pic>
      <p:pic>
        <p:nvPicPr>
          <p:cNvPr id="54" name="Picture 53" descr="lock.png"/>
          <p:cNvPicPr>
            <a:picLocks noChangeAspect="1"/>
          </p:cNvPicPr>
          <p:nvPr/>
        </p:nvPicPr>
        <p:blipFill>
          <a:blip r:embed="rId4"/>
          <a:stretch>
            <a:fillRect/>
          </a:stretch>
        </p:blipFill>
        <p:spPr>
          <a:xfrm>
            <a:off x="9308663" y="2832772"/>
            <a:ext cx="175498" cy="255270"/>
          </a:xfrm>
          <a:prstGeom prst="rect">
            <a:avLst/>
          </a:prstGeom>
        </p:spPr>
      </p:pic>
      <p:pic>
        <p:nvPicPr>
          <p:cNvPr id="55" name="Picture 54" descr="lock.png"/>
          <p:cNvPicPr>
            <a:picLocks noChangeAspect="1"/>
          </p:cNvPicPr>
          <p:nvPr/>
        </p:nvPicPr>
        <p:blipFill>
          <a:blip r:embed="rId4"/>
          <a:stretch>
            <a:fillRect/>
          </a:stretch>
        </p:blipFill>
        <p:spPr>
          <a:xfrm>
            <a:off x="9308663" y="3325622"/>
            <a:ext cx="175498" cy="255270"/>
          </a:xfrm>
          <a:prstGeom prst="rect">
            <a:avLst/>
          </a:prstGeom>
        </p:spPr>
      </p:pic>
      <p:sp>
        <p:nvSpPr>
          <p:cNvPr id="56" name="TextBox 55"/>
          <p:cNvSpPr txBox="1"/>
          <p:nvPr/>
        </p:nvSpPr>
        <p:spPr>
          <a:xfrm>
            <a:off x="485775" y="4229437"/>
            <a:ext cx="2479476" cy="186689"/>
          </a:xfrm>
          <a:prstGeom prst="rect">
            <a:avLst/>
          </a:prstGeom>
          <a:noFill/>
        </p:spPr>
        <p:txBody>
          <a:bodyPr wrap="none" lIns="0" rIns="0" tIns="0" bIns="0">
            <a:spAutoFit/>
          </a:bodyPr>
          <a:lstStyle/>
          <a:p>
            <a:r>
              <a:rPr sz="1100" b="0">
                <a:solidFill>
                  <a:srgbClr val="2E2E2E"/>
                </a:solidFill>
                <a:latin typeface="Calibri"/>
              </a:rPr>
              <a:t>▪ ¶ The U.S. corrugated partition market is</a:t>
            </a:r>
          </a:p>
        </p:txBody>
      </p:sp>
      <p:sp>
        <p:nvSpPr>
          <p:cNvPr id="57" name="TextBox 56"/>
          <p:cNvSpPr txBox="1"/>
          <p:nvPr/>
        </p:nvSpPr>
        <p:spPr>
          <a:xfrm>
            <a:off x="485775" y="4397077"/>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58" name="Picture 57" descr="lock.png"/>
          <p:cNvPicPr>
            <a:picLocks noChangeAspect="1"/>
          </p:cNvPicPr>
          <p:nvPr/>
        </p:nvPicPr>
        <p:blipFill>
          <a:blip r:embed="rId4"/>
          <a:stretch>
            <a:fillRect/>
          </a:stretch>
        </p:blipFill>
        <p:spPr>
          <a:xfrm>
            <a:off x="1678376" y="4387298"/>
            <a:ext cx="128699" cy="187198"/>
          </a:xfrm>
          <a:prstGeom prst="rect">
            <a:avLst/>
          </a:prstGeom>
        </p:spPr>
      </p:pic>
      <p:sp>
        <p:nvSpPr>
          <p:cNvPr id="59" name="TextBox 58"/>
          <p:cNvSpPr txBox="1"/>
          <p:nvPr/>
        </p:nvSpPr>
        <p:spPr>
          <a:xfrm>
            <a:off x="1845872" y="4397077"/>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60" name="TextBox 59"/>
          <p:cNvSpPr txBox="1"/>
          <p:nvPr/>
        </p:nvSpPr>
        <p:spPr>
          <a:xfrm>
            <a:off x="485775" y="4564717"/>
            <a:ext cx="2775247" cy="186689"/>
          </a:xfrm>
          <a:prstGeom prst="rect">
            <a:avLst/>
          </a:prstGeom>
          <a:noFill/>
        </p:spPr>
        <p:txBody>
          <a:bodyPr wrap="none" lIns="0" rIns="0" tIns="0" bIns="0">
            <a:spAutoFit/>
          </a:bodyPr>
          <a:lstStyle/>
          <a:p>
            <a:r>
              <a:rPr sz="1100" b="0">
                <a:solidFill>
                  <a:srgbClr val="2E2E2E"/>
                </a:solidFill>
                <a:latin typeface="Calibri"/>
              </a:rPr>
              <a:t>Canada in 2036. Among corrugated partition by</a:t>
            </a:r>
          </a:p>
        </p:txBody>
      </p:sp>
      <p:sp>
        <p:nvSpPr>
          <p:cNvPr id="61" name="TextBox 60"/>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country, Canada is expected to witness the highest</a:t>
            </a:r>
          </a:p>
        </p:txBody>
      </p:sp>
      <p:sp>
        <p:nvSpPr>
          <p:cNvPr id="62" name="TextBox 61"/>
          <p:cNvSpPr txBox="1"/>
          <p:nvPr/>
        </p:nvSpPr>
        <p:spPr>
          <a:xfrm>
            <a:off x="485775" y="4899997"/>
            <a:ext cx="543304" cy="186689"/>
          </a:xfrm>
          <a:prstGeom prst="rect">
            <a:avLst/>
          </a:prstGeom>
          <a:noFill/>
        </p:spPr>
        <p:txBody>
          <a:bodyPr wrap="none" lIns="0" rIns="0" tIns="0" bIns="0">
            <a:spAutoFit/>
          </a:bodyPr>
          <a:lstStyle/>
          <a:p>
            <a:r>
              <a:rPr sz="1100" b="0">
                <a:solidFill>
                  <a:srgbClr val="2E2E2E"/>
                </a:solidFill>
                <a:latin typeface="Calibri"/>
              </a:rPr>
              <a:t>CAGR of</a:t>
            </a:r>
          </a:p>
        </p:txBody>
      </p:sp>
      <p:pic>
        <p:nvPicPr>
          <p:cNvPr id="63" name="Picture 62" descr="lock.png"/>
          <p:cNvPicPr>
            <a:picLocks noChangeAspect="1"/>
          </p:cNvPicPr>
          <p:nvPr/>
        </p:nvPicPr>
        <p:blipFill>
          <a:blip r:embed="rId4"/>
          <a:stretch>
            <a:fillRect/>
          </a:stretch>
        </p:blipFill>
        <p:spPr>
          <a:xfrm>
            <a:off x="977131" y="4890217"/>
            <a:ext cx="128699" cy="187198"/>
          </a:xfrm>
          <a:prstGeom prst="rect">
            <a:avLst/>
          </a:prstGeom>
        </p:spPr>
      </p:pic>
      <p:sp>
        <p:nvSpPr>
          <p:cNvPr id="64" name="TextBox 63"/>
          <p:cNvSpPr txBox="1"/>
          <p:nvPr/>
        </p:nvSpPr>
        <p:spPr>
          <a:xfrm>
            <a:off x="1144627" y="489999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65" name="TextBox 64"/>
          <p:cNvSpPr txBox="1"/>
          <p:nvPr/>
        </p:nvSpPr>
        <p:spPr>
          <a:xfrm>
            <a:off x="485775" y="5117929"/>
            <a:ext cx="2619995" cy="186689"/>
          </a:xfrm>
          <a:prstGeom prst="rect">
            <a:avLst/>
          </a:prstGeom>
          <a:noFill/>
        </p:spPr>
        <p:txBody>
          <a:bodyPr wrap="none" lIns="0" rIns="0" tIns="0" bIns="0">
            <a:spAutoFit/>
          </a:bodyPr>
          <a:lstStyle/>
          <a:p>
            <a:r>
              <a:rPr sz="1100" b="0">
                <a:solidFill>
                  <a:srgbClr val="2E2E2E"/>
                </a:solidFill>
                <a:latin typeface="Calibri"/>
              </a:rPr>
              <a:t>▪ ¶ In terms of value share by country, U.S. is</a:t>
            </a:r>
          </a:p>
        </p:txBody>
      </p:sp>
      <p:sp>
        <p:nvSpPr>
          <p:cNvPr id="66" name="TextBox 65"/>
          <p:cNvSpPr txBox="1"/>
          <p:nvPr/>
        </p:nvSpPr>
        <p:spPr>
          <a:xfrm>
            <a:off x="485775" y="5285569"/>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7" name="Picture 66" descr="lock.png"/>
          <p:cNvPicPr>
            <a:picLocks noChangeAspect="1"/>
          </p:cNvPicPr>
          <p:nvPr/>
        </p:nvPicPr>
        <p:blipFill>
          <a:blip r:embed="rId4"/>
          <a:stretch>
            <a:fillRect/>
          </a:stretch>
        </p:blipFill>
        <p:spPr>
          <a:xfrm>
            <a:off x="2822716" y="5275790"/>
            <a:ext cx="128699" cy="187198"/>
          </a:xfrm>
          <a:prstGeom prst="rect">
            <a:avLst/>
          </a:prstGeom>
        </p:spPr>
      </p:pic>
      <p:sp>
        <p:nvSpPr>
          <p:cNvPr id="68" name="TextBox 67"/>
          <p:cNvSpPr txBox="1"/>
          <p:nvPr/>
        </p:nvSpPr>
        <p:spPr>
          <a:xfrm>
            <a:off x="2990212" y="5285569"/>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9" name="TextBox 68"/>
          <p:cNvSpPr txBox="1"/>
          <p:nvPr/>
        </p:nvSpPr>
        <p:spPr>
          <a:xfrm>
            <a:off x="485775" y="5453209"/>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70" name="Picture 69" descr="lock.png"/>
          <p:cNvPicPr>
            <a:picLocks noChangeAspect="1"/>
          </p:cNvPicPr>
          <p:nvPr/>
        </p:nvPicPr>
        <p:blipFill>
          <a:blip r:embed="rId4"/>
          <a:stretch>
            <a:fillRect/>
          </a:stretch>
        </p:blipFill>
        <p:spPr>
          <a:xfrm>
            <a:off x="1576057" y="5443430"/>
            <a:ext cx="128699" cy="187198"/>
          </a:xfrm>
          <a:prstGeom prst="rect">
            <a:avLst/>
          </a:prstGeom>
        </p:spPr>
      </p:pic>
      <p:sp>
        <p:nvSpPr>
          <p:cNvPr id="71" name="TextBox 70"/>
          <p:cNvSpPr txBox="1"/>
          <p:nvPr/>
        </p:nvSpPr>
        <p:spPr>
          <a:xfrm>
            <a:off x="1743553" y="5453209"/>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2" name="TextBox 71"/>
          <p:cNvSpPr txBox="1"/>
          <p:nvPr/>
        </p:nvSpPr>
        <p:spPr>
          <a:xfrm>
            <a:off x="3838575" y="4229437"/>
            <a:ext cx="453826" cy="186689"/>
          </a:xfrm>
          <a:prstGeom prst="rect">
            <a:avLst/>
          </a:prstGeom>
          <a:noFill/>
        </p:spPr>
        <p:txBody>
          <a:bodyPr wrap="none" lIns="0" rIns="0" tIns="0" bIns="0">
            <a:spAutoFit/>
          </a:bodyPr>
          <a:lstStyle/>
          <a:p>
            <a:r>
              <a:rPr sz="1100" b="0">
                <a:solidFill>
                  <a:srgbClr val="2E2E2E"/>
                </a:solidFill>
                <a:latin typeface="Calibri"/>
              </a:rPr>
              <a:t>● U.S.:</a:t>
            </a:r>
          </a:p>
        </p:txBody>
      </p:sp>
      <p:pic>
        <p:nvPicPr>
          <p:cNvPr id="73" name="Picture 72" descr="lock.png"/>
          <p:cNvPicPr>
            <a:picLocks noChangeAspect="1"/>
          </p:cNvPicPr>
          <p:nvPr/>
        </p:nvPicPr>
        <p:blipFill>
          <a:blip r:embed="rId4"/>
          <a:stretch>
            <a:fillRect/>
          </a:stretch>
        </p:blipFill>
        <p:spPr>
          <a:xfrm>
            <a:off x="4240453" y="4219658"/>
            <a:ext cx="128699" cy="187198"/>
          </a:xfrm>
          <a:prstGeom prst="rect">
            <a:avLst/>
          </a:prstGeom>
        </p:spPr>
      </p:pic>
      <p:sp>
        <p:nvSpPr>
          <p:cNvPr id="74" name="TextBox 73"/>
          <p:cNvSpPr txBox="1"/>
          <p:nvPr/>
        </p:nvSpPr>
        <p:spPr>
          <a:xfrm>
            <a:off x="44079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5" name="Picture 74" descr="lock.png"/>
          <p:cNvPicPr>
            <a:picLocks noChangeAspect="1"/>
          </p:cNvPicPr>
          <p:nvPr/>
        </p:nvPicPr>
        <p:blipFill>
          <a:blip r:embed="rId4"/>
          <a:stretch>
            <a:fillRect/>
          </a:stretch>
        </p:blipFill>
        <p:spPr>
          <a:xfrm>
            <a:off x="5267399" y="4219658"/>
            <a:ext cx="128699" cy="187198"/>
          </a:xfrm>
          <a:prstGeom prst="rect">
            <a:avLst/>
          </a:prstGeom>
        </p:spPr>
      </p:pic>
      <p:sp>
        <p:nvSpPr>
          <p:cNvPr id="76" name="TextBox 75"/>
          <p:cNvSpPr txBox="1"/>
          <p:nvPr/>
        </p:nvSpPr>
        <p:spPr>
          <a:xfrm>
            <a:off x="543489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77" name="TextBox 76"/>
          <p:cNvSpPr txBox="1"/>
          <p:nvPr/>
        </p:nvSpPr>
        <p:spPr>
          <a:xfrm>
            <a:off x="3838575" y="4447369"/>
            <a:ext cx="651371" cy="186689"/>
          </a:xfrm>
          <a:prstGeom prst="rect">
            <a:avLst/>
          </a:prstGeom>
          <a:noFill/>
        </p:spPr>
        <p:txBody>
          <a:bodyPr wrap="none" lIns="0" rIns="0" tIns="0" bIns="0">
            <a:spAutoFit/>
          </a:bodyPr>
          <a:lstStyle/>
          <a:p>
            <a:r>
              <a:rPr sz="1100" b="0">
                <a:solidFill>
                  <a:srgbClr val="2E2E2E"/>
                </a:solidFill>
                <a:latin typeface="Calibri"/>
              </a:rPr>
              <a:t>● Canada:</a:t>
            </a:r>
          </a:p>
        </p:txBody>
      </p:sp>
      <p:pic>
        <p:nvPicPr>
          <p:cNvPr id="78" name="Picture 77" descr="lock.png"/>
          <p:cNvPicPr>
            <a:picLocks noChangeAspect="1"/>
          </p:cNvPicPr>
          <p:nvPr/>
        </p:nvPicPr>
        <p:blipFill>
          <a:blip r:embed="rId4"/>
          <a:stretch>
            <a:fillRect/>
          </a:stretch>
        </p:blipFill>
        <p:spPr>
          <a:xfrm>
            <a:off x="4437997" y="4437590"/>
            <a:ext cx="128699" cy="187198"/>
          </a:xfrm>
          <a:prstGeom prst="rect">
            <a:avLst/>
          </a:prstGeom>
        </p:spPr>
      </p:pic>
      <p:sp>
        <p:nvSpPr>
          <p:cNvPr id="79" name="TextBox 78"/>
          <p:cNvSpPr txBox="1"/>
          <p:nvPr/>
        </p:nvSpPr>
        <p:spPr>
          <a:xfrm>
            <a:off x="460549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0" name="Picture 79" descr="lock.png"/>
          <p:cNvPicPr>
            <a:picLocks noChangeAspect="1"/>
          </p:cNvPicPr>
          <p:nvPr/>
        </p:nvPicPr>
        <p:blipFill>
          <a:blip r:embed="rId4"/>
          <a:stretch>
            <a:fillRect/>
          </a:stretch>
        </p:blipFill>
        <p:spPr>
          <a:xfrm>
            <a:off x="5464943" y="4437590"/>
            <a:ext cx="128699" cy="187198"/>
          </a:xfrm>
          <a:prstGeom prst="rect">
            <a:avLst/>
          </a:prstGeom>
        </p:spPr>
      </p:pic>
      <p:sp>
        <p:nvSpPr>
          <p:cNvPr id="81" name="TextBox 80"/>
          <p:cNvSpPr txBox="1"/>
          <p:nvPr/>
        </p:nvSpPr>
        <p:spPr>
          <a:xfrm>
            <a:off x="563243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2" name="TextBox 8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North America market is projected to grow at a</a:t>
            </a:r>
          </a:p>
        </p:txBody>
      </p:sp>
      <p:sp>
        <p:nvSpPr>
          <p:cNvPr id="83" name="TextBox 8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4" name="Picture 83" descr="lock.png"/>
          <p:cNvPicPr>
            <a:picLocks noChangeAspect="1"/>
          </p:cNvPicPr>
          <p:nvPr/>
        </p:nvPicPr>
        <p:blipFill>
          <a:blip r:embed="rId4"/>
          <a:stretch>
            <a:fillRect/>
          </a:stretch>
        </p:blipFill>
        <p:spPr>
          <a:xfrm>
            <a:off x="9048826" y="6007677"/>
            <a:ext cx="134549" cy="195707"/>
          </a:xfrm>
          <a:prstGeom prst="rect">
            <a:avLst/>
          </a:prstGeom>
        </p:spPr>
      </p:pic>
      <p:sp>
        <p:nvSpPr>
          <p:cNvPr id="85" name="TextBox 8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Analysis, By Country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99165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9868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1068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97260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252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204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74425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0616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10015537" y="6070282"/>
            <a:ext cx="209550" cy="304800"/>
          </a:xfrm>
          <a:prstGeom prst="rect">
            <a:avLst/>
          </a:prstGeom>
        </p:spPr>
      </p:pic>
      <p:sp>
        <p:nvSpPr>
          <p:cNvPr id="34" name="TextBox 33"/>
          <p:cNvSpPr txBox="1"/>
          <p:nvPr/>
        </p:nvSpPr>
        <p:spPr>
          <a:xfrm>
            <a:off x="7239000" y="1400175"/>
            <a:ext cx="3639877" cy="194310"/>
          </a:xfrm>
          <a:prstGeom prst="rect">
            <a:avLst/>
          </a:prstGeom>
          <a:noFill/>
        </p:spPr>
        <p:txBody>
          <a:bodyPr wrap="none" lIns="0" rIns="0" tIns="0" bIns="0">
            <a:spAutoFit/>
          </a:bodyPr>
          <a:lstStyle/>
          <a:p>
            <a:r>
              <a:rPr sz="1150" b="0">
                <a:solidFill>
                  <a:srgbClr val="2E2E2E"/>
                </a:solidFill>
                <a:latin typeface="Calibri"/>
              </a:rPr>
              <a:t>The U.S. corrugated partition market is projected to register</a:t>
            </a:r>
          </a:p>
        </p:txBody>
      </p:sp>
      <p:pic>
        <p:nvPicPr>
          <p:cNvPr id="35" name="Picture 34" descr="lock.png"/>
          <p:cNvPicPr>
            <a:picLocks noChangeAspect="1"/>
          </p:cNvPicPr>
          <p:nvPr/>
        </p:nvPicPr>
        <p:blipFill>
          <a:blip r:embed="rId5"/>
          <a:stretch>
            <a:fillRect/>
          </a:stretch>
        </p:blipFill>
        <p:spPr>
          <a:xfrm>
            <a:off x="10828030" y="1389951"/>
            <a:ext cx="134549" cy="195707"/>
          </a:xfrm>
          <a:prstGeom prst="rect">
            <a:avLst/>
          </a:prstGeom>
        </p:spPr>
      </p:pic>
      <p:sp>
        <p:nvSpPr>
          <p:cNvPr id="36" name="TextBox 35"/>
          <p:cNvSpPr txBox="1"/>
          <p:nvPr/>
        </p:nvSpPr>
        <p:spPr>
          <a:xfrm>
            <a:off x="11003140" y="1400175"/>
            <a:ext cx="564839" cy="194310"/>
          </a:xfrm>
          <a:prstGeom prst="rect">
            <a:avLst/>
          </a:prstGeom>
          <a:noFill/>
        </p:spPr>
        <p:txBody>
          <a:bodyPr wrap="none" lIns="0" rIns="0" tIns="0" bIns="0">
            <a:spAutoFit/>
          </a:bodyPr>
          <a:lstStyle/>
          <a:p>
            <a:r>
              <a:rPr sz="1150" b="0">
                <a:solidFill>
                  <a:srgbClr val="2E2E2E"/>
                </a:solidFill>
                <a:latin typeface="Calibri"/>
              </a:rPr>
              <a:t>X higher</a:t>
            </a:r>
          </a:p>
        </p:txBody>
      </p:sp>
      <p:sp>
        <p:nvSpPr>
          <p:cNvPr id="37" name="TextBox 36"/>
          <p:cNvSpPr txBox="1"/>
          <p:nvPr/>
        </p:nvSpPr>
        <p:spPr>
          <a:xfrm>
            <a:off x="7239000" y="1575435"/>
            <a:ext cx="4648200" cy="194310"/>
          </a:xfrm>
          <a:prstGeom prst="rect">
            <a:avLst/>
          </a:prstGeom>
          <a:noFill/>
        </p:spPr>
        <p:txBody>
          <a:bodyPr wrap="none" lIns="0" rIns="0" tIns="0" bIns="0">
            <a:spAutoFit/>
          </a:bodyPr>
          <a:lstStyle/>
          <a:p>
            <a:r>
              <a:rPr sz="1150" b="0">
                <a:solidFill>
                  <a:srgbClr val="2E2E2E"/>
                </a:solidFill>
                <a:latin typeface="Calibri"/>
              </a:rPr>
              <a:t>volume than Canada in 2036. Among corrugated partition by country, Canada</a:t>
            </a:r>
          </a:p>
        </p:txBody>
      </p:sp>
      <p:sp>
        <p:nvSpPr>
          <p:cNvPr id="38" name="TextBox 37"/>
          <p:cNvSpPr txBox="1"/>
          <p:nvPr/>
        </p:nvSpPr>
        <p:spPr>
          <a:xfrm>
            <a:off x="7239000" y="1750695"/>
            <a:ext cx="2609807" cy="194310"/>
          </a:xfrm>
          <a:prstGeom prst="rect">
            <a:avLst/>
          </a:prstGeom>
          <a:noFill/>
        </p:spPr>
        <p:txBody>
          <a:bodyPr wrap="none" lIns="0" rIns="0" tIns="0" bIns="0">
            <a:spAutoFit/>
          </a:bodyPr>
          <a:lstStyle/>
          <a:p>
            <a:r>
              <a:rPr sz="1150" b="0">
                <a:solidFill>
                  <a:srgbClr val="2E2E2E"/>
                </a:solidFill>
                <a:latin typeface="Calibri"/>
              </a:rPr>
              <a:t>is expected to witness the highest CAGR of</a:t>
            </a:r>
          </a:p>
        </p:txBody>
      </p:sp>
      <p:pic>
        <p:nvPicPr>
          <p:cNvPr id="39" name="Picture 38" descr="lock.png"/>
          <p:cNvPicPr>
            <a:picLocks noChangeAspect="1"/>
          </p:cNvPicPr>
          <p:nvPr/>
        </p:nvPicPr>
        <p:blipFill>
          <a:blip r:embed="rId5"/>
          <a:stretch>
            <a:fillRect/>
          </a:stretch>
        </p:blipFill>
        <p:spPr>
          <a:xfrm>
            <a:off x="9797961" y="1740471"/>
            <a:ext cx="134549" cy="195707"/>
          </a:xfrm>
          <a:prstGeom prst="rect">
            <a:avLst/>
          </a:prstGeom>
        </p:spPr>
      </p:pic>
      <p:sp>
        <p:nvSpPr>
          <p:cNvPr id="40" name="TextBox 39"/>
          <p:cNvSpPr txBox="1"/>
          <p:nvPr/>
        </p:nvSpPr>
        <p:spPr>
          <a:xfrm>
            <a:off x="997307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1" name="TextBox 40"/>
          <p:cNvSpPr txBox="1"/>
          <p:nvPr/>
        </p:nvSpPr>
        <p:spPr>
          <a:xfrm>
            <a:off x="7239000" y="1978533"/>
            <a:ext cx="4231493"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a:t>
            </a:r>
          </a:p>
        </p:txBody>
      </p:sp>
      <p:sp>
        <p:nvSpPr>
          <p:cNvPr id="42" name="TextBox 41"/>
          <p:cNvSpPr txBox="1"/>
          <p:nvPr/>
        </p:nvSpPr>
        <p:spPr>
          <a:xfrm>
            <a:off x="7239000" y="215379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43" name="Picture 42" descr="lock.png"/>
          <p:cNvPicPr>
            <a:picLocks noChangeAspect="1"/>
          </p:cNvPicPr>
          <p:nvPr/>
        </p:nvPicPr>
        <p:blipFill>
          <a:blip r:embed="rId5"/>
          <a:stretch>
            <a:fillRect/>
          </a:stretch>
        </p:blipFill>
        <p:spPr>
          <a:xfrm>
            <a:off x="8106708" y="2143569"/>
            <a:ext cx="134549" cy="195707"/>
          </a:xfrm>
          <a:prstGeom prst="rect">
            <a:avLst/>
          </a:prstGeom>
        </p:spPr>
      </p:pic>
      <p:sp>
        <p:nvSpPr>
          <p:cNvPr id="44" name="TextBox 43"/>
          <p:cNvSpPr txBox="1"/>
          <p:nvPr/>
        </p:nvSpPr>
        <p:spPr>
          <a:xfrm>
            <a:off x="8281817" y="215379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5" name="Picture 44" descr="lock.png"/>
          <p:cNvPicPr>
            <a:picLocks noChangeAspect="1"/>
          </p:cNvPicPr>
          <p:nvPr/>
        </p:nvPicPr>
        <p:blipFill>
          <a:blip r:embed="rId5"/>
          <a:stretch>
            <a:fillRect/>
          </a:stretch>
        </p:blipFill>
        <p:spPr>
          <a:xfrm>
            <a:off x="9676961" y="2143569"/>
            <a:ext cx="134549" cy="195707"/>
          </a:xfrm>
          <a:prstGeom prst="rect">
            <a:avLst/>
          </a:prstGeom>
        </p:spPr>
      </p:pic>
      <p:sp>
        <p:nvSpPr>
          <p:cNvPr id="46" name="TextBox 45"/>
          <p:cNvSpPr txBox="1"/>
          <p:nvPr/>
        </p:nvSpPr>
        <p:spPr>
          <a:xfrm>
            <a:off x="9852070" y="215379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7" name="TextBox 46"/>
          <p:cNvSpPr txBox="1"/>
          <p:nvPr/>
        </p:nvSpPr>
        <p:spPr>
          <a:xfrm>
            <a:off x="1613208" y="5877496"/>
            <a:ext cx="1078882" cy="186689"/>
          </a:xfrm>
          <a:prstGeom prst="rect">
            <a:avLst/>
          </a:prstGeom>
          <a:noFill/>
        </p:spPr>
        <p:txBody>
          <a:bodyPr wrap="none" lIns="0" rIns="0" tIns="0" bIns="0">
            <a:spAutoFit/>
          </a:bodyPr>
          <a:lstStyle/>
          <a:p>
            <a:r>
              <a:rPr sz="1100" b="1">
                <a:solidFill>
                  <a:srgbClr val="6C7A89"/>
                </a:solidFill>
                <a:latin typeface="Calibri"/>
              </a:rPr>
              <a:t>2026 TOTAL (MT)</a:t>
            </a:r>
          </a:p>
        </p:txBody>
      </p:sp>
      <p:pic>
        <p:nvPicPr>
          <p:cNvPr id="48" name="Picture 47" descr="lock.png"/>
          <p:cNvPicPr>
            <a:picLocks noChangeAspect="1"/>
          </p:cNvPicPr>
          <p:nvPr/>
        </p:nvPicPr>
        <p:blipFill>
          <a:blip r:embed="rId5"/>
          <a:stretch>
            <a:fillRect/>
          </a:stretch>
        </p:blipFill>
        <p:spPr>
          <a:xfrm>
            <a:off x="1984327" y="6077648"/>
            <a:ext cx="233998" cy="340360"/>
          </a:xfrm>
          <a:prstGeom prst="rect">
            <a:avLst/>
          </a:prstGeom>
        </p:spPr>
      </p:pic>
      <p:sp>
        <p:nvSpPr>
          <p:cNvPr id="49" name="TextBox 48"/>
          <p:cNvSpPr txBox="1"/>
          <p:nvPr/>
        </p:nvSpPr>
        <p:spPr>
          <a:xfrm>
            <a:off x="5647046" y="5877496"/>
            <a:ext cx="1078882" cy="186689"/>
          </a:xfrm>
          <a:prstGeom prst="rect">
            <a:avLst/>
          </a:prstGeom>
          <a:noFill/>
        </p:spPr>
        <p:txBody>
          <a:bodyPr wrap="none" lIns="0" rIns="0" tIns="0" bIns="0">
            <a:spAutoFit/>
          </a:bodyPr>
          <a:lstStyle/>
          <a:p>
            <a:r>
              <a:rPr sz="1100" b="1">
                <a:solidFill>
                  <a:srgbClr val="6C7A89"/>
                </a:solidFill>
                <a:latin typeface="Calibri"/>
              </a:rPr>
              <a:t>2036 TOTAL (MT)</a:t>
            </a:r>
          </a:p>
        </p:txBody>
      </p:sp>
      <p:pic>
        <p:nvPicPr>
          <p:cNvPr id="50" name="Picture 49" descr="lock.png"/>
          <p:cNvPicPr>
            <a:picLocks noChangeAspect="1"/>
          </p:cNvPicPr>
          <p:nvPr/>
        </p:nvPicPr>
        <p:blipFill>
          <a:blip r:embed="rId5"/>
          <a:stretch>
            <a:fillRect/>
          </a:stretch>
        </p:blipFill>
        <p:spPr>
          <a:xfrm>
            <a:off x="6018165" y="6077648"/>
            <a:ext cx="233998" cy="340360"/>
          </a:xfrm>
          <a:prstGeom prst="rect">
            <a:avLst/>
          </a:prstGeom>
        </p:spPr>
      </p:pic>
      <p:sp>
        <p:nvSpPr>
          <p:cNvPr id="51"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593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403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881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81196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3639877" cy="194310"/>
          </a:xfrm>
          <a:prstGeom prst="rect">
            <a:avLst/>
          </a:prstGeom>
          <a:noFill/>
        </p:spPr>
        <p:txBody>
          <a:bodyPr wrap="none" lIns="0" rIns="0" tIns="0" bIns="0">
            <a:spAutoFit/>
          </a:bodyPr>
          <a:lstStyle/>
          <a:p>
            <a:r>
              <a:rPr sz="1150" b="0">
                <a:solidFill>
                  <a:srgbClr val="2E2E2E"/>
                </a:solidFill>
                <a:latin typeface="Calibri"/>
              </a:rPr>
              <a:t>The U.S. corrugated partition market is projected to register</a:t>
            </a:r>
          </a:p>
        </p:txBody>
      </p:sp>
      <p:pic>
        <p:nvPicPr>
          <p:cNvPr id="37" name="Picture 36" descr="lock.png"/>
          <p:cNvPicPr>
            <a:picLocks noChangeAspect="1"/>
          </p:cNvPicPr>
          <p:nvPr/>
        </p:nvPicPr>
        <p:blipFill>
          <a:blip r:embed="rId5"/>
          <a:stretch>
            <a:fillRect/>
          </a:stretch>
        </p:blipFill>
        <p:spPr>
          <a:xfrm>
            <a:off x="10828030" y="1389951"/>
            <a:ext cx="134549" cy="195707"/>
          </a:xfrm>
          <a:prstGeom prst="rect">
            <a:avLst/>
          </a:prstGeom>
        </p:spPr>
      </p:pic>
      <p:sp>
        <p:nvSpPr>
          <p:cNvPr id="38" name="TextBox 37"/>
          <p:cNvSpPr txBox="1"/>
          <p:nvPr/>
        </p:nvSpPr>
        <p:spPr>
          <a:xfrm>
            <a:off x="11003140" y="1400175"/>
            <a:ext cx="564839" cy="194310"/>
          </a:xfrm>
          <a:prstGeom prst="rect">
            <a:avLst/>
          </a:prstGeom>
          <a:noFill/>
        </p:spPr>
        <p:txBody>
          <a:bodyPr wrap="none" lIns="0" rIns="0" tIns="0" bIns="0">
            <a:spAutoFit/>
          </a:bodyPr>
          <a:lstStyle/>
          <a:p>
            <a:r>
              <a:rPr sz="1150" b="0">
                <a:solidFill>
                  <a:srgbClr val="2E2E2E"/>
                </a:solidFill>
                <a:latin typeface="Calibri"/>
              </a:rPr>
              <a:t>X higher</a:t>
            </a:r>
          </a:p>
        </p:txBody>
      </p:sp>
      <p:sp>
        <p:nvSpPr>
          <p:cNvPr id="39" name="TextBox 38"/>
          <p:cNvSpPr txBox="1"/>
          <p:nvPr/>
        </p:nvSpPr>
        <p:spPr>
          <a:xfrm>
            <a:off x="7239000" y="1575435"/>
            <a:ext cx="4648200" cy="194310"/>
          </a:xfrm>
          <a:prstGeom prst="rect">
            <a:avLst/>
          </a:prstGeom>
          <a:noFill/>
        </p:spPr>
        <p:txBody>
          <a:bodyPr wrap="none" lIns="0" rIns="0" tIns="0" bIns="0">
            <a:spAutoFit/>
          </a:bodyPr>
          <a:lstStyle/>
          <a:p>
            <a:r>
              <a:rPr sz="1150" b="0">
                <a:solidFill>
                  <a:srgbClr val="2E2E2E"/>
                </a:solidFill>
                <a:latin typeface="Calibri"/>
              </a:rPr>
              <a:t>value than Canada in 2036. Among corrugated partition by country, Canada is</a:t>
            </a:r>
          </a:p>
        </p:txBody>
      </p:sp>
      <p:sp>
        <p:nvSpPr>
          <p:cNvPr id="40" name="TextBox 39"/>
          <p:cNvSpPr txBox="1"/>
          <p:nvPr/>
        </p:nvSpPr>
        <p:spPr>
          <a:xfrm>
            <a:off x="7239000" y="175069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41" name="Picture 40" descr="lock.png"/>
          <p:cNvPicPr>
            <a:picLocks noChangeAspect="1"/>
          </p:cNvPicPr>
          <p:nvPr/>
        </p:nvPicPr>
        <p:blipFill>
          <a:blip r:embed="rId5"/>
          <a:stretch>
            <a:fillRect/>
          </a:stretch>
        </p:blipFill>
        <p:spPr>
          <a:xfrm>
            <a:off x="9674161" y="1740471"/>
            <a:ext cx="134549" cy="195707"/>
          </a:xfrm>
          <a:prstGeom prst="rect">
            <a:avLst/>
          </a:prstGeom>
        </p:spPr>
      </p:pic>
      <p:sp>
        <p:nvSpPr>
          <p:cNvPr id="42" name="TextBox 41"/>
          <p:cNvSpPr txBox="1"/>
          <p:nvPr/>
        </p:nvSpPr>
        <p:spPr>
          <a:xfrm>
            <a:off x="984927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3" name="TextBox 42"/>
          <p:cNvSpPr txBox="1"/>
          <p:nvPr/>
        </p:nvSpPr>
        <p:spPr>
          <a:xfrm>
            <a:off x="7239000" y="1978533"/>
            <a:ext cx="4603179"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a:t>
            </a:r>
          </a:p>
        </p:txBody>
      </p:sp>
      <p:sp>
        <p:nvSpPr>
          <p:cNvPr id="44" name="TextBox 43"/>
          <p:cNvSpPr txBox="1"/>
          <p:nvPr/>
        </p:nvSpPr>
        <p:spPr>
          <a:xfrm>
            <a:off x="7239000" y="2153793"/>
            <a:ext cx="423068" cy="194310"/>
          </a:xfrm>
          <a:prstGeom prst="rect">
            <a:avLst/>
          </a:prstGeom>
          <a:noFill/>
        </p:spPr>
        <p:txBody>
          <a:bodyPr wrap="none" lIns="0" rIns="0" tIns="0" bIns="0">
            <a:spAutoFit/>
          </a:bodyPr>
          <a:lstStyle/>
          <a:p>
            <a:r>
              <a:rPr sz="1150" b="0">
                <a:solidFill>
                  <a:srgbClr val="2E2E2E"/>
                </a:solidFill>
                <a:latin typeface="Calibri"/>
              </a:rPr>
              <a:t>losing</a:t>
            </a:r>
          </a:p>
        </p:txBody>
      </p:sp>
      <p:pic>
        <p:nvPicPr>
          <p:cNvPr id="45" name="Picture 44" descr="lock.png"/>
          <p:cNvPicPr>
            <a:picLocks noChangeAspect="1"/>
          </p:cNvPicPr>
          <p:nvPr/>
        </p:nvPicPr>
        <p:blipFill>
          <a:blip r:embed="rId5"/>
          <a:stretch>
            <a:fillRect/>
          </a:stretch>
        </p:blipFill>
        <p:spPr>
          <a:xfrm>
            <a:off x="7611222" y="2143569"/>
            <a:ext cx="134549" cy="195707"/>
          </a:xfrm>
          <a:prstGeom prst="rect">
            <a:avLst/>
          </a:prstGeom>
        </p:spPr>
      </p:pic>
      <p:sp>
        <p:nvSpPr>
          <p:cNvPr id="46" name="TextBox 45"/>
          <p:cNvSpPr txBox="1"/>
          <p:nvPr/>
        </p:nvSpPr>
        <p:spPr>
          <a:xfrm>
            <a:off x="7786331" y="215379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9181475" y="2143569"/>
            <a:ext cx="134549" cy="195707"/>
          </a:xfrm>
          <a:prstGeom prst="rect">
            <a:avLst/>
          </a:prstGeom>
        </p:spPr>
      </p:pic>
      <p:sp>
        <p:nvSpPr>
          <p:cNvPr id="48" name="TextBox 47"/>
          <p:cNvSpPr txBox="1"/>
          <p:nvPr/>
        </p:nvSpPr>
        <p:spPr>
          <a:xfrm>
            <a:off x="9356584" y="215379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Share Analysis, By Country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(MT)</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566452"/>
                <a:gridCol w="674370"/>
                <a:gridCol w="674370"/>
                <a:gridCol w="674370"/>
                <a:gridCol w="674370"/>
                <a:gridCol w="674370"/>
                <a:gridCol w="674370"/>
                <a:gridCol w="674370"/>
                <a:gridCol w="674370"/>
                <a:gridCol w="674370"/>
                <a:gridCol w="674370"/>
                <a:gridCol w="674370"/>
                <a:gridCol w="674370"/>
                <a:gridCol w="674370"/>
                <a:gridCol w="674370"/>
                <a:gridCol w="674370"/>
                <a:gridCol w="674370"/>
                <a:gridCol w="530828"/>
              </a:tblGrid>
              <a:tr h="246126">
                <a:tc>
                  <a:txBody>
                    <a:bodyPr wrap="none"/>
                    <a:lstStyle/>
                    <a:p>
                      <a:pPr algn="l"/>
                      <a:r>
                        <a:rPr sz="1100" b="1">
                          <a:solidFill>
                            <a:srgbClr val="0B2E4A"/>
                          </a:solidFill>
                          <a:latin typeface="Calibri"/>
                        </a:rPr>
                        <a:t>Country</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192536" y="1589913"/>
            <a:ext cx="366712" cy="533400"/>
          </a:xfrm>
          <a:prstGeom prst="rect">
            <a:avLst/>
          </a:prstGeom>
        </p:spPr>
      </p:pic>
      <p:sp>
        <p:nvSpPr>
          <p:cNvPr id="21" name="TextBox 20"/>
          <p:cNvSpPr txBox="1"/>
          <p:nvPr/>
        </p:nvSpPr>
        <p:spPr>
          <a:xfrm>
            <a:off x="276225" y="2990850"/>
            <a:ext cx="3639877" cy="194310"/>
          </a:xfrm>
          <a:prstGeom prst="rect">
            <a:avLst/>
          </a:prstGeom>
          <a:noFill/>
        </p:spPr>
        <p:txBody>
          <a:bodyPr wrap="none" lIns="0" rIns="0" tIns="0" bIns="0">
            <a:spAutoFit/>
          </a:bodyPr>
          <a:lstStyle/>
          <a:p>
            <a:r>
              <a:rPr sz="1150" b="0">
                <a:solidFill>
                  <a:srgbClr val="2E2E2E"/>
                </a:solidFill>
                <a:latin typeface="Calibri"/>
              </a:rPr>
              <a:t>The U.S. corrugated partition market is projected to register</a:t>
            </a:r>
          </a:p>
        </p:txBody>
      </p:sp>
      <p:pic>
        <p:nvPicPr>
          <p:cNvPr id="22" name="Picture 21" descr="lock.png"/>
          <p:cNvPicPr>
            <a:picLocks noChangeAspect="1"/>
          </p:cNvPicPr>
          <p:nvPr/>
        </p:nvPicPr>
        <p:blipFill>
          <a:blip r:embed="rId4"/>
          <a:stretch>
            <a:fillRect/>
          </a:stretch>
        </p:blipFill>
        <p:spPr>
          <a:xfrm>
            <a:off x="3865255" y="2980626"/>
            <a:ext cx="134549" cy="195707"/>
          </a:xfrm>
          <a:prstGeom prst="rect">
            <a:avLst/>
          </a:prstGeom>
        </p:spPr>
      </p:pic>
      <p:sp>
        <p:nvSpPr>
          <p:cNvPr id="23" name="TextBox 22"/>
          <p:cNvSpPr txBox="1"/>
          <p:nvPr/>
        </p:nvSpPr>
        <p:spPr>
          <a:xfrm>
            <a:off x="4040365" y="2990850"/>
            <a:ext cx="7770050" cy="194310"/>
          </a:xfrm>
          <a:prstGeom prst="rect">
            <a:avLst/>
          </a:prstGeom>
          <a:noFill/>
        </p:spPr>
        <p:txBody>
          <a:bodyPr wrap="none" lIns="0" rIns="0" tIns="0" bIns="0">
            <a:spAutoFit/>
          </a:bodyPr>
          <a:lstStyle/>
          <a:p>
            <a:r>
              <a:rPr sz="1150" b="0">
                <a:solidFill>
                  <a:srgbClr val="2E2E2E"/>
                </a:solidFill>
                <a:latin typeface="Calibri"/>
              </a:rPr>
              <a:t>X higher volume than Canada in 2036. Among corrugated partition by country, Canada is expected to witness the highest CAGR of</a:t>
            </a:r>
          </a:p>
        </p:txBody>
      </p:sp>
      <p:pic>
        <p:nvPicPr>
          <p:cNvPr id="24" name="Picture 23" descr="lock.png"/>
          <p:cNvPicPr>
            <a:picLocks noChangeAspect="1"/>
          </p:cNvPicPr>
          <p:nvPr/>
        </p:nvPicPr>
        <p:blipFill>
          <a:blip r:embed="rId4"/>
          <a:stretch>
            <a:fillRect/>
          </a:stretch>
        </p:blipFill>
        <p:spPr>
          <a:xfrm>
            <a:off x="262145" y="3155886"/>
            <a:ext cx="134549" cy="195707"/>
          </a:xfrm>
          <a:prstGeom prst="rect">
            <a:avLst/>
          </a:prstGeom>
        </p:spPr>
      </p:pic>
      <p:sp>
        <p:nvSpPr>
          <p:cNvPr id="25" name="TextBox 24"/>
          <p:cNvSpPr txBox="1"/>
          <p:nvPr/>
        </p:nvSpPr>
        <p:spPr>
          <a:xfrm>
            <a:off x="437254"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3393947"/>
            <a:ext cx="5106937"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 market, losing</a:t>
            </a:r>
          </a:p>
        </p:txBody>
      </p:sp>
      <p:pic>
        <p:nvPicPr>
          <p:cNvPr id="27" name="Picture 26" descr="lock.png"/>
          <p:cNvPicPr>
            <a:picLocks noChangeAspect="1"/>
          </p:cNvPicPr>
          <p:nvPr/>
        </p:nvPicPr>
        <p:blipFill>
          <a:blip r:embed="rId4"/>
          <a:stretch>
            <a:fillRect/>
          </a:stretch>
        </p:blipFill>
        <p:spPr>
          <a:xfrm>
            <a:off x="5332316" y="3383724"/>
            <a:ext cx="134549" cy="195707"/>
          </a:xfrm>
          <a:prstGeom prst="rect">
            <a:avLst/>
          </a:prstGeom>
        </p:spPr>
      </p:pic>
      <p:sp>
        <p:nvSpPr>
          <p:cNvPr id="28" name="TextBox 27"/>
          <p:cNvSpPr txBox="1"/>
          <p:nvPr/>
        </p:nvSpPr>
        <p:spPr>
          <a:xfrm>
            <a:off x="5507426"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6902569" y="3383724"/>
            <a:ext cx="134549" cy="195707"/>
          </a:xfrm>
          <a:prstGeom prst="rect">
            <a:avLst/>
          </a:prstGeom>
        </p:spPr>
      </p:pic>
      <p:sp>
        <p:nvSpPr>
          <p:cNvPr id="30" name="TextBox 29"/>
          <p:cNvSpPr txBox="1"/>
          <p:nvPr/>
        </p:nvSpPr>
        <p:spPr>
          <a:xfrm>
            <a:off x="70776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57436" y="1589913"/>
            <a:ext cx="366712" cy="533400"/>
          </a:xfrm>
          <a:prstGeom prst="rect">
            <a:avLst/>
          </a:prstGeom>
        </p:spPr>
      </p:pic>
      <p:sp>
        <p:nvSpPr>
          <p:cNvPr id="21" name="TextBox 20"/>
          <p:cNvSpPr txBox="1"/>
          <p:nvPr/>
        </p:nvSpPr>
        <p:spPr>
          <a:xfrm>
            <a:off x="276225" y="2990850"/>
            <a:ext cx="3639877" cy="194310"/>
          </a:xfrm>
          <a:prstGeom prst="rect">
            <a:avLst/>
          </a:prstGeom>
          <a:noFill/>
        </p:spPr>
        <p:txBody>
          <a:bodyPr wrap="none" lIns="0" rIns="0" tIns="0" bIns="0">
            <a:spAutoFit/>
          </a:bodyPr>
          <a:lstStyle/>
          <a:p>
            <a:r>
              <a:rPr sz="1150" b="0">
                <a:solidFill>
                  <a:srgbClr val="2E2E2E"/>
                </a:solidFill>
                <a:latin typeface="Calibri"/>
              </a:rPr>
              <a:t>The U.S. corrugated partition market is projected to register</a:t>
            </a:r>
          </a:p>
        </p:txBody>
      </p:sp>
      <p:pic>
        <p:nvPicPr>
          <p:cNvPr id="22" name="Picture 21" descr="lock.png"/>
          <p:cNvPicPr>
            <a:picLocks noChangeAspect="1"/>
          </p:cNvPicPr>
          <p:nvPr/>
        </p:nvPicPr>
        <p:blipFill>
          <a:blip r:embed="rId4"/>
          <a:stretch>
            <a:fillRect/>
          </a:stretch>
        </p:blipFill>
        <p:spPr>
          <a:xfrm>
            <a:off x="3865255" y="2980626"/>
            <a:ext cx="134549" cy="195707"/>
          </a:xfrm>
          <a:prstGeom prst="rect">
            <a:avLst/>
          </a:prstGeom>
        </p:spPr>
      </p:pic>
      <p:sp>
        <p:nvSpPr>
          <p:cNvPr id="23" name="TextBox 22"/>
          <p:cNvSpPr txBox="1"/>
          <p:nvPr/>
        </p:nvSpPr>
        <p:spPr>
          <a:xfrm>
            <a:off x="4040365" y="2990850"/>
            <a:ext cx="7646250" cy="194310"/>
          </a:xfrm>
          <a:prstGeom prst="rect">
            <a:avLst/>
          </a:prstGeom>
          <a:noFill/>
        </p:spPr>
        <p:txBody>
          <a:bodyPr wrap="none" lIns="0" rIns="0" tIns="0" bIns="0">
            <a:spAutoFit/>
          </a:bodyPr>
          <a:lstStyle/>
          <a:p>
            <a:r>
              <a:rPr sz="1150" b="0">
                <a:solidFill>
                  <a:srgbClr val="2E2E2E"/>
                </a:solidFill>
                <a:latin typeface="Calibri"/>
              </a:rPr>
              <a:t>X higher value than Canada in 2036. Among corrugated partition by country, Canada is expected to witness the highest CAGR of</a:t>
            </a:r>
          </a:p>
        </p:txBody>
      </p:sp>
      <p:pic>
        <p:nvPicPr>
          <p:cNvPr id="24" name="Picture 23" descr="lock.png"/>
          <p:cNvPicPr>
            <a:picLocks noChangeAspect="1"/>
          </p:cNvPicPr>
          <p:nvPr/>
        </p:nvPicPr>
        <p:blipFill>
          <a:blip r:embed="rId4"/>
          <a:stretch>
            <a:fillRect/>
          </a:stretch>
        </p:blipFill>
        <p:spPr>
          <a:xfrm>
            <a:off x="262145" y="3155886"/>
            <a:ext cx="134549" cy="195707"/>
          </a:xfrm>
          <a:prstGeom prst="rect">
            <a:avLst/>
          </a:prstGeom>
        </p:spPr>
      </p:pic>
      <p:sp>
        <p:nvSpPr>
          <p:cNvPr id="25" name="TextBox 24"/>
          <p:cNvSpPr txBox="1"/>
          <p:nvPr/>
        </p:nvSpPr>
        <p:spPr>
          <a:xfrm>
            <a:off x="437254"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3393947"/>
            <a:ext cx="4983137"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 losing</a:t>
            </a:r>
          </a:p>
        </p:txBody>
      </p:sp>
      <p:pic>
        <p:nvPicPr>
          <p:cNvPr id="27" name="Picture 26" descr="lock.png"/>
          <p:cNvPicPr>
            <a:picLocks noChangeAspect="1"/>
          </p:cNvPicPr>
          <p:nvPr/>
        </p:nvPicPr>
        <p:blipFill>
          <a:blip r:embed="rId4"/>
          <a:stretch>
            <a:fillRect/>
          </a:stretch>
        </p:blipFill>
        <p:spPr>
          <a:xfrm>
            <a:off x="5208516" y="3383724"/>
            <a:ext cx="134549" cy="195707"/>
          </a:xfrm>
          <a:prstGeom prst="rect">
            <a:avLst/>
          </a:prstGeom>
        </p:spPr>
      </p:pic>
      <p:sp>
        <p:nvSpPr>
          <p:cNvPr id="28" name="TextBox 27"/>
          <p:cNvSpPr txBox="1"/>
          <p:nvPr/>
        </p:nvSpPr>
        <p:spPr>
          <a:xfrm>
            <a:off x="5383625"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6778769" y="3383724"/>
            <a:ext cx="134549" cy="195707"/>
          </a:xfrm>
          <a:prstGeom prst="rect">
            <a:avLst/>
          </a:prstGeom>
        </p:spPr>
      </p:pic>
      <p:sp>
        <p:nvSpPr>
          <p:cNvPr id="30" name="TextBox 29"/>
          <p:cNvSpPr txBox="1"/>
          <p:nvPr/>
        </p:nvSpPr>
        <p:spPr>
          <a:xfrm>
            <a:off x="69538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(MT)</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6058646" y="2026489"/>
            <a:ext cx="363375" cy="528545"/>
          </a:xfrm>
          <a:prstGeom prst="rect">
            <a:avLst/>
          </a:prstGeom>
        </p:spPr>
      </p:pic>
      <p:pic>
        <p:nvPicPr>
          <p:cNvPr id="19" name="Picture 18" descr="lock.png"/>
          <p:cNvPicPr>
            <a:picLocks noChangeAspect="1"/>
          </p:cNvPicPr>
          <p:nvPr/>
        </p:nvPicPr>
        <p:blipFill>
          <a:blip r:embed="rId6"/>
          <a:stretch>
            <a:fillRect/>
          </a:stretch>
        </p:blipFill>
        <p:spPr>
          <a:xfrm>
            <a:off x="6058646" y="4912564"/>
            <a:ext cx="363375" cy="528545"/>
          </a:xfrm>
          <a:prstGeom prst="rect">
            <a:avLst/>
          </a:prstGeom>
        </p:spPr>
      </p:pic>
      <p:sp>
        <p:nvSpPr>
          <p:cNvPr id="20" name="lockshield_13"/>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Corrugated Partition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87"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8137512" y="1266825"/>
            <a:ext cx="3816363"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4130192" y="3919537"/>
            <a:ext cx="115252" cy="167639"/>
          </a:xfrm>
          <a:prstGeom prst="rect">
            <a:avLst/>
          </a:prstGeom>
        </p:spPr>
      </p:pic>
      <p:pic>
        <p:nvPicPr>
          <p:cNvPr id="17" name="Picture 16" descr="lock.png"/>
          <p:cNvPicPr>
            <a:picLocks noChangeAspect="1"/>
          </p:cNvPicPr>
          <p:nvPr/>
        </p:nvPicPr>
        <p:blipFill>
          <a:blip r:embed="rId4"/>
          <a:stretch>
            <a:fillRect/>
          </a:stretch>
        </p:blipFill>
        <p:spPr>
          <a:xfrm>
            <a:off x="9988067" y="3919537"/>
            <a:ext cx="115252" cy="167639"/>
          </a:xfrm>
          <a:prstGeom prst="rect">
            <a:avLst/>
          </a:prstGeom>
        </p:spPr>
      </p:pic>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Partition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Board Construction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Source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Cell Configuration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Customization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Partition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Partition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Partition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Partition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Partition Type segment categorizes the market by partition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Flat Dividers &amp; Layer Pads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Die-Cut &amp; Folded Partitions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Slotted (Interlocking Grid) Parti…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Partition Type split shows how demand is distributed across partition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558_2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902_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9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40_9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445_6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2_7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56_9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23_3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3_6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74292" cy="186689"/>
          </a:xfrm>
          <a:prstGeom prst="rect">
            <a:avLst/>
          </a:prstGeom>
          <a:noFill/>
        </p:spPr>
        <p:txBody>
          <a:bodyPr wrap="none" lIns="0" rIns="0" tIns="0" bIns="0">
            <a:spAutoFit/>
          </a:bodyPr>
          <a:lstStyle/>
          <a:p>
            <a:r>
              <a:rPr sz="1100" b="0">
                <a:solidFill>
                  <a:srgbClr val="2E2E2E"/>
                </a:solidFill>
                <a:latin typeface="Calibri"/>
              </a:rPr>
              <a:t>▪ ¶ Among corrugated partition by partition type,</a:t>
            </a:r>
          </a:p>
        </p:txBody>
      </p:sp>
      <p:sp>
        <p:nvSpPr>
          <p:cNvPr id="70" name="TextBox 69"/>
          <p:cNvSpPr txBox="1"/>
          <p:nvPr/>
        </p:nvSpPr>
        <p:spPr>
          <a:xfrm>
            <a:off x="485775" y="4397077"/>
            <a:ext cx="2830363" cy="186689"/>
          </a:xfrm>
          <a:prstGeom prst="rect">
            <a:avLst/>
          </a:prstGeom>
          <a:noFill/>
        </p:spPr>
        <p:txBody>
          <a:bodyPr wrap="none" lIns="0" rIns="0" tIns="0" bIns="0">
            <a:spAutoFit/>
          </a:bodyPr>
          <a:lstStyle/>
          <a:p>
            <a:r>
              <a:rPr sz="1100" b="0">
                <a:solidFill>
                  <a:srgbClr val="2E2E2E"/>
                </a:solidFill>
                <a:latin typeface="Calibri"/>
              </a:rPr>
              <a:t>flat dividers &amp; layer pads segment is expected to</a:t>
            </a:r>
          </a:p>
        </p:txBody>
      </p:sp>
      <p:sp>
        <p:nvSpPr>
          <p:cNvPr id="71" name="TextBox 70"/>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72" name="Picture 71" descr="lock.png"/>
          <p:cNvPicPr>
            <a:picLocks noChangeAspect="1"/>
          </p:cNvPicPr>
          <p:nvPr/>
        </p:nvPicPr>
        <p:blipFill>
          <a:blip r:embed="rId13"/>
          <a:stretch>
            <a:fillRect/>
          </a:stretch>
        </p:blipFill>
        <p:spPr>
          <a:xfrm>
            <a:off x="2108919" y="4554938"/>
            <a:ext cx="128699" cy="187198"/>
          </a:xfrm>
          <a:prstGeom prst="rect">
            <a:avLst/>
          </a:prstGeom>
        </p:spPr>
      </p:pic>
      <p:sp>
        <p:nvSpPr>
          <p:cNvPr id="73" name="TextBox 72"/>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74" name="TextBox 73"/>
          <p:cNvSpPr txBox="1"/>
          <p:nvPr/>
        </p:nvSpPr>
        <p:spPr>
          <a:xfrm>
            <a:off x="485775" y="4732357"/>
            <a:ext cx="2829545" cy="186689"/>
          </a:xfrm>
          <a:prstGeom prst="rect">
            <a:avLst/>
          </a:prstGeom>
          <a:noFill/>
        </p:spPr>
        <p:txBody>
          <a:bodyPr wrap="none" lIns="0" rIns="0" tIns="0" bIns="0">
            <a:spAutoFit/>
          </a:bodyPr>
          <a:lstStyle/>
          <a:p>
            <a:r>
              <a:rPr sz="1100" b="0">
                <a:solidFill>
                  <a:srgbClr val="2E2E2E"/>
                </a:solidFill>
                <a:latin typeface="Calibri"/>
              </a:rPr>
              <a:t>period. In terms of value share by partition type,</a:t>
            </a:r>
          </a:p>
        </p:txBody>
      </p:sp>
      <p:sp>
        <p:nvSpPr>
          <p:cNvPr id="75" name="TextBox 74"/>
          <p:cNvSpPr txBox="1"/>
          <p:nvPr/>
        </p:nvSpPr>
        <p:spPr>
          <a:xfrm>
            <a:off x="485775" y="4899997"/>
            <a:ext cx="2899667" cy="186689"/>
          </a:xfrm>
          <a:prstGeom prst="rect">
            <a:avLst/>
          </a:prstGeom>
          <a:noFill/>
        </p:spPr>
        <p:txBody>
          <a:bodyPr wrap="none" lIns="0" rIns="0" tIns="0" bIns="0">
            <a:spAutoFit/>
          </a:bodyPr>
          <a:lstStyle/>
          <a:p>
            <a:r>
              <a:rPr sz="1100" b="0">
                <a:solidFill>
                  <a:srgbClr val="2E2E2E"/>
                </a:solidFill>
                <a:latin typeface="Calibri"/>
              </a:rPr>
              <a:t>the flat dividers &amp; layer pads segment is expected</a:t>
            </a:r>
          </a:p>
        </p:txBody>
      </p:sp>
      <p:sp>
        <p:nvSpPr>
          <p:cNvPr id="76" name="TextBox 75"/>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77" name="Picture 76" descr="lock.png"/>
          <p:cNvPicPr>
            <a:picLocks noChangeAspect="1"/>
          </p:cNvPicPr>
          <p:nvPr/>
        </p:nvPicPr>
        <p:blipFill>
          <a:blip r:embed="rId13"/>
          <a:stretch>
            <a:fillRect/>
          </a:stretch>
        </p:blipFill>
        <p:spPr>
          <a:xfrm>
            <a:off x="2346590" y="5057858"/>
            <a:ext cx="128699" cy="187198"/>
          </a:xfrm>
          <a:prstGeom prst="rect">
            <a:avLst/>
          </a:prstGeom>
        </p:spPr>
      </p:pic>
      <p:sp>
        <p:nvSpPr>
          <p:cNvPr id="78" name="TextBox 77"/>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453209"/>
            <a:ext cx="2914650" cy="186689"/>
          </a:xfrm>
          <a:prstGeom prst="rect">
            <a:avLst/>
          </a:prstGeom>
          <a:noFill/>
        </p:spPr>
        <p:txBody>
          <a:bodyPr wrap="none" lIns="0" rIns="0" tIns="0" bIns="0">
            <a:spAutoFit/>
          </a:bodyPr>
          <a:lstStyle/>
          <a:p>
            <a:r>
              <a:rPr sz="1100" b="0">
                <a:solidFill>
                  <a:srgbClr val="2E2E2E"/>
                </a:solidFill>
                <a:latin typeface="Calibri"/>
              </a:rPr>
              <a:t>▪ ¶ Flat dividers &amp; layer pads segment is projected</a:t>
            </a:r>
          </a:p>
        </p:txBody>
      </p:sp>
      <p:sp>
        <p:nvSpPr>
          <p:cNvPr id="83" name="TextBox 82"/>
          <p:cNvSpPr txBox="1"/>
          <p:nvPr/>
        </p:nvSpPr>
        <p:spPr>
          <a:xfrm>
            <a:off x="485775" y="5620849"/>
            <a:ext cx="664740" cy="186689"/>
          </a:xfrm>
          <a:prstGeom prst="rect">
            <a:avLst/>
          </a:prstGeom>
          <a:noFill/>
        </p:spPr>
        <p:txBody>
          <a:bodyPr wrap="none" lIns="0" rIns="0" tIns="0" bIns="0">
            <a:spAutoFit/>
          </a:bodyPr>
          <a:lstStyle/>
          <a:p>
            <a:r>
              <a:rPr sz="1100" b="0">
                <a:solidFill>
                  <a:srgbClr val="2E2E2E"/>
                </a:solidFill>
                <a:latin typeface="Calibri"/>
              </a:rPr>
              <a:t>to register</a:t>
            </a:r>
          </a:p>
        </p:txBody>
      </p:sp>
      <p:pic>
        <p:nvPicPr>
          <p:cNvPr id="84" name="Picture 83" descr="lock.png"/>
          <p:cNvPicPr>
            <a:picLocks noChangeAspect="1"/>
          </p:cNvPicPr>
          <p:nvPr/>
        </p:nvPicPr>
        <p:blipFill>
          <a:blip r:embed="rId13"/>
          <a:stretch>
            <a:fillRect/>
          </a:stretch>
        </p:blipFill>
        <p:spPr>
          <a:xfrm>
            <a:off x="1098567" y="5611070"/>
            <a:ext cx="128699" cy="187198"/>
          </a:xfrm>
          <a:prstGeom prst="rect">
            <a:avLst/>
          </a:prstGeom>
        </p:spPr>
      </p:pic>
      <p:sp>
        <p:nvSpPr>
          <p:cNvPr id="85" name="TextBox 84"/>
          <p:cNvSpPr txBox="1"/>
          <p:nvPr/>
        </p:nvSpPr>
        <p:spPr>
          <a:xfrm>
            <a:off x="1266063" y="5620849"/>
            <a:ext cx="2125042" cy="186689"/>
          </a:xfrm>
          <a:prstGeom prst="rect">
            <a:avLst/>
          </a:prstGeom>
          <a:noFill/>
        </p:spPr>
        <p:txBody>
          <a:bodyPr wrap="none" lIns="0" rIns="0" tIns="0" bIns="0">
            <a:spAutoFit/>
          </a:bodyPr>
          <a:lstStyle/>
          <a:p>
            <a:r>
              <a:rPr sz="1100" b="0">
                <a:solidFill>
                  <a:srgbClr val="2E2E2E"/>
                </a:solidFill>
                <a:latin typeface="Calibri"/>
              </a:rPr>
              <a:t>X higher value than die-cut &amp; folded</a:t>
            </a:r>
          </a:p>
        </p:txBody>
      </p:sp>
      <p:sp>
        <p:nvSpPr>
          <p:cNvPr id="86" name="TextBox 85"/>
          <p:cNvSpPr txBox="1"/>
          <p:nvPr/>
        </p:nvSpPr>
        <p:spPr>
          <a:xfrm>
            <a:off x="485775" y="5788489"/>
            <a:ext cx="2914650" cy="186689"/>
          </a:xfrm>
          <a:prstGeom prst="rect">
            <a:avLst/>
          </a:prstGeom>
          <a:noFill/>
        </p:spPr>
        <p:txBody>
          <a:bodyPr wrap="none" lIns="0" rIns="0" tIns="0" bIns="0">
            <a:spAutoFit/>
          </a:bodyPr>
          <a:lstStyle/>
          <a:p>
            <a:r>
              <a:rPr sz="1100" b="0">
                <a:solidFill>
                  <a:srgbClr val="2E2E2E"/>
                </a:solidFill>
                <a:latin typeface="Calibri"/>
              </a:rPr>
              <a:t>partitions (h-dividers, tube/cell inserts) segment in</a:t>
            </a:r>
          </a:p>
        </p:txBody>
      </p:sp>
      <p:sp>
        <p:nvSpPr>
          <p:cNvPr id="87" name="TextBox 86"/>
          <p:cNvSpPr txBox="1"/>
          <p:nvPr/>
        </p:nvSpPr>
        <p:spPr>
          <a:xfrm>
            <a:off x="485775" y="595612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8" name="TextBox 87"/>
          <p:cNvSpPr txBox="1"/>
          <p:nvPr/>
        </p:nvSpPr>
        <p:spPr>
          <a:xfrm>
            <a:off x="3838575" y="4229437"/>
            <a:ext cx="1695574" cy="186689"/>
          </a:xfrm>
          <a:prstGeom prst="rect">
            <a:avLst/>
          </a:prstGeom>
          <a:noFill/>
        </p:spPr>
        <p:txBody>
          <a:bodyPr wrap="none" lIns="0" rIns="0" tIns="0" bIns="0">
            <a:spAutoFit/>
          </a:bodyPr>
          <a:lstStyle/>
          <a:p>
            <a:r>
              <a:rPr sz="1100" b="0">
                <a:solidFill>
                  <a:srgbClr val="2E2E2E"/>
                </a:solidFill>
                <a:latin typeface="Calibri"/>
              </a:rPr>
              <a:t>● Flat Dividers &amp; Layer Pads:</a:t>
            </a:r>
          </a:p>
        </p:txBody>
      </p:sp>
      <p:pic>
        <p:nvPicPr>
          <p:cNvPr id="89" name="Picture 88" descr="lock.png"/>
          <p:cNvPicPr>
            <a:picLocks noChangeAspect="1"/>
          </p:cNvPicPr>
          <p:nvPr/>
        </p:nvPicPr>
        <p:blipFill>
          <a:blip r:embed="rId13"/>
          <a:stretch>
            <a:fillRect/>
          </a:stretch>
        </p:blipFill>
        <p:spPr>
          <a:xfrm>
            <a:off x="5482200" y="4219658"/>
            <a:ext cx="128699" cy="187198"/>
          </a:xfrm>
          <a:prstGeom prst="rect">
            <a:avLst/>
          </a:prstGeom>
        </p:spPr>
      </p:pic>
      <p:sp>
        <p:nvSpPr>
          <p:cNvPr id="90" name="TextBox 89"/>
          <p:cNvSpPr txBox="1"/>
          <p:nvPr/>
        </p:nvSpPr>
        <p:spPr>
          <a:xfrm>
            <a:off x="564969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1" name="Picture 90" descr="lock.png"/>
          <p:cNvPicPr>
            <a:picLocks noChangeAspect="1"/>
          </p:cNvPicPr>
          <p:nvPr/>
        </p:nvPicPr>
        <p:blipFill>
          <a:blip r:embed="rId13"/>
          <a:stretch>
            <a:fillRect/>
          </a:stretch>
        </p:blipFill>
        <p:spPr>
          <a:xfrm>
            <a:off x="6509146" y="4219658"/>
            <a:ext cx="128699" cy="187198"/>
          </a:xfrm>
          <a:prstGeom prst="rect">
            <a:avLst/>
          </a:prstGeom>
        </p:spPr>
      </p:pic>
      <p:sp>
        <p:nvSpPr>
          <p:cNvPr id="92" name="TextBox 91"/>
          <p:cNvSpPr txBox="1"/>
          <p:nvPr/>
        </p:nvSpPr>
        <p:spPr>
          <a:xfrm>
            <a:off x="667664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3" name="TextBox 92"/>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4" name="TextBox 93"/>
          <p:cNvSpPr txBox="1"/>
          <p:nvPr/>
        </p:nvSpPr>
        <p:spPr>
          <a:xfrm>
            <a:off x="3838575" y="4615009"/>
            <a:ext cx="3541934" cy="186689"/>
          </a:xfrm>
          <a:prstGeom prst="rect">
            <a:avLst/>
          </a:prstGeom>
          <a:noFill/>
        </p:spPr>
        <p:txBody>
          <a:bodyPr wrap="none" lIns="0" rIns="0" tIns="0" bIns="0">
            <a:spAutoFit/>
          </a:bodyPr>
          <a:lstStyle/>
          <a:p>
            <a:r>
              <a:rPr sz="1100" b="1">
                <a:solidFill>
                  <a:srgbClr val="0E72AE"/>
                </a:solidFill>
                <a:latin typeface="Calibri"/>
              </a:rPr>
              <a:t>● Die-Cut &amp; Folded Partitions (H-dividers, tube/cell inserts):</a:t>
            </a:r>
          </a:p>
        </p:txBody>
      </p:sp>
      <p:pic>
        <p:nvPicPr>
          <p:cNvPr id="95" name="Picture 94" descr="lock.png"/>
          <p:cNvPicPr>
            <a:picLocks noChangeAspect="1"/>
          </p:cNvPicPr>
          <p:nvPr/>
        </p:nvPicPr>
        <p:blipFill>
          <a:blip r:embed="rId13"/>
          <a:stretch>
            <a:fillRect/>
          </a:stretch>
        </p:blipFill>
        <p:spPr>
          <a:xfrm>
            <a:off x="7328561" y="4605230"/>
            <a:ext cx="128699" cy="187198"/>
          </a:xfrm>
          <a:prstGeom prst="rect">
            <a:avLst/>
          </a:prstGeom>
        </p:spPr>
      </p:pic>
      <p:sp>
        <p:nvSpPr>
          <p:cNvPr id="96" name="TextBox 95"/>
          <p:cNvSpPr txBox="1"/>
          <p:nvPr/>
        </p:nvSpPr>
        <p:spPr>
          <a:xfrm>
            <a:off x="7496057" y="4615009"/>
            <a:ext cx="195436" cy="186689"/>
          </a:xfrm>
          <a:prstGeom prst="rect">
            <a:avLst/>
          </a:prstGeom>
          <a:noFill/>
        </p:spPr>
        <p:txBody>
          <a:bodyPr wrap="none" lIns="0" rIns="0" tIns="0" bIns="0">
            <a:spAutoFit/>
          </a:bodyPr>
          <a:lstStyle/>
          <a:p>
            <a:r>
              <a:rPr sz="1100" b="1">
                <a:solidFill>
                  <a:srgbClr val="0E72AE"/>
                </a:solidFill>
                <a:latin typeface="Calibri"/>
              </a:rPr>
              <a:t>of</a:t>
            </a:r>
          </a:p>
        </p:txBody>
      </p:sp>
      <p:sp>
        <p:nvSpPr>
          <p:cNvPr id="97" name="TextBox 96"/>
          <p:cNvSpPr txBox="1"/>
          <p:nvPr/>
        </p:nvSpPr>
        <p:spPr>
          <a:xfrm>
            <a:off x="3838575" y="4782649"/>
            <a:ext cx="775518" cy="186689"/>
          </a:xfrm>
          <a:prstGeom prst="rect">
            <a:avLst/>
          </a:prstGeom>
          <a:noFill/>
        </p:spPr>
        <p:txBody>
          <a:bodyPr wrap="none" lIns="0" rIns="0" tIns="0" bIns="0">
            <a:spAutoFit/>
          </a:bodyPr>
          <a:lstStyle/>
          <a:p>
            <a:r>
              <a:rPr sz="1100" b="1">
                <a:solidFill>
                  <a:srgbClr val="0E72AE"/>
                </a:solidFill>
                <a:latin typeface="Calibri"/>
              </a:rPr>
              <a:t>2026 value ·</a:t>
            </a:r>
          </a:p>
        </p:txBody>
      </p:sp>
      <p:pic>
        <p:nvPicPr>
          <p:cNvPr id="98" name="Picture 97" descr="lock.png"/>
          <p:cNvPicPr>
            <a:picLocks noChangeAspect="1"/>
          </p:cNvPicPr>
          <p:nvPr/>
        </p:nvPicPr>
        <p:blipFill>
          <a:blip r:embed="rId13"/>
          <a:stretch>
            <a:fillRect/>
          </a:stretch>
        </p:blipFill>
        <p:spPr>
          <a:xfrm>
            <a:off x="4562145" y="4772870"/>
            <a:ext cx="128699" cy="187198"/>
          </a:xfrm>
          <a:prstGeom prst="rect">
            <a:avLst/>
          </a:prstGeom>
        </p:spPr>
      </p:pic>
      <p:sp>
        <p:nvSpPr>
          <p:cNvPr id="99" name="TextBox 98"/>
          <p:cNvSpPr txBox="1"/>
          <p:nvPr/>
        </p:nvSpPr>
        <p:spPr>
          <a:xfrm>
            <a:off x="4729640" y="4782649"/>
            <a:ext cx="1284633" cy="186689"/>
          </a:xfrm>
          <a:prstGeom prst="rect">
            <a:avLst/>
          </a:prstGeom>
          <a:noFill/>
        </p:spPr>
        <p:txBody>
          <a:bodyPr wrap="none" lIns="0" rIns="0" tIns="0" bIns="0">
            <a:spAutoFit/>
          </a:bodyPr>
          <a:lstStyle/>
          <a:p>
            <a:r>
              <a:rPr sz="1100" b="1">
                <a:solidFill>
                  <a:srgbClr val="0E72AE"/>
                </a:solidFill>
                <a:latin typeface="Calibri"/>
              </a:rPr>
              <a:t>CAGR serves a niche.</a:t>
            </a:r>
          </a:p>
        </p:txBody>
      </p:sp>
      <p:sp>
        <p:nvSpPr>
          <p:cNvPr id="100" name="TextBox 99"/>
          <p:cNvSpPr txBox="1"/>
          <p:nvPr/>
        </p:nvSpPr>
        <p:spPr>
          <a:xfrm>
            <a:off x="3838575" y="5000581"/>
            <a:ext cx="2280294" cy="186689"/>
          </a:xfrm>
          <a:prstGeom prst="rect">
            <a:avLst/>
          </a:prstGeom>
          <a:noFill/>
        </p:spPr>
        <p:txBody>
          <a:bodyPr wrap="none" lIns="0" rIns="0" tIns="0" bIns="0">
            <a:spAutoFit/>
          </a:bodyPr>
          <a:lstStyle/>
          <a:p>
            <a:r>
              <a:rPr sz="1100" b="0">
                <a:solidFill>
                  <a:srgbClr val="2E2E2E"/>
                </a:solidFill>
                <a:latin typeface="Calibri"/>
              </a:rPr>
              <a:t>● Slotted (Interlocking Grid) Partitions:</a:t>
            </a:r>
          </a:p>
        </p:txBody>
      </p:sp>
      <p:pic>
        <p:nvPicPr>
          <p:cNvPr id="101" name="Picture 100" descr="lock.png"/>
          <p:cNvPicPr>
            <a:picLocks noChangeAspect="1"/>
          </p:cNvPicPr>
          <p:nvPr/>
        </p:nvPicPr>
        <p:blipFill>
          <a:blip r:embed="rId13"/>
          <a:stretch>
            <a:fillRect/>
          </a:stretch>
        </p:blipFill>
        <p:spPr>
          <a:xfrm>
            <a:off x="6066921" y="4990801"/>
            <a:ext cx="128699" cy="187198"/>
          </a:xfrm>
          <a:prstGeom prst="rect">
            <a:avLst/>
          </a:prstGeom>
        </p:spPr>
      </p:pic>
      <p:sp>
        <p:nvSpPr>
          <p:cNvPr id="102" name="TextBox 101"/>
          <p:cNvSpPr txBox="1"/>
          <p:nvPr/>
        </p:nvSpPr>
        <p:spPr>
          <a:xfrm>
            <a:off x="6234417"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3"/>
          <a:stretch>
            <a:fillRect/>
          </a:stretch>
        </p:blipFill>
        <p:spPr>
          <a:xfrm>
            <a:off x="7093867" y="4990801"/>
            <a:ext cx="128699" cy="187198"/>
          </a:xfrm>
          <a:prstGeom prst="rect">
            <a:avLst/>
          </a:prstGeom>
        </p:spPr>
      </p:pic>
      <p:sp>
        <p:nvSpPr>
          <p:cNvPr id="104" name="TextBox 103"/>
          <p:cNvSpPr txBox="1"/>
          <p:nvPr/>
        </p:nvSpPr>
        <p:spPr>
          <a:xfrm>
            <a:off x="7261363" y="5000581"/>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05" name="TextBox 104"/>
          <p:cNvSpPr txBox="1"/>
          <p:nvPr/>
        </p:nvSpPr>
        <p:spPr>
          <a:xfrm>
            <a:off x="3838575" y="5168221"/>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06" name="TextBox 105"/>
          <p:cNvSpPr txBox="1"/>
          <p:nvPr/>
        </p:nvSpPr>
        <p:spPr>
          <a:xfrm>
            <a:off x="8524875" y="5842641"/>
            <a:ext cx="3152948" cy="194310"/>
          </a:xfrm>
          <a:prstGeom prst="rect">
            <a:avLst/>
          </a:prstGeom>
          <a:noFill/>
        </p:spPr>
        <p:txBody>
          <a:bodyPr wrap="none" lIns="0" rIns="0" tIns="0" bIns="0">
            <a:spAutoFit/>
          </a:bodyPr>
          <a:lstStyle/>
          <a:p>
            <a:r>
              <a:rPr sz="1150" b="1">
                <a:solidFill>
                  <a:srgbClr val="0B2E4A"/>
                </a:solidFill>
                <a:latin typeface="Calibri"/>
              </a:rPr>
              <a:t>The Partition Type segment is projected to grow at</a:t>
            </a:r>
          </a:p>
        </p:txBody>
      </p:sp>
      <p:sp>
        <p:nvSpPr>
          <p:cNvPr id="107" name="TextBox 106"/>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08" name="Picture 107" descr="lock.png"/>
          <p:cNvPicPr>
            <a:picLocks noChangeAspect="1"/>
          </p:cNvPicPr>
          <p:nvPr/>
        </p:nvPicPr>
        <p:blipFill>
          <a:blip r:embed="rId13"/>
          <a:stretch>
            <a:fillRect/>
          </a:stretch>
        </p:blipFill>
        <p:spPr>
          <a:xfrm>
            <a:off x="9154084" y="6007677"/>
            <a:ext cx="134549" cy="195707"/>
          </a:xfrm>
          <a:prstGeom prst="rect">
            <a:avLst/>
          </a:prstGeom>
        </p:spPr>
      </p:pic>
      <p:sp>
        <p:nvSpPr>
          <p:cNvPr id="109" name="TextBox 108"/>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Partition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Partition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Partition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Partition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68844" cy="186689"/>
          </a:xfrm>
          <a:prstGeom prst="rect">
            <a:avLst/>
          </a:prstGeom>
          <a:noFill/>
        </p:spPr>
        <p:txBody>
          <a:bodyPr wrap="none" lIns="0" rIns="0" tIns="0" bIns="0">
            <a:spAutoFit/>
          </a:bodyPr>
          <a:lstStyle/>
          <a:p>
            <a:r>
              <a:rPr sz="1100" b="0">
                <a:solidFill>
                  <a:srgbClr val="2E2E2E"/>
                </a:solidFill>
                <a:latin typeface="Calibri"/>
              </a:rPr>
              <a:t>Flat dividers &amp; layer pads followed by die-cut &amp; folded partitions (h-dividers, tube/cell inserts) are expected to be the two most attractive partition type segments in the North America corrugated partition</a:t>
            </a:r>
          </a:p>
        </p:txBody>
      </p:sp>
      <p:sp>
        <p:nvSpPr>
          <p:cNvPr id="21" name="TextBox 20"/>
          <p:cNvSpPr txBox="1"/>
          <p:nvPr/>
        </p:nvSpPr>
        <p:spPr>
          <a:xfrm>
            <a:off x="257175" y="5861685"/>
            <a:ext cx="9214800" cy="186689"/>
          </a:xfrm>
          <a:prstGeom prst="rect">
            <a:avLst/>
          </a:prstGeom>
          <a:noFill/>
        </p:spPr>
        <p:txBody>
          <a:bodyPr wrap="none" lIns="0" rIns="0" tIns="0" bIns="0">
            <a:spAutoFit/>
          </a:bodyPr>
          <a:lstStyle/>
          <a:p>
            <a:r>
              <a:rPr sz="1100" b="0">
                <a:solidFill>
                  <a:srgbClr val="2E2E2E"/>
                </a:solidFill>
                <a:latin typeface="Calibri"/>
              </a:rPr>
              <a:t>market in terms of value over the forecast period. Flat dividers &amp; layer pads and Die-Cut &amp; folded partitions (H-dividers, tube/cell inserts) exhibit a CAGR index of</a:t>
            </a:r>
          </a:p>
        </p:txBody>
      </p:sp>
      <p:pic>
        <p:nvPicPr>
          <p:cNvPr id="22" name="Picture 21" descr="lock.png"/>
          <p:cNvPicPr>
            <a:picLocks noChangeAspect="1"/>
          </p:cNvPicPr>
          <p:nvPr/>
        </p:nvPicPr>
        <p:blipFill>
          <a:blip r:embed="rId6"/>
          <a:stretch>
            <a:fillRect/>
          </a:stretch>
        </p:blipFill>
        <p:spPr>
          <a:xfrm>
            <a:off x="9420026" y="5851905"/>
            <a:ext cx="128699" cy="187198"/>
          </a:xfrm>
          <a:prstGeom prst="rect">
            <a:avLst/>
          </a:prstGeom>
        </p:spPr>
      </p:pic>
      <p:sp>
        <p:nvSpPr>
          <p:cNvPr id="23" name="TextBox 22"/>
          <p:cNvSpPr txBox="1"/>
          <p:nvPr/>
        </p:nvSpPr>
        <p:spPr>
          <a:xfrm>
            <a:off x="9587522" y="5861685"/>
            <a:ext cx="2079749" cy="186689"/>
          </a:xfrm>
          <a:prstGeom prst="rect">
            <a:avLst/>
          </a:prstGeom>
          <a:noFill/>
        </p:spPr>
        <p:txBody>
          <a:bodyPr wrap="none" lIns="0" rIns="0" tIns="0" bIns="0">
            <a:spAutoFit/>
          </a:bodyPr>
          <a:lstStyle/>
          <a:p>
            <a:r>
              <a:rPr sz="1100" b="0">
                <a:solidFill>
                  <a:srgbClr val="2E2E2E"/>
                </a:solidFill>
                <a:latin typeface="Calibri"/>
              </a:rPr>
              <a:t>and 67 and a market share index of</a:t>
            </a:r>
          </a:p>
        </p:txBody>
      </p:sp>
      <p:pic>
        <p:nvPicPr>
          <p:cNvPr id="24" name="Picture 23" descr="lock.png"/>
          <p:cNvPicPr>
            <a:picLocks noChangeAspect="1"/>
          </p:cNvPicPr>
          <p:nvPr/>
        </p:nvPicPr>
        <p:blipFill>
          <a:blip r:embed="rId6"/>
          <a:stretch>
            <a:fillRect/>
          </a:stretch>
        </p:blipFill>
        <p:spPr>
          <a:xfrm>
            <a:off x="243707" y="6019545"/>
            <a:ext cx="128699" cy="187198"/>
          </a:xfrm>
          <a:prstGeom prst="rect">
            <a:avLst/>
          </a:prstGeom>
        </p:spPr>
      </p:pic>
      <p:sp>
        <p:nvSpPr>
          <p:cNvPr id="25" name="TextBox 24"/>
          <p:cNvSpPr txBox="1"/>
          <p:nvPr/>
        </p:nvSpPr>
        <p:spPr>
          <a:xfrm>
            <a:off x="411203" y="6029325"/>
            <a:ext cx="3025179" cy="186689"/>
          </a:xfrm>
          <a:prstGeom prst="rect">
            <a:avLst/>
          </a:prstGeom>
          <a:noFill/>
        </p:spPr>
        <p:txBody>
          <a:bodyPr wrap="none" lIns="0" rIns="0" tIns="0" bIns="0">
            <a:spAutoFit/>
          </a:bodyPr>
          <a:lstStyle/>
          <a:p>
            <a:r>
              <a:rPr sz="1100" b="0">
                <a:solidFill>
                  <a:srgbClr val="2E2E2E"/>
                </a:solidFill>
                <a:latin typeface="Calibri"/>
              </a:rPr>
              <a:t>and 97 respectively, against the segment average of</a:t>
            </a:r>
          </a:p>
        </p:txBody>
      </p:sp>
      <p:pic>
        <p:nvPicPr>
          <p:cNvPr id="26" name="Picture 25" descr="lock.png"/>
          <p:cNvPicPr>
            <a:picLocks noChangeAspect="1"/>
          </p:cNvPicPr>
          <p:nvPr/>
        </p:nvPicPr>
        <p:blipFill>
          <a:blip r:embed="rId6"/>
          <a:stretch>
            <a:fillRect/>
          </a:stretch>
        </p:blipFill>
        <p:spPr>
          <a:xfrm>
            <a:off x="3384434" y="6019545"/>
            <a:ext cx="128699" cy="187198"/>
          </a:xfrm>
          <a:prstGeom prst="rect">
            <a:avLst/>
          </a:prstGeom>
        </p:spPr>
      </p:pic>
      <p:sp>
        <p:nvSpPr>
          <p:cNvPr id="27" name="TextBox 26"/>
          <p:cNvSpPr txBox="1"/>
          <p:nvPr/>
        </p:nvSpPr>
        <p:spPr>
          <a:xfrm>
            <a:off x="3551930" y="6029325"/>
            <a:ext cx="8021637" cy="186689"/>
          </a:xfrm>
          <a:prstGeom prst="rect">
            <a:avLst/>
          </a:prstGeom>
          <a:noFill/>
        </p:spPr>
        <p:txBody>
          <a:bodyPr wrap="none" lIns="0" rIns="0" tIns="0" bIns="0">
            <a:spAutoFit/>
          </a:bodyPr>
          <a:lstStyle/>
          <a:p>
            <a:r>
              <a:rPr sz="1100" b="0">
                <a:solidFill>
                  <a:srgbClr val="2E2E2E"/>
                </a:solidFill>
                <a:latin typeface="Calibri"/>
              </a:rPr>
              <a:t>. The slotted (interlocking grid) partitions segment is expected to be less attractive as compared to other segments over the forecast period,</a:t>
            </a:r>
          </a:p>
        </p:txBody>
      </p:sp>
      <p:sp>
        <p:nvSpPr>
          <p:cNvPr id="28" name="TextBox 27"/>
          <p:cNvSpPr txBox="1"/>
          <p:nvPr/>
        </p:nvSpPr>
        <p:spPr>
          <a:xfrm>
            <a:off x="257175" y="6196965"/>
            <a:ext cx="7484358" cy="186689"/>
          </a:xfrm>
          <a:prstGeom prst="rect">
            <a:avLst/>
          </a:prstGeom>
          <a:noFill/>
        </p:spPr>
        <p:txBody>
          <a:bodyPr wrap="none" lIns="0" rIns="0" tIns="0" bIns="0">
            <a:spAutoFit/>
          </a:bodyPr>
          <a:lstStyle/>
          <a:p>
            <a:r>
              <a:rPr sz="1100" b="0">
                <a:solidFill>
                  <a:srgbClr val="2E2E2E"/>
                </a:solidFill>
                <a:latin typeface="Calibri"/>
              </a:rPr>
              <a:t>owing to its lower CAGR and incremental opportunity. Bubbles right of the CAGR-Index line grow faster than the segment average.</a:t>
            </a:r>
          </a:p>
        </p:txBody>
      </p:sp>
      <p:sp>
        <p:nvSpPr>
          <p:cNvPr id="29"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Partition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Partition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Slotted (Interlocking Grid) Partitions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Die-Cut &amp; Folded Partitions (H-dividers, tube/cell inserts)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Flat Dividers &amp; Layer Pads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Partition Type</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971705" cy="194310"/>
          </a:xfrm>
          <a:prstGeom prst="rect">
            <a:avLst/>
          </a:prstGeom>
          <a:noFill/>
        </p:spPr>
        <p:txBody>
          <a:bodyPr wrap="none" lIns="0" rIns="0" tIns="0" bIns="0">
            <a:spAutoFit/>
          </a:bodyPr>
          <a:lstStyle/>
          <a:p>
            <a:r>
              <a:rPr sz="1150" b="0">
                <a:solidFill>
                  <a:srgbClr val="2E2E2E"/>
                </a:solidFill>
                <a:latin typeface="Calibri"/>
              </a:rPr>
              <a:t>By 2036, flat dividers &amp; layer pads segment is anticipated to witness an increase of</a:t>
            </a:r>
          </a:p>
        </p:txBody>
      </p:sp>
      <p:pic>
        <p:nvPicPr>
          <p:cNvPr id="29" name="Picture 28" descr="lock.png"/>
          <p:cNvPicPr>
            <a:picLocks noChangeAspect="1"/>
          </p:cNvPicPr>
          <p:nvPr/>
        </p:nvPicPr>
        <p:blipFill>
          <a:blip r:embed="rId7"/>
          <a:stretch>
            <a:fillRect/>
          </a:stretch>
        </p:blipFill>
        <p:spPr>
          <a:xfrm>
            <a:off x="11226409" y="4276026"/>
            <a:ext cx="134549" cy="195707"/>
          </a:xfrm>
          <a:prstGeom prst="rect">
            <a:avLst/>
          </a:prstGeom>
        </p:spPr>
      </p:pic>
      <p:sp>
        <p:nvSpPr>
          <p:cNvPr id="30" name="TextBox 29"/>
          <p:cNvSpPr txBox="1"/>
          <p:nvPr/>
        </p:nvSpPr>
        <p:spPr>
          <a:xfrm>
            <a:off x="11401518" y="4286250"/>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31" name="TextBox 30"/>
          <p:cNvSpPr txBox="1"/>
          <p:nvPr/>
        </p:nvSpPr>
        <p:spPr>
          <a:xfrm>
            <a:off x="6305550" y="4461510"/>
            <a:ext cx="5417294" cy="194310"/>
          </a:xfrm>
          <a:prstGeom prst="rect">
            <a:avLst/>
          </a:prstGeom>
          <a:noFill/>
        </p:spPr>
        <p:txBody>
          <a:bodyPr wrap="none" lIns="0" rIns="0" tIns="0" bIns="0">
            <a:spAutoFit/>
          </a:bodyPr>
          <a:lstStyle/>
          <a:p>
            <a:r>
              <a:rPr sz="1150" b="0">
                <a:solidFill>
                  <a:srgbClr val="2E2E2E"/>
                </a:solidFill>
                <a:latin typeface="Calibri"/>
              </a:rPr>
              <a:t>terms of value as compared to 2026. The flat dividers &amp; layer pads segment is expected to</a:t>
            </a:r>
          </a:p>
        </p:txBody>
      </p:sp>
      <p:sp>
        <p:nvSpPr>
          <p:cNvPr id="32" name="TextBox 31"/>
          <p:cNvSpPr txBox="1"/>
          <p:nvPr/>
        </p:nvSpPr>
        <p:spPr>
          <a:xfrm>
            <a:off x="6305550" y="4636770"/>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33" name="Picture 32" descr="lock.png"/>
          <p:cNvPicPr>
            <a:picLocks noChangeAspect="1"/>
          </p:cNvPicPr>
          <p:nvPr/>
        </p:nvPicPr>
        <p:blipFill>
          <a:blip r:embed="rId7"/>
          <a:stretch>
            <a:fillRect/>
          </a:stretch>
        </p:blipFill>
        <p:spPr>
          <a:xfrm>
            <a:off x="8801773" y="4626546"/>
            <a:ext cx="134549" cy="195707"/>
          </a:xfrm>
          <a:prstGeom prst="rect">
            <a:avLst/>
          </a:prstGeom>
        </p:spPr>
      </p:pic>
      <p:sp>
        <p:nvSpPr>
          <p:cNvPr id="34" name="TextBox 33"/>
          <p:cNvSpPr txBox="1"/>
          <p:nvPr/>
        </p:nvSpPr>
        <p:spPr>
          <a:xfrm>
            <a:off x="8976882" y="4636770"/>
            <a:ext cx="2849153"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a:t>
            </a:r>
          </a:p>
        </p:txBody>
      </p:sp>
      <p:sp>
        <p:nvSpPr>
          <p:cNvPr id="35" name="TextBox 34"/>
          <p:cNvSpPr txBox="1"/>
          <p:nvPr/>
        </p:nvSpPr>
        <p:spPr>
          <a:xfrm>
            <a:off x="6305550" y="4812029"/>
            <a:ext cx="1220923" cy="194310"/>
          </a:xfrm>
          <a:prstGeom prst="rect">
            <a:avLst/>
          </a:prstGeom>
          <a:noFill/>
        </p:spPr>
        <p:txBody>
          <a:bodyPr wrap="none" lIns="0" rIns="0" tIns="0" bIns="0">
            <a:spAutoFit/>
          </a:bodyPr>
          <a:lstStyle/>
          <a:p>
            <a:r>
              <a:rPr sz="1150" b="0">
                <a:solidFill>
                  <a:srgbClr val="2E2E2E"/>
                </a:solidFill>
                <a:latin typeface="Calibri"/>
              </a:rPr>
              <a:t>from 2026 to 2036.</a:t>
            </a:r>
          </a:p>
        </p:txBody>
      </p:sp>
      <p:sp>
        <p:nvSpPr>
          <p:cNvPr id="36" name="TextBox 35"/>
          <p:cNvSpPr txBox="1"/>
          <p:nvPr/>
        </p:nvSpPr>
        <p:spPr>
          <a:xfrm>
            <a:off x="6305550" y="5039867"/>
            <a:ext cx="5506863" cy="194310"/>
          </a:xfrm>
          <a:prstGeom prst="rect">
            <a:avLst/>
          </a:prstGeom>
          <a:noFill/>
        </p:spPr>
        <p:txBody>
          <a:bodyPr wrap="none" lIns="0" rIns="0" tIns="0" bIns="0">
            <a:spAutoFit/>
          </a:bodyPr>
          <a:lstStyle/>
          <a:p>
            <a:r>
              <a:rPr sz="1150" b="0">
                <a:solidFill>
                  <a:srgbClr val="2E2E2E"/>
                </a:solidFill>
                <a:latin typeface="Calibri"/>
              </a:rPr>
              <a:t>The Die-Cut &amp; folded partitions (H-dividers, tube/cell inserts) segment is expected to create</a:t>
            </a:r>
          </a:p>
        </p:txBody>
      </p:sp>
      <p:sp>
        <p:nvSpPr>
          <p:cNvPr id="37" name="TextBox 36"/>
          <p:cNvSpPr txBox="1"/>
          <p:nvPr/>
        </p:nvSpPr>
        <p:spPr>
          <a:xfrm>
            <a:off x="6305550" y="5215127"/>
            <a:ext cx="2136588" cy="194310"/>
          </a:xfrm>
          <a:prstGeom prst="rect">
            <a:avLst/>
          </a:prstGeom>
          <a:noFill/>
        </p:spPr>
        <p:txBody>
          <a:bodyPr wrap="none" lIns="0" rIns="0" tIns="0" bIns="0">
            <a:spAutoFit/>
          </a:bodyPr>
          <a:lstStyle/>
          <a:p>
            <a:r>
              <a:rPr sz="1150" b="0">
                <a:solidFill>
                  <a:srgbClr val="2E2E2E"/>
                </a:solidFill>
                <a:latin typeface="Calibri"/>
              </a:rPr>
              <a:t>an incremental opportunity of US$</a:t>
            </a:r>
          </a:p>
        </p:txBody>
      </p:sp>
      <p:pic>
        <p:nvPicPr>
          <p:cNvPr id="38" name="Picture 37" descr="lock.png"/>
          <p:cNvPicPr>
            <a:picLocks noChangeAspect="1"/>
          </p:cNvPicPr>
          <p:nvPr/>
        </p:nvPicPr>
        <p:blipFill>
          <a:blip r:embed="rId7"/>
          <a:stretch>
            <a:fillRect/>
          </a:stretch>
        </p:blipFill>
        <p:spPr>
          <a:xfrm>
            <a:off x="8391292" y="5204904"/>
            <a:ext cx="134549" cy="195707"/>
          </a:xfrm>
          <a:prstGeom prst="rect">
            <a:avLst/>
          </a:prstGeom>
        </p:spPr>
      </p:pic>
      <p:sp>
        <p:nvSpPr>
          <p:cNvPr id="39" name="TextBox 38"/>
          <p:cNvSpPr txBox="1"/>
          <p:nvPr/>
        </p:nvSpPr>
        <p:spPr>
          <a:xfrm>
            <a:off x="8566402" y="5215127"/>
            <a:ext cx="3171490"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a:t>
            </a:r>
          </a:p>
        </p:txBody>
      </p:sp>
      <p:sp>
        <p:nvSpPr>
          <p:cNvPr id="40" name="TextBox 39"/>
          <p:cNvSpPr txBox="1"/>
          <p:nvPr/>
        </p:nvSpPr>
        <p:spPr>
          <a:xfrm>
            <a:off x="6305550" y="5390387"/>
            <a:ext cx="5296346" cy="194310"/>
          </a:xfrm>
          <a:prstGeom prst="rect">
            <a:avLst/>
          </a:prstGeom>
          <a:noFill/>
        </p:spPr>
        <p:txBody>
          <a:bodyPr wrap="none" lIns="0" rIns="0" tIns="0" bIns="0">
            <a:spAutoFit/>
          </a:bodyPr>
          <a:lstStyle/>
          <a:p>
            <a:r>
              <a:rPr sz="1150" b="0">
                <a:solidFill>
                  <a:srgbClr val="2E2E2E"/>
                </a:solidFill>
                <a:latin typeface="Calibri"/>
              </a:rPr>
              <a:t>2026 to 2036. The slotted (Interlocking grid) partitions segment is expected to create an</a:t>
            </a:r>
          </a:p>
        </p:txBody>
      </p:sp>
      <p:sp>
        <p:nvSpPr>
          <p:cNvPr id="41" name="TextBox 40"/>
          <p:cNvSpPr txBox="1"/>
          <p:nvPr/>
        </p:nvSpPr>
        <p:spPr>
          <a:xfrm>
            <a:off x="6305550" y="5565647"/>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42" name="Picture 41" descr="lock.png"/>
          <p:cNvPicPr>
            <a:picLocks noChangeAspect="1"/>
          </p:cNvPicPr>
          <p:nvPr/>
        </p:nvPicPr>
        <p:blipFill>
          <a:blip r:embed="rId7"/>
          <a:stretch>
            <a:fillRect/>
          </a:stretch>
        </p:blipFill>
        <p:spPr>
          <a:xfrm>
            <a:off x="8211582" y="5555424"/>
            <a:ext cx="134549" cy="195707"/>
          </a:xfrm>
          <a:prstGeom prst="rect">
            <a:avLst/>
          </a:prstGeom>
        </p:spPr>
      </p:pic>
      <p:sp>
        <p:nvSpPr>
          <p:cNvPr id="43" name="TextBox 42"/>
          <p:cNvSpPr txBox="1"/>
          <p:nvPr/>
        </p:nvSpPr>
        <p:spPr>
          <a:xfrm>
            <a:off x="8386692" y="5565647"/>
            <a:ext cx="3501243"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a:t>
            </a:r>
          </a:p>
        </p:txBody>
      </p:sp>
      <p:sp>
        <p:nvSpPr>
          <p:cNvPr id="44" name="TextBox 43"/>
          <p:cNvSpPr txBox="1"/>
          <p:nvPr/>
        </p:nvSpPr>
        <p:spPr>
          <a:xfrm>
            <a:off x="6305550" y="5740907"/>
            <a:ext cx="568833" cy="194310"/>
          </a:xfrm>
          <a:prstGeom prst="rect">
            <a:avLst/>
          </a:prstGeom>
          <a:noFill/>
        </p:spPr>
        <p:txBody>
          <a:bodyPr wrap="none" lIns="0" rIns="0" tIns="0" bIns="0">
            <a:spAutoFit/>
          </a:bodyPr>
          <a:lstStyle/>
          <a:p>
            <a:r>
              <a:rPr sz="1150" b="0">
                <a:solidFill>
                  <a:srgbClr val="2E2E2E"/>
                </a:solidFill>
                <a:latin typeface="Calibri"/>
              </a:rPr>
              <a:t>to 2036.</a:t>
            </a:r>
          </a:p>
        </p:txBody>
      </p:sp>
      <p:sp>
        <p:nvSpPr>
          <p:cNvPr id="45"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Partition Type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Partition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048000"/>
          </a:xfrm>
          <a:prstGeom prst="roundRect">
            <a:avLst>
              <a:gd name="adj" fmla="val 25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Partition Type (MT)</a:t>
            </a:r>
          </a:p>
        </p:txBody>
      </p:sp>
      <p:graphicFrame>
        <p:nvGraphicFramePr>
          <p:cNvPr id="13" name="Table 12"/>
          <p:cNvGraphicFramePr>
            <a:graphicFrameLocks noGrp="1"/>
          </p:cNvGraphicFramePr>
          <p:nvPr/>
        </p:nvGraphicFramePr>
        <p:xfrm>
          <a:off x="152400" y="1238250"/>
          <a:ext cx="11887208" cy="2581276"/>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Partition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728377">
                <a:tc>
                  <a:txBody>
                    <a:bodyPr wrap="none"/>
                    <a:lstStyle/>
                    <a:p>
                      <a:pPr algn="l"/>
                      <a:r>
                        <a:rPr sz="1100" b="1">
                          <a:solidFill>
                            <a:srgbClr val="2E2E2E"/>
                          </a:solidFill>
                          <a:latin typeface="Calibri"/>
                        </a:rPr>
                        <a:t>Slotted</a:t>
                      </a:r>
                      <a:endParaRPr sz="1100"/>
                    </a:p>
                    <a:p>
                      <a:pPr algn="l"/>
                      <a:r>
                        <a:rPr sz="1100" b="1">
                          <a:solidFill>
                            <a:srgbClr val="2E2E2E"/>
                          </a:solidFill>
                          <a:latin typeface="Calibri"/>
                        </a:rPr>
                        <a:t>(Interlocking Grid)</a:t>
                      </a:r>
                      <a:endParaRPr sz="1100"/>
                    </a:p>
                    <a:p>
                      <a:pPr algn="l"/>
                      <a:r>
                        <a:rPr sz="1100" b="1">
                          <a:solidFill>
                            <a:srgbClr val="2E2E2E"/>
                          </a:solidFill>
                          <a:latin typeface="Calibri"/>
                        </a:rPr>
                        <a:t>Partitions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535591">
                <a:tc>
                  <a:txBody>
                    <a:bodyPr wrap="none"/>
                    <a:lstStyle/>
                    <a:p>
                      <a:pPr algn="l"/>
                      <a:r>
                        <a:rPr sz="1100" b="1">
                          <a:solidFill>
                            <a:srgbClr val="2E2E2E"/>
                          </a:solidFill>
                          <a:latin typeface="Calibri"/>
                        </a:rPr>
                        <a:t>Die-Cut &amp; Folded</a:t>
                      </a:r>
                      <a:endParaRPr sz="1100"/>
                    </a:p>
                    <a:p>
                      <a:pPr algn="l"/>
                      <a:r>
                        <a:rPr sz="1100" b="1">
                          <a:solidFill>
                            <a:srgbClr val="2E2E2E"/>
                          </a:solidFill>
                          <a:latin typeface="Calibri"/>
                        </a:rPr>
                        <a:t>Partitions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535591">
                <a:tc>
                  <a:txBody>
                    <a:bodyPr wrap="none"/>
                    <a:lstStyle/>
                    <a:p>
                      <a:pPr algn="l"/>
                      <a:r>
                        <a:rPr sz="1100" b="1">
                          <a:solidFill>
                            <a:srgbClr val="2E2E2E"/>
                          </a:solidFill>
                          <a:latin typeface="Calibri"/>
                        </a:rPr>
                        <a:t>Flat Dividers &amp;</a:t>
                      </a:r>
                      <a:endParaRPr sz="1100"/>
                    </a:p>
                    <a:p>
                      <a:pPr algn="l"/>
                      <a:r>
                        <a:rPr sz="1100" b="1">
                          <a:solidFill>
                            <a:srgbClr val="2E2E2E"/>
                          </a:solidFill>
                          <a:latin typeface="Calibri"/>
                        </a:rPr>
                        <a:t>Layer Pads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34280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62425"/>
            <a:ext cx="11906250" cy="2466975"/>
          </a:xfrm>
          <a:prstGeom prst="roundRect">
            <a:avLst>
              <a:gd name="adj" fmla="val 308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481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Partition Type</a:t>
            </a:r>
          </a:p>
        </p:txBody>
      </p:sp>
      <p:sp>
        <p:nvSpPr>
          <p:cNvPr id="17" name="Rectangle 16"/>
          <p:cNvSpPr/>
          <p:nvPr/>
        </p:nvSpPr>
        <p:spPr>
          <a:xfrm>
            <a:off x="276225" y="44862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72000"/>
            <a:ext cx="11639550" cy="19812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81644"/>
            <a:ext cx="366712" cy="533400"/>
          </a:xfrm>
          <a:prstGeom prst="rect">
            <a:avLst/>
          </a:prstGeom>
        </p:spPr>
      </p:pic>
      <p:sp>
        <p:nvSpPr>
          <p:cNvPr id="21" name="TextBox 20"/>
          <p:cNvSpPr txBox="1"/>
          <p:nvPr/>
        </p:nvSpPr>
        <p:spPr>
          <a:xfrm>
            <a:off x="276225" y="4581525"/>
            <a:ext cx="3494397" cy="194310"/>
          </a:xfrm>
          <a:prstGeom prst="rect">
            <a:avLst/>
          </a:prstGeom>
          <a:noFill/>
        </p:spPr>
        <p:txBody>
          <a:bodyPr wrap="none" lIns="0" rIns="0" tIns="0" bIns="0">
            <a:spAutoFit/>
          </a:bodyPr>
          <a:lstStyle/>
          <a:p>
            <a:r>
              <a:rPr sz="1150" b="0">
                <a:solidFill>
                  <a:srgbClr val="2E2E2E"/>
                </a:solidFill>
                <a:latin typeface="Calibri"/>
              </a:rPr>
              <a:t>Flat dividers &amp; layer pads segment is projected to register</a:t>
            </a:r>
          </a:p>
        </p:txBody>
      </p:sp>
      <p:pic>
        <p:nvPicPr>
          <p:cNvPr id="22" name="Picture 21" descr="lock.png"/>
          <p:cNvPicPr>
            <a:picLocks noChangeAspect="1"/>
          </p:cNvPicPr>
          <p:nvPr/>
        </p:nvPicPr>
        <p:blipFill>
          <a:blip r:embed="rId4"/>
          <a:stretch>
            <a:fillRect/>
          </a:stretch>
        </p:blipFill>
        <p:spPr>
          <a:xfrm>
            <a:off x="3719776" y="4571301"/>
            <a:ext cx="134549" cy="195707"/>
          </a:xfrm>
          <a:prstGeom prst="rect">
            <a:avLst/>
          </a:prstGeom>
        </p:spPr>
      </p:pic>
      <p:sp>
        <p:nvSpPr>
          <p:cNvPr id="23" name="TextBox 22"/>
          <p:cNvSpPr txBox="1"/>
          <p:nvPr/>
        </p:nvSpPr>
        <p:spPr>
          <a:xfrm>
            <a:off x="3894885" y="4581525"/>
            <a:ext cx="7620880" cy="194310"/>
          </a:xfrm>
          <a:prstGeom prst="rect">
            <a:avLst/>
          </a:prstGeom>
          <a:noFill/>
        </p:spPr>
        <p:txBody>
          <a:bodyPr wrap="none" lIns="0" rIns="0" tIns="0" bIns="0">
            <a:spAutoFit/>
          </a:bodyPr>
          <a:lstStyle/>
          <a:p>
            <a:r>
              <a:rPr sz="1150" b="0">
                <a:solidFill>
                  <a:srgbClr val="2E2E2E"/>
                </a:solidFill>
                <a:latin typeface="Calibri"/>
              </a:rPr>
              <a:t>X higher volume than die-cut &amp; folded partitions (h-dividers, tube/cell inserts) segment in 2036. Among corrugated partition by</a:t>
            </a:r>
          </a:p>
        </p:txBody>
      </p:sp>
      <p:sp>
        <p:nvSpPr>
          <p:cNvPr id="24" name="TextBox 23"/>
          <p:cNvSpPr txBox="1"/>
          <p:nvPr/>
        </p:nvSpPr>
        <p:spPr>
          <a:xfrm>
            <a:off x="276225" y="4756785"/>
            <a:ext cx="5544499" cy="194310"/>
          </a:xfrm>
          <a:prstGeom prst="rect">
            <a:avLst/>
          </a:prstGeom>
          <a:noFill/>
        </p:spPr>
        <p:txBody>
          <a:bodyPr wrap="none" lIns="0" rIns="0" tIns="0" bIns="0">
            <a:spAutoFit/>
          </a:bodyPr>
          <a:lstStyle/>
          <a:p>
            <a:r>
              <a:rPr sz="1150" b="0">
                <a:solidFill>
                  <a:srgbClr val="2E2E2E"/>
                </a:solidFill>
                <a:latin typeface="Calibri"/>
              </a:rPr>
              <a:t>partition type, flat dividers &amp; layer pads segment is expected to witness the highest CAGR of</a:t>
            </a:r>
          </a:p>
        </p:txBody>
      </p:sp>
      <p:pic>
        <p:nvPicPr>
          <p:cNvPr id="25" name="Picture 24" descr="lock.png"/>
          <p:cNvPicPr>
            <a:picLocks noChangeAspect="1"/>
          </p:cNvPicPr>
          <p:nvPr/>
        </p:nvPicPr>
        <p:blipFill>
          <a:blip r:embed="rId4"/>
          <a:stretch>
            <a:fillRect/>
          </a:stretch>
        </p:blipFill>
        <p:spPr>
          <a:xfrm>
            <a:off x="5769878" y="4746561"/>
            <a:ext cx="134549" cy="195707"/>
          </a:xfrm>
          <a:prstGeom prst="rect">
            <a:avLst/>
          </a:prstGeom>
        </p:spPr>
      </p:pic>
      <p:sp>
        <p:nvSpPr>
          <p:cNvPr id="26" name="TextBox 25"/>
          <p:cNvSpPr txBox="1"/>
          <p:nvPr/>
        </p:nvSpPr>
        <p:spPr>
          <a:xfrm>
            <a:off x="5944987" y="47567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984622"/>
            <a:ext cx="7558695" cy="194310"/>
          </a:xfrm>
          <a:prstGeom prst="rect">
            <a:avLst/>
          </a:prstGeom>
          <a:noFill/>
        </p:spPr>
        <p:txBody>
          <a:bodyPr wrap="none" lIns="0" rIns="0" tIns="0" bIns="0">
            <a:spAutoFit/>
          </a:bodyPr>
          <a:lstStyle/>
          <a:p>
            <a:r>
              <a:rPr sz="1150" b="0">
                <a:solidFill>
                  <a:srgbClr val="2E2E2E"/>
                </a:solidFill>
                <a:latin typeface="Calibri"/>
              </a:rPr>
              <a:t>In terms of volume share by partition type, the flat dividers &amp; layer pads segment is expected to dominate the market, gaining</a:t>
            </a:r>
          </a:p>
        </p:txBody>
      </p:sp>
      <p:pic>
        <p:nvPicPr>
          <p:cNvPr id="28" name="Picture 27" descr="lock.png"/>
          <p:cNvPicPr>
            <a:picLocks noChangeAspect="1"/>
          </p:cNvPicPr>
          <p:nvPr/>
        </p:nvPicPr>
        <p:blipFill>
          <a:blip r:embed="rId4"/>
          <a:stretch>
            <a:fillRect/>
          </a:stretch>
        </p:blipFill>
        <p:spPr>
          <a:xfrm>
            <a:off x="7784074" y="4974399"/>
            <a:ext cx="134549" cy="195707"/>
          </a:xfrm>
          <a:prstGeom prst="rect">
            <a:avLst/>
          </a:prstGeom>
        </p:spPr>
      </p:pic>
      <p:sp>
        <p:nvSpPr>
          <p:cNvPr id="29" name="TextBox 28"/>
          <p:cNvSpPr txBox="1"/>
          <p:nvPr/>
        </p:nvSpPr>
        <p:spPr>
          <a:xfrm>
            <a:off x="7959183" y="49846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354326" y="4974399"/>
            <a:ext cx="134549" cy="195707"/>
          </a:xfrm>
          <a:prstGeom prst="rect">
            <a:avLst/>
          </a:prstGeom>
        </p:spPr>
      </p:pic>
      <p:sp>
        <p:nvSpPr>
          <p:cNvPr id="31" name="TextBox 30"/>
          <p:cNvSpPr txBox="1"/>
          <p:nvPr/>
        </p:nvSpPr>
        <p:spPr>
          <a:xfrm>
            <a:off x="9529435" y="4984622"/>
            <a:ext cx="2195921" cy="194310"/>
          </a:xfrm>
          <a:prstGeom prst="rect">
            <a:avLst/>
          </a:prstGeom>
          <a:noFill/>
        </p:spPr>
        <p:txBody>
          <a:bodyPr wrap="none" lIns="0" rIns="0" tIns="0" bIns="0">
            <a:spAutoFit/>
          </a:bodyPr>
          <a:lstStyle/>
          <a:p>
            <a:r>
              <a:rPr sz="1150" b="0">
                <a:solidFill>
                  <a:srgbClr val="2E2E2E"/>
                </a:solidFill>
                <a:latin typeface="Calibri"/>
              </a:rPr>
              <a:t>share by 2036. The die-cut &amp; folded</a:t>
            </a:r>
          </a:p>
        </p:txBody>
      </p:sp>
      <p:sp>
        <p:nvSpPr>
          <p:cNvPr id="32" name="TextBox 31"/>
          <p:cNvSpPr txBox="1"/>
          <p:nvPr/>
        </p:nvSpPr>
        <p:spPr>
          <a:xfrm>
            <a:off x="276225" y="5159882"/>
            <a:ext cx="4076886" cy="194310"/>
          </a:xfrm>
          <a:prstGeom prst="rect">
            <a:avLst/>
          </a:prstGeom>
          <a:noFill/>
        </p:spPr>
        <p:txBody>
          <a:bodyPr wrap="none" lIns="0" rIns="0" tIns="0" bIns="0">
            <a:spAutoFit/>
          </a:bodyPr>
          <a:lstStyle/>
          <a:p>
            <a:r>
              <a:rPr sz="1150" b="0">
                <a:solidFill>
                  <a:srgbClr val="2E2E2E"/>
                </a:solidFill>
                <a:latin typeface="Calibri"/>
              </a:rPr>
              <a:t>partitions (h-dividers, tube/cell inserts) segment is expected to lose</a:t>
            </a:r>
          </a:p>
        </p:txBody>
      </p:sp>
      <p:pic>
        <p:nvPicPr>
          <p:cNvPr id="33" name="Picture 32" descr="lock.png"/>
          <p:cNvPicPr>
            <a:picLocks noChangeAspect="1"/>
          </p:cNvPicPr>
          <p:nvPr/>
        </p:nvPicPr>
        <p:blipFill>
          <a:blip r:embed="rId4"/>
          <a:stretch>
            <a:fillRect/>
          </a:stretch>
        </p:blipFill>
        <p:spPr>
          <a:xfrm>
            <a:off x="4302264" y="5149659"/>
            <a:ext cx="134549" cy="195707"/>
          </a:xfrm>
          <a:prstGeom prst="rect">
            <a:avLst/>
          </a:prstGeom>
        </p:spPr>
      </p:pic>
      <p:sp>
        <p:nvSpPr>
          <p:cNvPr id="34" name="TextBox 33"/>
          <p:cNvSpPr txBox="1"/>
          <p:nvPr/>
        </p:nvSpPr>
        <p:spPr>
          <a:xfrm>
            <a:off x="4477374" y="51598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7064878" y="5149659"/>
            <a:ext cx="134549" cy="195707"/>
          </a:xfrm>
          <a:prstGeom prst="rect">
            <a:avLst/>
          </a:prstGeom>
        </p:spPr>
      </p:pic>
      <p:sp>
        <p:nvSpPr>
          <p:cNvPr id="36" name="TextBox 35"/>
          <p:cNvSpPr txBox="1"/>
          <p:nvPr/>
        </p:nvSpPr>
        <p:spPr>
          <a:xfrm>
            <a:off x="7239988" y="51598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Partition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Partition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Partition Type (US$ Mn)</a:t>
            </a:r>
          </a:p>
        </p:txBody>
      </p:sp>
      <p:graphicFrame>
        <p:nvGraphicFramePr>
          <p:cNvPr id="13" name="Table 12"/>
          <p:cNvGraphicFramePr>
            <a:graphicFrameLocks noGrp="1"/>
          </p:cNvGraphicFramePr>
          <p:nvPr/>
        </p:nvGraphicFramePr>
        <p:xfrm>
          <a:off x="152400" y="1238250"/>
          <a:ext cx="11887198" cy="1238250"/>
        </p:xfrm>
        <a:graphic>
          <a:graphicData uri="http://schemas.openxmlformats.org/drawingml/2006/table">
            <a:tbl>
              <a:tblPr>
                <a:tableStyleId>{5C22544A-7EE6-4342-B048-85BDC9FD1C3A}</a:tableStyleId>
              </a:tblPr>
              <a:tblGrid>
                <a:gridCol w="2314532"/>
                <a:gridCol w="563098"/>
                <a:gridCol w="563098"/>
                <a:gridCol w="563098"/>
                <a:gridCol w="563098"/>
                <a:gridCol w="563098"/>
                <a:gridCol w="563098"/>
                <a:gridCol w="563098"/>
                <a:gridCol w="563098"/>
                <a:gridCol w="563098"/>
                <a:gridCol w="563098"/>
                <a:gridCol w="563098"/>
                <a:gridCol w="563098"/>
                <a:gridCol w="563098"/>
                <a:gridCol w="563098"/>
                <a:gridCol w="563098"/>
                <a:gridCol w="563098"/>
                <a:gridCol w="563098"/>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Partition Type</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66574" y="1713738"/>
            <a:ext cx="366712" cy="533400"/>
          </a:xfrm>
          <a:prstGeom prst="rect">
            <a:avLst/>
          </a:prstGeom>
        </p:spPr>
      </p:pic>
      <p:sp>
        <p:nvSpPr>
          <p:cNvPr id="21" name="TextBox 20"/>
          <p:cNvSpPr txBox="1"/>
          <p:nvPr/>
        </p:nvSpPr>
        <p:spPr>
          <a:xfrm>
            <a:off x="276225" y="3238500"/>
            <a:ext cx="3494397" cy="194310"/>
          </a:xfrm>
          <a:prstGeom prst="rect">
            <a:avLst/>
          </a:prstGeom>
          <a:noFill/>
        </p:spPr>
        <p:txBody>
          <a:bodyPr wrap="none" lIns="0" rIns="0" tIns="0" bIns="0">
            <a:spAutoFit/>
          </a:bodyPr>
          <a:lstStyle/>
          <a:p>
            <a:r>
              <a:rPr sz="1150" b="0">
                <a:solidFill>
                  <a:srgbClr val="2E2E2E"/>
                </a:solidFill>
                <a:latin typeface="Calibri"/>
              </a:rPr>
              <a:t>Flat dividers &amp; layer pads segment is projected to register</a:t>
            </a:r>
          </a:p>
        </p:txBody>
      </p:sp>
      <p:pic>
        <p:nvPicPr>
          <p:cNvPr id="22" name="Picture 21" descr="lock.png"/>
          <p:cNvPicPr>
            <a:picLocks noChangeAspect="1"/>
          </p:cNvPicPr>
          <p:nvPr/>
        </p:nvPicPr>
        <p:blipFill>
          <a:blip r:embed="rId4"/>
          <a:stretch>
            <a:fillRect/>
          </a:stretch>
        </p:blipFill>
        <p:spPr>
          <a:xfrm>
            <a:off x="3719776" y="3228276"/>
            <a:ext cx="134549" cy="195707"/>
          </a:xfrm>
          <a:prstGeom prst="rect">
            <a:avLst/>
          </a:prstGeom>
        </p:spPr>
      </p:pic>
      <p:sp>
        <p:nvSpPr>
          <p:cNvPr id="23" name="TextBox 22"/>
          <p:cNvSpPr txBox="1"/>
          <p:nvPr/>
        </p:nvSpPr>
        <p:spPr>
          <a:xfrm>
            <a:off x="3894885" y="3238500"/>
            <a:ext cx="7497080" cy="194310"/>
          </a:xfrm>
          <a:prstGeom prst="rect">
            <a:avLst/>
          </a:prstGeom>
          <a:noFill/>
        </p:spPr>
        <p:txBody>
          <a:bodyPr wrap="none" lIns="0" rIns="0" tIns="0" bIns="0">
            <a:spAutoFit/>
          </a:bodyPr>
          <a:lstStyle/>
          <a:p>
            <a:r>
              <a:rPr sz="1150" b="0">
                <a:solidFill>
                  <a:srgbClr val="2E2E2E"/>
                </a:solidFill>
                <a:latin typeface="Calibri"/>
              </a:rPr>
              <a:t>X higher value than die-cut &amp; folded partitions (h-dividers, tube/cell inserts) segment in 2036. Among corrugated partition by</a:t>
            </a:r>
          </a:p>
        </p:txBody>
      </p:sp>
      <p:sp>
        <p:nvSpPr>
          <p:cNvPr id="24" name="TextBox 23"/>
          <p:cNvSpPr txBox="1"/>
          <p:nvPr/>
        </p:nvSpPr>
        <p:spPr>
          <a:xfrm>
            <a:off x="276225" y="3413760"/>
            <a:ext cx="5544499" cy="194310"/>
          </a:xfrm>
          <a:prstGeom prst="rect">
            <a:avLst/>
          </a:prstGeom>
          <a:noFill/>
        </p:spPr>
        <p:txBody>
          <a:bodyPr wrap="none" lIns="0" rIns="0" tIns="0" bIns="0">
            <a:spAutoFit/>
          </a:bodyPr>
          <a:lstStyle/>
          <a:p>
            <a:r>
              <a:rPr sz="1150" b="0">
                <a:solidFill>
                  <a:srgbClr val="2E2E2E"/>
                </a:solidFill>
                <a:latin typeface="Calibri"/>
              </a:rPr>
              <a:t>partition type, flat dividers &amp; layer pads segment is expected to witness the highest CAGR of</a:t>
            </a:r>
          </a:p>
        </p:txBody>
      </p:sp>
      <p:pic>
        <p:nvPicPr>
          <p:cNvPr id="25" name="Picture 24" descr="lock.png"/>
          <p:cNvPicPr>
            <a:picLocks noChangeAspect="1"/>
          </p:cNvPicPr>
          <p:nvPr/>
        </p:nvPicPr>
        <p:blipFill>
          <a:blip r:embed="rId4"/>
          <a:stretch>
            <a:fillRect/>
          </a:stretch>
        </p:blipFill>
        <p:spPr>
          <a:xfrm>
            <a:off x="5769878" y="3403536"/>
            <a:ext cx="134549" cy="195707"/>
          </a:xfrm>
          <a:prstGeom prst="rect">
            <a:avLst/>
          </a:prstGeom>
        </p:spPr>
      </p:pic>
      <p:sp>
        <p:nvSpPr>
          <p:cNvPr id="26" name="TextBox 25"/>
          <p:cNvSpPr txBox="1"/>
          <p:nvPr/>
        </p:nvSpPr>
        <p:spPr>
          <a:xfrm>
            <a:off x="594498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434895" cy="194310"/>
          </a:xfrm>
          <a:prstGeom prst="rect">
            <a:avLst/>
          </a:prstGeom>
          <a:noFill/>
        </p:spPr>
        <p:txBody>
          <a:bodyPr wrap="none" lIns="0" rIns="0" tIns="0" bIns="0">
            <a:spAutoFit/>
          </a:bodyPr>
          <a:lstStyle/>
          <a:p>
            <a:r>
              <a:rPr sz="1150" b="0">
                <a:solidFill>
                  <a:srgbClr val="2E2E2E"/>
                </a:solidFill>
                <a:latin typeface="Calibri"/>
              </a:rPr>
              <a:t>In terms of value share by partition type, the flat dividers &amp; layer pads segment is expected to dominate the market, gaining</a:t>
            </a:r>
          </a:p>
        </p:txBody>
      </p:sp>
      <p:pic>
        <p:nvPicPr>
          <p:cNvPr id="28" name="Picture 27" descr="lock.png"/>
          <p:cNvPicPr>
            <a:picLocks noChangeAspect="1"/>
          </p:cNvPicPr>
          <p:nvPr/>
        </p:nvPicPr>
        <p:blipFill>
          <a:blip r:embed="rId4"/>
          <a:stretch>
            <a:fillRect/>
          </a:stretch>
        </p:blipFill>
        <p:spPr>
          <a:xfrm>
            <a:off x="7660273" y="3631374"/>
            <a:ext cx="134549" cy="195707"/>
          </a:xfrm>
          <a:prstGeom prst="rect">
            <a:avLst/>
          </a:prstGeom>
        </p:spPr>
      </p:pic>
      <p:sp>
        <p:nvSpPr>
          <p:cNvPr id="29" name="TextBox 28"/>
          <p:cNvSpPr txBox="1"/>
          <p:nvPr/>
        </p:nvSpPr>
        <p:spPr>
          <a:xfrm>
            <a:off x="7835383"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230526" y="3631374"/>
            <a:ext cx="134549" cy="195707"/>
          </a:xfrm>
          <a:prstGeom prst="rect">
            <a:avLst/>
          </a:prstGeom>
        </p:spPr>
      </p:pic>
      <p:sp>
        <p:nvSpPr>
          <p:cNvPr id="31" name="TextBox 30"/>
          <p:cNvSpPr txBox="1"/>
          <p:nvPr/>
        </p:nvSpPr>
        <p:spPr>
          <a:xfrm>
            <a:off x="9405635" y="3641597"/>
            <a:ext cx="2195921" cy="194310"/>
          </a:xfrm>
          <a:prstGeom prst="rect">
            <a:avLst/>
          </a:prstGeom>
          <a:noFill/>
        </p:spPr>
        <p:txBody>
          <a:bodyPr wrap="none" lIns="0" rIns="0" tIns="0" bIns="0">
            <a:spAutoFit/>
          </a:bodyPr>
          <a:lstStyle/>
          <a:p>
            <a:r>
              <a:rPr sz="1150" b="0">
                <a:solidFill>
                  <a:srgbClr val="2E2E2E"/>
                </a:solidFill>
                <a:latin typeface="Calibri"/>
              </a:rPr>
              <a:t>share by 2036. The die-cut &amp; folded</a:t>
            </a:r>
          </a:p>
        </p:txBody>
      </p:sp>
      <p:sp>
        <p:nvSpPr>
          <p:cNvPr id="32" name="TextBox 31"/>
          <p:cNvSpPr txBox="1"/>
          <p:nvPr/>
        </p:nvSpPr>
        <p:spPr>
          <a:xfrm>
            <a:off x="276225" y="3816857"/>
            <a:ext cx="4076886" cy="194310"/>
          </a:xfrm>
          <a:prstGeom prst="rect">
            <a:avLst/>
          </a:prstGeom>
          <a:noFill/>
        </p:spPr>
        <p:txBody>
          <a:bodyPr wrap="none" lIns="0" rIns="0" tIns="0" bIns="0">
            <a:spAutoFit/>
          </a:bodyPr>
          <a:lstStyle/>
          <a:p>
            <a:r>
              <a:rPr sz="1150" b="0">
                <a:solidFill>
                  <a:srgbClr val="2E2E2E"/>
                </a:solidFill>
                <a:latin typeface="Calibri"/>
              </a:rPr>
              <a:t>partitions (h-dividers, tube/cell inserts) segment is expected to lose</a:t>
            </a:r>
          </a:p>
        </p:txBody>
      </p:sp>
      <p:pic>
        <p:nvPicPr>
          <p:cNvPr id="33" name="Picture 32" descr="lock.png"/>
          <p:cNvPicPr>
            <a:picLocks noChangeAspect="1"/>
          </p:cNvPicPr>
          <p:nvPr/>
        </p:nvPicPr>
        <p:blipFill>
          <a:blip r:embed="rId4"/>
          <a:stretch>
            <a:fillRect/>
          </a:stretch>
        </p:blipFill>
        <p:spPr>
          <a:xfrm>
            <a:off x="4302264" y="3806634"/>
            <a:ext cx="134549" cy="195707"/>
          </a:xfrm>
          <a:prstGeom prst="rect">
            <a:avLst/>
          </a:prstGeom>
        </p:spPr>
      </p:pic>
      <p:sp>
        <p:nvSpPr>
          <p:cNvPr id="34" name="TextBox 33"/>
          <p:cNvSpPr txBox="1"/>
          <p:nvPr/>
        </p:nvSpPr>
        <p:spPr>
          <a:xfrm>
            <a:off x="4477374" y="38168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7064878" y="3806634"/>
            <a:ext cx="134549" cy="195707"/>
          </a:xfrm>
          <a:prstGeom prst="rect">
            <a:avLst/>
          </a:prstGeom>
        </p:spPr>
      </p:pic>
      <p:sp>
        <p:nvSpPr>
          <p:cNvPr id="36" name="TextBox 35"/>
          <p:cNvSpPr txBox="1"/>
          <p:nvPr/>
        </p:nvSpPr>
        <p:spPr>
          <a:xfrm>
            <a:off x="7239988" y="38168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Partition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Partition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Partition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9614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9138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151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Slotted (Interlocking Grid) Partitions</a:t>
            </a:r>
          </a:p>
        </p:txBody>
      </p:sp>
      <p:sp>
        <p:nvSpPr>
          <p:cNvPr id="19" name="BPS Value 1"/>
          <p:cNvSpPr txBox="1"/>
          <p:nvPr/>
        </p:nvSpPr>
        <p:spPr>
          <a:xfrm>
            <a:off x="6896100" y="197709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692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9645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883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Die-Cut &amp; Folded Partitions</a:t>
            </a:r>
          </a:p>
        </p:txBody>
      </p:sp>
      <p:sp>
        <p:nvSpPr>
          <p:cNvPr id="23" name="BPS Value 2"/>
          <p:cNvSpPr txBox="1"/>
          <p:nvPr/>
        </p:nvSpPr>
        <p:spPr>
          <a:xfrm>
            <a:off x="6896100" y="295022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93057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9258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496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Flat Dividers &amp; Layer Pads</a:t>
            </a:r>
          </a:p>
        </p:txBody>
      </p:sp>
      <p:sp>
        <p:nvSpPr>
          <p:cNvPr id="27" name="BPS Value 3"/>
          <p:cNvSpPr txBox="1"/>
          <p:nvPr/>
        </p:nvSpPr>
        <p:spPr>
          <a:xfrm>
            <a:off x="6896100" y="491152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Partition Type</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88172" cy="194310"/>
          </a:xfrm>
          <a:prstGeom prst="rect">
            <a:avLst/>
          </a:prstGeom>
          <a:noFill/>
        </p:spPr>
        <p:txBody>
          <a:bodyPr wrap="none" lIns="0" rIns="0" tIns="0" bIns="0">
            <a:spAutoFit/>
          </a:bodyPr>
          <a:lstStyle/>
          <a:p>
            <a:r>
              <a:rPr sz="1150" b="0">
                <a:solidFill>
                  <a:srgbClr val="2E2E2E"/>
                </a:solidFill>
                <a:latin typeface="Calibri"/>
              </a:rPr>
              <a:t>Among corrugated partition by partition type, flat dividers &amp; layer</a:t>
            </a:r>
          </a:p>
        </p:txBody>
      </p:sp>
      <p:sp>
        <p:nvSpPr>
          <p:cNvPr id="35" name="TextBox 34"/>
          <p:cNvSpPr txBox="1"/>
          <p:nvPr/>
        </p:nvSpPr>
        <p:spPr>
          <a:xfrm>
            <a:off x="7829550" y="1575435"/>
            <a:ext cx="3470133" cy="194310"/>
          </a:xfrm>
          <a:prstGeom prst="rect">
            <a:avLst/>
          </a:prstGeom>
          <a:noFill/>
        </p:spPr>
        <p:txBody>
          <a:bodyPr wrap="none" lIns="0" rIns="0" tIns="0" bIns="0">
            <a:spAutoFit/>
          </a:bodyPr>
          <a:lstStyle/>
          <a:p>
            <a:r>
              <a:rPr sz="1150" b="0">
                <a:solidFill>
                  <a:srgbClr val="2E2E2E"/>
                </a:solidFill>
                <a:latin typeface="Calibri"/>
              </a:rPr>
              <a:t>pads segment is expected to witness the highest CAGR of</a:t>
            </a:r>
          </a:p>
        </p:txBody>
      </p:sp>
      <p:pic>
        <p:nvPicPr>
          <p:cNvPr id="36" name="Picture 35" descr="lock.png"/>
          <p:cNvPicPr>
            <a:picLocks noChangeAspect="1"/>
          </p:cNvPicPr>
          <p:nvPr/>
        </p:nvPicPr>
        <p:blipFill>
          <a:blip r:embed="rId5"/>
          <a:stretch>
            <a:fillRect/>
          </a:stretch>
        </p:blipFill>
        <p:spPr>
          <a:xfrm>
            <a:off x="11248837" y="1565211"/>
            <a:ext cx="134549" cy="195707"/>
          </a:xfrm>
          <a:prstGeom prst="rect">
            <a:avLst/>
          </a:prstGeom>
        </p:spPr>
      </p:pic>
      <p:sp>
        <p:nvSpPr>
          <p:cNvPr id="37" name="TextBox 36"/>
          <p:cNvSpPr txBox="1"/>
          <p:nvPr/>
        </p:nvSpPr>
        <p:spPr>
          <a:xfrm>
            <a:off x="11423946" y="157543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8" name="TextBox 37"/>
          <p:cNvSpPr txBox="1"/>
          <p:nvPr/>
        </p:nvSpPr>
        <p:spPr>
          <a:xfrm>
            <a:off x="7829550" y="1750695"/>
            <a:ext cx="3934259" cy="194310"/>
          </a:xfrm>
          <a:prstGeom prst="rect">
            <a:avLst/>
          </a:prstGeom>
          <a:noFill/>
        </p:spPr>
        <p:txBody>
          <a:bodyPr wrap="none" lIns="0" rIns="0" tIns="0" bIns="0">
            <a:spAutoFit/>
          </a:bodyPr>
          <a:lstStyle/>
          <a:p>
            <a:r>
              <a:rPr sz="1150" b="0">
                <a:solidFill>
                  <a:srgbClr val="2E2E2E"/>
                </a:solidFill>
                <a:latin typeface="Calibri"/>
              </a:rPr>
              <a:t>the forecast period. In terms of value share by partition type, the</a:t>
            </a:r>
          </a:p>
        </p:txBody>
      </p:sp>
      <p:sp>
        <p:nvSpPr>
          <p:cNvPr id="39" name="TextBox 38"/>
          <p:cNvSpPr txBox="1"/>
          <p:nvPr/>
        </p:nvSpPr>
        <p:spPr>
          <a:xfrm>
            <a:off x="7829550" y="1925955"/>
            <a:ext cx="3792773" cy="194310"/>
          </a:xfrm>
          <a:prstGeom prst="rect">
            <a:avLst/>
          </a:prstGeom>
          <a:noFill/>
        </p:spPr>
        <p:txBody>
          <a:bodyPr wrap="none" lIns="0" rIns="0" tIns="0" bIns="0">
            <a:spAutoFit/>
          </a:bodyPr>
          <a:lstStyle/>
          <a:p>
            <a:r>
              <a:rPr sz="1150" b="0">
                <a:solidFill>
                  <a:srgbClr val="2E2E2E"/>
                </a:solidFill>
                <a:latin typeface="Calibri"/>
              </a:rPr>
              <a:t>flat dividers &amp; layer pads segment is expected to dominate the</a:t>
            </a:r>
          </a:p>
        </p:txBody>
      </p:sp>
      <p:sp>
        <p:nvSpPr>
          <p:cNvPr id="40" name="TextBox 39"/>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41" name="Picture 40" descr="lock.png"/>
          <p:cNvPicPr>
            <a:picLocks noChangeAspect="1"/>
          </p:cNvPicPr>
          <p:nvPr/>
        </p:nvPicPr>
        <p:blipFill>
          <a:blip r:embed="rId5"/>
          <a:stretch>
            <a:fillRect/>
          </a:stretch>
        </p:blipFill>
        <p:spPr>
          <a:xfrm>
            <a:off x="8778556" y="2090991"/>
            <a:ext cx="134549" cy="195707"/>
          </a:xfrm>
          <a:prstGeom prst="rect">
            <a:avLst/>
          </a:prstGeom>
        </p:spPr>
      </p:pic>
      <p:sp>
        <p:nvSpPr>
          <p:cNvPr id="42" name="TextBox 41"/>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10348808" y="2090991"/>
            <a:ext cx="134549" cy="195707"/>
          </a:xfrm>
          <a:prstGeom prst="rect">
            <a:avLst/>
          </a:prstGeom>
        </p:spPr>
      </p:pic>
      <p:sp>
        <p:nvSpPr>
          <p:cNvPr id="44" name="TextBox 43"/>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TextBox 44"/>
          <p:cNvSpPr txBox="1"/>
          <p:nvPr/>
        </p:nvSpPr>
        <p:spPr>
          <a:xfrm>
            <a:off x="7829550" y="2329053"/>
            <a:ext cx="3644155" cy="194310"/>
          </a:xfrm>
          <a:prstGeom prst="rect">
            <a:avLst/>
          </a:prstGeom>
          <a:noFill/>
        </p:spPr>
        <p:txBody>
          <a:bodyPr wrap="none" lIns="0" rIns="0" tIns="0" bIns="0">
            <a:spAutoFit/>
          </a:bodyPr>
          <a:lstStyle/>
          <a:p>
            <a:r>
              <a:rPr sz="1150" b="0">
                <a:solidFill>
                  <a:srgbClr val="2E2E2E"/>
                </a:solidFill>
                <a:latin typeface="Calibri"/>
              </a:rPr>
              <a:t>The die-cut &amp; folded partitions (h-dividers, tube/cell inserts)</a:t>
            </a:r>
          </a:p>
        </p:txBody>
      </p:sp>
      <p:sp>
        <p:nvSpPr>
          <p:cNvPr id="46" name="TextBox 45"/>
          <p:cNvSpPr txBox="1"/>
          <p:nvPr/>
        </p:nvSpPr>
        <p:spPr>
          <a:xfrm>
            <a:off x="7829550" y="2504313"/>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47" name="Picture 46" descr="lock.png"/>
          <p:cNvPicPr>
            <a:picLocks noChangeAspect="1"/>
          </p:cNvPicPr>
          <p:nvPr/>
        </p:nvPicPr>
        <p:blipFill>
          <a:blip r:embed="rId5"/>
          <a:stretch>
            <a:fillRect/>
          </a:stretch>
        </p:blipFill>
        <p:spPr>
          <a:xfrm>
            <a:off x="9504242" y="2494089"/>
            <a:ext cx="134549" cy="195707"/>
          </a:xfrm>
          <a:prstGeom prst="rect">
            <a:avLst/>
          </a:prstGeom>
        </p:spPr>
      </p:pic>
      <p:sp>
        <p:nvSpPr>
          <p:cNvPr id="48" name="TextBox 47"/>
          <p:cNvSpPr txBox="1"/>
          <p:nvPr/>
        </p:nvSpPr>
        <p:spPr>
          <a:xfrm>
            <a:off x="9679351" y="2504313"/>
            <a:ext cx="1926356" cy="194310"/>
          </a:xfrm>
          <a:prstGeom prst="rect">
            <a:avLst/>
          </a:prstGeom>
          <a:noFill/>
        </p:spPr>
        <p:txBody>
          <a:bodyPr wrap="none" lIns="0" rIns="0" tIns="0" bIns="0">
            <a:spAutoFit/>
          </a:bodyPr>
          <a:lstStyle/>
          <a:p>
            <a:r>
              <a:rPr sz="1150" b="0">
                <a:solidFill>
                  <a:srgbClr val="2E2E2E"/>
                </a:solidFill>
                <a:latin typeface="Calibri"/>
              </a:rPr>
              <a:t>BPS over the forecast period to</a:t>
            </a:r>
          </a:p>
        </p:txBody>
      </p:sp>
      <p:sp>
        <p:nvSpPr>
          <p:cNvPr id="49" name="TextBox 48"/>
          <p:cNvSpPr txBox="1"/>
          <p:nvPr/>
        </p:nvSpPr>
        <p:spPr>
          <a:xfrm>
            <a:off x="7829550" y="2679573"/>
            <a:ext cx="755104" cy="194310"/>
          </a:xfrm>
          <a:prstGeom prst="rect">
            <a:avLst/>
          </a:prstGeom>
          <a:noFill/>
        </p:spPr>
        <p:txBody>
          <a:bodyPr wrap="none" lIns="0" rIns="0" tIns="0" bIns="0">
            <a:spAutoFit/>
          </a:bodyPr>
          <a:lstStyle/>
          <a:p>
            <a:r>
              <a:rPr sz="1150" b="0">
                <a:solidFill>
                  <a:srgbClr val="2E2E2E"/>
                </a:solidFill>
                <a:latin typeface="Calibri"/>
              </a:rPr>
              <a:t>account for</a:t>
            </a:r>
          </a:p>
        </p:txBody>
      </p:sp>
      <p:pic>
        <p:nvPicPr>
          <p:cNvPr id="50" name="Picture 49" descr="lock.png"/>
          <p:cNvPicPr>
            <a:picLocks noChangeAspect="1"/>
          </p:cNvPicPr>
          <p:nvPr/>
        </p:nvPicPr>
        <p:blipFill>
          <a:blip r:embed="rId5"/>
          <a:stretch>
            <a:fillRect/>
          </a:stretch>
        </p:blipFill>
        <p:spPr>
          <a:xfrm>
            <a:off x="8533808" y="2669349"/>
            <a:ext cx="134549" cy="195707"/>
          </a:xfrm>
          <a:prstGeom prst="rect">
            <a:avLst/>
          </a:prstGeom>
        </p:spPr>
      </p:pic>
      <p:sp>
        <p:nvSpPr>
          <p:cNvPr id="51" name="TextBox 50"/>
          <p:cNvSpPr txBox="1"/>
          <p:nvPr/>
        </p:nvSpPr>
        <p:spPr>
          <a:xfrm>
            <a:off x="8708917"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Partition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Partition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gridCol w="624799"/>
                <a:gridCol w="624799"/>
                <a:gridCol w="624799"/>
                <a:gridCol w="624799"/>
                <a:gridCol w="624799"/>
                <a:gridCol w="624799"/>
                <a:gridCol w="624799"/>
                <a:gridCol w="624799"/>
                <a:gridCol w="624799"/>
                <a:gridCol w="624799"/>
                <a:gridCol w="624799"/>
                <a:gridCol w="624799"/>
                <a:gridCol w="624799"/>
                <a:gridCol w="624799"/>
                <a:gridCol w="624799"/>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Partition Type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Slotted (Interlocking Grid) Partitions</a:t>
            </a:r>
          </a:p>
        </p:txBody>
      </p:sp>
      <p:sp>
        <p:nvSpPr>
          <p:cNvPr id="33" name="Rectangle 32"/>
          <p:cNvSpPr/>
          <p:nvPr/>
        </p:nvSpPr>
        <p:spPr>
          <a:xfrm>
            <a:off x="185737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Die-Cut &amp; Folded Partitions (H-dividers, tube/cell inserts)</a:t>
            </a:r>
          </a:p>
        </p:txBody>
      </p:sp>
      <p:sp>
        <p:nvSpPr>
          <p:cNvPr id="49" name="Rectangle 48"/>
          <p:cNvSpPr/>
          <p:nvPr/>
        </p:nvSpPr>
        <p:spPr>
          <a:xfrm>
            <a:off x="185737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Flat Dividers &amp; Layer Pads</a:t>
            </a:r>
          </a:p>
        </p:txBody>
      </p:sp>
      <p:sp>
        <p:nvSpPr>
          <p:cNvPr id="65" name="Rectangle 64"/>
          <p:cNvSpPr/>
          <p:nvPr/>
        </p:nvSpPr>
        <p:spPr>
          <a:xfrm>
            <a:off x="1857375" y="5381625"/>
            <a:ext cx="643890" cy="1190625"/>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16692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Partition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Partition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gridCol w="624799"/>
                <a:gridCol w="624799"/>
                <a:gridCol w="624799"/>
                <a:gridCol w="624799"/>
                <a:gridCol w="624799"/>
                <a:gridCol w="624799"/>
                <a:gridCol w="624799"/>
                <a:gridCol w="624799"/>
                <a:gridCol w="624799"/>
                <a:gridCol w="624799"/>
                <a:gridCol w="624799"/>
                <a:gridCol w="624799"/>
                <a:gridCol w="624799"/>
                <a:gridCol w="624799"/>
                <a:gridCol w="624799"/>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Partition Type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Slotted (Interlocking Grid) Partitions</a:t>
            </a:r>
          </a:p>
        </p:txBody>
      </p:sp>
      <p:sp>
        <p:nvSpPr>
          <p:cNvPr id="33" name="Rectangle 32"/>
          <p:cNvSpPr/>
          <p:nvPr/>
        </p:nvSpPr>
        <p:spPr>
          <a:xfrm>
            <a:off x="185737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Die-Cut &amp; Folded Partitions (H-dividers, tube/cell inserts)</a:t>
            </a:r>
          </a:p>
        </p:txBody>
      </p:sp>
      <p:sp>
        <p:nvSpPr>
          <p:cNvPr id="49" name="Rectangle 48"/>
          <p:cNvSpPr/>
          <p:nvPr/>
        </p:nvSpPr>
        <p:spPr>
          <a:xfrm>
            <a:off x="185737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Flat Dividers &amp; Layer Pads</a:t>
            </a:r>
          </a:p>
        </p:txBody>
      </p:sp>
      <p:sp>
        <p:nvSpPr>
          <p:cNvPr id="65" name="Rectangle 64"/>
          <p:cNvSpPr/>
          <p:nvPr/>
        </p:nvSpPr>
        <p:spPr>
          <a:xfrm>
            <a:off x="1857375" y="5381625"/>
            <a:ext cx="643890" cy="1190625"/>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16692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Board Construction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Board Construction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Board Construction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Board Construction,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Board Construction segment categorizes the market by board construction.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Double Wall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Triple Wall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Single Wall</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Board Construction split shows how demand is distributed across board construction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442_9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672_9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3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98_9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18_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4_5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214_2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80_2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2_7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96256" cy="186689"/>
          </a:xfrm>
          <a:prstGeom prst="rect">
            <a:avLst/>
          </a:prstGeom>
          <a:noFill/>
        </p:spPr>
        <p:txBody>
          <a:bodyPr wrap="none" lIns="0" rIns="0" tIns="0" bIns="0">
            <a:spAutoFit/>
          </a:bodyPr>
          <a:lstStyle/>
          <a:p>
            <a:r>
              <a:rPr sz="1100" b="0">
                <a:solidFill>
                  <a:srgbClr val="2E2E2E"/>
                </a:solidFill>
                <a:latin typeface="Calibri"/>
              </a:rPr>
              <a:t>▪ ¶ Among corrugated partition by board</a:t>
            </a:r>
          </a:p>
        </p:txBody>
      </p:sp>
      <p:sp>
        <p:nvSpPr>
          <p:cNvPr id="70" name="TextBox 69"/>
          <p:cNvSpPr txBox="1"/>
          <p:nvPr/>
        </p:nvSpPr>
        <p:spPr>
          <a:xfrm>
            <a:off x="485775" y="4397077"/>
            <a:ext cx="2771700" cy="186689"/>
          </a:xfrm>
          <a:prstGeom prst="rect">
            <a:avLst/>
          </a:prstGeom>
          <a:noFill/>
        </p:spPr>
        <p:txBody>
          <a:bodyPr wrap="none" lIns="0" rIns="0" tIns="0" bIns="0">
            <a:spAutoFit/>
          </a:bodyPr>
          <a:lstStyle/>
          <a:p>
            <a:r>
              <a:rPr sz="1100" b="0">
                <a:solidFill>
                  <a:srgbClr val="2E2E2E"/>
                </a:solidFill>
                <a:latin typeface="Calibri"/>
              </a:rPr>
              <a:t>construction, triple wall segment is expected to</a:t>
            </a:r>
          </a:p>
        </p:txBody>
      </p:sp>
      <p:sp>
        <p:nvSpPr>
          <p:cNvPr id="71" name="TextBox 70"/>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72" name="Picture 71" descr="lock.png"/>
          <p:cNvPicPr>
            <a:picLocks noChangeAspect="1"/>
          </p:cNvPicPr>
          <p:nvPr/>
        </p:nvPicPr>
        <p:blipFill>
          <a:blip r:embed="rId13"/>
          <a:stretch>
            <a:fillRect/>
          </a:stretch>
        </p:blipFill>
        <p:spPr>
          <a:xfrm>
            <a:off x="2108919" y="4554938"/>
            <a:ext cx="128699" cy="187198"/>
          </a:xfrm>
          <a:prstGeom prst="rect">
            <a:avLst/>
          </a:prstGeom>
        </p:spPr>
      </p:pic>
      <p:sp>
        <p:nvSpPr>
          <p:cNvPr id="73" name="TextBox 72"/>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74" name="TextBox 73"/>
          <p:cNvSpPr txBox="1"/>
          <p:nvPr/>
        </p:nvSpPr>
        <p:spPr>
          <a:xfrm>
            <a:off x="485775" y="4732357"/>
            <a:ext cx="2351509" cy="186689"/>
          </a:xfrm>
          <a:prstGeom prst="rect">
            <a:avLst/>
          </a:prstGeom>
          <a:noFill/>
        </p:spPr>
        <p:txBody>
          <a:bodyPr wrap="none" lIns="0" rIns="0" tIns="0" bIns="0">
            <a:spAutoFit/>
          </a:bodyPr>
          <a:lstStyle/>
          <a:p>
            <a:r>
              <a:rPr sz="1100" b="0">
                <a:solidFill>
                  <a:srgbClr val="2E2E2E"/>
                </a:solidFill>
                <a:latin typeface="Calibri"/>
              </a:rPr>
              <a:t>period. In terms of value share by board</a:t>
            </a:r>
          </a:p>
        </p:txBody>
      </p:sp>
      <p:sp>
        <p:nvSpPr>
          <p:cNvPr id="75" name="TextBox 74"/>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construction, the double wall segment is expected</a:t>
            </a:r>
          </a:p>
        </p:txBody>
      </p:sp>
      <p:sp>
        <p:nvSpPr>
          <p:cNvPr id="76" name="TextBox 75"/>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77" name="Picture 76" descr="lock.png"/>
          <p:cNvPicPr>
            <a:picLocks noChangeAspect="1"/>
          </p:cNvPicPr>
          <p:nvPr/>
        </p:nvPicPr>
        <p:blipFill>
          <a:blip r:embed="rId13"/>
          <a:stretch>
            <a:fillRect/>
          </a:stretch>
        </p:blipFill>
        <p:spPr>
          <a:xfrm>
            <a:off x="2346590" y="5057858"/>
            <a:ext cx="128699" cy="187198"/>
          </a:xfrm>
          <a:prstGeom prst="rect">
            <a:avLst/>
          </a:prstGeom>
        </p:spPr>
      </p:pic>
      <p:sp>
        <p:nvSpPr>
          <p:cNvPr id="78" name="TextBox 77"/>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453209"/>
            <a:ext cx="2783160" cy="186689"/>
          </a:xfrm>
          <a:prstGeom prst="rect">
            <a:avLst/>
          </a:prstGeom>
          <a:noFill/>
        </p:spPr>
        <p:txBody>
          <a:bodyPr wrap="none" lIns="0" rIns="0" tIns="0" bIns="0">
            <a:spAutoFit/>
          </a:bodyPr>
          <a:lstStyle/>
          <a:p>
            <a:r>
              <a:rPr sz="1100" b="0">
                <a:solidFill>
                  <a:srgbClr val="2E2E2E"/>
                </a:solidFill>
                <a:latin typeface="Calibri"/>
              </a:rPr>
              <a:t>▪ ¶ Double wall segment is projected to register</a:t>
            </a:r>
          </a:p>
        </p:txBody>
      </p:sp>
      <p:pic>
        <p:nvPicPr>
          <p:cNvPr id="83" name="Picture 82" descr="lock.png"/>
          <p:cNvPicPr>
            <a:picLocks noChangeAspect="1"/>
          </p:cNvPicPr>
          <p:nvPr/>
        </p:nvPicPr>
        <p:blipFill>
          <a:blip r:embed="rId13"/>
          <a:stretch>
            <a:fillRect/>
          </a:stretch>
        </p:blipFill>
        <p:spPr>
          <a:xfrm>
            <a:off x="472307" y="5611070"/>
            <a:ext cx="128699" cy="187198"/>
          </a:xfrm>
          <a:prstGeom prst="rect">
            <a:avLst/>
          </a:prstGeom>
        </p:spPr>
      </p:pic>
      <p:sp>
        <p:nvSpPr>
          <p:cNvPr id="84" name="TextBox 83"/>
          <p:cNvSpPr txBox="1"/>
          <p:nvPr/>
        </p:nvSpPr>
        <p:spPr>
          <a:xfrm>
            <a:off x="639803" y="5620849"/>
            <a:ext cx="2430363" cy="186689"/>
          </a:xfrm>
          <a:prstGeom prst="rect">
            <a:avLst/>
          </a:prstGeom>
          <a:noFill/>
        </p:spPr>
        <p:txBody>
          <a:bodyPr wrap="none" lIns="0" rIns="0" tIns="0" bIns="0">
            <a:spAutoFit/>
          </a:bodyPr>
          <a:lstStyle/>
          <a:p>
            <a:r>
              <a:rPr sz="1100" b="0">
                <a:solidFill>
                  <a:srgbClr val="2E2E2E"/>
                </a:solidFill>
                <a:latin typeface="Calibri"/>
              </a:rPr>
              <a:t>X higher value than triple wall segment in</a:t>
            </a:r>
          </a:p>
        </p:txBody>
      </p:sp>
      <p:sp>
        <p:nvSpPr>
          <p:cNvPr id="85" name="TextBox 8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6" name="TextBox 85"/>
          <p:cNvSpPr txBox="1"/>
          <p:nvPr/>
        </p:nvSpPr>
        <p:spPr>
          <a:xfrm>
            <a:off x="3838575" y="4229437"/>
            <a:ext cx="925041" cy="186689"/>
          </a:xfrm>
          <a:prstGeom prst="rect">
            <a:avLst/>
          </a:prstGeom>
          <a:noFill/>
        </p:spPr>
        <p:txBody>
          <a:bodyPr wrap="none" lIns="0" rIns="0" tIns="0" bIns="0">
            <a:spAutoFit/>
          </a:bodyPr>
          <a:lstStyle/>
          <a:p>
            <a:r>
              <a:rPr sz="1100" b="0">
                <a:solidFill>
                  <a:srgbClr val="2E2E2E"/>
                </a:solidFill>
                <a:latin typeface="Calibri"/>
              </a:rPr>
              <a:t>● Double Wall:</a:t>
            </a:r>
          </a:p>
        </p:txBody>
      </p:sp>
      <p:pic>
        <p:nvPicPr>
          <p:cNvPr id="87" name="Picture 86" descr="lock.png"/>
          <p:cNvPicPr>
            <a:picLocks noChangeAspect="1"/>
          </p:cNvPicPr>
          <p:nvPr/>
        </p:nvPicPr>
        <p:blipFill>
          <a:blip r:embed="rId13"/>
          <a:stretch>
            <a:fillRect/>
          </a:stretch>
        </p:blipFill>
        <p:spPr>
          <a:xfrm>
            <a:off x="4711667" y="4219658"/>
            <a:ext cx="128699" cy="187198"/>
          </a:xfrm>
          <a:prstGeom prst="rect">
            <a:avLst/>
          </a:prstGeom>
        </p:spPr>
      </p:pic>
      <p:sp>
        <p:nvSpPr>
          <p:cNvPr id="88" name="TextBox 87"/>
          <p:cNvSpPr txBox="1"/>
          <p:nvPr/>
        </p:nvSpPr>
        <p:spPr>
          <a:xfrm>
            <a:off x="487916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5738613" y="4219658"/>
            <a:ext cx="128699" cy="187198"/>
          </a:xfrm>
          <a:prstGeom prst="rect">
            <a:avLst/>
          </a:prstGeom>
        </p:spPr>
      </p:pic>
      <p:sp>
        <p:nvSpPr>
          <p:cNvPr id="90" name="TextBox 89"/>
          <p:cNvSpPr txBox="1"/>
          <p:nvPr/>
        </p:nvSpPr>
        <p:spPr>
          <a:xfrm>
            <a:off x="5906109"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841275" cy="186689"/>
          </a:xfrm>
          <a:prstGeom prst="rect">
            <a:avLst/>
          </a:prstGeom>
          <a:noFill/>
        </p:spPr>
        <p:txBody>
          <a:bodyPr wrap="none" lIns="0" rIns="0" tIns="0" bIns="0">
            <a:spAutoFit/>
          </a:bodyPr>
          <a:lstStyle/>
          <a:p>
            <a:r>
              <a:rPr sz="1100" b="0">
                <a:solidFill>
                  <a:srgbClr val="2E2E2E"/>
                </a:solidFill>
                <a:latin typeface="Calibri"/>
              </a:rPr>
              <a:t>● Triple Wall:</a:t>
            </a:r>
          </a:p>
        </p:txBody>
      </p:sp>
      <p:pic>
        <p:nvPicPr>
          <p:cNvPr id="92" name="Picture 91" descr="lock.png"/>
          <p:cNvPicPr>
            <a:picLocks noChangeAspect="1"/>
          </p:cNvPicPr>
          <p:nvPr/>
        </p:nvPicPr>
        <p:blipFill>
          <a:blip r:embed="rId13"/>
          <a:stretch>
            <a:fillRect/>
          </a:stretch>
        </p:blipFill>
        <p:spPr>
          <a:xfrm>
            <a:off x="4627902" y="4437590"/>
            <a:ext cx="128699" cy="187198"/>
          </a:xfrm>
          <a:prstGeom prst="rect">
            <a:avLst/>
          </a:prstGeom>
        </p:spPr>
      </p:pic>
      <p:sp>
        <p:nvSpPr>
          <p:cNvPr id="93" name="TextBox 92"/>
          <p:cNvSpPr txBox="1"/>
          <p:nvPr/>
        </p:nvSpPr>
        <p:spPr>
          <a:xfrm>
            <a:off x="4795398"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654848" y="4437590"/>
            <a:ext cx="128699" cy="187198"/>
          </a:xfrm>
          <a:prstGeom prst="rect">
            <a:avLst/>
          </a:prstGeom>
        </p:spPr>
      </p:pic>
      <p:sp>
        <p:nvSpPr>
          <p:cNvPr id="95" name="TextBox 94"/>
          <p:cNvSpPr txBox="1"/>
          <p:nvPr/>
        </p:nvSpPr>
        <p:spPr>
          <a:xfrm>
            <a:off x="5822344"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6" name="TextBox 95"/>
          <p:cNvSpPr txBox="1"/>
          <p:nvPr/>
        </p:nvSpPr>
        <p:spPr>
          <a:xfrm>
            <a:off x="3838575" y="4665301"/>
            <a:ext cx="854099" cy="186689"/>
          </a:xfrm>
          <a:prstGeom prst="rect">
            <a:avLst/>
          </a:prstGeom>
          <a:noFill/>
        </p:spPr>
        <p:txBody>
          <a:bodyPr wrap="none" lIns="0" rIns="0" tIns="0" bIns="0">
            <a:spAutoFit/>
          </a:bodyPr>
          <a:lstStyle/>
          <a:p>
            <a:r>
              <a:rPr sz="1100" b="0">
                <a:solidFill>
                  <a:srgbClr val="2E2E2E"/>
                </a:solidFill>
                <a:latin typeface="Calibri"/>
              </a:rPr>
              <a:t>● Single Wall:</a:t>
            </a:r>
          </a:p>
        </p:txBody>
      </p:sp>
      <p:pic>
        <p:nvPicPr>
          <p:cNvPr id="97" name="Picture 96" descr="lock.png"/>
          <p:cNvPicPr>
            <a:picLocks noChangeAspect="1"/>
          </p:cNvPicPr>
          <p:nvPr/>
        </p:nvPicPr>
        <p:blipFill>
          <a:blip r:embed="rId13"/>
          <a:stretch>
            <a:fillRect/>
          </a:stretch>
        </p:blipFill>
        <p:spPr>
          <a:xfrm>
            <a:off x="4640726" y="4655522"/>
            <a:ext cx="128699" cy="187198"/>
          </a:xfrm>
          <a:prstGeom prst="rect">
            <a:avLst/>
          </a:prstGeom>
        </p:spPr>
      </p:pic>
      <p:sp>
        <p:nvSpPr>
          <p:cNvPr id="98" name="TextBox 97"/>
          <p:cNvSpPr txBox="1"/>
          <p:nvPr/>
        </p:nvSpPr>
        <p:spPr>
          <a:xfrm>
            <a:off x="480822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5667672" y="4655522"/>
            <a:ext cx="128699" cy="187198"/>
          </a:xfrm>
          <a:prstGeom prst="rect">
            <a:avLst/>
          </a:prstGeom>
        </p:spPr>
      </p:pic>
      <p:sp>
        <p:nvSpPr>
          <p:cNvPr id="100" name="TextBox 99"/>
          <p:cNvSpPr txBox="1"/>
          <p:nvPr/>
        </p:nvSpPr>
        <p:spPr>
          <a:xfrm>
            <a:off x="583516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1" name="TextBox 100"/>
          <p:cNvSpPr txBox="1"/>
          <p:nvPr/>
        </p:nvSpPr>
        <p:spPr>
          <a:xfrm>
            <a:off x="8524875" y="5842641"/>
            <a:ext cx="2970100" cy="194310"/>
          </a:xfrm>
          <a:prstGeom prst="rect">
            <a:avLst/>
          </a:prstGeom>
          <a:noFill/>
        </p:spPr>
        <p:txBody>
          <a:bodyPr wrap="none" lIns="0" rIns="0" tIns="0" bIns="0">
            <a:spAutoFit/>
          </a:bodyPr>
          <a:lstStyle/>
          <a:p>
            <a:r>
              <a:rPr sz="1150" b="1">
                <a:solidFill>
                  <a:srgbClr val="0B2E4A"/>
                </a:solidFill>
                <a:latin typeface="Calibri"/>
              </a:rPr>
              <a:t>The Board Construction segment is projected to</a:t>
            </a:r>
          </a:p>
        </p:txBody>
      </p:sp>
      <p:sp>
        <p:nvSpPr>
          <p:cNvPr id="102" name="TextBox 101"/>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3" name="Picture 102" descr="lock.png"/>
          <p:cNvPicPr>
            <a:picLocks noChangeAspect="1"/>
          </p:cNvPicPr>
          <p:nvPr/>
        </p:nvPicPr>
        <p:blipFill>
          <a:blip r:embed="rId13"/>
          <a:stretch>
            <a:fillRect/>
          </a:stretch>
        </p:blipFill>
        <p:spPr>
          <a:xfrm>
            <a:off x="9651852" y="6007677"/>
            <a:ext cx="134549" cy="195707"/>
          </a:xfrm>
          <a:prstGeom prst="rect">
            <a:avLst/>
          </a:prstGeom>
        </p:spPr>
      </p:pic>
      <p:sp>
        <p:nvSpPr>
          <p:cNvPr id="104" name="TextBox 103"/>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Board Construction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Board Construction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Board Construction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Board Construction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475665" cy="186689"/>
          </a:xfrm>
          <a:prstGeom prst="rect">
            <a:avLst/>
          </a:prstGeom>
          <a:noFill/>
        </p:spPr>
        <p:txBody>
          <a:bodyPr wrap="none" lIns="0" rIns="0" tIns="0" bIns="0">
            <a:spAutoFit/>
          </a:bodyPr>
          <a:lstStyle/>
          <a:p>
            <a:r>
              <a:rPr sz="1100" b="0">
                <a:solidFill>
                  <a:srgbClr val="2E2E2E"/>
                </a:solidFill>
                <a:latin typeface="Calibri"/>
              </a:rPr>
              <a:t>Double wall followed by triple wall are expected to be the two most attractive board construction segments in the North America corrugated partition market in terms of value over the forecast period.</a:t>
            </a:r>
          </a:p>
        </p:txBody>
      </p:sp>
      <p:sp>
        <p:nvSpPr>
          <p:cNvPr id="21" name="TextBox 20"/>
          <p:cNvSpPr txBox="1"/>
          <p:nvPr/>
        </p:nvSpPr>
        <p:spPr>
          <a:xfrm>
            <a:off x="257175" y="5945505"/>
            <a:ext cx="2947945" cy="186689"/>
          </a:xfrm>
          <a:prstGeom prst="rect">
            <a:avLst/>
          </a:prstGeom>
          <a:noFill/>
        </p:spPr>
        <p:txBody>
          <a:bodyPr wrap="none" lIns="0" rIns="0" tIns="0" bIns="0">
            <a:spAutoFit/>
          </a:bodyPr>
          <a:lstStyle/>
          <a:p>
            <a:r>
              <a:rPr sz="1100" b="0">
                <a:solidFill>
                  <a:srgbClr val="2E2E2E"/>
                </a:solidFill>
                <a:latin typeface="Calibri"/>
              </a:rPr>
              <a:t>Double wall and triple wall exhibit a CAGR index of</a:t>
            </a:r>
          </a:p>
        </p:txBody>
      </p:sp>
      <p:pic>
        <p:nvPicPr>
          <p:cNvPr id="22" name="Picture 21" descr="lock.png"/>
          <p:cNvPicPr>
            <a:picLocks noChangeAspect="1"/>
          </p:cNvPicPr>
          <p:nvPr/>
        </p:nvPicPr>
        <p:blipFill>
          <a:blip r:embed="rId6"/>
          <a:stretch>
            <a:fillRect/>
          </a:stretch>
        </p:blipFill>
        <p:spPr>
          <a:xfrm>
            <a:off x="3153172" y="5935726"/>
            <a:ext cx="128699" cy="187198"/>
          </a:xfrm>
          <a:prstGeom prst="rect">
            <a:avLst/>
          </a:prstGeom>
        </p:spPr>
      </p:pic>
      <p:sp>
        <p:nvSpPr>
          <p:cNvPr id="23" name="TextBox 22"/>
          <p:cNvSpPr txBox="1"/>
          <p:nvPr/>
        </p:nvSpPr>
        <p:spPr>
          <a:xfrm>
            <a:off x="3320668"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558562" y="5935726"/>
            <a:ext cx="128699" cy="187198"/>
          </a:xfrm>
          <a:prstGeom prst="rect">
            <a:avLst/>
          </a:prstGeom>
        </p:spPr>
      </p:pic>
      <p:sp>
        <p:nvSpPr>
          <p:cNvPr id="25" name="TextBox 24"/>
          <p:cNvSpPr txBox="1"/>
          <p:nvPr/>
        </p:nvSpPr>
        <p:spPr>
          <a:xfrm>
            <a:off x="3726058"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335031" y="5935726"/>
            <a:ext cx="128699" cy="187198"/>
          </a:xfrm>
          <a:prstGeom prst="rect">
            <a:avLst/>
          </a:prstGeom>
        </p:spPr>
      </p:pic>
      <p:sp>
        <p:nvSpPr>
          <p:cNvPr id="27" name="TextBox 26"/>
          <p:cNvSpPr txBox="1"/>
          <p:nvPr/>
        </p:nvSpPr>
        <p:spPr>
          <a:xfrm>
            <a:off x="550252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740421" y="5935726"/>
            <a:ext cx="128699" cy="187198"/>
          </a:xfrm>
          <a:prstGeom prst="rect">
            <a:avLst/>
          </a:prstGeom>
        </p:spPr>
      </p:pic>
      <p:sp>
        <p:nvSpPr>
          <p:cNvPr id="29" name="TextBox 28"/>
          <p:cNvSpPr txBox="1"/>
          <p:nvPr/>
        </p:nvSpPr>
        <p:spPr>
          <a:xfrm>
            <a:off x="5907917"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462321" y="5935726"/>
            <a:ext cx="128699" cy="187198"/>
          </a:xfrm>
          <a:prstGeom prst="rect">
            <a:avLst/>
          </a:prstGeom>
        </p:spPr>
      </p:pic>
      <p:sp>
        <p:nvSpPr>
          <p:cNvPr id="31" name="TextBox 30"/>
          <p:cNvSpPr txBox="1"/>
          <p:nvPr/>
        </p:nvSpPr>
        <p:spPr>
          <a:xfrm>
            <a:off x="8629817" y="5945505"/>
            <a:ext cx="2741141" cy="186689"/>
          </a:xfrm>
          <a:prstGeom prst="rect">
            <a:avLst/>
          </a:prstGeom>
          <a:noFill/>
        </p:spPr>
        <p:txBody>
          <a:bodyPr wrap="none" lIns="0" rIns="0" tIns="0" bIns="0">
            <a:spAutoFit/>
          </a:bodyPr>
          <a:lstStyle/>
          <a:p>
            <a:r>
              <a:rPr sz="1100" b="0">
                <a:solidFill>
                  <a:srgbClr val="2E2E2E"/>
                </a:solidFill>
                <a:latin typeface="Calibri"/>
              </a:rPr>
              <a:t>. The single wall segment is expected to be less</a:t>
            </a:r>
          </a:p>
        </p:txBody>
      </p:sp>
      <p:sp>
        <p:nvSpPr>
          <p:cNvPr id="32" name="TextBox 31"/>
          <p:cNvSpPr txBox="1"/>
          <p:nvPr/>
        </p:nvSpPr>
        <p:spPr>
          <a:xfrm>
            <a:off x="257175" y="6113145"/>
            <a:ext cx="11338386" cy="186689"/>
          </a:xfrm>
          <a:prstGeom prst="rect">
            <a:avLst/>
          </a:prstGeom>
          <a:noFill/>
        </p:spPr>
        <p:txBody>
          <a:bodyPr wrap="none" lIns="0" rIns="0" tIns="0" bIns="0">
            <a:spAutoFit/>
          </a:bodyPr>
          <a:lstStyle/>
          <a:p>
            <a:r>
              <a:rPr sz="1100" b="0">
                <a:solidFill>
                  <a:srgbClr val="2E2E2E"/>
                </a:solidFill>
                <a:latin typeface="Calibri"/>
              </a:rPr>
              <a:t>attractive as compared to other segments over the forecast period, owing to its lower CAGR 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Board Construction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Board Construction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Single Wall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Double Wall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Triple Wall</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Board Construction</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4189539" cy="194310"/>
          </a:xfrm>
          <a:prstGeom prst="rect">
            <a:avLst/>
          </a:prstGeom>
          <a:noFill/>
        </p:spPr>
        <p:txBody>
          <a:bodyPr wrap="none" lIns="0" rIns="0" tIns="0" bIns="0">
            <a:spAutoFit/>
          </a:bodyPr>
          <a:lstStyle/>
          <a:p>
            <a:r>
              <a:rPr sz="1150" b="0">
                <a:solidFill>
                  <a:srgbClr val="2E2E2E"/>
                </a:solidFill>
                <a:latin typeface="Calibri"/>
              </a:rPr>
              <a:t>By 2036, double wall segment is anticipated to witness an increase of</a:t>
            </a:r>
          </a:p>
        </p:txBody>
      </p:sp>
      <p:pic>
        <p:nvPicPr>
          <p:cNvPr id="29" name="Picture 28" descr="lock.png"/>
          <p:cNvPicPr>
            <a:picLocks noChangeAspect="1"/>
          </p:cNvPicPr>
          <p:nvPr/>
        </p:nvPicPr>
        <p:blipFill>
          <a:blip r:embed="rId7"/>
          <a:stretch>
            <a:fillRect/>
          </a:stretch>
        </p:blipFill>
        <p:spPr>
          <a:xfrm>
            <a:off x="10444242" y="4276026"/>
            <a:ext cx="134549" cy="195707"/>
          </a:xfrm>
          <a:prstGeom prst="rect">
            <a:avLst/>
          </a:prstGeom>
        </p:spPr>
      </p:pic>
      <p:sp>
        <p:nvSpPr>
          <p:cNvPr id="30" name="TextBox 29"/>
          <p:cNvSpPr txBox="1"/>
          <p:nvPr/>
        </p:nvSpPr>
        <p:spPr>
          <a:xfrm>
            <a:off x="10619352" y="4286250"/>
            <a:ext cx="1181844" cy="194310"/>
          </a:xfrm>
          <a:prstGeom prst="rect">
            <a:avLst/>
          </a:prstGeom>
          <a:noFill/>
        </p:spPr>
        <p:txBody>
          <a:bodyPr wrap="none" lIns="0" rIns="0" tIns="0" bIns="0">
            <a:spAutoFit/>
          </a:bodyPr>
          <a:lstStyle/>
          <a:p>
            <a:r>
              <a:rPr sz="1150" b="0">
                <a:solidFill>
                  <a:srgbClr val="2E2E2E"/>
                </a:solidFill>
                <a:latin typeface="Calibri"/>
              </a:rPr>
              <a:t>X in terms of value</a:t>
            </a:r>
          </a:p>
        </p:txBody>
      </p:sp>
      <p:sp>
        <p:nvSpPr>
          <p:cNvPr id="31" name="TextBox 30"/>
          <p:cNvSpPr txBox="1"/>
          <p:nvPr/>
        </p:nvSpPr>
        <p:spPr>
          <a:xfrm>
            <a:off x="6305550" y="4461510"/>
            <a:ext cx="5086970" cy="194310"/>
          </a:xfrm>
          <a:prstGeom prst="rect">
            <a:avLst/>
          </a:prstGeom>
          <a:noFill/>
        </p:spPr>
        <p:txBody>
          <a:bodyPr wrap="none" lIns="0" rIns="0" tIns="0" bIns="0">
            <a:spAutoFit/>
          </a:bodyPr>
          <a:lstStyle/>
          <a:p>
            <a:r>
              <a:rPr sz="1150" b="0">
                <a:solidFill>
                  <a:srgbClr val="2E2E2E"/>
                </a:solidFill>
                <a:latin typeface="Calibri"/>
              </a:rPr>
              <a:t>as compared to 2026. The double wall segment is expected to create an incremental</a:t>
            </a:r>
          </a:p>
        </p:txBody>
      </p:sp>
      <p:sp>
        <p:nvSpPr>
          <p:cNvPr id="32" name="TextBox 31"/>
          <p:cNvSpPr txBox="1"/>
          <p:nvPr/>
        </p:nvSpPr>
        <p:spPr>
          <a:xfrm>
            <a:off x="6305550" y="4636770"/>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3" name="Picture 32" descr="lock.png"/>
          <p:cNvPicPr>
            <a:picLocks noChangeAspect="1"/>
          </p:cNvPicPr>
          <p:nvPr/>
        </p:nvPicPr>
        <p:blipFill>
          <a:blip r:embed="rId7"/>
          <a:stretch>
            <a:fillRect/>
          </a:stretch>
        </p:blipFill>
        <p:spPr>
          <a:xfrm>
            <a:off x="7463647" y="4626546"/>
            <a:ext cx="134549" cy="195707"/>
          </a:xfrm>
          <a:prstGeom prst="rect">
            <a:avLst/>
          </a:prstGeom>
        </p:spPr>
      </p:pic>
      <p:sp>
        <p:nvSpPr>
          <p:cNvPr id="34" name="TextBox 33"/>
          <p:cNvSpPr txBox="1"/>
          <p:nvPr/>
        </p:nvSpPr>
        <p:spPr>
          <a:xfrm>
            <a:off x="7638756" y="4636770"/>
            <a:ext cx="4026966"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 to 2036.</a:t>
            </a:r>
          </a:p>
        </p:txBody>
      </p:sp>
      <p:sp>
        <p:nvSpPr>
          <p:cNvPr id="35" name="TextBox 34"/>
          <p:cNvSpPr txBox="1"/>
          <p:nvPr/>
        </p:nvSpPr>
        <p:spPr>
          <a:xfrm>
            <a:off x="6305550" y="4864607"/>
            <a:ext cx="4834520" cy="194310"/>
          </a:xfrm>
          <a:prstGeom prst="rect">
            <a:avLst/>
          </a:prstGeom>
          <a:noFill/>
        </p:spPr>
        <p:txBody>
          <a:bodyPr wrap="none" lIns="0" rIns="0" tIns="0" bIns="0">
            <a:spAutoFit/>
          </a:bodyPr>
          <a:lstStyle/>
          <a:p>
            <a:r>
              <a:rPr sz="1150" b="0">
                <a:solidFill>
                  <a:srgbClr val="2E2E2E"/>
                </a:solidFill>
                <a:latin typeface="Calibri"/>
              </a:rPr>
              <a:t>The triple wall segment is expected to create an incremental opportunity of US$</a:t>
            </a:r>
          </a:p>
        </p:txBody>
      </p:sp>
      <p:pic>
        <p:nvPicPr>
          <p:cNvPr id="36" name="Picture 35" descr="lock.png"/>
          <p:cNvPicPr>
            <a:picLocks noChangeAspect="1"/>
          </p:cNvPicPr>
          <p:nvPr/>
        </p:nvPicPr>
        <p:blipFill>
          <a:blip r:embed="rId7"/>
          <a:stretch>
            <a:fillRect/>
          </a:stretch>
        </p:blipFill>
        <p:spPr>
          <a:xfrm>
            <a:off x="11089224" y="4854384"/>
            <a:ext cx="134549" cy="195707"/>
          </a:xfrm>
          <a:prstGeom prst="rect">
            <a:avLst/>
          </a:prstGeom>
        </p:spPr>
      </p:pic>
      <p:sp>
        <p:nvSpPr>
          <p:cNvPr id="37" name="TextBox 36"/>
          <p:cNvSpPr txBox="1"/>
          <p:nvPr/>
        </p:nvSpPr>
        <p:spPr>
          <a:xfrm>
            <a:off x="11264333" y="4864607"/>
            <a:ext cx="483542" cy="194310"/>
          </a:xfrm>
          <a:prstGeom prst="rect">
            <a:avLst/>
          </a:prstGeom>
          <a:noFill/>
        </p:spPr>
        <p:txBody>
          <a:bodyPr wrap="none" lIns="0" rIns="0" tIns="0" bIns="0">
            <a:spAutoFit/>
          </a:bodyPr>
          <a:lstStyle/>
          <a:p>
            <a:r>
              <a:rPr sz="1150" b="0">
                <a:solidFill>
                  <a:srgbClr val="2E2E2E"/>
                </a:solidFill>
                <a:latin typeface="Calibri"/>
              </a:rPr>
              <a:t>Mn for</a:t>
            </a:r>
          </a:p>
        </p:txBody>
      </p:sp>
      <p:sp>
        <p:nvSpPr>
          <p:cNvPr id="38" name="TextBox 37"/>
          <p:cNvSpPr txBox="1"/>
          <p:nvPr/>
        </p:nvSpPr>
        <p:spPr>
          <a:xfrm>
            <a:off x="6305550" y="5039867"/>
            <a:ext cx="5161421" cy="194310"/>
          </a:xfrm>
          <a:prstGeom prst="rect">
            <a:avLst/>
          </a:prstGeom>
          <a:noFill/>
        </p:spPr>
        <p:txBody>
          <a:bodyPr wrap="none" lIns="0" rIns="0" tIns="0" bIns="0">
            <a:spAutoFit/>
          </a:bodyPr>
          <a:lstStyle/>
          <a:p>
            <a:r>
              <a:rPr sz="1150" b="0">
                <a:solidFill>
                  <a:srgbClr val="2E2E2E"/>
                </a:solidFill>
                <a:latin typeface="Calibri"/>
              </a:rPr>
              <a:t>the overall corrugated partition market from 2026 to 2036. The single wall segment is</a:t>
            </a:r>
          </a:p>
        </p:txBody>
      </p:sp>
      <p:sp>
        <p:nvSpPr>
          <p:cNvPr id="39" name="TextBox 38"/>
          <p:cNvSpPr txBox="1"/>
          <p:nvPr/>
        </p:nvSpPr>
        <p:spPr>
          <a:xfrm>
            <a:off x="6305550" y="5215127"/>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40" name="Picture 39" descr="lock.png"/>
          <p:cNvPicPr>
            <a:picLocks noChangeAspect="1"/>
          </p:cNvPicPr>
          <p:nvPr/>
        </p:nvPicPr>
        <p:blipFill>
          <a:blip r:embed="rId7"/>
          <a:stretch>
            <a:fillRect/>
          </a:stretch>
        </p:blipFill>
        <p:spPr>
          <a:xfrm>
            <a:off x="9540010" y="5204904"/>
            <a:ext cx="134549" cy="195707"/>
          </a:xfrm>
          <a:prstGeom prst="rect">
            <a:avLst/>
          </a:prstGeom>
        </p:spPr>
      </p:pic>
      <p:sp>
        <p:nvSpPr>
          <p:cNvPr id="41" name="TextBox 40"/>
          <p:cNvSpPr txBox="1"/>
          <p:nvPr/>
        </p:nvSpPr>
        <p:spPr>
          <a:xfrm>
            <a:off x="9715119" y="5215127"/>
            <a:ext cx="1840210" cy="194310"/>
          </a:xfrm>
          <a:prstGeom prst="rect">
            <a:avLst/>
          </a:prstGeom>
          <a:noFill/>
        </p:spPr>
        <p:txBody>
          <a:bodyPr wrap="none" lIns="0" rIns="0" tIns="0" bIns="0">
            <a:spAutoFit/>
          </a:bodyPr>
          <a:lstStyle/>
          <a:p>
            <a:r>
              <a:rPr sz="1150" b="0">
                <a:solidFill>
                  <a:srgbClr val="2E2E2E"/>
                </a:solidFill>
                <a:latin typeface="Calibri"/>
              </a:rPr>
              <a:t>Mn for the overall corrugated</a:t>
            </a:r>
          </a:p>
        </p:txBody>
      </p:sp>
      <p:sp>
        <p:nvSpPr>
          <p:cNvPr id="42" name="TextBox 41"/>
          <p:cNvSpPr txBox="1"/>
          <p:nvPr/>
        </p:nvSpPr>
        <p:spPr>
          <a:xfrm>
            <a:off x="6305550" y="5390387"/>
            <a:ext cx="2229866" cy="194310"/>
          </a:xfrm>
          <a:prstGeom prst="rect">
            <a:avLst/>
          </a:prstGeom>
          <a:noFill/>
        </p:spPr>
        <p:txBody>
          <a:bodyPr wrap="none" lIns="0" rIns="0" tIns="0" bIns="0">
            <a:spAutoFit/>
          </a:bodyPr>
          <a:lstStyle/>
          <a:p>
            <a:r>
              <a:rPr sz="1150" b="0">
                <a:solidFill>
                  <a:srgbClr val="2E2E2E"/>
                </a:solidFill>
                <a:latin typeface="Calibri"/>
              </a:rPr>
              <a:t>partition market from 2026 to 2036.</a:t>
            </a:r>
          </a:p>
        </p:txBody>
      </p:sp>
      <p:sp>
        <p:nvSpPr>
          <p:cNvPr id="43"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Board Construction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Board Construction,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Board Construction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962355"/>
                <a:gridCol w="655320"/>
                <a:gridCol w="655320"/>
                <a:gridCol w="655320"/>
                <a:gridCol w="655320"/>
                <a:gridCol w="655320"/>
                <a:gridCol w="655320"/>
                <a:gridCol w="655320"/>
                <a:gridCol w="655320"/>
                <a:gridCol w="655320"/>
                <a:gridCol w="655320"/>
                <a:gridCol w="655320"/>
                <a:gridCol w="655320"/>
                <a:gridCol w="655320"/>
                <a:gridCol w="655320"/>
                <a:gridCol w="655320"/>
                <a:gridCol w="655320"/>
                <a:gridCol w="439725"/>
              </a:tblGrid>
              <a:tr h="438912">
                <a:tc>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7460">
                <a:tc>
                  <a:txBody>
                    <a:bodyPr wrap="none"/>
                    <a:lstStyle/>
                    <a:p>
                      <a:pPr algn="l"/>
                      <a:r>
                        <a:rPr sz="1100" b="1">
                          <a:solidFill>
                            <a:srgbClr val="2E2E2E"/>
                          </a:solidFill>
                          <a:latin typeface="Calibri"/>
                        </a:rPr>
                        <a:t>Single Wall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60">
                <a:tc>
                  <a:txBody>
                    <a:bodyPr wrap="none"/>
                    <a:lstStyle/>
                    <a:p>
                      <a:pPr algn="l"/>
                      <a:r>
                        <a:rPr sz="1100" b="1">
                          <a:solidFill>
                            <a:srgbClr val="2E2E2E"/>
                          </a:solidFill>
                          <a:latin typeface="Calibri"/>
                        </a:rPr>
                        <a:t>Double Wall</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60">
                <a:tc>
                  <a:txBody>
                    <a:bodyPr wrap="none"/>
                    <a:lstStyle/>
                    <a:p>
                      <a:pPr algn="l"/>
                      <a:r>
                        <a:rPr sz="1100" b="1">
                          <a:solidFill>
                            <a:srgbClr val="2E2E2E"/>
                          </a:solidFill>
                          <a:latin typeface="Calibri"/>
                        </a:rPr>
                        <a:t>Triple Wall</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Board Construction</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0487" y="1905381"/>
            <a:ext cx="366712" cy="533400"/>
          </a:xfrm>
          <a:prstGeom prst="rect">
            <a:avLst/>
          </a:prstGeom>
        </p:spPr>
      </p:pic>
      <p:sp>
        <p:nvSpPr>
          <p:cNvPr id="21" name="TextBox 20"/>
          <p:cNvSpPr txBox="1"/>
          <p:nvPr/>
        </p:nvSpPr>
        <p:spPr>
          <a:xfrm>
            <a:off x="276225" y="3429000"/>
            <a:ext cx="2615245" cy="194310"/>
          </a:xfrm>
          <a:prstGeom prst="rect">
            <a:avLst/>
          </a:prstGeom>
          <a:noFill/>
        </p:spPr>
        <p:txBody>
          <a:bodyPr wrap="none" lIns="0" rIns="0" tIns="0" bIns="0">
            <a:spAutoFit/>
          </a:bodyPr>
          <a:lstStyle/>
          <a:p>
            <a:r>
              <a:rPr sz="1150" b="0">
                <a:solidFill>
                  <a:srgbClr val="2E2E2E"/>
                </a:solidFill>
                <a:latin typeface="Calibri"/>
              </a:rPr>
              <a:t>Triple wall segment is projected to register</a:t>
            </a:r>
          </a:p>
        </p:txBody>
      </p:sp>
      <p:pic>
        <p:nvPicPr>
          <p:cNvPr id="22" name="Picture 21" descr="lock.png"/>
          <p:cNvPicPr>
            <a:picLocks noChangeAspect="1"/>
          </p:cNvPicPr>
          <p:nvPr/>
        </p:nvPicPr>
        <p:blipFill>
          <a:blip r:embed="rId4"/>
          <a:stretch>
            <a:fillRect/>
          </a:stretch>
        </p:blipFill>
        <p:spPr>
          <a:xfrm>
            <a:off x="2840623" y="3418776"/>
            <a:ext cx="134549" cy="195707"/>
          </a:xfrm>
          <a:prstGeom prst="rect">
            <a:avLst/>
          </a:prstGeom>
        </p:spPr>
      </p:pic>
      <p:sp>
        <p:nvSpPr>
          <p:cNvPr id="23" name="TextBox 22"/>
          <p:cNvSpPr txBox="1"/>
          <p:nvPr/>
        </p:nvSpPr>
        <p:spPr>
          <a:xfrm>
            <a:off x="3015733" y="3429000"/>
            <a:ext cx="8714544" cy="194310"/>
          </a:xfrm>
          <a:prstGeom prst="rect">
            <a:avLst/>
          </a:prstGeom>
          <a:noFill/>
        </p:spPr>
        <p:txBody>
          <a:bodyPr wrap="none" lIns="0" rIns="0" tIns="0" bIns="0">
            <a:spAutoFit/>
          </a:bodyPr>
          <a:lstStyle/>
          <a:p>
            <a:r>
              <a:rPr sz="1150" b="0">
                <a:solidFill>
                  <a:srgbClr val="2E2E2E"/>
                </a:solidFill>
                <a:latin typeface="Calibri"/>
              </a:rPr>
              <a:t>X higher volume than double wall segment in 2036. Among corrugated partition by board construction, triple wall segment is expected to witness</a:t>
            </a:r>
          </a:p>
        </p:txBody>
      </p:sp>
      <p:sp>
        <p:nvSpPr>
          <p:cNvPr id="24" name="TextBox 23"/>
          <p:cNvSpPr txBox="1"/>
          <p:nvPr/>
        </p:nvSpPr>
        <p:spPr>
          <a:xfrm>
            <a:off x="276225" y="3604260"/>
            <a:ext cx="1263979" cy="194310"/>
          </a:xfrm>
          <a:prstGeom prst="rect">
            <a:avLst/>
          </a:prstGeom>
          <a:noFill/>
        </p:spPr>
        <p:txBody>
          <a:bodyPr wrap="none" lIns="0" rIns="0" t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594036"/>
            <a:ext cx="134549" cy="195707"/>
          </a:xfrm>
          <a:prstGeom prst="rect">
            <a:avLst/>
          </a:prstGeom>
        </p:spPr>
      </p:pic>
      <p:sp>
        <p:nvSpPr>
          <p:cNvPr id="26" name="TextBox 25"/>
          <p:cNvSpPr txBox="1"/>
          <p:nvPr/>
        </p:nvSpPr>
        <p:spPr>
          <a:xfrm>
            <a:off x="1664467" y="36042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32097"/>
            <a:ext cx="6997600" cy="194310"/>
          </a:xfrm>
          <a:prstGeom prst="rect">
            <a:avLst/>
          </a:prstGeom>
          <a:noFill/>
        </p:spPr>
        <p:txBody>
          <a:bodyPr wrap="none" lIns="0" rIns="0" tIns="0" bIns="0">
            <a:spAutoFit/>
          </a:bodyPr>
          <a:lstStyle/>
          <a:p>
            <a:r>
              <a:rPr sz="1150" b="0">
                <a:solidFill>
                  <a:srgbClr val="2E2E2E"/>
                </a:solidFill>
                <a:latin typeface="Calibri"/>
              </a:rPr>
              <a:t>In terms of volume share by board construction, the triple wall segment is expected to dominate the market, gaining</a:t>
            </a:r>
          </a:p>
        </p:txBody>
      </p:sp>
      <p:pic>
        <p:nvPicPr>
          <p:cNvPr id="28" name="Picture 27" descr="lock.png"/>
          <p:cNvPicPr>
            <a:picLocks noChangeAspect="1"/>
          </p:cNvPicPr>
          <p:nvPr/>
        </p:nvPicPr>
        <p:blipFill>
          <a:blip r:embed="rId4"/>
          <a:stretch>
            <a:fillRect/>
          </a:stretch>
        </p:blipFill>
        <p:spPr>
          <a:xfrm>
            <a:off x="7222979" y="3821874"/>
            <a:ext cx="134549" cy="195707"/>
          </a:xfrm>
          <a:prstGeom prst="rect">
            <a:avLst/>
          </a:prstGeom>
        </p:spPr>
      </p:pic>
      <p:sp>
        <p:nvSpPr>
          <p:cNvPr id="29" name="TextBox 28"/>
          <p:cNvSpPr txBox="1"/>
          <p:nvPr/>
        </p:nvSpPr>
        <p:spPr>
          <a:xfrm>
            <a:off x="7398088" y="38320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793232" y="3821874"/>
            <a:ext cx="134549" cy="195707"/>
          </a:xfrm>
          <a:prstGeom prst="rect">
            <a:avLst/>
          </a:prstGeom>
        </p:spPr>
      </p:pic>
      <p:sp>
        <p:nvSpPr>
          <p:cNvPr id="31" name="TextBox 30"/>
          <p:cNvSpPr txBox="1"/>
          <p:nvPr/>
        </p:nvSpPr>
        <p:spPr>
          <a:xfrm>
            <a:off x="8968341" y="3832097"/>
            <a:ext cx="2521111" cy="194310"/>
          </a:xfrm>
          <a:prstGeom prst="rect">
            <a:avLst/>
          </a:prstGeom>
          <a:noFill/>
        </p:spPr>
        <p:txBody>
          <a:bodyPr wrap="none" lIns="0" rIns="0" tIns="0" bIns="0">
            <a:spAutoFit/>
          </a:bodyPr>
          <a:lstStyle/>
          <a:p>
            <a:r>
              <a:rPr sz="1150" b="0">
                <a:solidFill>
                  <a:srgbClr val="2E2E2E"/>
                </a:solidFill>
                <a:latin typeface="Calibri"/>
              </a:rPr>
              <a:t>share by 2036. The single wall segment is</a:t>
            </a:r>
          </a:p>
        </p:txBody>
      </p:sp>
      <p:sp>
        <p:nvSpPr>
          <p:cNvPr id="32" name="TextBox 31"/>
          <p:cNvSpPr txBox="1"/>
          <p:nvPr/>
        </p:nvSpPr>
        <p:spPr>
          <a:xfrm>
            <a:off x="276225" y="400735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997134"/>
            <a:ext cx="134549" cy="195707"/>
          </a:xfrm>
          <a:prstGeom prst="rect">
            <a:avLst/>
          </a:prstGeom>
        </p:spPr>
      </p:pic>
      <p:sp>
        <p:nvSpPr>
          <p:cNvPr id="34" name="TextBox 33"/>
          <p:cNvSpPr txBox="1"/>
          <p:nvPr/>
        </p:nvSpPr>
        <p:spPr>
          <a:xfrm>
            <a:off x="1455394" y="40073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997134"/>
            <a:ext cx="134549" cy="195707"/>
          </a:xfrm>
          <a:prstGeom prst="rect">
            <a:avLst/>
          </a:prstGeom>
        </p:spPr>
      </p:pic>
      <p:sp>
        <p:nvSpPr>
          <p:cNvPr id="36" name="TextBox 35"/>
          <p:cNvSpPr txBox="1"/>
          <p:nvPr/>
        </p:nvSpPr>
        <p:spPr>
          <a:xfrm>
            <a:off x="4218008" y="40073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Board Construction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Board Construction,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Board Construction (US$ Mn)</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413248"/>
                <a:gridCol w="616115"/>
                <a:gridCol w="616115"/>
                <a:gridCol w="616115"/>
                <a:gridCol w="616115"/>
                <a:gridCol w="616115"/>
                <a:gridCol w="616115"/>
                <a:gridCol w="616115"/>
                <a:gridCol w="616115"/>
                <a:gridCol w="616115"/>
                <a:gridCol w="616115"/>
                <a:gridCol w="616115"/>
                <a:gridCol w="616115"/>
                <a:gridCol w="616115"/>
                <a:gridCol w="616115"/>
                <a:gridCol w="616115"/>
                <a:gridCol w="616115"/>
                <a:gridCol w="616115"/>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Board Construction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15935" y="1713738"/>
            <a:ext cx="366712" cy="533400"/>
          </a:xfrm>
          <a:prstGeom prst="rect">
            <a:avLst/>
          </a:prstGeom>
        </p:spPr>
      </p:pic>
      <p:sp>
        <p:nvSpPr>
          <p:cNvPr id="21" name="TextBox 20"/>
          <p:cNvSpPr txBox="1"/>
          <p:nvPr/>
        </p:nvSpPr>
        <p:spPr>
          <a:xfrm>
            <a:off x="276225" y="3238500"/>
            <a:ext cx="2702817" cy="194310"/>
          </a:xfrm>
          <a:prstGeom prst="rect">
            <a:avLst/>
          </a:prstGeom>
          <a:noFill/>
        </p:spPr>
        <p:txBody>
          <a:bodyPr wrap="none" lIns="0" rIns="0" tIns="0" bIns="0">
            <a:spAutoFit/>
          </a:bodyPr>
          <a:lstStyle/>
          <a:p>
            <a:r>
              <a:rPr sz="1150" b="0">
                <a:solidFill>
                  <a:srgbClr val="2E2E2E"/>
                </a:solidFill>
                <a:latin typeface="Calibri"/>
              </a:rPr>
              <a:t>Double wall segment is projected to register</a:t>
            </a:r>
          </a:p>
        </p:txBody>
      </p:sp>
      <p:pic>
        <p:nvPicPr>
          <p:cNvPr id="22" name="Picture 21" descr="lock.png"/>
          <p:cNvPicPr>
            <a:picLocks noChangeAspect="1"/>
          </p:cNvPicPr>
          <p:nvPr/>
        </p:nvPicPr>
        <p:blipFill>
          <a:blip r:embed="rId4"/>
          <a:stretch>
            <a:fillRect/>
          </a:stretch>
        </p:blipFill>
        <p:spPr>
          <a:xfrm>
            <a:off x="2928196" y="3228276"/>
            <a:ext cx="134549" cy="195707"/>
          </a:xfrm>
          <a:prstGeom prst="rect">
            <a:avLst/>
          </a:prstGeom>
        </p:spPr>
      </p:pic>
      <p:sp>
        <p:nvSpPr>
          <p:cNvPr id="23" name="TextBox 22"/>
          <p:cNvSpPr txBox="1"/>
          <p:nvPr/>
        </p:nvSpPr>
        <p:spPr>
          <a:xfrm>
            <a:off x="3103306" y="3238500"/>
            <a:ext cx="8725668" cy="194310"/>
          </a:xfrm>
          <a:prstGeom prst="rect">
            <a:avLst/>
          </a:prstGeom>
          <a:noFill/>
        </p:spPr>
        <p:txBody>
          <a:bodyPr wrap="none" lIns="0" rIns="0" tIns="0" bIns="0">
            <a:spAutoFit/>
          </a:bodyPr>
          <a:lstStyle/>
          <a:p>
            <a:r>
              <a:rPr sz="1150" b="0">
                <a:solidFill>
                  <a:srgbClr val="2E2E2E"/>
                </a:solidFill>
                <a:latin typeface="Calibri"/>
              </a:rPr>
              <a:t>X higher value than triple wall segment in 2036. Among corrugated partition by board construction, triple wall segment is expected to witness the</a:t>
            </a:r>
          </a:p>
        </p:txBody>
      </p:sp>
      <p:sp>
        <p:nvSpPr>
          <p:cNvPr id="24" name="TextBox 23"/>
          <p:cNvSpPr txBox="1"/>
          <p:nvPr/>
        </p:nvSpPr>
        <p:spPr>
          <a:xfrm>
            <a:off x="276225" y="341376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403536"/>
            <a:ext cx="134549" cy="195707"/>
          </a:xfrm>
          <a:prstGeom prst="rect">
            <a:avLst/>
          </a:prstGeom>
        </p:spPr>
      </p:pic>
      <p:sp>
        <p:nvSpPr>
          <p:cNvPr id="26" name="TextBox 25"/>
          <p:cNvSpPr txBox="1"/>
          <p:nvPr/>
        </p:nvSpPr>
        <p:spPr>
          <a:xfrm>
            <a:off x="1432841"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6970501" cy="194310"/>
          </a:xfrm>
          <a:prstGeom prst="rect">
            <a:avLst/>
          </a:prstGeom>
          <a:noFill/>
        </p:spPr>
        <p:txBody>
          <a:bodyPr wrap="none" lIns="0" rIns="0" tIns="0" bIns="0">
            <a:spAutoFit/>
          </a:bodyPr>
          <a:lstStyle/>
          <a:p>
            <a:r>
              <a:rPr sz="1150" b="0">
                <a:solidFill>
                  <a:srgbClr val="2E2E2E"/>
                </a:solidFill>
                <a:latin typeface="Calibri"/>
              </a:rPr>
              <a:t>In terms of value share by board construction, the double wall segment is expected to dominate the market, gaining</a:t>
            </a:r>
          </a:p>
        </p:txBody>
      </p:sp>
      <p:pic>
        <p:nvPicPr>
          <p:cNvPr id="28" name="Picture 27" descr="lock.png"/>
          <p:cNvPicPr>
            <a:picLocks noChangeAspect="1"/>
          </p:cNvPicPr>
          <p:nvPr/>
        </p:nvPicPr>
        <p:blipFill>
          <a:blip r:embed="rId4"/>
          <a:stretch>
            <a:fillRect/>
          </a:stretch>
        </p:blipFill>
        <p:spPr>
          <a:xfrm>
            <a:off x="7195880" y="3631374"/>
            <a:ext cx="134549" cy="195707"/>
          </a:xfrm>
          <a:prstGeom prst="rect">
            <a:avLst/>
          </a:prstGeom>
        </p:spPr>
      </p:pic>
      <p:sp>
        <p:nvSpPr>
          <p:cNvPr id="29" name="TextBox 28"/>
          <p:cNvSpPr txBox="1"/>
          <p:nvPr/>
        </p:nvSpPr>
        <p:spPr>
          <a:xfrm>
            <a:off x="7370989"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766133" y="3631374"/>
            <a:ext cx="134549" cy="195707"/>
          </a:xfrm>
          <a:prstGeom prst="rect">
            <a:avLst/>
          </a:prstGeom>
        </p:spPr>
      </p:pic>
      <p:sp>
        <p:nvSpPr>
          <p:cNvPr id="31" name="TextBox 30"/>
          <p:cNvSpPr txBox="1"/>
          <p:nvPr/>
        </p:nvSpPr>
        <p:spPr>
          <a:xfrm>
            <a:off x="8941242" y="3641597"/>
            <a:ext cx="2521111" cy="194310"/>
          </a:xfrm>
          <a:prstGeom prst="rect">
            <a:avLst/>
          </a:prstGeom>
          <a:noFill/>
        </p:spPr>
        <p:txBody>
          <a:bodyPr wrap="none" lIns="0" rIns="0" tIns="0" bIns="0">
            <a:spAutoFit/>
          </a:bodyPr>
          <a:lstStyle/>
          <a:p>
            <a:r>
              <a:rPr sz="1150" b="0">
                <a:solidFill>
                  <a:srgbClr val="2E2E2E"/>
                </a:solidFill>
                <a:latin typeface="Calibri"/>
              </a:rPr>
              <a:t>share by 2036. The single wall segment is</a:t>
            </a:r>
          </a:p>
        </p:txBody>
      </p:sp>
      <p:sp>
        <p:nvSpPr>
          <p:cNvPr id="32" name="TextBox 31"/>
          <p:cNvSpPr txBox="1"/>
          <p:nvPr/>
        </p:nvSpPr>
        <p:spPr>
          <a:xfrm>
            <a:off x="276225" y="381685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806634"/>
            <a:ext cx="134549" cy="195707"/>
          </a:xfrm>
          <a:prstGeom prst="rect">
            <a:avLst/>
          </a:prstGeom>
        </p:spPr>
      </p:pic>
      <p:sp>
        <p:nvSpPr>
          <p:cNvPr id="34" name="TextBox 33"/>
          <p:cNvSpPr txBox="1"/>
          <p:nvPr/>
        </p:nvSpPr>
        <p:spPr>
          <a:xfrm>
            <a:off x="1455394" y="38168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806634"/>
            <a:ext cx="134549" cy="195707"/>
          </a:xfrm>
          <a:prstGeom prst="rect">
            <a:avLst/>
          </a:prstGeom>
        </p:spPr>
      </p:pic>
      <p:sp>
        <p:nvSpPr>
          <p:cNvPr id="36" name="TextBox 35"/>
          <p:cNvSpPr txBox="1"/>
          <p:nvPr/>
        </p:nvSpPr>
        <p:spPr>
          <a:xfrm>
            <a:off x="4218008" y="38168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Board Construction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Board Construction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Board Construction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7883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740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978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Single Wall</a:t>
            </a:r>
          </a:p>
        </p:txBody>
      </p:sp>
      <p:sp>
        <p:nvSpPr>
          <p:cNvPr id="19" name="BPS Value 1"/>
          <p:cNvSpPr txBox="1"/>
          <p:nvPr/>
        </p:nvSpPr>
        <p:spPr>
          <a:xfrm>
            <a:off x="6896100" y="205978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38616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38139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3051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Triple Wall</a:t>
            </a:r>
          </a:p>
        </p:txBody>
      </p:sp>
      <p:sp>
        <p:nvSpPr>
          <p:cNvPr id="23" name="BPS Value 2"/>
          <p:cNvSpPr txBox="1"/>
          <p:nvPr/>
        </p:nvSpPr>
        <p:spPr>
          <a:xfrm>
            <a:off x="6896100" y="336711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26477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26001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18381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Double Wall</a:t>
            </a:r>
          </a:p>
        </p:txBody>
      </p:sp>
      <p:sp>
        <p:nvSpPr>
          <p:cNvPr id="27" name="BPS Value 3"/>
          <p:cNvSpPr txBox="1"/>
          <p:nvPr/>
        </p:nvSpPr>
        <p:spPr>
          <a:xfrm>
            <a:off x="6896100" y="524572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Board Construction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740571" cy="194310"/>
          </a:xfrm>
          <a:prstGeom prst="rect">
            <a:avLst/>
          </a:prstGeom>
          <a:noFill/>
        </p:spPr>
        <p:txBody>
          <a:bodyPr wrap="none" lIns="0" rIns="0" tIns="0" bIns="0">
            <a:spAutoFit/>
          </a:bodyPr>
          <a:lstStyle/>
          <a:p>
            <a:r>
              <a:rPr sz="1150" b="0">
                <a:solidFill>
                  <a:srgbClr val="2E2E2E"/>
                </a:solidFill>
                <a:latin typeface="Calibri"/>
              </a:rPr>
              <a:t>Among corrugated partition by board construction, triple wall</a:t>
            </a:r>
          </a:p>
        </p:txBody>
      </p:sp>
      <p:sp>
        <p:nvSpPr>
          <p:cNvPr id="35" name="TextBox 34"/>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36" name="Picture 35" descr="lock.png"/>
          <p:cNvPicPr>
            <a:picLocks noChangeAspect="1"/>
          </p:cNvPicPr>
          <p:nvPr/>
        </p:nvPicPr>
        <p:blipFill>
          <a:blip r:embed="rId5"/>
          <a:stretch>
            <a:fillRect/>
          </a:stretch>
        </p:blipFill>
        <p:spPr>
          <a:xfrm>
            <a:off x="10935343" y="1565211"/>
            <a:ext cx="134549" cy="195707"/>
          </a:xfrm>
          <a:prstGeom prst="rect">
            <a:avLst/>
          </a:prstGeom>
        </p:spPr>
      </p:pic>
      <p:sp>
        <p:nvSpPr>
          <p:cNvPr id="37" name="TextBox 36"/>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38" name="TextBox 37"/>
          <p:cNvSpPr txBox="1"/>
          <p:nvPr/>
        </p:nvSpPr>
        <p:spPr>
          <a:xfrm>
            <a:off x="7829550" y="1750695"/>
            <a:ext cx="4020405" cy="194310"/>
          </a:xfrm>
          <a:prstGeom prst="rect">
            <a:avLst/>
          </a:prstGeom>
          <a:noFill/>
        </p:spPr>
        <p:txBody>
          <a:bodyPr wrap="none" lIns="0" rIns="0" tIns="0" bIns="0">
            <a:spAutoFit/>
          </a:bodyPr>
          <a:lstStyle/>
          <a:p>
            <a:r>
              <a:rPr sz="1150" b="0">
                <a:solidFill>
                  <a:srgbClr val="2E2E2E"/>
                </a:solidFill>
                <a:latin typeface="Calibri"/>
              </a:rPr>
              <a:t>forecast period. In terms of value share by board construction, the</a:t>
            </a:r>
          </a:p>
        </p:txBody>
      </p:sp>
      <p:sp>
        <p:nvSpPr>
          <p:cNvPr id="39" name="TextBox 38"/>
          <p:cNvSpPr txBox="1"/>
          <p:nvPr/>
        </p:nvSpPr>
        <p:spPr>
          <a:xfrm>
            <a:off x="7829550" y="1925955"/>
            <a:ext cx="3967348" cy="194310"/>
          </a:xfrm>
          <a:prstGeom prst="rect">
            <a:avLst/>
          </a:prstGeom>
          <a:noFill/>
        </p:spPr>
        <p:txBody>
          <a:bodyPr wrap="none" lIns="0" rIns="0" tIns="0" bIns="0">
            <a:spAutoFit/>
          </a:bodyPr>
          <a:lstStyle/>
          <a:p>
            <a:r>
              <a:rPr sz="1150" b="0">
                <a:solidFill>
                  <a:srgbClr val="2E2E2E"/>
                </a:solidFill>
                <a:latin typeface="Calibri"/>
              </a:rPr>
              <a:t>double wall segment is expected to dominate the market, gaining</a:t>
            </a:r>
          </a:p>
        </p:txBody>
      </p:sp>
      <p:pic>
        <p:nvPicPr>
          <p:cNvPr id="40" name="Picture 39" descr="lock.png"/>
          <p:cNvPicPr>
            <a:picLocks noChangeAspect="1"/>
          </p:cNvPicPr>
          <p:nvPr/>
        </p:nvPicPr>
        <p:blipFill>
          <a:blip r:embed="rId5"/>
          <a:stretch>
            <a:fillRect/>
          </a:stretch>
        </p:blipFill>
        <p:spPr>
          <a:xfrm>
            <a:off x="7815470" y="2090991"/>
            <a:ext cx="134549" cy="195707"/>
          </a:xfrm>
          <a:prstGeom prst="rect">
            <a:avLst/>
          </a:prstGeom>
        </p:spPr>
      </p:pic>
      <p:sp>
        <p:nvSpPr>
          <p:cNvPr id="41" name="TextBox 40"/>
          <p:cNvSpPr txBox="1"/>
          <p:nvPr/>
        </p:nvSpPr>
        <p:spPr>
          <a:xfrm>
            <a:off x="7990579"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2" name="Picture 41" descr="lock.png"/>
          <p:cNvPicPr>
            <a:picLocks noChangeAspect="1"/>
          </p:cNvPicPr>
          <p:nvPr/>
        </p:nvPicPr>
        <p:blipFill>
          <a:blip r:embed="rId5"/>
          <a:stretch>
            <a:fillRect/>
          </a:stretch>
        </p:blipFill>
        <p:spPr>
          <a:xfrm>
            <a:off x="9385722" y="2090991"/>
            <a:ext cx="134549" cy="195707"/>
          </a:xfrm>
          <a:prstGeom prst="rect">
            <a:avLst/>
          </a:prstGeom>
        </p:spPr>
      </p:pic>
      <p:sp>
        <p:nvSpPr>
          <p:cNvPr id="43" name="TextBox 42"/>
          <p:cNvSpPr txBox="1"/>
          <p:nvPr/>
        </p:nvSpPr>
        <p:spPr>
          <a:xfrm>
            <a:off x="9560832"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4" name="TextBox 43"/>
          <p:cNvSpPr txBox="1"/>
          <p:nvPr/>
        </p:nvSpPr>
        <p:spPr>
          <a:xfrm>
            <a:off x="7829550" y="2329053"/>
            <a:ext cx="2629792" cy="194310"/>
          </a:xfrm>
          <a:prstGeom prst="rect">
            <a:avLst/>
          </a:prstGeom>
          <a:noFill/>
        </p:spPr>
        <p:txBody>
          <a:bodyPr wrap="none" lIns="0" rIns="0" tIns="0" bIns="0">
            <a:spAutoFit/>
          </a:bodyPr>
          <a:lstStyle/>
          <a:p>
            <a:r>
              <a:rPr sz="1150" b="0">
                <a:solidFill>
                  <a:srgbClr val="2E2E2E"/>
                </a:solidFill>
                <a:latin typeface="Calibri"/>
              </a:rPr>
              <a:t>The single wall segment is expected to lose</a:t>
            </a:r>
          </a:p>
        </p:txBody>
      </p:sp>
      <p:pic>
        <p:nvPicPr>
          <p:cNvPr id="45" name="Picture 44" descr="lock.png"/>
          <p:cNvPicPr>
            <a:picLocks noChangeAspect="1"/>
          </p:cNvPicPr>
          <p:nvPr/>
        </p:nvPicPr>
        <p:blipFill>
          <a:blip r:embed="rId5"/>
          <a:stretch>
            <a:fillRect/>
          </a:stretch>
        </p:blipFill>
        <p:spPr>
          <a:xfrm>
            <a:off x="10408496" y="2318829"/>
            <a:ext cx="134549" cy="195707"/>
          </a:xfrm>
          <a:prstGeom prst="rect">
            <a:avLst/>
          </a:prstGeom>
        </p:spPr>
      </p:pic>
      <p:sp>
        <p:nvSpPr>
          <p:cNvPr id="46" name="TextBox 45"/>
          <p:cNvSpPr txBox="1"/>
          <p:nvPr/>
        </p:nvSpPr>
        <p:spPr>
          <a:xfrm>
            <a:off x="10583606" y="232905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47" name="TextBox 46"/>
          <p:cNvSpPr txBox="1"/>
          <p:nvPr/>
        </p:nvSpPr>
        <p:spPr>
          <a:xfrm>
            <a:off x="7829550" y="2504313"/>
            <a:ext cx="1851620" cy="194310"/>
          </a:xfrm>
          <a:prstGeom prst="rect">
            <a:avLst/>
          </a:prstGeom>
          <a:noFill/>
        </p:spPr>
        <p:txBody>
          <a:bodyPr wrap="none" lIns="0" rIns="0" tIns="0" bIns="0">
            <a:spAutoFit/>
          </a:bodyPr>
          <a:lstStyle/>
          <a:p>
            <a:r>
              <a:rPr sz="1150" b="0">
                <a:solidFill>
                  <a:srgbClr val="2E2E2E"/>
                </a:solidFill>
                <a:latin typeface="Calibri"/>
              </a:rPr>
              <a:t>forecast period to account for</a:t>
            </a:r>
          </a:p>
        </p:txBody>
      </p:sp>
      <p:pic>
        <p:nvPicPr>
          <p:cNvPr id="48" name="Picture 47" descr="lock.png"/>
          <p:cNvPicPr>
            <a:picLocks noChangeAspect="1"/>
          </p:cNvPicPr>
          <p:nvPr/>
        </p:nvPicPr>
        <p:blipFill>
          <a:blip r:embed="rId5"/>
          <a:stretch>
            <a:fillRect/>
          </a:stretch>
        </p:blipFill>
        <p:spPr>
          <a:xfrm>
            <a:off x="9630324" y="2494089"/>
            <a:ext cx="134549" cy="195707"/>
          </a:xfrm>
          <a:prstGeom prst="rect">
            <a:avLst/>
          </a:prstGeom>
        </p:spPr>
      </p:pic>
      <p:sp>
        <p:nvSpPr>
          <p:cNvPr id="49" name="TextBox 48"/>
          <p:cNvSpPr txBox="1"/>
          <p:nvPr/>
        </p:nvSpPr>
        <p:spPr>
          <a:xfrm>
            <a:off x="980543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Board Construction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Board Construction,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gridCol w="689251"/>
                <a:gridCol w="689251"/>
                <a:gridCol w="689251"/>
                <a:gridCol w="689251"/>
                <a:gridCol w="689251"/>
                <a:gridCol w="689251"/>
                <a:gridCol w="689251"/>
                <a:gridCol w="689251"/>
                <a:gridCol w="689251"/>
                <a:gridCol w="689251"/>
                <a:gridCol w="689251"/>
                <a:gridCol w="689251"/>
                <a:gridCol w="689251"/>
                <a:gridCol w="689251"/>
                <a:gridCol w="689251"/>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Board Construction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 Wall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Double Wall</a:t>
            </a:r>
          </a:p>
        </p:txBody>
      </p:sp>
      <p:sp>
        <p:nvSpPr>
          <p:cNvPr id="49" name="Rectangle 48"/>
          <p:cNvSpPr/>
          <p:nvPr/>
        </p:nvSpPr>
        <p:spPr>
          <a:xfrm>
            <a:off x="1857375" y="4191000"/>
            <a:ext cx="643890" cy="1190625"/>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Triple Wall</a:t>
            </a:r>
          </a:p>
        </p:txBody>
      </p:sp>
      <p:sp>
        <p:nvSpPr>
          <p:cNvPr id="65" name="Rectangle 64"/>
          <p:cNvSpPr/>
          <p:nvPr/>
        </p:nvSpPr>
        <p:spPr>
          <a:xfrm>
            <a:off x="185737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683521"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Board Construction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Board Construction,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gridCol w="689251"/>
                <a:gridCol w="689251"/>
                <a:gridCol w="689251"/>
                <a:gridCol w="689251"/>
                <a:gridCol w="689251"/>
                <a:gridCol w="689251"/>
                <a:gridCol w="689251"/>
                <a:gridCol w="689251"/>
                <a:gridCol w="689251"/>
                <a:gridCol w="689251"/>
                <a:gridCol w="689251"/>
                <a:gridCol w="689251"/>
                <a:gridCol w="689251"/>
                <a:gridCol w="689251"/>
                <a:gridCol w="689251"/>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Board Construction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 Wall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Double Wall</a:t>
            </a:r>
          </a:p>
        </p:txBody>
      </p:sp>
      <p:sp>
        <p:nvSpPr>
          <p:cNvPr id="49" name="Rectangle 48"/>
          <p:cNvSpPr/>
          <p:nvPr/>
        </p:nvSpPr>
        <p:spPr>
          <a:xfrm>
            <a:off x="1857375" y="4191000"/>
            <a:ext cx="643890" cy="119062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D5D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Triple Wall</a:t>
            </a:r>
          </a:p>
        </p:txBody>
      </p:sp>
      <p:sp>
        <p:nvSpPr>
          <p:cNvPr id="65" name="Rectangle 64"/>
          <p:cNvSpPr/>
          <p:nvPr/>
        </p:nvSpPr>
        <p:spPr>
          <a:xfrm>
            <a:off x="1857375" y="5381625"/>
            <a:ext cx="643890" cy="1190625"/>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683521"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Source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Source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Source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Material Source,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Source segment categorizes the market by material source.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Virgin Kraft Fibre-based</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Recycled Fibre-based</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Source split shows how demand is distributed across material source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840_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_244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0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215_9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328_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3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4786" cy="179984"/>
          </a:xfrm>
          <a:prstGeom prst="rect">
            <a:avLst/>
          </a:prstGeom>
          <a:noFill/>
        </p:spPr>
        <p:txBody>
          <a:bodyPr wrap="none" lIns="0" rIns="0" tIns="0" bIns="0">
            <a:spAutoFit/>
          </a:bodyPr>
          <a:lstStyle/>
          <a:p>
            <a:r>
              <a:rPr sz="1055" b="0">
                <a:solidFill>
                  <a:srgbClr val="2E2E2E"/>
                </a:solidFill>
                <a:latin typeface="Calibri"/>
              </a:rPr>
              <a:t>▪ ¶ Among corrugated partition by material source,</a:t>
            </a:r>
          </a:p>
        </p:txBody>
      </p:sp>
      <p:sp>
        <p:nvSpPr>
          <p:cNvPr id="59" name="TextBox 58"/>
          <p:cNvSpPr txBox="1"/>
          <p:nvPr/>
        </p:nvSpPr>
        <p:spPr>
          <a:xfrm>
            <a:off x="485775" y="4390371"/>
            <a:ext cx="2742461" cy="179984"/>
          </a:xfrm>
          <a:prstGeom prst="rect">
            <a:avLst/>
          </a:prstGeom>
          <a:noFill/>
        </p:spPr>
        <p:txBody>
          <a:bodyPr wrap="none" lIns="0" rIns="0" tIns="0" bIns="0">
            <a:spAutoFit/>
          </a:bodyPr>
          <a:lstStyle/>
          <a:p>
            <a:r>
              <a:rPr sz="1055" b="0">
                <a:solidFill>
                  <a:srgbClr val="2E2E2E"/>
                </a:solidFill>
                <a:latin typeface="Calibri"/>
              </a:rPr>
              <a:t>recycled fibre-based (testliner/recycled medium)</a:t>
            </a:r>
          </a:p>
        </p:txBody>
      </p:sp>
      <p:sp>
        <p:nvSpPr>
          <p:cNvPr id="60" name="TextBox 59"/>
          <p:cNvSpPr txBox="1"/>
          <p:nvPr/>
        </p:nvSpPr>
        <p:spPr>
          <a:xfrm>
            <a:off x="485775" y="4551305"/>
            <a:ext cx="2904846" cy="179984"/>
          </a:xfrm>
          <a:prstGeom prst="rect">
            <a:avLst/>
          </a:prstGeom>
          <a:noFill/>
        </p:spPr>
        <p:txBody>
          <a:bodyPr wrap="none" lIns="0" rIns="0" tIns="0" bIns="0">
            <a:spAutoFit/>
          </a:bodyPr>
          <a:lstStyle/>
          <a:p>
            <a:r>
              <a:rPr sz="1055" b="0">
                <a:solidFill>
                  <a:srgbClr val="2E2E2E"/>
                </a:solidFill>
                <a:latin typeface="Calibri"/>
              </a:rPr>
              <a:t>segment is expected to witness the highest CAGR of</a:t>
            </a:r>
          </a:p>
        </p:txBody>
      </p:sp>
      <p:pic>
        <p:nvPicPr>
          <p:cNvPr id="61" name="Picture 60" descr="lock.png"/>
          <p:cNvPicPr>
            <a:picLocks noChangeAspect="1"/>
          </p:cNvPicPr>
          <p:nvPr/>
        </p:nvPicPr>
        <p:blipFill>
          <a:blip r:embed="rId10"/>
          <a:stretch>
            <a:fillRect/>
          </a:stretch>
        </p:blipFill>
        <p:spPr>
          <a:xfrm>
            <a:off x="472846" y="4702852"/>
            <a:ext cx="123551" cy="179710"/>
          </a:xfrm>
          <a:prstGeom prst="rect">
            <a:avLst/>
          </a:prstGeom>
        </p:spPr>
      </p:pic>
      <p:sp>
        <p:nvSpPr>
          <p:cNvPr id="62" name="TextBox 61"/>
          <p:cNvSpPr txBox="1"/>
          <p:nvPr/>
        </p:nvSpPr>
        <p:spPr>
          <a:xfrm>
            <a:off x="633642" y="4712240"/>
            <a:ext cx="2707886" cy="179984"/>
          </a:xfrm>
          <a:prstGeom prst="rect">
            <a:avLst/>
          </a:prstGeom>
          <a:noFill/>
        </p:spPr>
        <p:txBody>
          <a:bodyPr wrap="none" lIns="0" rIns="0" tIns="0" bIns="0">
            <a:spAutoFit/>
          </a:bodyPr>
          <a:lstStyle/>
          <a:p>
            <a:r>
              <a:rPr sz="1055" b="0">
                <a:solidFill>
                  <a:srgbClr val="2E2E2E"/>
                </a:solidFill>
                <a:latin typeface="Calibri"/>
              </a:rPr>
              <a:t>over the forecast period. In terms of value share</a:t>
            </a:r>
          </a:p>
        </p:txBody>
      </p:sp>
      <p:sp>
        <p:nvSpPr>
          <p:cNvPr id="63" name="TextBox 62"/>
          <p:cNvSpPr txBox="1"/>
          <p:nvPr/>
        </p:nvSpPr>
        <p:spPr>
          <a:xfrm>
            <a:off x="485775" y="4873174"/>
            <a:ext cx="2607825" cy="179984"/>
          </a:xfrm>
          <a:prstGeom prst="rect">
            <a:avLst/>
          </a:prstGeom>
          <a:noFill/>
        </p:spPr>
        <p:txBody>
          <a:bodyPr wrap="none" lIns="0" rIns="0" tIns="0" bIns="0">
            <a:spAutoFit/>
          </a:bodyPr>
          <a:lstStyle/>
          <a:p>
            <a:r>
              <a:rPr sz="1055" b="0">
                <a:solidFill>
                  <a:srgbClr val="2E2E2E"/>
                </a:solidFill>
                <a:latin typeface="Calibri"/>
              </a:rPr>
              <a:t>by material source, the virgin kraft fibre-based</a:t>
            </a:r>
          </a:p>
        </p:txBody>
      </p:sp>
      <p:sp>
        <p:nvSpPr>
          <p:cNvPr id="64" name="TextBox 63"/>
          <p:cNvSpPr txBox="1"/>
          <p:nvPr/>
        </p:nvSpPr>
        <p:spPr>
          <a:xfrm>
            <a:off x="485775" y="5034109"/>
            <a:ext cx="2912197" cy="179984"/>
          </a:xfrm>
          <a:prstGeom prst="rect">
            <a:avLst/>
          </a:prstGeom>
          <a:noFill/>
        </p:spPr>
        <p:txBody>
          <a:bodyPr wrap="none" lIns="0" rIns="0" tIns="0" bIns="0">
            <a:spAutoFit/>
          </a:bodyPr>
          <a:lstStyle/>
          <a:p>
            <a:r>
              <a:rPr sz="1055" b="0">
                <a:solidFill>
                  <a:srgbClr val="2E2E2E"/>
                </a:solidFill>
                <a:latin typeface="Calibri"/>
              </a:rPr>
              <a:t>segment is expected to dominate the market, losing</a:t>
            </a:r>
          </a:p>
        </p:txBody>
      </p:sp>
      <p:pic>
        <p:nvPicPr>
          <p:cNvPr id="65" name="Picture 64" descr="lock.png"/>
          <p:cNvPicPr>
            <a:picLocks noChangeAspect="1"/>
          </p:cNvPicPr>
          <p:nvPr/>
        </p:nvPicPr>
        <p:blipFill>
          <a:blip r:embed="rId10"/>
          <a:stretch>
            <a:fillRect/>
          </a:stretch>
        </p:blipFill>
        <p:spPr>
          <a:xfrm>
            <a:off x="472846" y="5185655"/>
            <a:ext cx="123551" cy="179710"/>
          </a:xfrm>
          <a:prstGeom prst="rect">
            <a:avLst/>
          </a:prstGeom>
        </p:spPr>
      </p:pic>
      <p:sp>
        <p:nvSpPr>
          <p:cNvPr id="66" name="TextBox 65"/>
          <p:cNvSpPr txBox="1"/>
          <p:nvPr/>
        </p:nvSpPr>
        <p:spPr>
          <a:xfrm>
            <a:off x="633642" y="5195043"/>
            <a:ext cx="1334023" cy="179984"/>
          </a:xfrm>
          <a:prstGeom prst="rect">
            <a:avLst/>
          </a:prstGeom>
          <a:noFill/>
        </p:spPr>
        <p:txBody>
          <a:bodyPr wrap="none" lIns="0" rIns="0" tIns="0" bIns="0">
            <a:spAutoFit/>
          </a:bodyPr>
          <a:lstStyle/>
          <a:p>
            <a:r>
              <a:rPr sz="1055" b="0">
                <a:solidFill>
                  <a:srgbClr val="2E2E2E"/>
                </a:solidFill>
                <a:latin typeface="Calibri"/>
              </a:rPr>
              <a:t>BPS and accounting for</a:t>
            </a:r>
          </a:p>
        </p:txBody>
      </p:sp>
      <p:pic>
        <p:nvPicPr>
          <p:cNvPr id="67" name="Picture 66" descr="lock.png"/>
          <p:cNvPicPr>
            <a:picLocks noChangeAspect="1"/>
          </p:cNvPicPr>
          <p:nvPr/>
        </p:nvPicPr>
        <p:blipFill>
          <a:blip r:embed="rId10"/>
          <a:stretch>
            <a:fillRect/>
          </a:stretch>
        </p:blipFill>
        <p:spPr>
          <a:xfrm>
            <a:off x="1914747" y="5185655"/>
            <a:ext cx="123551" cy="179710"/>
          </a:xfrm>
          <a:prstGeom prst="rect">
            <a:avLst/>
          </a:prstGeom>
        </p:spPr>
      </p:pic>
      <p:sp>
        <p:nvSpPr>
          <p:cNvPr id="68" name="TextBox 67"/>
          <p:cNvSpPr txBox="1"/>
          <p:nvPr/>
        </p:nvSpPr>
        <p:spPr>
          <a:xfrm>
            <a:off x="2075543" y="5195043"/>
            <a:ext cx="875109" cy="179984"/>
          </a:xfrm>
          <a:prstGeom prst="rect">
            <a:avLst/>
          </a:prstGeom>
          <a:noFill/>
        </p:spPr>
        <p:txBody>
          <a:bodyPr wrap="none" lIns="0" rIns="0" tIns="0" bIns="0">
            <a:spAutoFit/>
          </a:bodyPr>
          <a:lstStyle/>
          <a:p>
            <a:r>
              <a:rPr sz="1055" b="0">
                <a:solidFill>
                  <a:srgbClr val="2E2E2E"/>
                </a:solidFill>
                <a:latin typeface="Calibri"/>
              </a:rPr>
              <a:t>share by 2036.</a:t>
            </a:r>
          </a:p>
        </p:txBody>
      </p:sp>
      <p:sp>
        <p:nvSpPr>
          <p:cNvPr id="69" name="TextBox 68"/>
          <p:cNvSpPr txBox="1"/>
          <p:nvPr/>
        </p:nvSpPr>
        <p:spPr>
          <a:xfrm>
            <a:off x="485775" y="5404258"/>
            <a:ext cx="2840164" cy="179984"/>
          </a:xfrm>
          <a:prstGeom prst="rect">
            <a:avLst/>
          </a:prstGeom>
          <a:noFill/>
        </p:spPr>
        <p:txBody>
          <a:bodyPr wrap="none" lIns="0" rIns="0" tIns="0" bIns="0">
            <a:spAutoFit/>
          </a:bodyPr>
          <a:lstStyle/>
          <a:p>
            <a:r>
              <a:rPr sz="1055" b="0">
                <a:solidFill>
                  <a:srgbClr val="2E2E2E"/>
                </a:solidFill>
                <a:latin typeface="Calibri"/>
              </a:rPr>
              <a:t>▪ ¶ Virgin kraft fibre-based segment is projected to</a:t>
            </a:r>
          </a:p>
        </p:txBody>
      </p:sp>
      <p:sp>
        <p:nvSpPr>
          <p:cNvPr id="70" name="TextBox 69"/>
          <p:cNvSpPr txBox="1"/>
          <p:nvPr/>
        </p:nvSpPr>
        <p:spPr>
          <a:xfrm>
            <a:off x="485775" y="5565192"/>
            <a:ext cx="495038" cy="179984"/>
          </a:xfrm>
          <a:prstGeom prst="rect">
            <a:avLst/>
          </a:prstGeom>
          <a:noFill/>
        </p:spPr>
        <p:txBody>
          <a:bodyPr wrap="none" lIns="0" rIns="0" tIns="0" bIns="0">
            <a:spAutoFit/>
          </a:bodyPr>
          <a:lstStyle/>
          <a:p>
            <a:r>
              <a:rPr sz="1055" b="0">
                <a:solidFill>
                  <a:srgbClr val="2E2E2E"/>
                </a:solidFill>
                <a:latin typeface="Calibri"/>
              </a:rPr>
              <a:t>register</a:t>
            </a:r>
          </a:p>
        </p:txBody>
      </p:sp>
      <p:pic>
        <p:nvPicPr>
          <p:cNvPr id="71" name="Picture 70" descr="lock.png"/>
          <p:cNvPicPr>
            <a:picLocks noChangeAspect="1"/>
          </p:cNvPicPr>
          <p:nvPr/>
        </p:nvPicPr>
        <p:blipFill>
          <a:blip r:embed="rId10"/>
          <a:stretch>
            <a:fillRect/>
          </a:stretch>
        </p:blipFill>
        <p:spPr>
          <a:xfrm>
            <a:off x="927894" y="5555804"/>
            <a:ext cx="123551" cy="179710"/>
          </a:xfrm>
          <a:prstGeom prst="rect">
            <a:avLst/>
          </a:prstGeom>
        </p:spPr>
      </p:pic>
      <p:sp>
        <p:nvSpPr>
          <p:cNvPr id="72" name="TextBox 71"/>
          <p:cNvSpPr txBox="1"/>
          <p:nvPr/>
        </p:nvSpPr>
        <p:spPr>
          <a:xfrm>
            <a:off x="1088690" y="5565192"/>
            <a:ext cx="2267045" cy="179984"/>
          </a:xfrm>
          <a:prstGeom prst="rect">
            <a:avLst/>
          </a:prstGeom>
          <a:noFill/>
        </p:spPr>
        <p:txBody>
          <a:bodyPr wrap="none" lIns="0" rIns="0" tIns="0" bIns="0">
            <a:spAutoFit/>
          </a:bodyPr>
          <a:lstStyle/>
          <a:p>
            <a:r>
              <a:rPr sz="1055" b="0">
                <a:solidFill>
                  <a:srgbClr val="2E2E2E"/>
                </a:solidFill>
                <a:latin typeface="Calibri"/>
              </a:rPr>
              <a:t>X higher value than recycled fibre-based</a:t>
            </a:r>
          </a:p>
        </p:txBody>
      </p:sp>
      <p:sp>
        <p:nvSpPr>
          <p:cNvPr id="73" name="TextBox 72"/>
          <p:cNvSpPr txBox="1"/>
          <p:nvPr/>
        </p:nvSpPr>
        <p:spPr>
          <a:xfrm>
            <a:off x="485775" y="5726126"/>
            <a:ext cx="2574559" cy="179984"/>
          </a:xfrm>
          <a:prstGeom prst="rect">
            <a:avLst/>
          </a:prstGeom>
          <a:noFill/>
        </p:spPr>
        <p:txBody>
          <a:bodyPr wrap="none" lIns="0" rIns="0" tIns="0" bIns="0">
            <a:spAutoFit/>
          </a:bodyPr>
          <a:lstStyle/>
          <a:p>
            <a:r>
              <a:rPr sz="1055" b="0">
                <a:solidFill>
                  <a:srgbClr val="2E2E2E"/>
                </a:solidFill>
                <a:latin typeface="Calibri"/>
              </a:rPr>
              <a:t>(testliner/recycled medium) segment in 2036.</a:t>
            </a:r>
          </a:p>
        </p:txBody>
      </p:sp>
      <p:sp>
        <p:nvSpPr>
          <p:cNvPr id="74" name="TextBox 73"/>
          <p:cNvSpPr txBox="1"/>
          <p:nvPr/>
        </p:nvSpPr>
        <p:spPr>
          <a:xfrm>
            <a:off x="3838575" y="4229437"/>
            <a:ext cx="1571119" cy="186689"/>
          </a:xfrm>
          <a:prstGeom prst="rect">
            <a:avLst/>
          </a:prstGeom>
          <a:noFill/>
        </p:spPr>
        <p:txBody>
          <a:bodyPr wrap="none" lIns="0" rIns="0" tIns="0" bIns="0">
            <a:spAutoFit/>
          </a:bodyPr>
          <a:lstStyle/>
          <a:p>
            <a:r>
              <a:rPr sz="1100" b="0">
                <a:solidFill>
                  <a:srgbClr val="2E2E2E"/>
                </a:solidFill>
                <a:latin typeface="Calibri"/>
              </a:rPr>
              <a:t>● Virgin Kraft Fibre-based:</a:t>
            </a:r>
          </a:p>
        </p:txBody>
      </p:sp>
      <p:pic>
        <p:nvPicPr>
          <p:cNvPr id="75" name="Picture 74" descr="lock.png"/>
          <p:cNvPicPr>
            <a:picLocks noChangeAspect="1"/>
          </p:cNvPicPr>
          <p:nvPr/>
        </p:nvPicPr>
        <p:blipFill>
          <a:blip r:embed="rId10"/>
          <a:stretch>
            <a:fillRect/>
          </a:stretch>
        </p:blipFill>
        <p:spPr>
          <a:xfrm>
            <a:off x="5357746" y="4219658"/>
            <a:ext cx="128699" cy="187198"/>
          </a:xfrm>
          <a:prstGeom prst="rect">
            <a:avLst/>
          </a:prstGeom>
        </p:spPr>
      </p:pic>
      <p:sp>
        <p:nvSpPr>
          <p:cNvPr id="76" name="TextBox 75"/>
          <p:cNvSpPr txBox="1"/>
          <p:nvPr/>
        </p:nvSpPr>
        <p:spPr>
          <a:xfrm>
            <a:off x="5525242"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0"/>
          <a:stretch>
            <a:fillRect/>
          </a:stretch>
        </p:blipFill>
        <p:spPr>
          <a:xfrm>
            <a:off x="6384692" y="4219658"/>
            <a:ext cx="128699" cy="187198"/>
          </a:xfrm>
          <a:prstGeom prst="rect">
            <a:avLst/>
          </a:prstGeom>
        </p:spPr>
      </p:pic>
      <p:sp>
        <p:nvSpPr>
          <p:cNvPr id="78" name="TextBox 77"/>
          <p:cNvSpPr txBox="1"/>
          <p:nvPr/>
        </p:nvSpPr>
        <p:spPr>
          <a:xfrm>
            <a:off x="6552188"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79" name="TextBox 78"/>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80" name="TextBox 79"/>
          <p:cNvSpPr txBox="1"/>
          <p:nvPr/>
        </p:nvSpPr>
        <p:spPr>
          <a:xfrm>
            <a:off x="3838575" y="4615009"/>
            <a:ext cx="3118767" cy="186689"/>
          </a:xfrm>
          <a:prstGeom prst="rect">
            <a:avLst/>
          </a:prstGeom>
          <a:noFill/>
        </p:spPr>
        <p:txBody>
          <a:bodyPr wrap="none" lIns="0" rIns="0" tIns="0" bIns="0">
            <a:spAutoFit/>
          </a:bodyPr>
          <a:lstStyle/>
          <a:p>
            <a:r>
              <a:rPr sz="1100" b="1">
                <a:solidFill>
                  <a:srgbClr val="0E72AE"/>
                </a:solidFill>
                <a:latin typeface="Calibri"/>
              </a:rPr>
              <a:t>● Recycled Fibre-based (testliner/recycled medium):</a:t>
            </a:r>
          </a:p>
        </p:txBody>
      </p:sp>
      <p:pic>
        <p:nvPicPr>
          <p:cNvPr id="81" name="Picture 80" descr="lock.png"/>
          <p:cNvPicPr>
            <a:picLocks noChangeAspect="1"/>
          </p:cNvPicPr>
          <p:nvPr/>
        </p:nvPicPr>
        <p:blipFill>
          <a:blip r:embed="rId10"/>
          <a:stretch>
            <a:fillRect/>
          </a:stretch>
        </p:blipFill>
        <p:spPr>
          <a:xfrm>
            <a:off x="6905394" y="4605230"/>
            <a:ext cx="128699" cy="187198"/>
          </a:xfrm>
          <a:prstGeom prst="rect">
            <a:avLst/>
          </a:prstGeom>
        </p:spPr>
      </p:pic>
      <p:sp>
        <p:nvSpPr>
          <p:cNvPr id="82" name="TextBox 81"/>
          <p:cNvSpPr txBox="1"/>
          <p:nvPr/>
        </p:nvSpPr>
        <p:spPr>
          <a:xfrm>
            <a:off x="7072890" y="4615009"/>
            <a:ext cx="857374" cy="186689"/>
          </a:xfrm>
          <a:prstGeom prst="rect">
            <a:avLst/>
          </a:prstGeom>
          <a:noFill/>
        </p:spPr>
        <p:txBody>
          <a:bodyPr wrap="none" lIns="0" rIns="0" tIns="0" bIns="0">
            <a:spAutoFit/>
          </a:bodyPr>
          <a:lstStyle/>
          <a:p>
            <a:r>
              <a:rPr sz="1100" b="1">
                <a:solidFill>
                  <a:srgbClr val="0E72AE"/>
                </a:solidFill>
                <a:latin typeface="Calibri"/>
              </a:rPr>
              <a:t>of 2026 value</a:t>
            </a:r>
          </a:p>
        </p:txBody>
      </p:sp>
      <p:sp>
        <p:nvSpPr>
          <p:cNvPr id="83" name="TextBox 82"/>
          <p:cNvSpPr txBox="1"/>
          <p:nvPr/>
        </p:nvSpPr>
        <p:spPr>
          <a:xfrm>
            <a:off x="3838575" y="4782649"/>
            <a:ext cx="113580" cy="186689"/>
          </a:xfrm>
          <a:prstGeom prst="rect">
            <a:avLst/>
          </a:prstGeom>
          <a:noFill/>
        </p:spPr>
        <p:txBody>
          <a:bodyPr wrap="none" lIns="0" rIns="0" tIns="0" bIns="0">
            <a:spAutoFit/>
          </a:bodyPr>
          <a:lstStyle/>
          <a:p>
            <a:r>
              <a:rPr sz="1100" b="1">
                <a:solidFill>
                  <a:srgbClr val="0E72AE"/>
                </a:solidFill>
                <a:latin typeface="Calibri"/>
              </a:rPr>
              <a:t>·</a:t>
            </a:r>
          </a:p>
        </p:txBody>
      </p:sp>
      <p:pic>
        <p:nvPicPr>
          <p:cNvPr id="84" name="Picture 83" descr="lock.png"/>
          <p:cNvPicPr>
            <a:picLocks noChangeAspect="1"/>
          </p:cNvPicPr>
          <p:nvPr/>
        </p:nvPicPr>
        <p:blipFill>
          <a:blip r:embed="rId10"/>
          <a:stretch>
            <a:fillRect/>
          </a:stretch>
        </p:blipFill>
        <p:spPr>
          <a:xfrm>
            <a:off x="3900207" y="4772870"/>
            <a:ext cx="128699" cy="187198"/>
          </a:xfrm>
          <a:prstGeom prst="rect">
            <a:avLst/>
          </a:prstGeom>
        </p:spPr>
      </p:pic>
      <p:sp>
        <p:nvSpPr>
          <p:cNvPr id="85" name="TextBox 84"/>
          <p:cNvSpPr txBox="1"/>
          <p:nvPr/>
        </p:nvSpPr>
        <p:spPr>
          <a:xfrm>
            <a:off x="4067703" y="4782649"/>
            <a:ext cx="1245889" cy="186689"/>
          </a:xfrm>
          <a:prstGeom prst="rect">
            <a:avLst/>
          </a:prstGeom>
          <a:noFill/>
        </p:spPr>
        <p:txBody>
          <a:bodyPr wrap="none" lIns="0" rIns="0" tIns="0" bIns="0">
            <a:spAutoFit/>
          </a:bodyPr>
          <a:lstStyle/>
          <a:p>
            <a:r>
              <a:rPr sz="1100" b="1">
                <a:solidFill>
                  <a:srgbClr val="0E72AE"/>
                </a:solidFill>
                <a:latin typeface="Calibri"/>
              </a:rPr>
              <a:t>CAGR grows fastest.</a:t>
            </a:r>
          </a:p>
        </p:txBody>
      </p:sp>
      <p:sp>
        <p:nvSpPr>
          <p:cNvPr id="86" name="TextBox 85"/>
          <p:cNvSpPr txBox="1"/>
          <p:nvPr/>
        </p:nvSpPr>
        <p:spPr>
          <a:xfrm>
            <a:off x="8524875" y="5842641"/>
            <a:ext cx="3103599" cy="194310"/>
          </a:xfrm>
          <a:prstGeom prst="rect">
            <a:avLst/>
          </a:prstGeom>
          <a:noFill/>
        </p:spPr>
        <p:txBody>
          <a:bodyPr wrap="none" lIns="0" rIns="0" tIns="0" bIns="0">
            <a:spAutoFit/>
          </a:bodyPr>
          <a:lstStyle/>
          <a:p>
            <a:r>
              <a:rPr sz="1150" b="1">
                <a:solidFill>
                  <a:srgbClr val="0B2E4A"/>
                </a:solidFill>
                <a:latin typeface="Calibri"/>
              </a:rPr>
              <a:t>The Material Source segment is projected to grow</a:t>
            </a:r>
          </a:p>
        </p:txBody>
      </p:sp>
      <p:sp>
        <p:nvSpPr>
          <p:cNvPr id="87" name="TextBox 86"/>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88" name="Picture 87" descr="lock.png"/>
          <p:cNvPicPr>
            <a:picLocks noChangeAspect="1"/>
          </p:cNvPicPr>
          <p:nvPr/>
        </p:nvPicPr>
        <p:blipFill>
          <a:blip r:embed="rId10"/>
          <a:stretch>
            <a:fillRect/>
          </a:stretch>
        </p:blipFill>
        <p:spPr>
          <a:xfrm>
            <a:off x="9310118" y="6007677"/>
            <a:ext cx="134549" cy="195707"/>
          </a:xfrm>
          <a:prstGeom prst="rect">
            <a:avLst/>
          </a:prstGeom>
        </p:spPr>
      </p:pic>
      <p:sp>
        <p:nvSpPr>
          <p:cNvPr id="89" name="TextBox 88"/>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Material Source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Source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Source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Source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77650" cy="186689"/>
          </a:xfrm>
          <a:prstGeom prst="rect">
            <a:avLst/>
          </a:prstGeom>
          <a:noFill/>
        </p:spPr>
        <p:txBody>
          <a:bodyPr wrap="none" lIns="0" rIns="0" tIns="0" bIns="0">
            <a:spAutoFit/>
          </a:bodyPr>
          <a:lstStyle/>
          <a:p>
            <a:r>
              <a:rPr sz="1100" b="0">
                <a:solidFill>
                  <a:srgbClr val="2E2E2E"/>
                </a:solidFill>
                <a:latin typeface="Calibri"/>
              </a:rPr>
              <a:t>Virgin kraft fibre-based followed by recycled fibre-based (testliner/recycled medium) are expected to be the two most attractive material source segments in the North America corrugated partition market</a:t>
            </a:r>
          </a:p>
        </p:txBody>
      </p:sp>
      <p:sp>
        <p:nvSpPr>
          <p:cNvPr id="21" name="TextBox 20"/>
          <p:cNvSpPr txBox="1"/>
          <p:nvPr/>
        </p:nvSpPr>
        <p:spPr>
          <a:xfrm>
            <a:off x="257175" y="5945505"/>
            <a:ext cx="8643449" cy="186689"/>
          </a:xfrm>
          <a:prstGeom prst="rect">
            <a:avLst/>
          </a:prstGeom>
          <a:noFill/>
        </p:spPr>
        <p:txBody>
          <a:bodyPr wrap="none" lIns="0" rIns="0" tIns="0" bIns="0">
            <a:spAutoFit/>
          </a:bodyPr>
          <a:lstStyle/>
          <a:p>
            <a:r>
              <a:rPr sz="1100" b="0">
                <a:solidFill>
                  <a:srgbClr val="2E2E2E"/>
                </a:solidFill>
                <a:latin typeface="Calibri"/>
              </a:rPr>
              <a:t>in terms of value over the forecast period. Virgin kraft fibre-based and recycled fibre-based (testliner/recycled medium) exhibit a CAGR index of 99 and</a:t>
            </a:r>
          </a:p>
        </p:txBody>
      </p:sp>
      <p:pic>
        <p:nvPicPr>
          <p:cNvPr id="22" name="Picture 21" descr="lock.png"/>
          <p:cNvPicPr>
            <a:picLocks noChangeAspect="1"/>
          </p:cNvPicPr>
          <p:nvPr/>
        </p:nvPicPr>
        <p:blipFill>
          <a:blip r:embed="rId6"/>
          <a:stretch>
            <a:fillRect/>
          </a:stretch>
        </p:blipFill>
        <p:spPr>
          <a:xfrm>
            <a:off x="8848675" y="5935726"/>
            <a:ext cx="128699" cy="187198"/>
          </a:xfrm>
          <a:prstGeom prst="rect">
            <a:avLst/>
          </a:prstGeom>
        </p:spPr>
      </p:pic>
      <p:sp>
        <p:nvSpPr>
          <p:cNvPr id="23" name="TextBox 22"/>
          <p:cNvSpPr txBox="1"/>
          <p:nvPr/>
        </p:nvSpPr>
        <p:spPr>
          <a:xfrm>
            <a:off x="9016171"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4" name="Picture 23" descr="lock.png"/>
          <p:cNvPicPr>
            <a:picLocks noChangeAspect="1"/>
          </p:cNvPicPr>
          <p:nvPr/>
        </p:nvPicPr>
        <p:blipFill>
          <a:blip r:embed="rId6"/>
          <a:stretch>
            <a:fillRect/>
          </a:stretch>
        </p:blipFill>
        <p:spPr>
          <a:xfrm>
            <a:off x="10625145" y="5935726"/>
            <a:ext cx="128699" cy="187198"/>
          </a:xfrm>
          <a:prstGeom prst="rect">
            <a:avLst/>
          </a:prstGeom>
        </p:spPr>
      </p:pic>
      <p:sp>
        <p:nvSpPr>
          <p:cNvPr id="25" name="TextBox 24"/>
          <p:cNvSpPr txBox="1"/>
          <p:nvPr/>
        </p:nvSpPr>
        <p:spPr>
          <a:xfrm>
            <a:off x="10792640" y="5945505"/>
            <a:ext cx="463376" cy="186689"/>
          </a:xfrm>
          <a:prstGeom prst="rect">
            <a:avLst/>
          </a:prstGeom>
          <a:noFill/>
        </p:spPr>
        <p:txBody>
          <a:bodyPr wrap="none" lIns="0" rIns="0" tIns="0" bIns="0">
            <a:spAutoFit/>
          </a:bodyPr>
          <a:lstStyle/>
          <a:p>
            <a:r>
              <a:rPr sz="1100" b="0">
                <a:solidFill>
                  <a:srgbClr val="2E2E2E"/>
                </a:solidFill>
                <a:latin typeface="Calibri"/>
              </a:rPr>
              <a:t>and 41</a:t>
            </a:r>
          </a:p>
        </p:txBody>
      </p:sp>
      <p:sp>
        <p:nvSpPr>
          <p:cNvPr id="26" name="TextBox 25"/>
          <p:cNvSpPr txBox="1"/>
          <p:nvPr/>
        </p:nvSpPr>
        <p:spPr>
          <a:xfrm>
            <a:off x="257175" y="611314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7" name="Picture 26" descr="lock.png"/>
          <p:cNvPicPr>
            <a:picLocks noChangeAspect="1"/>
          </p:cNvPicPr>
          <p:nvPr/>
        </p:nvPicPr>
        <p:blipFill>
          <a:blip r:embed="rId6"/>
          <a:stretch>
            <a:fillRect/>
          </a:stretch>
        </p:blipFill>
        <p:spPr>
          <a:xfrm>
            <a:off x="2811579" y="6103366"/>
            <a:ext cx="128699" cy="187198"/>
          </a:xfrm>
          <a:prstGeom prst="rect">
            <a:avLst/>
          </a:prstGeom>
        </p:spPr>
      </p:pic>
      <p:sp>
        <p:nvSpPr>
          <p:cNvPr id="28" name="TextBox 27"/>
          <p:cNvSpPr txBox="1"/>
          <p:nvPr/>
        </p:nvSpPr>
        <p:spPr>
          <a:xfrm>
            <a:off x="2979074" y="6113145"/>
            <a:ext cx="4443717" cy="186689"/>
          </a:xfrm>
          <a:prstGeom prst="rect">
            <a:avLst/>
          </a:prstGeom>
          <a:noFill/>
        </p:spPr>
        <p:txBody>
          <a:bodyPr wrap="none" lIns="0" rIns="0" tIns="0" bIns="0">
            <a:spAutoFit/>
          </a:bodyPr>
          <a:lstStyle/>
          <a:p>
            <a:r>
              <a:rPr sz="1100" b="0">
                <a:solidFill>
                  <a:srgbClr val="2E2E2E"/>
                </a:solidFill>
                <a:latin typeface="Calibri"/>
              </a:rPr>
              <a:t>. Bubbles right of the CAGR-Index line grow faster than the segment average.</a:t>
            </a:r>
          </a:p>
        </p:txBody>
      </p:sp>
      <p:sp>
        <p:nvSpPr>
          <p:cNvPr id="29"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Material Source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Source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Virgin Kraft Fibre-based</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Recycled Fibre-based (testliner/recycled medium)</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Source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Source,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19350"/>
          </a:xfrm>
          <a:prstGeom prst="roundRect">
            <a:avLst>
              <a:gd name="adj" fmla="val 31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Source (MT)</a:t>
            </a:r>
          </a:p>
        </p:txBody>
      </p:sp>
      <p:graphicFrame>
        <p:nvGraphicFramePr>
          <p:cNvPr id="13" name="Table 12"/>
          <p:cNvGraphicFramePr>
            <a:graphicFrameLocks noGrp="1"/>
          </p:cNvGraphicFramePr>
          <p:nvPr/>
        </p:nvGraphicFramePr>
        <p:xfrm>
          <a:off x="152400" y="1238250"/>
          <a:ext cx="11887208" cy="1952624"/>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Source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568833">
                <a:tc>
                  <a:txBody>
                    <a:bodyPr wrap="none"/>
                    <a:lstStyle/>
                    <a:p>
                      <a:pPr algn="l"/>
                      <a:r>
                        <a:rPr sz="1100" b="1">
                          <a:solidFill>
                            <a:srgbClr val="2E2E2E"/>
                          </a:solidFill>
                          <a:latin typeface="Calibri"/>
                        </a:rPr>
                        <a:t>Virgin Kraft Fibre-</a:t>
                      </a:r>
                      <a:endParaRPr sz="1100"/>
                    </a:p>
                    <a:p>
                      <a:pPr algn="l"/>
                      <a:r>
                        <a:rPr sz="1100" b="1">
                          <a:solidFill>
                            <a:srgbClr val="2E2E2E"/>
                          </a:solidFill>
                          <a:latin typeface="Calibri"/>
                        </a:rPr>
                        <a: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568833">
                <a:tc>
                  <a:txBody>
                    <a:bodyPr wrap="none"/>
                    <a:lstStyle/>
                    <a:p>
                      <a:pPr algn="l"/>
                      <a:r>
                        <a:rPr sz="1100" b="1">
                          <a:solidFill>
                            <a:srgbClr val="2E2E2E"/>
                          </a:solidFill>
                          <a:latin typeface="Calibri"/>
                        </a:rPr>
                        <a:t>Recycled Fibre-</a:t>
                      </a:r>
                      <a:endParaRPr sz="1100"/>
                    </a:p>
                    <a:p>
                      <a:pPr algn="l"/>
                      <a:r>
                        <a:rPr sz="1100" b="1">
                          <a:solidFill>
                            <a:srgbClr val="2E2E2E"/>
                          </a:solidFill>
                          <a:latin typeface="Calibri"/>
                        </a:rPr>
                        <a:t>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376046">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200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33775"/>
            <a:ext cx="11906250" cy="3095625"/>
          </a:xfrm>
          <a:prstGeom prst="roundRect">
            <a:avLst>
              <a:gd name="adj" fmla="val 24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19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Material Source</a:t>
            </a:r>
          </a:p>
        </p:txBody>
      </p:sp>
      <p:sp>
        <p:nvSpPr>
          <p:cNvPr id="17" name="Rectangle 16"/>
          <p:cNvSpPr/>
          <p:nvPr/>
        </p:nvSpPr>
        <p:spPr>
          <a:xfrm>
            <a:off x="276225" y="3857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43350"/>
            <a:ext cx="11639550" cy="2609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67318"/>
            <a:ext cx="366712" cy="533399"/>
          </a:xfrm>
          <a:prstGeom prst="rect">
            <a:avLst/>
          </a:prstGeom>
        </p:spPr>
      </p:pic>
      <p:sp>
        <p:nvSpPr>
          <p:cNvPr id="21" name="TextBox 20"/>
          <p:cNvSpPr txBox="1"/>
          <p:nvPr/>
        </p:nvSpPr>
        <p:spPr>
          <a:xfrm>
            <a:off x="276225" y="3952875"/>
            <a:ext cx="3372023" cy="194310"/>
          </a:xfrm>
          <a:prstGeom prst="rect">
            <a:avLst/>
          </a:prstGeom>
          <a:noFill/>
        </p:spPr>
        <p:txBody>
          <a:bodyPr wrap="none" lIns="0" rIns="0" tIns="0" bIns="0">
            <a:spAutoFit/>
          </a:bodyPr>
          <a:lstStyle/>
          <a:p>
            <a:r>
              <a:rPr sz="1150" b="0">
                <a:solidFill>
                  <a:srgbClr val="2E2E2E"/>
                </a:solidFill>
                <a:latin typeface="Calibri"/>
              </a:rPr>
              <a:t>Virgin kraft fibre-based segment is projected to register</a:t>
            </a:r>
          </a:p>
        </p:txBody>
      </p:sp>
      <p:pic>
        <p:nvPicPr>
          <p:cNvPr id="22" name="Picture 21" descr="lock.png"/>
          <p:cNvPicPr>
            <a:picLocks noChangeAspect="1"/>
          </p:cNvPicPr>
          <p:nvPr/>
        </p:nvPicPr>
        <p:blipFill>
          <a:blip r:embed="rId4"/>
          <a:stretch>
            <a:fillRect/>
          </a:stretch>
        </p:blipFill>
        <p:spPr>
          <a:xfrm>
            <a:off x="3597402" y="3942651"/>
            <a:ext cx="134549" cy="195707"/>
          </a:xfrm>
          <a:prstGeom prst="rect">
            <a:avLst/>
          </a:prstGeom>
        </p:spPr>
      </p:pic>
      <p:sp>
        <p:nvSpPr>
          <p:cNvPr id="23" name="TextBox 22"/>
          <p:cNvSpPr txBox="1"/>
          <p:nvPr/>
        </p:nvSpPr>
        <p:spPr>
          <a:xfrm>
            <a:off x="3772511" y="3952875"/>
            <a:ext cx="7740116" cy="194310"/>
          </a:xfrm>
          <a:prstGeom prst="rect">
            <a:avLst/>
          </a:prstGeom>
          <a:noFill/>
        </p:spPr>
        <p:txBody>
          <a:bodyPr wrap="none" lIns="0" rIns="0" tIns="0" bIns="0">
            <a:spAutoFit/>
          </a:bodyPr>
          <a:lstStyle/>
          <a:p>
            <a:r>
              <a:rPr sz="1150" b="0">
                <a:solidFill>
                  <a:srgbClr val="2E2E2E"/>
                </a:solidFill>
                <a:latin typeface="Calibri"/>
              </a:rPr>
              <a:t>X higher volume than recycled fibre-based (testliner/recycled medium) segment in 2036. Among corrugated partition by material</a:t>
            </a:r>
          </a:p>
        </p:txBody>
      </p:sp>
      <p:sp>
        <p:nvSpPr>
          <p:cNvPr id="24" name="TextBox 23"/>
          <p:cNvSpPr txBox="1"/>
          <p:nvPr/>
        </p:nvSpPr>
        <p:spPr>
          <a:xfrm>
            <a:off x="276225" y="4128135"/>
            <a:ext cx="6559432" cy="194310"/>
          </a:xfrm>
          <a:prstGeom prst="rect">
            <a:avLst/>
          </a:prstGeom>
          <a:noFill/>
        </p:spPr>
        <p:txBody>
          <a:bodyPr wrap="none" lIns="0" rIns="0" tIns="0" bIns="0">
            <a:spAutoFit/>
          </a:bodyPr>
          <a:lstStyle/>
          <a:p>
            <a:r>
              <a:rPr sz="1150" b="0">
                <a:solidFill>
                  <a:srgbClr val="2E2E2E"/>
                </a:solidFill>
                <a:latin typeface="Calibri"/>
              </a:rPr>
              <a:t>source, recycled fibre-based (testliner/recycled medium) segment is expected to witness the highest CAGR of</a:t>
            </a:r>
          </a:p>
        </p:txBody>
      </p:sp>
      <p:pic>
        <p:nvPicPr>
          <p:cNvPr id="25" name="Picture 24" descr="lock.png"/>
          <p:cNvPicPr>
            <a:picLocks noChangeAspect="1"/>
          </p:cNvPicPr>
          <p:nvPr/>
        </p:nvPicPr>
        <p:blipFill>
          <a:blip r:embed="rId4"/>
          <a:stretch>
            <a:fillRect/>
          </a:stretch>
        </p:blipFill>
        <p:spPr>
          <a:xfrm>
            <a:off x="6784811" y="4117911"/>
            <a:ext cx="134549" cy="195707"/>
          </a:xfrm>
          <a:prstGeom prst="rect">
            <a:avLst/>
          </a:prstGeom>
        </p:spPr>
      </p:pic>
      <p:sp>
        <p:nvSpPr>
          <p:cNvPr id="26" name="TextBox 25"/>
          <p:cNvSpPr txBox="1"/>
          <p:nvPr/>
        </p:nvSpPr>
        <p:spPr>
          <a:xfrm>
            <a:off x="6959921" y="4128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55972"/>
            <a:ext cx="7471978" cy="194310"/>
          </a:xfrm>
          <a:prstGeom prst="rect">
            <a:avLst/>
          </a:prstGeom>
          <a:noFill/>
        </p:spPr>
        <p:txBody>
          <a:bodyPr wrap="none" lIns="0" rIns="0" tIns="0" bIns="0">
            <a:spAutoFit/>
          </a:bodyPr>
          <a:lstStyle/>
          <a:p>
            <a:r>
              <a:rPr sz="1150" b="0">
                <a:solidFill>
                  <a:srgbClr val="2E2E2E"/>
                </a:solidFill>
                <a:latin typeface="Calibri"/>
              </a:rPr>
              <a:t>In terms of volume share by material source, the virgin kraft fibre-based segment is expected to dominate the market, losing</a:t>
            </a:r>
          </a:p>
        </p:txBody>
      </p:sp>
      <p:pic>
        <p:nvPicPr>
          <p:cNvPr id="28" name="Picture 27" descr="lock.png"/>
          <p:cNvPicPr>
            <a:picLocks noChangeAspect="1"/>
          </p:cNvPicPr>
          <p:nvPr/>
        </p:nvPicPr>
        <p:blipFill>
          <a:blip r:embed="rId4"/>
          <a:stretch>
            <a:fillRect/>
          </a:stretch>
        </p:blipFill>
        <p:spPr>
          <a:xfrm>
            <a:off x="7697356" y="4345749"/>
            <a:ext cx="134549" cy="195707"/>
          </a:xfrm>
          <a:prstGeom prst="rect">
            <a:avLst/>
          </a:prstGeom>
        </p:spPr>
      </p:pic>
      <p:sp>
        <p:nvSpPr>
          <p:cNvPr id="29" name="TextBox 28"/>
          <p:cNvSpPr txBox="1"/>
          <p:nvPr/>
        </p:nvSpPr>
        <p:spPr>
          <a:xfrm>
            <a:off x="7872466" y="4355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267609" y="4345749"/>
            <a:ext cx="134549" cy="195707"/>
          </a:xfrm>
          <a:prstGeom prst="rect">
            <a:avLst/>
          </a:prstGeom>
        </p:spPr>
      </p:pic>
      <p:sp>
        <p:nvSpPr>
          <p:cNvPr id="31" name="TextBox 30"/>
          <p:cNvSpPr txBox="1"/>
          <p:nvPr/>
        </p:nvSpPr>
        <p:spPr>
          <a:xfrm>
            <a:off x="9442718" y="43559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Material Source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Source,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Material Source (US$ Mn)</a:t>
            </a:r>
          </a:p>
        </p:txBody>
      </p:sp>
      <p:graphicFrame>
        <p:nvGraphicFramePr>
          <p:cNvPr id="13" name="Table 12"/>
          <p:cNvGraphicFramePr>
            <a:graphicFrameLocks noGrp="1"/>
          </p:cNvGraphicFramePr>
          <p:nvPr/>
        </p:nvGraphicFramePr>
        <p:xfrm>
          <a:off x="152400" y="1238250"/>
          <a:ext cx="11887201" cy="990600"/>
        </p:xfrm>
        <a:graphic>
          <a:graphicData uri="http://schemas.openxmlformats.org/drawingml/2006/table">
            <a:tbl>
              <a:tblPr>
                <a:tableStyleId>{5C22544A-7EE6-4342-B048-85BDC9FD1C3A}</a:tableStyleId>
              </a:tblPr>
              <a:tblGrid>
                <a:gridCol w="1659814"/>
                <a:gridCol w="601611"/>
                <a:gridCol w="601611"/>
                <a:gridCol w="601611"/>
                <a:gridCol w="601611"/>
                <a:gridCol w="601611"/>
                <a:gridCol w="601611"/>
                <a:gridCol w="601611"/>
                <a:gridCol w="601611"/>
                <a:gridCol w="601611"/>
                <a:gridCol w="601611"/>
                <a:gridCol w="601611"/>
                <a:gridCol w="601611"/>
                <a:gridCol w="601611"/>
                <a:gridCol w="601611"/>
                <a:gridCol w="601611"/>
                <a:gridCol w="601611"/>
                <a:gridCol w="601611"/>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Material Source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39217" y="1589913"/>
            <a:ext cx="366712" cy="533400"/>
          </a:xfrm>
          <a:prstGeom prst="rect">
            <a:avLst/>
          </a:prstGeom>
        </p:spPr>
      </p:pic>
      <p:sp>
        <p:nvSpPr>
          <p:cNvPr id="21" name="TextBox 20"/>
          <p:cNvSpPr txBox="1"/>
          <p:nvPr/>
        </p:nvSpPr>
        <p:spPr>
          <a:xfrm>
            <a:off x="276225" y="2990850"/>
            <a:ext cx="3372023" cy="194310"/>
          </a:xfrm>
          <a:prstGeom prst="rect">
            <a:avLst/>
          </a:prstGeom>
          <a:noFill/>
        </p:spPr>
        <p:txBody>
          <a:bodyPr wrap="none" lIns="0" rIns="0" tIns="0" bIns="0">
            <a:spAutoFit/>
          </a:bodyPr>
          <a:lstStyle/>
          <a:p>
            <a:r>
              <a:rPr sz="1150" b="0">
                <a:solidFill>
                  <a:srgbClr val="2E2E2E"/>
                </a:solidFill>
                <a:latin typeface="Calibri"/>
              </a:rPr>
              <a:t>Virgin kraft fibre-based segment is projected to register</a:t>
            </a:r>
          </a:p>
        </p:txBody>
      </p:sp>
      <p:pic>
        <p:nvPicPr>
          <p:cNvPr id="22" name="Picture 21" descr="lock.png"/>
          <p:cNvPicPr>
            <a:picLocks noChangeAspect="1"/>
          </p:cNvPicPr>
          <p:nvPr/>
        </p:nvPicPr>
        <p:blipFill>
          <a:blip r:embed="rId4"/>
          <a:stretch>
            <a:fillRect/>
          </a:stretch>
        </p:blipFill>
        <p:spPr>
          <a:xfrm>
            <a:off x="3597402" y="2980626"/>
            <a:ext cx="134549" cy="195707"/>
          </a:xfrm>
          <a:prstGeom prst="rect">
            <a:avLst/>
          </a:prstGeom>
        </p:spPr>
      </p:pic>
      <p:sp>
        <p:nvSpPr>
          <p:cNvPr id="23" name="TextBox 22"/>
          <p:cNvSpPr txBox="1"/>
          <p:nvPr/>
        </p:nvSpPr>
        <p:spPr>
          <a:xfrm>
            <a:off x="3772511" y="2990850"/>
            <a:ext cx="8082421" cy="194310"/>
          </a:xfrm>
          <a:prstGeom prst="rect">
            <a:avLst/>
          </a:prstGeom>
          <a:noFill/>
        </p:spPr>
        <p:txBody>
          <a:bodyPr wrap="none" lIns="0" rIns="0" tIns="0" bIns="0">
            <a:spAutoFit/>
          </a:bodyPr>
          <a:lstStyle/>
          <a:p>
            <a:r>
              <a:rPr sz="1150" b="0">
                <a:solidFill>
                  <a:srgbClr val="2E2E2E"/>
                </a:solidFill>
                <a:latin typeface="Calibri"/>
              </a:rPr>
              <a:t>X higher value than recycled fibre-based (testliner/recycled medium) segment in 2036. Among corrugated partition by material source,</a:t>
            </a:r>
          </a:p>
        </p:txBody>
      </p:sp>
      <p:sp>
        <p:nvSpPr>
          <p:cNvPr id="24" name="TextBox 23"/>
          <p:cNvSpPr txBox="1"/>
          <p:nvPr/>
        </p:nvSpPr>
        <p:spPr>
          <a:xfrm>
            <a:off x="276225" y="3166110"/>
            <a:ext cx="6093328" cy="194310"/>
          </a:xfrm>
          <a:prstGeom prst="rect">
            <a:avLst/>
          </a:prstGeom>
          <a:noFill/>
        </p:spPr>
        <p:txBody>
          <a:bodyPr wrap="none" lIns="0" rIns="0" tIns="0" bIns="0">
            <a:spAutoFit/>
          </a:bodyPr>
          <a:lstStyle/>
          <a:p>
            <a:r>
              <a:rPr sz="1150" b="0">
                <a:solidFill>
                  <a:srgbClr val="2E2E2E"/>
                </a:solidFill>
                <a:latin typeface="Calibri"/>
              </a:rPr>
              <a:t>recycled fibre-based (testliner/recycled medium) segment is expected to witness the highest CAGR of</a:t>
            </a:r>
          </a:p>
        </p:txBody>
      </p:sp>
      <p:pic>
        <p:nvPicPr>
          <p:cNvPr id="25" name="Picture 24" descr="lock.png"/>
          <p:cNvPicPr>
            <a:picLocks noChangeAspect="1"/>
          </p:cNvPicPr>
          <p:nvPr/>
        </p:nvPicPr>
        <p:blipFill>
          <a:blip r:embed="rId4"/>
          <a:stretch>
            <a:fillRect/>
          </a:stretch>
        </p:blipFill>
        <p:spPr>
          <a:xfrm>
            <a:off x="6318707" y="3155886"/>
            <a:ext cx="134549" cy="195707"/>
          </a:xfrm>
          <a:prstGeom prst="rect">
            <a:avLst/>
          </a:prstGeom>
        </p:spPr>
      </p:pic>
      <p:sp>
        <p:nvSpPr>
          <p:cNvPr id="26" name="TextBox 25"/>
          <p:cNvSpPr txBox="1"/>
          <p:nvPr/>
        </p:nvSpPr>
        <p:spPr>
          <a:xfrm>
            <a:off x="6493816"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348177" cy="194310"/>
          </a:xfrm>
          <a:prstGeom prst="rect">
            <a:avLst/>
          </a:prstGeom>
          <a:noFill/>
        </p:spPr>
        <p:txBody>
          <a:bodyPr wrap="none" lIns="0" rIns="0" tIns="0" bIns="0">
            <a:spAutoFit/>
          </a:bodyPr>
          <a:lstStyle/>
          <a:p>
            <a:r>
              <a:rPr sz="1150" b="0">
                <a:solidFill>
                  <a:srgbClr val="2E2E2E"/>
                </a:solidFill>
                <a:latin typeface="Calibri"/>
              </a:rPr>
              <a:t>In terms of value share by material source, the virgin kraft fibre-based segment is expected to dominate the market, losing</a:t>
            </a:r>
          </a:p>
        </p:txBody>
      </p:sp>
      <p:pic>
        <p:nvPicPr>
          <p:cNvPr id="28" name="Picture 27" descr="lock.png"/>
          <p:cNvPicPr>
            <a:picLocks noChangeAspect="1"/>
          </p:cNvPicPr>
          <p:nvPr/>
        </p:nvPicPr>
        <p:blipFill>
          <a:blip r:embed="rId4"/>
          <a:stretch>
            <a:fillRect/>
          </a:stretch>
        </p:blipFill>
        <p:spPr>
          <a:xfrm>
            <a:off x="7573556" y="3383724"/>
            <a:ext cx="134549" cy="195707"/>
          </a:xfrm>
          <a:prstGeom prst="rect">
            <a:avLst/>
          </a:prstGeom>
        </p:spPr>
      </p:pic>
      <p:sp>
        <p:nvSpPr>
          <p:cNvPr id="29" name="TextBox 28"/>
          <p:cNvSpPr txBox="1"/>
          <p:nvPr/>
        </p:nvSpPr>
        <p:spPr>
          <a:xfrm>
            <a:off x="7748666"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43809" y="3383724"/>
            <a:ext cx="134549" cy="195707"/>
          </a:xfrm>
          <a:prstGeom prst="rect">
            <a:avLst/>
          </a:prstGeom>
        </p:spPr>
      </p:pic>
      <p:sp>
        <p:nvSpPr>
          <p:cNvPr id="31" name="TextBox 30"/>
          <p:cNvSpPr txBox="1"/>
          <p:nvPr/>
        </p:nvSpPr>
        <p:spPr>
          <a:xfrm>
            <a:off x="931891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Material Source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Source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Material Source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1483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14358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0673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Recycled Fibre-based</a:t>
            </a:r>
          </a:p>
        </p:txBody>
      </p:sp>
      <p:sp>
        <p:nvSpPr>
          <p:cNvPr id="19" name="BPS Value 1"/>
          <p:cNvSpPr txBox="1"/>
          <p:nvPr/>
        </p:nvSpPr>
        <p:spPr>
          <a:xfrm>
            <a:off x="6896100" y="21293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43454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42977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3535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Virgin Kraft Fibre-based</a:t>
            </a:r>
          </a:p>
        </p:txBody>
      </p:sp>
      <p:sp>
        <p:nvSpPr>
          <p:cNvPr id="23" name="BPS Value 2"/>
          <p:cNvSpPr txBox="1"/>
          <p:nvPr/>
        </p:nvSpPr>
        <p:spPr>
          <a:xfrm>
            <a:off x="6896100" y="441549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Material Source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439628" cy="194310"/>
          </a:xfrm>
          <a:prstGeom prst="rect">
            <a:avLst/>
          </a:prstGeom>
          <a:noFill/>
        </p:spPr>
        <p:txBody>
          <a:bodyPr wrap="none" lIns="0" rIns="0" tIns="0" bIns="0">
            <a:spAutoFit/>
          </a:bodyPr>
          <a:lstStyle/>
          <a:p>
            <a:r>
              <a:rPr sz="1150" b="0">
                <a:solidFill>
                  <a:srgbClr val="2E2E2E"/>
                </a:solidFill>
                <a:latin typeface="Calibri"/>
              </a:rPr>
              <a:t>Among corrugated partition by material source, recycled</a:t>
            </a:r>
          </a:p>
        </p:txBody>
      </p:sp>
      <p:sp>
        <p:nvSpPr>
          <p:cNvPr id="31" name="TextBox 30"/>
          <p:cNvSpPr txBox="1"/>
          <p:nvPr/>
        </p:nvSpPr>
        <p:spPr>
          <a:xfrm>
            <a:off x="7829550" y="1575435"/>
            <a:ext cx="3858666" cy="194310"/>
          </a:xfrm>
          <a:prstGeom prst="rect">
            <a:avLst/>
          </a:prstGeom>
          <a:noFill/>
        </p:spPr>
        <p:txBody>
          <a:bodyPr wrap="none" lIns="0" rIns="0" tIns="0" bIns="0">
            <a:spAutoFit/>
          </a:bodyPr>
          <a:lstStyle/>
          <a:p>
            <a:r>
              <a:rPr sz="1150" b="0">
                <a:solidFill>
                  <a:srgbClr val="2E2E2E"/>
                </a:solidFill>
                <a:latin typeface="Calibri"/>
              </a:rPr>
              <a:t>fibre-based (testliner/recycled medium) segment is expected to</a:t>
            </a:r>
          </a:p>
        </p:txBody>
      </p:sp>
      <p:sp>
        <p:nvSpPr>
          <p:cNvPr id="32" name="TextBox 31"/>
          <p:cNvSpPr txBox="1"/>
          <p:nvPr/>
        </p:nvSpPr>
        <p:spPr>
          <a:xfrm>
            <a:off x="7829550" y="175069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33" name="Picture 32" descr="lock.png"/>
          <p:cNvPicPr>
            <a:picLocks noChangeAspect="1"/>
          </p:cNvPicPr>
          <p:nvPr/>
        </p:nvPicPr>
        <p:blipFill>
          <a:blip r:embed="rId5"/>
          <a:stretch>
            <a:fillRect/>
          </a:stretch>
        </p:blipFill>
        <p:spPr>
          <a:xfrm>
            <a:off x="9526474" y="1740471"/>
            <a:ext cx="134549" cy="195707"/>
          </a:xfrm>
          <a:prstGeom prst="rect">
            <a:avLst/>
          </a:prstGeom>
        </p:spPr>
      </p:pic>
      <p:sp>
        <p:nvSpPr>
          <p:cNvPr id="34" name="TextBox 33"/>
          <p:cNvSpPr txBox="1"/>
          <p:nvPr/>
        </p:nvSpPr>
        <p:spPr>
          <a:xfrm>
            <a:off x="9701583"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5" name="TextBox 34"/>
          <p:cNvSpPr txBox="1"/>
          <p:nvPr/>
        </p:nvSpPr>
        <p:spPr>
          <a:xfrm>
            <a:off x="7829550" y="1978533"/>
            <a:ext cx="3516932" cy="194310"/>
          </a:xfrm>
          <a:prstGeom prst="rect">
            <a:avLst/>
          </a:prstGeom>
          <a:noFill/>
        </p:spPr>
        <p:txBody>
          <a:bodyPr wrap="none" lIns="0" rIns="0" tIns="0" bIns="0">
            <a:spAutoFit/>
          </a:bodyPr>
          <a:lstStyle/>
          <a:p>
            <a:r>
              <a:rPr sz="1150" b="0">
                <a:solidFill>
                  <a:srgbClr val="2E2E2E"/>
                </a:solidFill>
                <a:latin typeface="Calibri"/>
              </a:rPr>
              <a:t>In terms of value share by material source, the virgin kraft</a:t>
            </a:r>
          </a:p>
        </p:txBody>
      </p:sp>
      <p:sp>
        <p:nvSpPr>
          <p:cNvPr id="36" name="TextBox 35"/>
          <p:cNvSpPr txBox="1"/>
          <p:nvPr/>
        </p:nvSpPr>
        <p:spPr>
          <a:xfrm>
            <a:off x="7829550" y="2153793"/>
            <a:ext cx="3874355" cy="194310"/>
          </a:xfrm>
          <a:prstGeom prst="rect">
            <a:avLst/>
          </a:prstGeom>
          <a:noFill/>
        </p:spPr>
        <p:txBody>
          <a:bodyPr wrap="none" lIns="0" rIns="0" tIns="0" bIns="0">
            <a:spAutoFit/>
          </a:bodyPr>
          <a:lstStyle/>
          <a:p>
            <a:r>
              <a:rPr sz="1150" b="0">
                <a:solidFill>
                  <a:srgbClr val="2E2E2E"/>
                </a:solidFill>
                <a:latin typeface="Calibri"/>
              </a:rPr>
              <a:t>fibre-based segment is expected to dominate the market, losing</a:t>
            </a:r>
          </a:p>
        </p:txBody>
      </p:sp>
      <p:pic>
        <p:nvPicPr>
          <p:cNvPr id="37" name="Picture 36" descr="lock.png"/>
          <p:cNvPicPr>
            <a:picLocks noChangeAspect="1"/>
          </p:cNvPicPr>
          <p:nvPr/>
        </p:nvPicPr>
        <p:blipFill>
          <a:blip r:embed="rId5"/>
          <a:stretch>
            <a:fillRect/>
          </a:stretch>
        </p:blipFill>
        <p:spPr>
          <a:xfrm>
            <a:off x="7815470" y="2318829"/>
            <a:ext cx="134549" cy="195707"/>
          </a:xfrm>
          <a:prstGeom prst="rect">
            <a:avLst/>
          </a:prstGeom>
        </p:spPr>
      </p:pic>
      <p:sp>
        <p:nvSpPr>
          <p:cNvPr id="38" name="TextBox 37"/>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9" name="Picture 38" descr="lock.png"/>
          <p:cNvPicPr>
            <a:picLocks noChangeAspect="1"/>
          </p:cNvPicPr>
          <p:nvPr/>
        </p:nvPicPr>
        <p:blipFill>
          <a:blip r:embed="rId5"/>
          <a:stretch>
            <a:fillRect/>
          </a:stretch>
        </p:blipFill>
        <p:spPr>
          <a:xfrm>
            <a:off x="9385722" y="2318829"/>
            <a:ext cx="134549" cy="195707"/>
          </a:xfrm>
          <a:prstGeom prst="rect">
            <a:avLst/>
          </a:prstGeom>
        </p:spPr>
      </p:pic>
      <p:sp>
        <p:nvSpPr>
          <p:cNvPr id="40" name="TextBox 39"/>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Source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Source,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gridCol w="671514"/>
                <a:gridCol w="671514"/>
                <a:gridCol w="671514"/>
                <a:gridCol w="671514"/>
                <a:gridCol w="671514"/>
                <a:gridCol w="671514"/>
                <a:gridCol w="671514"/>
                <a:gridCol w="671514"/>
                <a:gridCol w="671514"/>
                <a:gridCol w="671514"/>
                <a:gridCol w="671514"/>
                <a:gridCol w="671514"/>
                <a:gridCol w="671514"/>
                <a:gridCol w="671514"/>
                <a:gridCol w="671514"/>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Material Source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Virgin Kraft Fibre-based</a:t>
            </a:r>
          </a:p>
        </p:txBody>
      </p:sp>
      <p:sp>
        <p:nvSpPr>
          <p:cNvPr id="33" name="Rectangle 32"/>
          <p:cNvSpPr/>
          <p:nvPr/>
        </p:nvSpPr>
        <p:spPr>
          <a:xfrm>
            <a:off x="185737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Recycled Fibre-based (testliner/recycled medium)</a:t>
            </a:r>
          </a:p>
        </p:txBody>
      </p:sp>
      <p:sp>
        <p:nvSpPr>
          <p:cNvPr id="49" name="Rectangle 48"/>
          <p:cNvSpPr/>
          <p:nvPr/>
        </p:nvSpPr>
        <p:spPr>
          <a:xfrm>
            <a:off x="1857375" y="4662488"/>
            <a:ext cx="643890" cy="190976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35228" y="1482090"/>
            <a:ext cx="330041" cy="480060"/>
          </a:xfrm>
          <a:prstGeom prst="rect">
            <a:avLst/>
          </a:prstGeom>
        </p:spPr>
      </p:pic>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Source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Source,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gridCol w="671514"/>
                <a:gridCol w="671514"/>
                <a:gridCol w="671514"/>
                <a:gridCol w="671514"/>
                <a:gridCol w="671514"/>
                <a:gridCol w="671514"/>
                <a:gridCol w="671514"/>
                <a:gridCol w="671514"/>
                <a:gridCol w="671514"/>
                <a:gridCol w="671514"/>
                <a:gridCol w="671514"/>
                <a:gridCol w="671514"/>
                <a:gridCol w="671514"/>
                <a:gridCol w="671514"/>
                <a:gridCol w="671514"/>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Material Source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Virgin Kraft Fibre-based</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Recycled Fibre-based (testliner/recycled medium)</a:t>
            </a:r>
          </a:p>
        </p:txBody>
      </p:sp>
      <p:sp>
        <p:nvSpPr>
          <p:cNvPr id="49" name="Rectangle 48"/>
          <p:cNvSpPr/>
          <p:nvPr/>
        </p:nvSpPr>
        <p:spPr>
          <a:xfrm>
            <a:off x="1857375" y="4662488"/>
            <a:ext cx="643890" cy="190976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D65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35228" y="1482090"/>
            <a:ext cx="330041" cy="480060"/>
          </a:xfrm>
          <a:prstGeom prst="rect">
            <a:avLst/>
          </a:prstGeom>
        </p:spPr>
      </p:pic>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Cell Configuration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Cell Configuration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Cell Configuration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Cell Configuration,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Cell Configuration segment categorizes the market by cell configuration.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Up to 4 Cells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6 to 12 Cells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13 to 24 Cells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Above 24 Cells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Cell Configuration split shows how demand is distributed across cell configuration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13_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613_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26_3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534_9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5_1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88_3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47_6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2_8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27_7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75_6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253282" cy="186689"/>
          </a:xfrm>
          <a:prstGeom prst="rect">
            <a:avLst/>
          </a:prstGeom>
          <a:noFill/>
        </p:spPr>
        <p:txBody>
          <a:bodyPr wrap="none" lIns="0" rIns="0" tIns="0" bIns="0">
            <a:spAutoFit/>
          </a:bodyPr>
          <a:lstStyle/>
          <a:p>
            <a:r>
              <a:rPr sz="1100" b="0">
                <a:solidFill>
                  <a:srgbClr val="2E2E2E"/>
                </a:solidFill>
                <a:latin typeface="Calibri"/>
              </a:rPr>
              <a:t>▪ ¶ Among corrugated partition by cell</a:t>
            </a:r>
          </a:p>
        </p:txBody>
      </p:sp>
      <p:sp>
        <p:nvSpPr>
          <p:cNvPr id="81" name="TextBox 80"/>
          <p:cNvSpPr txBox="1"/>
          <p:nvPr/>
        </p:nvSpPr>
        <p:spPr>
          <a:xfrm>
            <a:off x="485775" y="4397077"/>
            <a:ext cx="2914650" cy="186689"/>
          </a:xfrm>
          <a:prstGeom prst="rect">
            <a:avLst/>
          </a:prstGeom>
          <a:noFill/>
        </p:spPr>
        <p:txBody>
          <a:bodyPr wrap="none" lIns="0" rIns="0" tIns="0" bIns="0">
            <a:spAutoFit/>
          </a:bodyPr>
          <a:lstStyle/>
          <a:p>
            <a:r>
              <a:rPr sz="1100" b="0">
                <a:solidFill>
                  <a:srgbClr val="2E2E2E"/>
                </a:solidFill>
                <a:latin typeface="Calibri"/>
              </a:rPr>
              <a:t>configuration, 6 to 12 cells segment is expected to</a:t>
            </a:r>
          </a:p>
        </p:txBody>
      </p:sp>
      <p:sp>
        <p:nvSpPr>
          <p:cNvPr id="82" name="TextBox 81"/>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83" name="Picture 82" descr="lock.png"/>
          <p:cNvPicPr>
            <a:picLocks noChangeAspect="1"/>
          </p:cNvPicPr>
          <p:nvPr/>
        </p:nvPicPr>
        <p:blipFill>
          <a:blip r:embed="rId16"/>
          <a:stretch>
            <a:fillRect/>
          </a:stretch>
        </p:blipFill>
        <p:spPr>
          <a:xfrm>
            <a:off x="2108919" y="4554938"/>
            <a:ext cx="128699" cy="187198"/>
          </a:xfrm>
          <a:prstGeom prst="rect">
            <a:avLst/>
          </a:prstGeom>
        </p:spPr>
      </p:pic>
      <p:sp>
        <p:nvSpPr>
          <p:cNvPr id="84" name="TextBox 83"/>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85" name="TextBox 84"/>
          <p:cNvSpPr txBox="1"/>
          <p:nvPr/>
        </p:nvSpPr>
        <p:spPr>
          <a:xfrm>
            <a:off x="485775" y="4732357"/>
            <a:ext cx="2208534" cy="186689"/>
          </a:xfrm>
          <a:prstGeom prst="rect">
            <a:avLst/>
          </a:prstGeom>
          <a:noFill/>
        </p:spPr>
        <p:txBody>
          <a:bodyPr wrap="none" lIns="0" rIns="0" tIns="0" bIns="0">
            <a:spAutoFit/>
          </a:bodyPr>
          <a:lstStyle/>
          <a:p>
            <a:r>
              <a:rPr sz="1100" b="0">
                <a:solidFill>
                  <a:srgbClr val="2E2E2E"/>
                </a:solidFill>
                <a:latin typeface="Calibri"/>
              </a:rPr>
              <a:t>period. In terms of value share by cell</a:t>
            </a:r>
          </a:p>
        </p:txBody>
      </p:sp>
      <p:sp>
        <p:nvSpPr>
          <p:cNvPr id="86" name="TextBox 85"/>
          <p:cNvSpPr txBox="1"/>
          <p:nvPr/>
        </p:nvSpPr>
        <p:spPr>
          <a:xfrm>
            <a:off x="485775" y="4899997"/>
            <a:ext cx="2448917" cy="186689"/>
          </a:xfrm>
          <a:prstGeom prst="rect">
            <a:avLst/>
          </a:prstGeom>
          <a:noFill/>
        </p:spPr>
        <p:txBody>
          <a:bodyPr wrap="none" lIns="0" rIns="0" tIns="0" bIns="0">
            <a:spAutoFit/>
          </a:bodyPr>
          <a:lstStyle/>
          <a:p>
            <a:r>
              <a:rPr sz="1100" b="0">
                <a:solidFill>
                  <a:srgbClr val="2E2E2E"/>
                </a:solidFill>
                <a:latin typeface="Calibri"/>
              </a:rPr>
              <a:t>configuration, the up to 4 cells segment is</a:t>
            </a:r>
          </a:p>
        </p:txBody>
      </p:sp>
      <p:sp>
        <p:nvSpPr>
          <p:cNvPr id="87" name="TextBox 86"/>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88" name="Picture 87" descr="lock.png"/>
          <p:cNvPicPr>
            <a:picLocks noChangeAspect="1"/>
          </p:cNvPicPr>
          <p:nvPr/>
        </p:nvPicPr>
        <p:blipFill>
          <a:blip r:embed="rId16"/>
          <a:stretch>
            <a:fillRect/>
          </a:stretch>
        </p:blipFill>
        <p:spPr>
          <a:xfrm>
            <a:off x="2822716" y="5057858"/>
            <a:ext cx="128699" cy="187198"/>
          </a:xfrm>
          <a:prstGeom prst="rect">
            <a:avLst/>
          </a:prstGeom>
        </p:spPr>
      </p:pic>
      <p:sp>
        <p:nvSpPr>
          <p:cNvPr id="89" name="TextBox 88"/>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809626" cy="186689"/>
          </a:xfrm>
          <a:prstGeom prst="rect">
            <a:avLst/>
          </a:prstGeom>
          <a:noFill/>
        </p:spPr>
        <p:txBody>
          <a:bodyPr wrap="none" lIns="0" rIns="0" tIns="0" bIns="0">
            <a:spAutoFit/>
          </a:bodyPr>
          <a:lstStyle/>
          <a:p>
            <a:r>
              <a:rPr sz="1100" b="0">
                <a:solidFill>
                  <a:srgbClr val="2E2E2E"/>
                </a:solidFill>
                <a:latin typeface="Calibri"/>
              </a:rPr>
              <a:t>▪ ¶ Up to 4 cells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0595" cy="186689"/>
          </a:xfrm>
          <a:prstGeom prst="rect">
            <a:avLst/>
          </a:prstGeom>
          <a:noFill/>
        </p:spPr>
        <p:txBody>
          <a:bodyPr wrap="none" lIns="0" rIns="0" tIns="0" bIns="0">
            <a:spAutoFit/>
          </a:bodyPr>
          <a:lstStyle/>
          <a:p>
            <a:r>
              <a:rPr sz="1100" b="0">
                <a:solidFill>
                  <a:srgbClr val="2E2E2E"/>
                </a:solidFill>
                <a:latin typeface="Calibri"/>
              </a:rPr>
              <a:t>X higher value than 6 to 12 cells segment in</a:t>
            </a:r>
          </a:p>
        </p:txBody>
      </p:sp>
      <p:sp>
        <p:nvSpPr>
          <p:cNvPr id="96" name="TextBox 95"/>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97" name="TextBox 96"/>
          <p:cNvSpPr txBox="1"/>
          <p:nvPr/>
        </p:nvSpPr>
        <p:spPr>
          <a:xfrm>
            <a:off x="3838575" y="4229437"/>
            <a:ext cx="942230" cy="186689"/>
          </a:xfrm>
          <a:prstGeom prst="rect">
            <a:avLst/>
          </a:prstGeom>
          <a:noFill/>
        </p:spPr>
        <p:txBody>
          <a:bodyPr wrap="none" lIns="0" rIns="0" tIns="0" bIns="0">
            <a:spAutoFit/>
          </a:bodyPr>
          <a:lstStyle/>
          <a:p>
            <a:r>
              <a:rPr sz="1100" b="0">
                <a:solidFill>
                  <a:srgbClr val="2E2E2E"/>
                </a:solidFill>
                <a:latin typeface="Calibri"/>
              </a:rPr>
              <a:t>● Up to 4 Cells:</a:t>
            </a:r>
          </a:p>
        </p:txBody>
      </p:sp>
      <p:pic>
        <p:nvPicPr>
          <p:cNvPr id="98" name="Picture 97" descr="lock.png"/>
          <p:cNvPicPr>
            <a:picLocks noChangeAspect="1"/>
          </p:cNvPicPr>
          <p:nvPr/>
        </p:nvPicPr>
        <p:blipFill>
          <a:blip r:embed="rId16"/>
          <a:stretch>
            <a:fillRect/>
          </a:stretch>
        </p:blipFill>
        <p:spPr>
          <a:xfrm>
            <a:off x="4728857" y="4219658"/>
            <a:ext cx="128699" cy="187198"/>
          </a:xfrm>
          <a:prstGeom prst="rect">
            <a:avLst/>
          </a:prstGeom>
        </p:spPr>
      </p:pic>
      <p:sp>
        <p:nvSpPr>
          <p:cNvPr id="99" name="TextBox 98"/>
          <p:cNvSpPr txBox="1"/>
          <p:nvPr/>
        </p:nvSpPr>
        <p:spPr>
          <a:xfrm>
            <a:off x="489635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755803" y="4219658"/>
            <a:ext cx="128699" cy="187198"/>
          </a:xfrm>
          <a:prstGeom prst="rect">
            <a:avLst/>
          </a:prstGeom>
        </p:spPr>
      </p:pic>
      <p:sp>
        <p:nvSpPr>
          <p:cNvPr id="101" name="TextBox 100"/>
          <p:cNvSpPr txBox="1"/>
          <p:nvPr/>
        </p:nvSpPr>
        <p:spPr>
          <a:xfrm>
            <a:off x="5923299"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20948" cy="186689"/>
          </a:xfrm>
          <a:prstGeom prst="rect">
            <a:avLst/>
          </a:prstGeom>
          <a:noFill/>
        </p:spPr>
        <p:txBody>
          <a:bodyPr wrap="none" lIns="0" rIns="0" tIns="0" bIns="0">
            <a:spAutoFit/>
          </a:bodyPr>
          <a:lstStyle/>
          <a:p>
            <a:r>
              <a:rPr sz="1100" b="0">
                <a:solidFill>
                  <a:srgbClr val="2E2E2E"/>
                </a:solidFill>
                <a:latin typeface="Calibri"/>
              </a:rPr>
              <a:t>● 6 to 12 Cells:</a:t>
            </a:r>
          </a:p>
        </p:txBody>
      </p:sp>
      <p:pic>
        <p:nvPicPr>
          <p:cNvPr id="103" name="Picture 102" descr="lock.png"/>
          <p:cNvPicPr>
            <a:picLocks noChangeAspect="1"/>
          </p:cNvPicPr>
          <p:nvPr/>
        </p:nvPicPr>
        <p:blipFill>
          <a:blip r:embed="rId16"/>
          <a:stretch>
            <a:fillRect/>
          </a:stretch>
        </p:blipFill>
        <p:spPr>
          <a:xfrm>
            <a:off x="4707575" y="4437590"/>
            <a:ext cx="128699" cy="187198"/>
          </a:xfrm>
          <a:prstGeom prst="rect">
            <a:avLst/>
          </a:prstGeom>
        </p:spPr>
      </p:pic>
      <p:sp>
        <p:nvSpPr>
          <p:cNvPr id="104" name="TextBox 103"/>
          <p:cNvSpPr txBox="1"/>
          <p:nvPr/>
        </p:nvSpPr>
        <p:spPr>
          <a:xfrm>
            <a:off x="487507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34521" y="4437590"/>
            <a:ext cx="128699" cy="187198"/>
          </a:xfrm>
          <a:prstGeom prst="rect">
            <a:avLst/>
          </a:prstGeom>
        </p:spPr>
      </p:pic>
      <p:sp>
        <p:nvSpPr>
          <p:cNvPr id="106" name="TextBox 105"/>
          <p:cNvSpPr txBox="1"/>
          <p:nvPr/>
        </p:nvSpPr>
        <p:spPr>
          <a:xfrm>
            <a:off x="5902016"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07" name="TextBox 106"/>
          <p:cNvSpPr txBox="1"/>
          <p:nvPr/>
        </p:nvSpPr>
        <p:spPr>
          <a:xfrm>
            <a:off x="3838575" y="4665301"/>
            <a:ext cx="991889" cy="186689"/>
          </a:xfrm>
          <a:prstGeom prst="rect">
            <a:avLst/>
          </a:prstGeom>
          <a:noFill/>
        </p:spPr>
        <p:txBody>
          <a:bodyPr wrap="none" lIns="0" rIns="0" tIns="0" bIns="0">
            <a:spAutoFit/>
          </a:bodyPr>
          <a:lstStyle/>
          <a:p>
            <a:r>
              <a:rPr sz="1100" b="0">
                <a:solidFill>
                  <a:srgbClr val="2E2E2E"/>
                </a:solidFill>
                <a:latin typeface="Calibri"/>
              </a:rPr>
              <a:t>● 13 to 24 Cells:</a:t>
            </a:r>
          </a:p>
        </p:txBody>
      </p:sp>
      <p:pic>
        <p:nvPicPr>
          <p:cNvPr id="108" name="Picture 107" descr="lock.png"/>
          <p:cNvPicPr>
            <a:picLocks noChangeAspect="1"/>
          </p:cNvPicPr>
          <p:nvPr/>
        </p:nvPicPr>
        <p:blipFill>
          <a:blip r:embed="rId16"/>
          <a:stretch>
            <a:fillRect/>
          </a:stretch>
        </p:blipFill>
        <p:spPr>
          <a:xfrm>
            <a:off x="4778516" y="4655522"/>
            <a:ext cx="128699" cy="187198"/>
          </a:xfrm>
          <a:prstGeom prst="rect">
            <a:avLst/>
          </a:prstGeom>
        </p:spPr>
      </p:pic>
      <p:sp>
        <p:nvSpPr>
          <p:cNvPr id="109" name="TextBox 108"/>
          <p:cNvSpPr txBox="1"/>
          <p:nvPr/>
        </p:nvSpPr>
        <p:spPr>
          <a:xfrm>
            <a:off x="494601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5805462" y="4655522"/>
            <a:ext cx="128699" cy="187198"/>
          </a:xfrm>
          <a:prstGeom prst="rect">
            <a:avLst/>
          </a:prstGeom>
        </p:spPr>
      </p:pic>
      <p:sp>
        <p:nvSpPr>
          <p:cNvPr id="111" name="TextBox 110"/>
          <p:cNvSpPr txBox="1"/>
          <p:nvPr/>
        </p:nvSpPr>
        <p:spPr>
          <a:xfrm>
            <a:off x="597295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058192" cy="186689"/>
          </a:xfrm>
          <a:prstGeom prst="rect">
            <a:avLst/>
          </a:prstGeom>
          <a:noFill/>
        </p:spPr>
        <p:txBody>
          <a:bodyPr wrap="none" lIns="0" rIns="0" tIns="0" bIns="0">
            <a:spAutoFit/>
          </a:bodyPr>
          <a:lstStyle/>
          <a:p>
            <a:r>
              <a:rPr sz="1100" b="0">
                <a:solidFill>
                  <a:srgbClr val="2E2E2E"/>
                </a:solidFill>
                <a:latin typeface="Calibri"/>
              </a:rPr>
              <a:t>● Above 24 Cells:</a:t>
            </a:r>
          </a:p>
        </p:txBody>
      </p:sp>
      <p:pic>
        <p:nvPicPr>
          <p:cNvPr id="113" name="Picture 112" descr="lock.png"/>
          <p:cNvPicPr>
            <a:picLocks noChangeAspect="1"/>
          </p:cNvPicPr>
          <p:nvPr/>
        </p:nvPicPr>
        <p:blipFill>
          <a:blip r:embed="rId16"/>
          <a:stretch>
            <a:fillRect/>
          </a:stretch>
        </p:blipFill>
        <p:spPr>
          <a:xfrm>
            <a:off x="4844819" y="4873454"/>
            <a:ext cx="128699" cy="187198"/>
          </a:xfrm>
          <a:prstGeom prst="rect">
            <a:avLst/>
          </a:prstGeom>
        </p:spPr>
      </p:pic>
      <p:sp>
        <p:nvSpPr>
          <p:cNvPr id="114" name="TextBox 113"/>
          <p:cNvSpPr txBox="1"/>
          <p:nvPr/>
        </p:nvSpPr>
        <p:spPr>
          <a:xfrm>
            <a:off x="5012315"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5871765" y="4873454"/>
            <a:ext cx="128699" cy="187198"/>
          </a:xfrm>
          <a:prstGeom prst="rect">
            <a:avLst/>
          </a:prstGeom>
        </p:spPr>
      </p:pic>
      <p:sp>
        <p:nvSpPr>
          <p:cNvPr id="116" name="TextBox 115"/>
          <p:cNvSpPr txBox="1"/>
          <p:nvPr/>
        </p:nvSpPr>
        <p:spPr>
          <a:xfrm>
            <a:off x="6039261"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7" name="TextBox 116"/>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Cell Configuration segment is projected to grow</a:t>
            </a:r>
          </a:p>
        </p:txBody>
      </p:sp>
      <p:sp>
        <p:nvSpPr>
          <p:cNvPr id="118" name="TextBox 117"/>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19" name="Picture 118" descr="lock.png"/>
          <p:cNvPicPr>
            <a:picLocks noChangeAspect="1"/>
          </p:cNvPicPr>
          <p:nvPr/>
        </p:nvPicPr>
        <p:blipFill>
          <a:blip r:embed="rId16"/>
          <a:stretch>
            <a:fillRect/>
          </a:stretch>
        </p:blipFill>
        <p:spPr>
          <a:xfrm>
            <a:off x="9310118" y="6007677"/>
            <a:ext cx="134549" cy="195707"/>
          </a:xfrm>
          <a:prstGeom prst="rect">
            <a:avLst/>
          </a:prstGeom>
        </p:spPr>
      </p:pic>
      <p:sp>
        <p:nvSpPr>
          <p:cNvPr id="120" name="TextBox 119"/>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Cell Configuration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Cell Configuration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Cell Configuration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Cell Configuration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77650" cy="186689"/>
          </a:xfrm>
          <a:prstGeom prst="rect">
            <a:avLst/>
          </a:prstGeom>
          <a:noFill/>
        </p:spPr>
        <p:txBody>
          <a:bodyPr wrap="none" lIns="0" rIns="0" tIns="0" bIns="0">
            <a:spAutoFit/>
          </a:bodyPr>
          <a:lstStyle/>
          <a:p>
            <a:r>
              <a:rPr sz="1100" b="0">
                <a:solidFill>
                  <a:srgbClr val="2E2E2E"/>
                </a:solidFill>
                <a:latin typeface="Calibri"/>
              </a:rPr>
              <a:t>Up to 4 cells followed by 6 to 12 cells are expected to be the two most attractive cell configuration segments in the North America corrugated partition market in terms of value over the forecast period. Up</a:t>
            </a:r>
          </a:p>
        </p:txBody>
      </p:sp>
      <p:sp>
        <p:nvSpPr>
          <p:cNvPr id="21" name="TextBox 20"/>
          <p:cNvSpPr txBox="1"/>
          <p:nvPr/>
        </p:nvSpPr>
        <p:spPr>
          <a:xfrm>
            <a:off x="257175" y="5945505"/>
            <a:ext cx="3308655" cy="186689"/>
          </a:xfrm>
          <a:prstGeom prst="rect">
            <a:avLst/>
          </a:prstGeom>
          <a:noFill/>
        </p:spPr>
        <p:txBody>
          <a:bodyPr wrap="none" lIns="0" rIns="0" tIns="0" bIns="0">
            <a:spAutoFit/>
          </a:bodyPr>
          <a:lstStyle/>
          <a:p>
            <a:r>
              <a:rPr sz="1100" b="0">
                <a:solidFill>
                  <a:srgbClr val="2E2E2E"/>
                </a:solidFill>
                <a:latin typeface="Calibri"/>
              </a:rPr>
              <a:t>to 4 cells and 6 to 12 cells exhibit a CAGR index of 99 and</a:t>
            </a:r>
          </a:p>
        </p:txBody>
      </p:sp>
      <p:pic>
        <p:nvPicPr>
          <p:cNvPr id="22" name="Picture 21" descr="lock.png"/>
          <p:cNvPicPr>
            <a:picLocks noChangeAspect="1"/>
          </p:cNvPicPr>
          <p:nvPr/>
        </p:nvPicPr>
        <p:blipFill>
          <a:blip r:embed="rId6"/>
          <a:stretch>
            <a:fillRect/>
          </a:stretch>
        </p:blipFill>
        <p:spPr>
          <a:xfrm>
            <a:off x="3513882" y="5935726"/>
            <a:ext cx="128699" cy="187198"/>
          </a:xfrm>
          <a:prstGeom prst="rect">
            <a:avLst/>
          </a:prstGeom>
        </p:spPr>
      </p:pic>
      <p:sp>
        <p:nvSpPr>
          <p:cNvPr id="23" name="TextBox 22"/>
          <p:cNvSpPr txBox="1"/>
          <p:nvPr/>
        </p:nvSpPr>
        <p:spPr>
          <a:xfrm>
            <a:off x="3681377"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4" name="Picture 23" descr="lock.png"/>
          <p:cNvPicPr>
            <a:picLocks noChangeAspect="1"/>
          </p:cNvPicPr>
          <p:nvPr/>
        </p:nvPicPr>
        <p:blipFill>
          <a:blip r:embed="rId6"/>
          <a:stretch>
            <a:fillRect/>
          </a:stretch>
        </p:blipFill>
        <p:spPr>
          <a:xfrm>
            <a:off x="5290351" y="5935726"/>
            <a:ext cx="128699" cy="187198"/>
          </a:xfrm>
          <a:prstGeom prst="rect">
            <a:avLst/>
          </a:prstGeom>
        </p:spPr>
      </p:pic>
      <p:sp>
        <p:nvSpPr>
          <p:cNvPr id="25" name="TextBox 24"/>
          <p:cNvSpPr txBox="1"/>
          <p:nvPr/>
        </p:nvSpPr>
        <p:spPr>
          <a:xfrm>
            <a:off x="545784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6" name="Picture 25" descr="lock.png"/>
          <p:cNvPicPr>
            <a:picLocks noChangeAspect="1"/>
          </p:cNvPicPr>
          <p:nvPr/>
        </p:nvPicPr>
        <p:blipFill>
          <a:blip r:embed="rId6"/>
          <a:stretch>
            <a:fillRect/>
          </a:stretch>
        </p:blipFill>
        <p:spPr>
          <a:xfrm>
            <a:off x="5695741" y="5935726"/>
            <a:ext cx="128699" cy="187198"/>
          </a:xfrm>
          <a:prstGeom prst="rect">
            <a:avLst/>
          </a:prstGeom>
        </p:spPr>
      </p:pic>
      <p:sp>
        <p:nvSpPr>
          <p:cNvPr id="27" name="TextBox 26"/>
          <p:cNvSpPr txBox="1"/>
          <p:nvPr/>
        </p:nvSpPr>
        <p:spPr>
          <a:xfrm>
            <a:off x="5863237"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8" name="Picture 27" descr="lock.png"/>
          <p:cNvPicPr>
            <a:picLocks noChangeAspect="1"/>
          </p:cNvPicPr>
          <p:nvPr/>
        </p:nvPicPr>
        <p:blipFill>
          <a:blip r:embed="rId6"/>
          <a:stretch>
            <a:fillRect/>
          </a:stretch>
        </p:blipFill>
        <p:spPr>
          <a:xfrm>
            <a:off x="8417641" y="5935726"/>
            <a:ext cx="128699" cy="187198"/>
          </a:xfrm>
          <a:prstGeom prst="rect">
            <a:avLst/>
          </a:prstGeom>
        </p:spPr>
      </p:pic>
      <p:sp>
        <p:nvSpPr>
          <p:cNvPr id="29" name="TextBox 28"/>
          <p:cNvSpPr txBox="1"/>
          <p:nvPr/>
        </p:nvSpPr>
        <p:spPr>
          <a:xfrm>
            <a:off x="8585137" y="5945505"/>
            <a:ext cx="2950145" cy="186689"/>
          </a:xfrm>
          <a:prstGeom prst="rect">
            <a:avLst/>
          </a:prstGeom>
          <a:noFill/>
        </p:spPr>
        <p:txBody>
          <a:bodyPr wrap="none" lIns="0" rIns="0" tIns="0" bIns="0">
            <a:spAutoFit/>
          </a:bodyPr>
          <a:lstStyle/>
          <a:p>
            <a:r>
              <a:rPr sz="1100" b="0">
                <a:solidFill>
                  <a:srgbClr val="2E2E2E"/>
                </a:solidFill>
                <a:latin typeface="Calibri"/>
              </a:rPr>
              <a:t>. The above 24 cells segment is expected to be less</a:t>
            </a:r>
          </a:p>
        </p:txBody>
      </p:sp>
      <p:sp>
        <p:nvSpPr>
          <p:cNvPr id="30" name="TextBox 29"/>
          <p:cNvSpPr txBox="1"/>
          <p:nvPr/>
        </p:nvSpPr>
        <p:spPr>
          <a:xfrm>
            <a:off x="257175" y="6113145"/>
            <a:ext cx="11338386" cy="186689"/>
          </a:xfrm>
          <a:prstGeom prst="rect">
            <a:avLst/>
          </a:prstGeom>
          <a:noFill/>
        </p:spPr>
        <p:txBody>
          <a:bodyPr wrap="none" lIns="0" rIns="0" tIns="0" bIns="0">
            <a:spAutoFit/>
          </a:bodyPr>
          <a:lstStyle/>
          <a:p>
            <a:r>
              <a:rPr sz="1100" b="0">
                <a:solidFill>
                  <a:srgbClr val="2E2E2E"/>
                </a:solidFill>
                <a:latin typeface="Calibri"/>
              </a:rPr>
              <a:t>attractive as compared to other segments over the forecast period, owing to its lower CAGR and incremental opportunity. Bubbles right of the CAGR-Index line grow faster than the segment average.</a:t>
            </a:r>
          </a:p>
        </p:txBody>
      </p:sp>
      <p:sp>
        <p:nvSpPr>
          <p:cNvPr id="31"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Cell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Cell Configuration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Up to 4 Cells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6 to 12 Cells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13 to 24 Cells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Above 24 Cells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Cell Configuration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Cell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Cell Configuration (MT)</a:t>
            </a:r>
          </a:p>
        </p:txBody>
      </p:sp>
      <p:graphicFrame>
        <p:nvGraphicFramePr>
          <p:cNvPr id="13" name="Table 12"/>
          <p:cNvGraphicFramePr>
            <a:graphicFrameLocks noGrp="1"/>
          </p:cNvGraphicFramePr>
          <p:nvPr/>
        </p:nvGraphicFramePr>
        <p:xfrm>
          <a:off x="152400" y="1238250"/>
          <a:ext cx="11887200" cy="1676402"/>
        </p:xfrm>
        <a:graphic>
          <a:graphicData uri="http://schemas.openxmlformats.org/drawingml/2006/table">
            <a:tbl>
              <a:tblPr>
                <a:tableStyleId>{5C22544A-7EE6-4342-B048-85BDC9FD1C3A}</a:tableStyleId>
              </a:tblPr>
              <a:tblGrid>
                <a:gridCol w="977441"/>
                <a:gridCol w="655320"/>
                <a:gridCol w="655320"/>
                <a:gridCol w="655320"/>
                <a:gridCol w="655320"/>
                <a:gridCol w="655320"/>
                <a:gridCol w="655320"/>
                <a:gridCol w="655320"/>
                <a:gridCol w="655320"/>
                <a:gridCol w="655320"/>
                <a:gridCol w="655320"/>
                <a:gridCol w="655320"/>
                <a:gridCol w="655320"/>
                <a:gridCol w="655320"/>
                <a:gridCol w="655320"/>
                <a:gridCol w="655320"/>
                <a:gridCol w="655320"/>
                <a:gridCol w="424639"/>
              </a:tblGrid>
              <a:tr h="438912">
                <a:tc>
                  <a:txBody>
                    <a:bodyPr wrap="none"/>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7498">
                <a:tc>
                  <a:txBody>
                    <a:bodyPr wrap="none"/>
                    <a:lstStyle/>
                    <a:p>
                      <a:pPr algn="l"/>
                      <a:r>
                        <a:rPr sz="1100" b="1">
                          <a:solidFill>
                            <a:srgbClr val="2E2E2E"/>
                          </a:solidFill>
                          <a:latin typeface="Calibri"/>
                        </a:rPr>
                        <a:t>Up to 4 Cells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98">
                <a:tc>
                  <a:txBody>
                    <a:bodyPr wrap="none"/>
                    <a:lstStyle/>
                    <a:p>
                      <a:pPr algn="l"/>
                      <a:r>
                        <a:rPr sz="1100" b="1">
                          <a:solidFill>
                            <a:srgbClr val="2E2E2E"/>
                          </a:solidFill>
                          <a:latin typeface="Calibri"/>
                        </a:rPr>
                        <a:t>6 to 12 Cells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98">
                <a:tc>
                  <a:txBody>
                    <a:bodyPr wrap="none"/>
                    <a:lstStyle/>
                    <a:p>
                      <a:pPr algn="l"/>
                      <a:r>
                        <a:rPr sz="1100" b="1">
                          <a:solidFill>
                            <a:srgbClr val="2E2E2E"/>
                          </a:solidFill>
                          <a:latin typeface="Calibri"/>
                        </a:rPr>
                        <a:t>13 to 24 Cells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98">
                <a:tc>
                  <a:txBody>
                    <a:bodyPr wrap="none"/>
                    <a:lstStyle/>
                    <a:p>
                      <a:pPr algn="l"/>
                      <a:r>
                        <a:rPr sz="1100" b="1">
                          <a:solidFill>
                            <a:srgbClr val="2E2E2E"/>
                          </a:solidFill>
                          <a:latin typeface="Calibri"/>
                        </a:rPr>
                        <a:t>Above 24 Cells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Cell Configuration</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8030" y="2029206"/>
            <a:ext cx="366712" cy="533400"/>
          </a:xfrm>
          <a:prstGeom prst="rect">
            <a:avLst/>
          </a:prstGeom>
        </p:spPr>
      </p:pic>
      <p:sp>
        <p:nvSpPr>
          <p:cNvPr id="21" name="TextBox 20"/>
          <p:cNvSpPr txBox="1"/>
          <p:nvPr/>
        </p:nvSpPr>
        <p:spPr>
          <a:xfrm>
            <a:off x="276225" y="3676650"/>
            <a:ext cx="2708237" cy="194310"/>
          </a:xfrm>
          <a:prstGeom prst="rect">
            <a:avLst/>
          </a:prstGeom>
          <a:noFill/>
        </p:spPr>
        <p:txBody>
          <a:bodyPr wrap="none" lIns="0" rIns="0" tIns="0" bIns="0">
            <a:spAutoFit/>
          </a:bodyPr>
          <a:lstStyle/>
          <a:p>
            <a:r>
              <a:rPr sz="1150" b="0">
                <a:solidFill>
                  <a:srgbClr val="2E2E2E"/>
                </a:solidFill>
                <a:latin typeface="Calibri"/>
              </a:rPr>
              <a:t>6 to 12 cells segment is projected to register</a:t>
            </a:r>
          </a:p>
        </p:txBody>
      </p:sp>
      <p:pic>
        <p:nvPicPr>
          <p:cNvPr id="22" name="Picture 21" descr="lock.png"/>
          <p:cNvPicPr>
            <a:picLocks noChangeAspect="1"/>
          </p:cNvPicPr>
          <p:nvPr/>
        </p:nvPicPr>
        <p:blipFill>
          <a:blip r:embed="rId4"/>
          <a:stretch>
            <a:fillRect/>
          </a:stretch>
        </p:blipFill>
        <p:spPr>
          <a:xfrm>
            <a:off x="2933616" y="3666426"/>
            <a:ext cx="134549" cy="195707"/>
          </a:xfrm>
          <a:prstGeom prst="rect">
            <a:avLst/>
          </a:prstGeom>
        </p:spPr>
      </p:pic>
      <p:sp>
        <p:nvSpPr>
          <p:cNvPr id="23" name="TextBox 22"/>
          <p:cNvSpPr txBox="1"/>
          <p:nvPr/>
        </p:nvSpPr>
        <p:spPr>
          <a:xfrm>
            <a:off x="3108726" y="3676650"/>
            <a:ext cx="8752768" cy="194310"/>
          </a:xfrm>
          <a:prstGeom prst="rect">
            <a:avLst/>
          </a:prstGeom>
          <a:noFill/>
        </p:spPr>
        <p:txBody>
          <a:bodyPr wrap="none" lIns="0" rIns="0" tIns="0" bIns="0">
            <a:spAutoFit/>
          </a:bodyPr>
          <a:lstStyle/>
          <a:p>
            <a:r>
              <a:rPr sz="1150" b="0">
                <a:solidFill>
                  <a:srgbClr val="2E2E2E"/>
                </a:solidFill>
                <a:latin typeface="Calibri"/>
              </a:rPr>
              <a:t>X higher volume than up to 4 cells segment in 2036. Among corrugated partition by cell configuration, 6 to 12 cells segment is expected to witness</a:t>
            </a:r>
          </a:p>
        </p:txBody>
      </p:sp>
      <p:sp>
        <p:nvSpPr>
          <p:cNvPr id="24" name="TextBox 23"/>
          <p:cNvSpPr txBox="1"/>
          <p:nvPr/>
        </p:nvSpPr>
        <p:spPr>
          <a:xfrm>
            <a:off x="276225" y="3851910"/>
            <a:ext cx="1263979" cy="194310"/>
          </a:xfrm>
          <a:prstGeom prst="rect">
            <a:avLst/>
          </a:prstGeom>
          <a:noFill/>
        </p:spPr>
        <p:txBody>
          <a:bodyPr wrap="none" lIns="0" rIns="0" t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841686"/>
            <a:ext cx="134549" cy="195707"/>
          </a:xfrm>
          <a:prstGeom prst="rect">
            <a:avLst/>
          </a:prstGeom>
        </p:spPr>
      </p:pic>
      <p:sp>
        <p:nvSpPr>
          <p:cNvPr id="26" name="TextBox 25"/>
          <p:cNvSpPr txBox="1"/>
          <p:nvPr/>
        </p:nvSpPr>
        <p:spPr>
          <a:xfrm>
            <a:off x="1664467" y="38519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079747"/>
            <a:ext cx="7012148" cy="194310"/>
          </a:xfrm>
          <a:prstGeom prst="rect">
            <a:avLst/>
          </a:prstGeom>
          <a:noFill/>
        </p:spPr>
        <p:txBody>
          <a:bodyPr wrap="none" lIns="0" rIns="0" tIns="0" bIns="0">
            <a:spAutoFit/>
          </a:bodyPr>
          <a:lstStyle/>
          <a:p>
            <a:r>
              <a:rPr sz="1150" b="0">
                <a:solidFill>
                  <a:srgbClr val="2E2E2E"/>
                </a:solidFill>
                <a:latin typeface="Calibri"/>
              </a:rPr>
              <a:t>In terms of volume share by cell configuration, the 6 to 12 cells segment is expected to dominate the market, gaining</a:t>
            </a:r>
          </a:p>
        </p:txBody>
      </p:sp>
      <p:pic>
        <p:nvPicPr>
          <p:cNvPr id="28" name="Picture 27" descr="lock.png"/>
          <p:cNvPicPr>
            <a:picLocks noChangeAspect="1"/>
          </p:cNvPicPr>
          <p:nvPr/>
        </p:nvPicPr>
        <p:blipFill>
          <a:blip r:embed="rId4"/>
          <a:stretch>
            <a:fillRect/>
          </a:stretch>
        </p:blipFill>
        <p:spPr>
          <a:xfrm>
            <a:off x="7237527" y="4069524"/>
            <a:ext cx="134549" cy="195707"/>
          </a:xfrm>
          <a:prstGeom prst="rect">
            <a:avLst/>
          </a:prstGeom>
        </p:spPr>
      </p:pic>
      <p:sp>
        <p:nvSpPr>
          <p:cNvPr id="29" name="TextBox 28"/>
          <p:cNvSpPr txBox="1"/>
          <p:nvPr/>
        </p:nvSpPr>
        <p:spPr>
          <a:xfrm>
            <a:off x="7412636" y="40797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807780" y="4069524"/>
            <a:ext cx="134549" cy="195707"/>
          </a:xfrm>
          <a:prstGeom prst="rect">
            <a:avLst/>
          </a:prstGeom>
        </p:spPr>
      </p:pic>
      <p:sp>
        <p:nvSpPr>
          <p:cNvPr id="31" name="TextBox 30"/>
          <p:cNvSpPr txBox="1"/>
          <p:nvPr/>
        </p:nvSpPr>
        <p:spPr>
          <a:xfrm>
            <a:off x="8982889" y="4079747"/>
            <a:ext cx="2684846" cy="194310"/>
          </a:xfrm>
          <a:prstGeom prst="rect">
            <a:avLst/>
          </a:prstGeom>
          <a:noFill/>
        </p:spPr>
        <p:txBody>
          <a:bodyPr wrap="none" lIns="0" rIns="0" tIns="0" bIns="0">
            <a:spAutoFit/>
          </a:bodyPr>
          <a:lstStyle/>
          <a:p>
            <a:r>
              <a:rPr sz="1150" b="0">
                <a:solidFill>
                  <a:srgbClr val="2E2E2E"/>
                </a:solidFill>
                <a:latin typeface="Calibri"/>
              </a:rPr>
              <a:t>share by 2036. The 13 to 24 cells segment is</a:t>
            </a:r>
          </a:p>
        </p:txBody>
      </p:sp>
      <p:sp>
        <p:nvSpPr>
          <p:cNvPr id="32" name="TextBox 31"/>
          <p:cNvSpPr txBox="1"/>
          <p:nvPr/>
        </p:nvSpPr>
        <p:spPr>
          <a:xfrm>
            <a:off x="276225" y="42550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4244784"/>
            <a:ext cx="134549" cy="195707"/>
          </a:xfrm>
          <a:prstGeom prst="rect">
            <a:avLst/>
          </a:prstGeom>
        </p:spPr>
      </p:pic>
      <p:sp>
        <p:nvSpPr>
          <p:cNvPr id="34" name="TextBox 33"/>
          <p:cNvSpPr txBox="1"/>
          <p:nvPr/>
        </p:nvSpPr>
        <p:spPr>
          <a:xfrm>
            <a:off x="1455394" y="42550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4244784"/>
            <a:ext cx="134549" cy="195707"/>
          </a:xfrm>
          <a:prstGeom prst="rect">
            <a:avLst/>
          </a:prstGeom>
        </p:spPr>
      </p:pic>
      <p:sp>
        <p:nvSpPr>
          <p:cNvPr id="36" name="TextBox 35"/>
          <p:cNvSpPr txBox="1"/>
          <p:nvPr/>
        </p:nvSpPr>
        <p:spPr>
          <a:xfrm>
            <a:off x="4218008" y="42550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Cell Configuration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Cell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Cell Configuration (US$ Mn)</a:t>
            </a:r>
          </a:p>
        </p:txBody>
      </p:sp>
      <p:graphicFrame>
        <p:nvGraphicFramePr>
          <p:cNvPr id="13" name="Table 12"/>
          <p:cNvGraphicFramePr>
            <a:graphicFrameLocks noGrp="1"/>
          </p:cNvGraphicFramePr>
          <p:nvPr/>
        </p:nvGraphicFramePr>
        <p:xfrm>
          <a:off x="152400" y="1238250"/>
          <a:ext cx="11887207" cy="1485896"/>
        </p:xfrm>
        <a:graphic>
          <a:graphicData uri="http://schemas.openxmlformats.org/drawingml/2006/table">
            <a:tbl>
              <a:tblPr>
                <a:tableStyleId>{5C22544A-7EE6-4342-B048-85BDC9FD1C3A}</a:tableStyleId>
              </a:tblPr>
              <a:tblGrid>
                <a:gridCol w="1323492"/>
                <a:gridCol w="621395"/>
                <a:gridCol w="621395"/>
                <a:gridCol w="621395"/>
                <a:gridCol w="621395"/>
                <a:gridCol w="621395"/>
                <a:gridCol w="621395"/>
                <a:gridCol w="621395"/>
                <a:gridCol w="621395"/>
                <a:gridCol w="621395"/>
                <a:gridCol w="621395"/>
                <a:gridCol w="621395"/>
                <a:gridCol w="621395"/>
                <a:gridCol w="621395"/>
                <a:gridCol w="621395"/>
                <a:gridCol w="621395"/>
                <a:gridCol w="621395"/>
                <a:gridCol w="621395"/>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Cell Configuration</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71059" y="1837563"/>
            <a:ext cx="366712" cy="533400"/>
          </a:xfrm>
          <a:prstGeom prst="rect">
            <a:avLst/>
          </a:prstGeom>
        </p:spPr>
      </p:pic>
      <p:sp>
        <p:nvSpPr>
          <p:cNvPr id="21" name="TextBox 20"/>
          <p:cNvSpPr txBox="1"/>
          <p:nvPr/>
        </p:nvSpPr>
        <p:spPr>
          <a:xfrm>
            <a:off x="276225" y="3486150"/>
            <a:ext cx="2730487" cy="194310"/>
          </a:xfrm>
          <a:prstGeom prst="rect">
            <a:avLst/>
          </a:prstGeom>
          <a:noFill/>
        </p:spPr>
        <p:txBody>
          <a:bodyPr wrap="none" lIns="0" rIns="0" tIns="0" bIns="0">
            <a:spAutoFit/>
          </a:bodyPr>
          <a:lstStyle/>
          <a:p>
            <a:r>
              <a:rPr sz="1150" b="0">
                <a:solidFill>
                  <a:srgbClr val="2E2E2E"/>
                </a:solidFill>
                <a:latin typeface="Calibri"/>
              </a:rPr>
              <a:t>Up to 4 cells segment is projected to register</a:t>
            </a:r>
          </a:p>
        </p:txBody>
      </p:sp>
      <p:pic>
        <p:nvPicPr>
          <p:cNvPr id="22" name="Picture 21" descr="lock.png"/>
          <p:cNvPicPr>
            <a:picLocks noChangeAspect="1"/>
          </p:cNvPicPr>
          <p:nvPr/>
        </p:nvPicPr>
        <p:blipFill>
          <a:blip r:embed="rId4"/>
          <a:stretch>
            <a:fillRect/>
          </a:stretch>
        </p:blipFill>
        <p:spPr>
          <a:xfrm>
            <a:off x="2955866" y="3475926"/>
            <a:ext cx="134549" cy="195707"/>
          </a:xfrm>
          <a:prstGeom prst="rect">
            <a:avLst/>
          </a:prstGeom>
        </p:spPr>
      </p:pic>
      <p:sp>
        <p:nvSpPr>
          <p:cNvPr id="23" name="TextBox 22"/>
          <p:cNvSpPr txBox="1"/>
          <p:nvPr/>
        </p:nvSpPr>
        <p:spPr>
          <a:xfrm>
            <a:off x="3130975" y="3486150"/>
            <a:ext cx="8623833" cy="194310"/>
          </a:xfrm>
          <a:prstGeom prst="rect">
            <a:avLst/>
          </a:prstGeom>
          <a:noFill/>
        </p:spPr>
        <p:txBody>
          <a:bodyPr wrap="none" lIns="0" rIns="0" tIns="0" bIns="0">
            <a:spAutoFit/>
          </a:bodyPr>
          <a:lstStyle/>
          <a:p>
            <a:r>
              <a:rPr sz="1150" b="0">
                <a:solidFill>
                  <a:srgbClr val="2E2E2E"/>
                </a:solidFill>
                <a:latin typeface="Calibri"/>
              </a:rPr>
              <a:t>X higher value than 6 to 12 cells segment in 2036. Among corrugated partition by cell configuration, 6 to 12 cells segment is expected to witness</a:t>
            </a:r>
          </a:p>
        </p:txBody>
      </p:sp>
      <p:sp>
        <p:nvSpPr>
          <p:cNvPr id="24" name="TextBox 23"/>
          <p:cNvSpPr txBox="1"/>
          <p:nvPr/>
        </p:nvSpPr>
        <p:spPr>
          <a:xfrm>
            <a:off x="276225" y="3661410"/>
            <a:ext cx="1263979" cy="194310"/>
          </a:xfrm>
          <a:prstGeom prst="rect">
            <a:avLst/>
          </a:prstGeom>
          <a:noFill/>
        </p:spPr>
        <p:txBody>
          <a:bodyPr wrap="none" lIns="0" rIns="0" t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651186"/>
            <a:ext cx="134549" cy="195707"/>
          </a:xfrm>
          <a:prstGeom prst="rect">
            <a:avLst/>
          </a:prstGeom>
        </p:spPr>
      </p:pic>
      <p:sp>
        <p:nvSpPr>
          <p:cNvPr id="26" name="TextBox 25"/>
          <p:cNvSpPr txBox="1"/>
          <p:nvPr/>
        </p:nvSpPr>
        <p:spPr>
          <a:xfrm>
            <a:off x="1664467"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6812185" cy="194310"/>
          </a:xfrm>
          <a:prstGeom prst="rect">
            <a:avLst/>
          </a:prstGeom>
          <a:noFill/>
        </p:spPr>
        <p:txBody>
          <a:bodyPr wrap="none" lIns="0" rIns="0" tIns="0" bIns="0">
            <a:spAutoFit/>
          </a:bodyPr>
          <a:lstStyle/>
          <a:p>
            <a:r>
              <a:rPr sz="1150" b="0">
                <a:solidFill>
                  <a:srgbClr val="2E2E2E"/>
                </a:solidFill>
                <a:latin typeface="Calibri"/>
              </a:rPr>
              <a:t>In terms of value share by cell configuration, the up to 4 cells segment is expected to dominate the market, losing</a:t>
            </a:r>
          </a:p>
        </p:txBody>
      </p:sp>
      <p:pic>
        <p:nvPicPr>
          <p:cNvPr id="28" name="Picture 27" descr="lock.png"/>
          <p:cNvPicPr>
            <a:picLocks noChangeAspect="1"/>
          </p:cNvPicPr>
          <p:nvPr/>
        </p:nvPicPr>
        <p:blipFill>
          <a:blip r:embed="rId4"/>
          <a:stretch>
            <a:fillRect/>
          </a:stretch>
        </p:blipFill>
        <p:spPr>
          <a:xfrm>
            <a:off x="7037564" y="3879024"/>
            <a:ext cx="134549" cy="195707"/>
          </a:xfrm>
          <a:prstGeom prst="rect">
            <a:avLst/>
          </a:prstGeom>
        </p:spPr>
      </p:pic>
      <p:sp>
        <p:nvSpPr>
          <p:cNvPr id="29" name="TextBox 28"/>
          <p:cNvSpPr txBox="1"/>
          <p:nvPr/>
        </p:nvSpPr>
        <p:spPr>
          <a:xfrm>
            <a:off x="7212673"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07817" y="3879024"/>
            <a:ext cx="134549" cy="195707"/>
          </a:xfrm>
          <a:prstGeom prst="rect">
            <a:avLst/>
          </a:prstGeom>
        </p:spPr>
      </p:pic>
      <p:sp>
        <p:nvSpPr>
          <p:cNvPr id="31" name="TextBox 30"/>
          <p:cNvSpPr txBox="1"/>
          <p:nvPr/>
        </p:nvSpPr>
        <p:spPr>
          <a:xfrm>
            <a:off x="8782926" y="3889247"/>
            <a:ext cx="2684846" cy="194310"/>
          </a:xfrm>
          <a:prstGeom prst="rect">
            <a:avLst/>
          </a:prstGeom>
          <a:noFill/>
        </p:spPr>
        <p:txBody>
          <a:bodyPr wrap="none" lIns="0" rIns="0" tIns="0" bIns="0">
            <a:spAutoFit/>
          </a:bodyPr>
          <a:lstStyle/>
          <a:p>
            <a:r>
              <a:rPr sz="1150" b="0">
                <a:solidFill>
                  <a:srgbClr val="2E2E2E"/>
                </a:solidFill>
                <a:latin typeface="Calibri"/>
              </a:rPr>
              <a:t>share by 2036. The 13 to 24 cells segment is</a:t>
            </a:r>
          </a:p>
        </p:txBody>
      </p:sp>
      <p:sp>
        <p:nvSpPr>
          <p:cNvPr id="32" name="TextBox 31"/>
          <p:cNvSpPr txBox="1"/>
          <p:nvPr/>
        </p:nvSpPr>
        <p:spPr>
          <a:xfrm>
            <a:off x="276225" y="40645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4054284"/>
            <a:ext cx="134549" cy="195707"/>
          </a:xfrm>
          <a:prstGeom prst="rect">
            <a:avLst/>
          </a:prstGeom>
        </p:spPr>
      </p:pic>
      <p:sp>
        <p:nvSpPr>
          <p:cNvPr id="34" name="TextBox 33"/>
          <p:cNvSpPr txBox="1"/>
          <p:nvPr/>
        </p:nvSpPr>
        <p:spPr>
          <a:xfrm>
            <a:off x="1455394" y="4064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4054284"/>
            <a:ext cx="134549" cy="195707"/>
          </a:xfrm>
          <a:prstGeom prst="rect">
            <a:avLst/>
          </a:prstGeom>
        </p:spPr>
      </p:pic>
      <p:sp>
        <p:nvSpPr>
          <p:cNvPr id="36" name="TextBox 35"/>
          <p:cNvSpPr txBox="1"/>
          <p:nvPr/>
        </p:nvSpPr>
        <p:spPr>
          <a:xfrm>
            <a:off x="4218008" y="4064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Cell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Cell Configuration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Cell Configuration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2669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219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457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Above 24 Cells</a:t>
            </a:r>
          </a:p>
        </p:txBody>
      </p:sp>
      <p:sp>
        <p:nvSpPr>
          <p:cNvPr id="19" name="BPS Value 1"/>
          <p:cNvSpPr txBox="1"/>
          <p:nvPr/>
        </p:nvSpPr>
        <p:spPr>
          <a:xfrm>
            <a:off x="6896100" y="190764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54226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375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613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13 to 24 Cells</a:t>
            </a:r>
          </a:p>
        </p:txBody>
      </p:sp>
      <p:sp>
        <p:nvSpPr>
          <p:cNvPr id="23" name="BPS Value 2"/>
          <p:cNvSpPr txBox="1"/>
          <p:nvPr/>
        </p:nvSpPr>
        <p:spPr>
          <a:xfrm>
            <a:off x="6896100" y="252321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68047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6757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5995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6 to 12 Cells</a:t>
            </a:r>
          </a:p>
        </p:txBody>
      </p:sp>
      <p:sp>
        <p:nvSpPr>
          <p:cNvPr id="27" name="BPS Value 3"/>
          <p:cNvSpPr txBox="1"/>
          <p:nvPr/>
        </p:nvSpPr>
        <p:spPr>
          <a:xfrm>
            <a:off x="6896100" y="366142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35109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3463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2701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Up to 4 Cells</a:t>
            </a:r>
          </a:p>
        </p:txBody>
      </p:sp>
      <p:sp>
        <p:nvSpPr>
          <p:cNvPr id="31" name="BPS Value 4"/>
          <p:cNvSpPr txBox="1"/>
          <p:nvPr/>
        </p:nvSpPr>
        <p:spPr>
          <a:xfrm>
            <a:off x="6896100" y="533204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Cell Configuration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755119" cy="194310"/>
          </a:xfrm>
          <a:prstGeom prst="rect">
            <a:avLst/>
          </a:prstGeom>
          <a:noFill/>
        </p:spPr>
        <p:txBody>
          <a:bodyPr wrap="none" lIns="0" rIns="0" tIns="0" bIns="0">
            <a:spAutoFit/>
          </a:bodyPr>
          <a:lstStyle/>
          <a:p>
            <a:r>
              <a:rPr sz="1150" b="0">
                <a:solidFill>
                  <a:srgbClr val="2E2E2E"/>
                </a:solidFill>
                <a:latin typeface="Calibri"/>
              </a:rPr>
              <a:t>Among corrugated partition by cell configuration, 6 to 12 cells</a:t>
            </a:r>
          </a:p>
        </p:txBody>
      </p:sp>
      <p:sp>
        <p:nvSpPr>
          <p:cNvPr id="39" name="TextBox 38"/>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2" name="TextBox 41"/>
          <p:cNvSpPr txBox="1"/>
          <p:nvPr/>
        </p:nvSpPr>
        <p:spPr>
          <a:xfrm>
            <a:off x="7829550" y="1750695"/>
            <a:ext cx="4057650" cy="194310"/>
          </a:xfrm>
          <a:prstGeom prst="rect">
            <a:avLst/>
          </a:prstGeom>
          <a:noFill/>
        </p:spPr>
        <p:txBody>
          <a:bodyPr wrap="none" lIns="0" rIns="0" tIns="0" bIns="0">
            <a:spAutoFit/>
          </a:bodyPr>
          <a:lstStyle/>
          <a:p>
            <a:r>
              <a:rPr sz="1150" b="0">
                <a:solidFill>
                  <a:srgbClr val="2E2E2E"/>
                </a:solidFill>
                <a:latin typeface="Calibri"/>
              </a:rPr>
              <a:t>forecast period. In terms of value share by cell configuration, the up</a:t>
            </a:r>
          </a:p>
        </p:txBody>
      </p:sp>
      <p:sp>
        <p:nvSpPr>
          <p:cNvPr id="43" name="TextBox 42"/>
          <p:cNvSpPr txBox="1"/>
          <p:nvPr/>
        </p:nvSpPr>
        <p:spPr>
          <a:xfrm>
            <a:off x="7829550" y="1925955"/>
            <a:ext cx="3723171" cy="194310"/>
          </a:xfrm>
          <a:prstGeom prst="rect">
            <a:avLst/>
          </a:prstGeom>
          <a:noFill/>
        </p:spPr>
        <p:txBody>
          <a:bodyPr wrap="none" lIns="0" rIns="0" tIns="0" bIns="0">
            <a:spAutoFit/>
          </a:bodyPr>
          <a:lstStyle/>
          <a:p>
            <a:r>
              <a:rPr sz="1150" b="0">
                <a:solidFill>
                  <a:srgbClr val="2E2E2E"/>
                </a:solidFill>
                <a:latin typeface="Calibri"/>
              </a:rPr>
              <a:t>to 4 cells segment is expected to dominate the market, losing</a:t>
            </a:r>
          </a:p>
        </p:txBody>
      </p:sp>
      <p:pic>
        <p:nvPicPr>
          <p:cNvPr id="44" name="Picture 43" descr="lock.png"/>
          <p:cNvPicPr>
            <a:picLocks noChangeAspect="1"/>
          </p:cNvPicPr>
          <p:nvPr/>
        </p:nvPicPr>
        <p:blipFill>
          <a:blip r:embed="rId5"/>
          <a:stretch>
            <a:fillRect/>
          </a:stretch>
        </p:blipFill>
        <p:spPr>
          <a:xfrm>
            <a:off x="11501875" y="1915731"/>
            <a:ext cx="134549" cy="195707"/>
          </a:xfrm>
          <a:prstGeom prst="rect">
            <a:avLst/>
          </a:prstGeom>
        </p:spPr>
      </p:pic>
      <p:sp>
        <p:nvSpPr>
          <p:cNvPr id="45" name="TextBox 44"/>
          <p:cNvSpPr txBox="1"/>
          <p:nvPr/>
        </p:nvSpPr>
        <p:spPr>
          <a:xfrm>
            <a:off x="7829550"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6" name="Picture 45" descr="lock.png"/>
          <p:cNvPicPr>
            <a:picLocks noChangeAspect="1"/>
          </p:cNvPicPr>
          <p:nvPr/>
        </p:nvPicPr>
        <p:blipFill>
          <a:blip r:embed="rId5"/>
          <a:stretch>
            <a:fillRect/>
          </a:stretch>
        </p:blipFill>
        <p:spPr>
          <a:xfrm>
            <a:off x="9224693" y="2090991"/>
            <a:ext cx="134549" cy="195707"/>
          </a:xfrm>
          <a:prstGeom prst="rect">
            <a:avLst/>
          </a:prstGeom>
        </p:spPr>
      </p:pic>
      <p:sp>
        <p:nvSpPr>
          <p:cNvPr id="47" name="TextBox 46"/>
          <p:cNvSpPr txBox="1"/>
          <p:nvPr/>
        </p:nvSpPr>
        <p:spPr>
          <a:xfrm>
            <a:off x="9399802"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8" name="TextBox 47"/>
          <p:cNvSpPr txBox="1"/>
          <p:nvPr/>
        </p:nvSpPr>
        <p:spPr>
          <a:xfrm>
            <a:off x="7829550" y="2329053"/>
            <a:ext cx="2793528" cy="194310"/>
          </a:xfrm>
          <a:prstGeom prst="rect">
            <a:avLst/>
          </a:prstGeom>
          <a:noFill/>
        </p:spPr>
        <p:txBody>
          <a:bodyPr wrap="none" lIns="0" rIns="0" tIns="0" bIns="0">
            <a:spAutoFit/>
          </a:bodyPr>
          <a:lstStyle/>
          <a:p>
            <a:r>
              <a:rPr sz="1150" b="0">
                <a:solidFill>
                  <a:srgbClr val="2E2E2E"/>
                </a:solidFill>
                <a:latin typeface="Calibri"/>
              </a:rPr>
              <a:t>The 13 to 24 cells segment is expected to lose</a:t>
            </a:r>
          </a:p>
        </p:txBody>
      </p:sp>
      <p:pic>
        <p:nvPicPr>
          <p:cNvPr id="49" name="Picture 48" descr="lock.png"/>
          <p:cNvPicPr>
            <a:picLocks noChangeAspect="1"/>
          </p:cNvPicPr>
          <p:nvPr/>
        </p:nvPicPr>
        <p:blipFill>
          <a:blip r:embed="rId5"/>
          <a:stretch>
            <a:fillRect/>
          </a:stretch>
        </p:blipFill>
        <p:spPr>
          <a:xfrm>
            <a:off x="10572232" y="2318829"/>
            <a:ext cx="134549" cy="195707"/>
          </a:xfrm>
          <a:prstGeom prst="rect">
            <a:avLst/>
          </a:prstGeom>
        </p:spPr>
      </p:pic>
      <p:sp>
        <p:nvSpPr>
          <p:cNvPr id="50" name="TextBox 49"/>
          <p:cNvSpPr txBox="1"/>
          <p:nvPr/>
        </p:nvSpPr>
        <p:spPr>
          <a:xfrm>
            <a:off x="10747341" y="232905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51" name="TextBox 50"/>
          <p:cNvSpPr txBox="1"/>
          <p:nvPr/>
        </p:nvSpPr>
        <p:spPr>
          <a:xfrm>
            <a:off x="7829550" y="2504313"/>
            <a:ext cx="1851620" cy="194310"/>
          </a:xfrm>
          <a:prstGeom prst="rect">
            <a:avLst/>
          </a:prstGeom>
          <a:noFill/>
        </p:spPr>
        <p:txBody>
          <a:bodyPr wrap="none" lIns="0" rIns="0" tIns="0" bIns="0">
            <a:spAutoFit/>
          </a:bodyPr>
          <a:lstStyle/>
          <a:p>
            <a:r>
              <a:rPr sz="1150" b="0">
                <a:solidFill>
                  <a:srgbClr val="2E2E2E"/>
                </a:solidFill>
                <a:latin typeface="Calibri"/>
              </a:rPr>
              <a:t>forecast period to account for</a:t>
            </a:r>
          </a:p>
        </p:txBody>
      </p:sp>
      <p:pic>
        <p:nvPicPr>
          <p:cNvPr id="52" name="Picture 51" descr="lock.png"/>
          <p:cNvPicPr>
            <a:picLocks noChangeAspect="1"/>
          </p:cNvPicPr>
          <p:nvPr/>
        </p:nvPicPr>
        <p:blipFill>
          <a:blip r:embed="rId5"/>
          <a:stretch>
            <a:fillRect/>
          </a:stretch>
        </p:blipFill>
        <p:spPr>
          <a:xfrm>
            <a:off x="9630324" y="2494089"/>
            <a:ext cx="134549" cy="195707"/>
          </a:xfrm>
          <a:prstGeom prst="rect">
            <a:avLst/>
          </a:prstGeom>
        </p:spPr>
      </p:pic>
      <p:sp>
        <p:nvSpPr>
          <p:cNvPr id="53" name="TextBox 52"/>
          <p:cNvSpPr txBox="1"/>
          <p:nvPr/>
        </p:nvSpPr>
        <p:spPr>
          <a:xfrm>
            <a:off x="980543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4"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Cell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Cell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gridCol w="695728"/>
                <a:gridCol w="695728"/>
                <a:gridCol w="695728"/>
                <a:gridCol w="695728"/>
                <a:gridCol w="695728"/>
                <a:gridCol w="695728"/>
                <a:gridCol w="695728"/>
                <a:gridCol w="695728"/>
                <a:gridCol w="695728"/>
                <a:gridCol w="695728"/>
                <a:gridCol w="695728"/>
                <a:gridCol w="695728"/>
                <a:gridCol w="695728"/>
                <a:gridCol w="695728"/>
                <a:gridCol w="695728"/>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Cell Configuration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4 Cells</a:t>
            </a:r>
          </a:p>
        </p:txBody>
      </p:sp>
      <p:sp>
        <p:nvSpPr>
          <p:cNvPr id="33" name="Rectangle 32"/>
          <p:cNvSpPr/>
          <p:nvPr/>
        </p:nvSpPr>
        <p:spPr>
          <a:xfrm>
            <a:off x="185737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B8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6 to 12 Cells</a:t>
            </a:r>
          </a:p>
        </p:txBody>
      </p:sp>
      <p:sp>
        <p:nvSpPr>
          <p:cNvPr id="49" name="Rectangle 48"/>
          <p:cNvSpPr/>
          <p:nvPr/>
        </p:nvSpPr>
        <p:spPr>
          <a:xfrm>
            <a:off x="1857375" y="4079081"/>
            <a:ext cx="643890" cy="831056"/>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13 to 24 Cells</a:t>
            </a:r>
          </a:p>
        </p:txBody>
      </p:sp>
      <p:sp>
        <p:nvSpPr>
          <p:cNvPr id="65" name="Rectangle 64"/>
          <p:cNvSpPr/>
          <p:nvPr/>
        </p:nvSpPr>
        <p:spPr>
          <a:xfrm>
            <a:off x="185737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Above 24 Cells</a:t>
            </a:r>
          </a:p>
        </p:txBody>
      </p:sp>
      <p:sp>
        <p:nvSpPr>
          <p:cNvPr id="81" name="Rectangle 80"/>
          <p:cNvSpPr/>
          <p:nvPr/>
        </p:nvSpPr>
        <p:spPr>
          <a:xfrm>
            <a:off x="185737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34947" y="1713738"/>
            <a:ext cx="366712" cy="533400"/>
          </a:xfrm>
          <a:prstGeom prst="rect">
            <a:avLst/>
          </a:prstGeom>
        </p:spPr>
      </p:pic>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Cell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Cell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gridCol w="695728"/>
                <a:gridCol w="695728"/>
                <a:gridCol w="695728"/>
                <a:gridCol w="695728"/>
                <a:gridCol w="695728"/>
                <a:gridCol w="695728"/>
                <a:gridCol w="695728"/>
                <a:gridCol w="695728"/>
                <a:gridCol w="695728"/>
                <a:gridCol w="695728"/>
                <a:gridCol w="695728"/>
                <a:gridCol w="695728"/>
                <a:gridCol w="695728"/>
                <a:gridCol w="695728"/>
                <a:gridCol w="695728"/>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Cell Configuration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4 Cells</a:t>
            </a:r>
          </a:p>
        </p:txBody>
      </p:sp>
      <p:sp>
        <p:nvSpPr>
          <p:cNvPr id="33" name="Rectangle 32"/>
          <p:cNvSpPr/>
          <p:nvPr/>
        </p:nvSpPr>
        <p:spPr>
          <a:xfrm>
            <a:off x="185737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B8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6 to 12 Cells</a:t>
            </a:r>
          </a:p>
        </p:txBody>
      </p:sp>
      <p:sp>
        <p:nvSpPr>
          <p:cNvPr id="49" name="Rectangle 48"/>
          <p:cNvSpPr/>
          <p:nvPr/>
        </p:nvSpPr>
        <p:spPr>
          <a:xfrm>
            <a:off x="1857375" y="4079081"/>
            <a:ext cx="643890" cy="831056"/>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13 to 24 Cells</a:t>
            </a:r>
          </a:p>
        </p:txBody>
      </p:sp>
      <p:sp>
        <p:nvSpPr>
          <p:cNvPr id="65" name="Rectangle 64"/>
          <p:cNvSpPr/>
          <p:nvPr/>
        </p:nvSpPr>
        <p:spPr>
          <a:xfrm>
            <a:off x="185737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Above 24 Cells</a:t>
            </a:r>
          </a:p>
        </p:txBody>
      </p:sp>
      <p:sp>
        <p:nvSpPr>
          <p:cNvPr id="81" name="Rectangle 80"/>
          <p:cNvSpPr/>
          <p:nvPr/>
        </p:nvSpPr>
        <p:spPr>
          <a:xfrm>
            <a:off x="185737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34947"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Customization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Customization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Customization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Customization,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Customization segment categorizes the market by customization.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Custom-Engineered</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Stock Sizes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Customization split shows how demand is distributed across customization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69_0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908_1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1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386_9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663_5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5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94756" cy="186689"/>
          </a:xfrm>
          <a:prstGeom prst="rect">
            <a:avLst/>
          </a:prstGeom>
          <a:noFill/>
        </p:spPr>
        <p:txBody>
          <a:bodyPr wrap="none" lIns="0" rIns="0" tIns="0" bIns="0">
            <a:spAutoFit/>
          </a:bodyPr>
          <a:lstStyle/>
          <a:p>
            <a:r>
              <a:rPr sz="1100" b="0">
                <a:solidFill>
                  <a:srgbClr val="2E2E2E"/>
                </a:solidFill>
                <a:latin typeface="Calibri"/>
              </a:rPr>
              <a:t>▪ ¶ Among corrugated partition by customization,</a:t>
            </a:r>
          </a:p>
        </p:txBody>
      </p:sp>
      <p:sp>
        <p:nvSpPr>
          <p:cNvPr id="59" name="TextBox 58"/>
          <p:cNvSpPr txBox="1"/>
          <p:nvPr/>
        </p:nvSpPr>
        <p:spPr>
          <a:xfrm>
            <a:off x="485775" y="4397077"/>
            <a:ext cx="2641004" cy="186689"/>
          </a:xfrm>
          <a:prstGeom prst="rect">
            <a:avLst/>
          </a:prstGeom>
          <a:noFill/>
        </p:spPr>
        <p:txBody>
          <a:bodyPr wrap="none" lIns="0" rIns="0" tIns="0" bIns="0">
            <a:spAutoFit/>
          </a:bodyPr>
          <a:lstStyle/>
          <a:p>
            <a:r>
              <a:rPr sz="1100" b="0">
                <a:solidFill>
                  <a:srgbClr val="2E2E2E"/>
                </a:solidFill>
                <a:latin typeface="Calibri"/>
              </a:rPr>
              <a:t>standard / stock sizes segment is expected to</a:t>
            </a:r>
          </a:p>
        </p:txBody>
      </p:sp>
      <p:sp>
        <p:nvSpPr>
          <p:cNvPr id="60" name="TextBox 59"/>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61" name="Picture 60" descr="lock.png"/>
          <p:cNvPicPr>
            <a:picLocks noChangeAspect="1"/>
          </p:cNvPicPr>
          <p:nvPr/>
        </p:nvPicPr>
        <p:blipFill>
          <a:blip r:embed="rId10"/>
          <a:stretch>
            <a:fillRect/>
          </a:stretch>
        </p:blipFill>
        <p:spPr>
          <a:xfrm>
            <a:off x="2108919" y="4554938"/>
            <a:ext cx="128699" cy="187198"/>
          </a:xfrm>
          <a:prstGeom prst="rect">
            <a:avLst/>
          </a:prstGeom>
        </p:spPr>
      </p:pic>
      <p:sp>
        <p:nvSpPr>
          <p:cNvPr id="62" name="TextBox 61"/>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63" name="TextBox 62"/>
          <p:cNvSpPr txBox="1"/>
          <p:nvPr/>
        </p:nvSpPr>
        <p:spPr>
          <a:xfrm>
            <a:off x="485775" y="4732357"/>
            <a:ext cx="2850008" cy="186689"/>
          </a:xfrm>
          <a:prstGeom prst="rect">
            <a:avLst/>
          </a:prstGeom>
          <a:noFill/>
        </p:spPr>
        <p:txBody>
          <a:bodyPr wrap="none" lIns="0" rIns="0" tIns="0" bIns="0">
            <a:spAutoFit/>
          </a:bodyPr>
          <a:lstStyle/>
          <a:p>
            <a:r>
              <a:rPr sz="1100" b="0">
                <a:solidFill>
                  <a:srgbClr val="2E2E2E"/>
                </a:solidFill>
                <a:latin typeface="Calibri"/>
              </a:rPr>
              <a:t>period. In terms of value share by customization,</a:t>
            </a:r>
          </a:p>
        </p:txBody>
      </p:sp>
      <p:sp>
        <p:nvSpPr>
          <p:cNvPr id="64" name="TextBox 63"/>
          <p:cNvSpPr txBox="1"/>
          <p:nvPr/>
        </p:nvSpPr>
        <p:spPr>
          <a:xfrm>
            <a:off x="485775" y="4899997"/>
            <a:ext cx="2752873" cy="186689"/>
          </a:xfrm>
          <a:prstGeom prst="rect">
            <a:avLst/>
          </a:prstGeom>
          <a:noFill/>
        </p:spPr>
        <p:txBody>
          <a:bodyPr wrap="none" lIns="0" rIns="0" tIns="0" bIns="0">
            <a:spAutoFit/>
          </a:bodyPr>
          <a:lstStyle/>
          <a:p>
            <a:r>
              <a:rPr sz="1100" b="0">
                <a:solidFill>
                  <a:srgbClr val="2E2E2E"/>
                </a:solidFill>
                <a:latin typeface="Calibri"/>
              </a:rPr>
              <a:t>the custom-engineered segment is expected to</a:t>
            </a:r>
          </a:p>
        </p:txBody>
      </p:sp>
      <p:sp>
        <p:nvSpPr>
          <p:cNvPr id="65" name="TextBox 64"/>
          <p:cNvSpPr txBox="1"/>
          <p:nvPr/>
        </p:nvSpPr>
        <p:spPr>
          <a:xfrm>
            <a:off x="485775" y="5067637"/>
            <a:ext cx="1682750" cy="186689"/>
          </a:xfrm>
          <a:prstGeom prst="rect">
            <a:avLst/>
          </a:prstGeom>
          <a:noFill/>
        </p:spPr>
        <p:txBody>
          <a:bodyPr wrap="none" lIns="0" rIns="0" tIns="0" bIns="0">
            <a:spAutoFit/>
          </a:bodyPr>
          <a:lstStyle/>
          <a:p>
            <a:r>
              <a:rPr sz="1100" b="0">
                <a:solidFill>
                  <a:srgbClr val="2E2E2E"/>
                </a:solidFill>
                <a:latin typeface="Calibri"/>
              </a:rPr>
              <a:t>dominate the market, losing</a:t>
            </a:r>
          </a:p>
        </p:txBody>
      </p:sp>
      <p:pic>
        <p:nvPicPr>
          <p:cNvPr id="66" name="Picture 65" descr="lock.png"/>
          <p:cNvPicPr>
            <a:picLocks noChangeAspect="1"/>
          </p:cNvPicPr>
          <p:nvPr/>
        </p:nvPicPr>
        <p:blipFill>
          <a:blip r:embed="rId10"/>
          <a:stretch>
            <a:fillRect/>
          </a:stretch>
        </p:blipFill>
        <p:spPr>
          <a:xfrm>
            <a:off x="2116576" y="5057858"/>
            <a:ext cx="128699" cy="187198"/>
          </a:xfrm>
          <a:prstGeom prst="rect">
            <a:avLst/>
          </a:prstGeom>
        </p:spPr>
      </p:pic>
      <p:sp>
        <p:nvSpPr>
          <p:cNvPr id="67" name="TextBox 66"/>
          <p:cNvSpPr txBox="1"/>
          <p:nvPr/>
        </p:nvSpPr>
        <p:spPr>
          <a:xfrm>
            <a:off x="2284072"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68" name="TextBox 67"/>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69" name="Picture 68" descr="lock.png"/>
          <p:cNvPicPr>
            <a:picLocks noChangeAspect="1"/>
          </p:cNvPicPr>
          <p:nvPr/>
        </p:nvPicPr>
        <p:blipFill>
          <a:blip r:embed="rId10"/>
          <a:stretch>
            <a:fillRect/>
          </a:stretch>
        </p:blipFill>
        <p:spPr>
          <a:xfrm>
            <a:off x="1330764" y="5225498"/>
            <a:ext cx="128699" cy="187198"/>
          </a:xfrm>
          <a:prstGeom prst="rect">
            <a:avLst/>
          </a:prstGeom>
        </p:spPr>
      </p:pic>
      <p:sp>
        <p:nvSpPr>
          <p:cNvPr id="70" name="TextBox 69"/>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767062" cy="186689"/>
          </a:xfrm>
          <a:prstGeom prst="rect">
            <a:avLst/>
          </a:prstGeom>
          <a:noFill/>
        </p:spPr>
        <p:txBody>
          <a:bodyPr wrap="none" lIns="0" rIns="0" tIns="0" bIns="0">
            <a:spAutoFit/>
          </a:bodyPr>
          <a:lstStyle/>
          <a:p>
            <a:r>
              <a:rPr sz="1100" b="0">
                <a:solidFill>
                  <a:srgbClr val="2E2E2E"/>
                </a:solidFill>
                <a:latin typeface="Calibri"/>
              </a:rPr>
              <a:t>▪ ¶ Custom-engineered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123678" cy="186689"/>
          </a:xfrm>
          <a:prstGeom prst="rect">
            <a:avLst/>
          </a:prstGeom>
          <a:noFill/>
        </p:spPr>
        <p:txBody>
          <a:bodyPr wrap="none" lIns="0" rIns="0" tIns="0" bIns="0">
            <a:spAutoFit/>
          </a:bodyPr>
          <a:lstStyle/>
          <a:p>
            <a:r>
              <a:rPr sz="1100" b="0">
                <a:solidFill>
                  <a:srgbClr val="2E2E2E"/>
                </a:solidFill>
                <a:latin typeface="Calibri"/>
              </a:rPr>
              <a:t>X higher value than standard / stock</a:t>
            </a:r>
          </a:p>
        </p:txBody>
      </p:sp>
      <p:sp>
        <p:nvSpPr>
          <p:cNvPr id="75" name="TextBox 74"/>
          <p:cNvSpPr txBox="1"/>
          <p:nvPr/>
        </p:nvSpPr>
        <p:spPr>
          <a:xfrm>
            <a:off x="485775" y="5788489"/>
            <a:ext cx="1353145" cy="186689"/>
          </a:xfrm>
          <a:prstGeom prst="rect">
            <a:avLst/>
          </a:prstGeom>
          <a:noFill/>
        </p:spPr>
        <p:txBody>
          <a:bodyPr wrap="none" lIns="0" rIns="0" tIns="0" bIns="0">
            <a:spAutoFit/>
          </a:bodyPr>
          <a:lstStyle/>
          <a:p>
            <a:r>
              <a:rPr sz="1100" b="0">
                <a:solidFill>
                  <a:srgbClr val="2E2E2E"/>
                </a:solidFill>
                <a:latin typeface="Calibri"/>
              </a:rPr>
              <a:t>sizes segment in 2036.</a:t>
            </a:r>
          </a:p>
        </p:txBody>
      </p:sp>
      <p:sp>
        <p:nvSpPr>
          <p:cNvPr id="76" name="TextBox 75"/>
          <p:cNvSpPr txBox="1"/>
          <p:nvPr/>
        </p:nvSpPr>
        <p:spPr>
          <a:xfrm>
            <a:off x="3838575" y="4229437"/>
            <a:ext cx="1350962" cy="186689"/>
          </a:xfrm>
          <a:prstGeom prst="rect">
            <a:avLst/>
          </a:prstGeom>
          <a:noFill/>
        </p:spPr>
        <p:txBody>
          <a:bodyPr wrap="none" lIns="0" rIns="0" tIns="0" bIns="0">
            <a:spAutoFit/>
          </a:bodyPr>
          <a:lstStyle/>
          <a:p>
            <a:r>
              <a:rPr sz="1100" b="0">
                <a:solidFill>
                  <a:srgbClr val="2E2E2E"/>
                </a:solidFill>
                <a:latin typeface="Calibri"/>
              </a:rPr>
              <a:t>● Custom-Engineered:</a:t>
            </a:r>
          </a:p>
        </p:txBody>
      </p:sp>
      <p:pic>
        <p:nvPicPr>
          <p:cNvPr id="77" name="Picture 76" descr="lock.png"/>
          <p:cNvPicPr>
            <a:picLocks noChangeAspect="1"/>
          </p:cNvPicPr>
          <p:nvPr/>
        </p:nvPicPr>
        <p:blipFill>
          <a:blip r:embed="rId10"/>
          <a:stretch>
            <a:fillRect/>
          </a:stretch>
        </p:blipFill>
        <p:spPr>
          <a:xfrm>
            <a:off x="5137589" y="4219658"/>
            <a:ext cx="128699" cy="187198"/>
          </a:xfrm>
          <a:prstGeom prst="rect">
            <a:avLst/>
          </a:prstGeom>
        </p:spPr>
      </p:pic>
      <p:sp>
        <p:nvSpPr>
          <p:cNvPr id="78" name="TextBox 77"/>
          <p:cNvSpPr txBox="1"/>
          <p:nvPr/>
        </p:nvSpPr>
        <p:spPr>
          <a:xfrm>
            <a:off x="530508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164535" y="4219658"/>
            <a:ext cx="128699" cy="187198"/>
          </a:xfrm>
          <a:prstGeom prst="rect">
            <a:avLst/>
          </a:prstGeom>
        </p:spPr>
      </p:pic>
      <p:sp>
        <p:nvSpPr>
          <p:cNvPr id="80" name="TextBox 79"/>
          <p:cNvSpPr txBox="1"/>
          <p:nvPr/>
        </p:nvSpPr>
        <p:spPr>
          <a:xfrm>
            <a:off x="633203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475382" cy="186689"/>
          </a:xfrm>
          <a:prstGeom prst="rect">
            <a:avLst/>
          </a:prstGeom>
          <a:noFill/>
        </p:spPr>
        <p:txBody>
          <a:bodyPr wrap="none" lIns="0" rIns="0" tIns="0" bIns="0">
            <a:spAutoFit/>
          </a:bodyPr>
          <a:lstStyle/>
          <a:p>
            <a:r>
              <a:rPr sz="1100" b="0">
                <a:solidFill>
                  <a:srgbClr val="2E2E2E"/>
                </a:solidFill>
                <a:latin typeface="Calibri"/>
              </a:rPr>
              <a:t>● Standard / Stock Sizes:</a:t>
            </a:r>
          </a:p>
        </p:txBody>
      </p:sp>
      <p:pic>
        <p:nvPicPr>
          <p:cNvPr id="82" name="Picture 81" descr="lock.png"/>
          <p:cNvPicPr>
            <a:picLocks noChangeAspect="1"/>
          </p:cNvPicPr>
          <p:nvPr/>
        </p:nvPicPr>
        <p:blipFill>
          <a:blip r:embed="rId10"/>
          <a:stretch>
            <a:fillRect/>
          </a:stretch>
        </p:blipFill>
        <p:spPr>
          <a:xfrm>
            <a:off x="5262009" y="4437590"/>
            <a:ext cx="128699" cy="187198"/>
          </a:xfrm>
          <a:prstGeom prst="rect">
            <a:avLst/>
          </a:prstGeom>
        </p:spPr>
      </p:pic>
      <p:sp>
        <p:nvSpPr>
          <p:cNvPr id="83" name="TextBox 82"/>
          <p:cNvSpPr txBox="1"/>
          <p:nvPr/>
        </p:nvSpPr>
        <p:spPr>
          <a:xfrm>
            <a:off x="542950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288955" y="4437590"/>
            <a:ext cx="128699" cy="187198"/>
          </a:xfrm>
          <a:prstGeom prst="rect">
            <a:avLst/>
          </a:prstGeom>
        </p:spPr>
      </p:pic>
      <p:sp>
        <p:nvSpPr>
          <p:cNvPr id="85" name="TextBox 84"/>
          <p:cNvSpPr txBox="1"/>
          <p:nvPr/>
        </p:nvSpPr>
        <p:spPr>
          <a:xfrm>
            <a:off x="6456451"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6" name="TextBox 8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Customization segment is projected to grow at</a:t>
            </a:r>
          </a:p>
        </p:txBody>
      </p:sp>
      <p:sp>
        <p:nvSpPr>
          <p:cNvPr id="87" name="TextBox 86"/>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88" name="Picture 87" descr="lock.png"/>
          <p:cNvPicPr>
            <a:picLocks noChangeAspect="1"/>
          </p:cNvPicPr>
          <p:nvPr/>
        </p:nvPicPr>
        <p:blipFill>
          <a:blip r:embed="rId10"/>
          <a:stretch>
            <a:fillRect/>
          </a:stretch>
        </p:blipFill>
        <p:spPr>
          <a:xfrm>
            <a:off x="9154084" y="6007677"/>
            <a:ext cx="134549" cy="195707"/>
          </a:xfrm>
          <a:prstGeom prst="rect">
            <a:avLst/>
          </a:prstGeom>
        </p:spPr>
      </p:pic>
      <p:sp>
        <p:nvSpPr>
          <p:cNvPr id="89" name="TextBox 88"/>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Customization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Customization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Customization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Customization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357793" cy="186689"/>
          </a:xfrm>
          <a:prstGeom prst="rect">
            <a:avLst/>
          </a:prstGeom>
          <a:noFill/>
        </p:spPr>
        <p:txBody>
          <a:bodyPr wrap="none" lIns="0" rIns="0" tIns="0" bIns="0">
            <a:spAutoFit/>
          </a:bodyPr>
          <a:lstStyle/>
          <a:p>
            <a:r>
              <a:rPr sz="1100" b="0">
                <a:solidFill>
                  <a:srgbClr val="2E2E2E"/>
                </a:solidFill>
                <a:latin typeface="Calibri"/>
              </a:rPr>
              <a:t>Standard / stock sizes followed by custom-engineered are expected to be the two most attractive customization segments in the North America corrugated partition market in terms of value over the</a:t>
            </a:r>
          </a:p>
        </p:txBody>
      </p:sp>
      <p:sp>
        <p:nvSpPr>
          <p:cNvPr id="21" name="TextBox 20"/>
          <p:cNvSpPr txBox="1"/>
          <p:nvPr/>
        </p:nvSpPr>
        <p:spPr>
          <a:xfrm>
            <a:off x="257175" y="5945505"/>
            <a:ext cx="4991058" cy="186689"/>
          </a:xfrm>
          <a:prstGeom prst="rect">
            <a:avLst/>
          </a:prstGeom>
          <a:noFill/>
        </p:spPr>
        <p:txBody>
          <a:bodyPr wrap="none" lIns="0" rIns="0" tIns="0" bIns="0">
            <a:spAutoFit/>
          </a:bodyPr>
          <a:lstStyle/>
          <a:p>
            <a:r>
              <a:rPr sz="1100" b="0">
                <a:solidFill>
                  <a:srgbClr val="2E2E2E"/>
                </a:solidFill>
                <a:latin typeface="Calibri"/>
              </a:rPr>
              <a:t>forecast period. Standard / stock sizes and Custom-Engineered exhibit a CAGR index of</a:t>
            </a:r>
          </a:p>
        </p:txBody>
      </p:sp>
      <p:pic>
        <p:nvPicPr>
          <p:cNvPr id="22" name="Picture 21" descr="lock.png"/>
          <p:cNvPicPr>
            <a:picLocks noChangeAspect="1"/>
          </p:cNvPicPr>
          <p:nvPr/>
        </p:nvPicPr>
        <p:blipFill>
          <a:blip r:embed="rId6"/>
          <a:stretch>
            <a:fillRect/>
          </a:stretch>
        </p:blipFill>
        <p:spPr>
          <a:xfrm>
            <a:off x="5196284" y="5935726"/>
            <a:ext cx="128699" cy="187198"/>
          </a:xfrm>
          <a:prstGeom prst="rect">
            <a:avLst/>
          </a:prstGeom>
        </p:spPr>
      </p:pic>
      <p:sp>
        <p:nvSpPr>
          <p:cNvPr id="23" name="TextBox 22"/>
          <p:cNvSpPr txBox="1"/>
          <p:nvPr/>
        </p:nvSpPr>
        <p:spPr>
          <a:xfrm>
            <a:off x="5363780" y="5945505"/>
            <a:ext cx="2498576" cy="186689"/>
          </a:xfrm>
          <a:prstGeom prst="rect">
            <a:avLst/>
          </a:prstGeom>
          <a:noFill/>
        </p:spPr>
        <p:txBody>
          <a:bodyPr wrap="none" lIns="0" rIns="0" tIns="0" bIns="0">
            <a:spAutoFit/>
          </a:bodyPr>
          <a:lstStyle/>
          <a:p>
            <a:r>
              <a:rPr sz="1100" b="0">
                <a:solidFill>
                  <a:srgbClr val="2E2E2E"/>
                </a:solidFill>
                <a:latin typeface="Calibri"/>
              </a:rPr>
              <a:t>and 76 and a market share index of 73 and</a:t>
            </a:r>
          </a:p>
        </p:txBody>
      </p:sp>
      <p:pic>
        <p:nvPicPr>
          <p:cNvPr id="24" name="Picture 23" descr="lock.png"/>
          <p:cNvPicPr>
            <a:picLocks noChangeAspect="1"/>
          </p:cNvPicPr>
          <p:nvPr/>
        </p:nvPicPr>
        <p:blipFill>
          <a:blip r:embed="rId6"/>
          <a:stretch>
            <a:fillRect/>
          </a:stretch>
        </p:blipFill>
        <p:spPr>
          <a:xfrm>
            <a:off x="7810408" y="5935726"/>
            <a:ext cx="128699" cy="187198"/>
          </a:xfrm>
          <a:prstGeom prst="rect">
            <a:avLst/>
          </a:prstGeom>
        </p:spPr>
      </p:pic>
      <p:sp>
        <p:nvSpPr>
          <p:cNvPr id="25" name="TextBox 24"/>
          <p:cNvSpPr txBox="1"/>
          <p:nvPr/>
        </p:nvSpPr>
        <p:spPr>
          <a:xfrm>
            <a:off x="7977904"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6" name="Picture 25" descr="lock.png"/>
          <p:cNvPicPr>
            <a:picLocks noChangeAspect="1"/>
          </p:cNvPicPr>
          <p:nvPr/>
        </p:nvPicPr>
        <p:blipFill>
          <a:blip r:embed="rId6"/>
          <a:stretch>
            <a:fillRect/>
          </a:stretch>
        </p:blipFill>
        <p:spPr>
          <a:xfrm>
            <a:off x="10532308" y="5935726"/>
            <a:ext cx="128699" cy="187198"/>
          </a:xfrm>
          <a:prstGeom prst="rect">
            <a:avLst/>
          </a:prstGeom>
        </p:spPr>
      </p:pic>
      <p:sp>
        <p:nvSpPr>
          <p:cNvPr id="27" name="TextBox 26"/>
          <p:cNvSpPr txBox="1"/>
          <p:nvPr/>
        </p:nvSpPr>
        <p:spPr>
          <a:xfrm>
            <a:off x="10699804" y="5945505"/>
            <a:ext cx="894481" cy="186689"/>
          </a:xfrm>
          <a:prstGeom prst="rect">
            <a:avLst/>
          </a:prstGeom>
          <a:noFill/>
        </p:spPr>
        <p:txBody>
          <a:bodyPr wrap="none" lIns="0" rIns="0" tIns="0" bIns="0">
            <a:spAutoFit/>
          </a:bodyPr>
          <a:lstStyle/>
          <a:p>
            <a:r>
              <a:rPr sz="1100" b="0">
                <a:solidFill>
                  <a:srgbClr val="2E2E2E"/>
                </a:solidFill>
                <a:latin typeface="Calibri"/>
              </a:rPr>
              <a:t>. Bubbles right</a:t>
            </a:r>
          </a:p>
        </p:txBody>
      </p:sp>
      <p:sp>
        <p:nvSpPr>
          <p:cNvPr id="28" name="TextBox 27"/>
          <p:cNvSpPr txBox="1"/>
          <p:nvPr/>
        </p:nvSpPr>
        <p:spPr>
          <a:xfrm>
            <a:off x="257175" y="6113145"/>
            <a:ext cx="3593785" cy="186689"/>
          </a:xfrm>
          <a:prstGeom prst="rect">
            <a:avLst/>
          </a:prstGeom>
          <a:noFill/>
        </p:spPr>
        <p:txBody>
          <a:bodyPr wrap="none" lIns="0" rIns="0" tIns="0" bIns="0">
            <a:spAutoFit/>
          </a:bodyPr>
          <a:lstStyle/>
          <a:p>
            <a:r>
              <a:rPr sz="1100" b="0">
                <a:solidFill>
                  <a:srgbClr val="2E2E2E"/>
                </a:solidFill>
                <a:latin typeface="Calibri"/>
              </a:rPr>
              <a:t>of the CAGR-Index line grow faster than the segment average.</a:t>
            </a:r>
          </a:p>
        </p:txBody>
      </p:sp>
      <p:sp>
        <p:nvSpPr>
          <p:cNvPr id="29"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Customization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Customization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Standard / Stock Sizes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Custom-Engineered</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Customization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Customization,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Customization (MT)</a:t>
            </a:r>
          </a:p>
        </p:txBody>
      </p:sp>
      <p:graphicFrame>
        <p:nvGraphicFramePr>
          <p:cNvPr id="13" name="Table 12"/>
          <p:cNvGraphicFramePr>
            <a:graphicFrameLocks noGrp="1"/>
          </p:cNvGraphicFramePr>
          <p:nvPr/>
        </p:nvGraphicFramePr>
        <p:xfrm>
          <a:off x="152400" y="1238250"/>
          <a:ext cx="11887208" cy="1371600"/>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Customization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420">
                <a:tc>
                  <a:txBody>
                    <a:bodyPr wrap="none"/>
                    <a:lstStyle/>
                    <a:p>
                      <a:pPr algn="l"/>
                      <a:r>
                        <a:rPr sz="1100" b="1">
                          <a:solidFill>
                            <a:srgbClr val="2E2E2E"/>
                          </a:solidFill>
                          <a:latin typeface="Calibri"/>
                        </a:rPr>
                        <a:t>Standard / Stock</a:t>
                      </a:r>
                      <a:endParaRPr sz="1100"/>
                    </a:p>
                    <a:p>
                      <a:pPr algn="l"/>
                      <a:r>
                        <a:rPr sz="1100" b="1">
                          <a:solidFill>
                            <a:srgbClr val="2E2E2E"/>
                          </a:solidFill>
                          <a:latin typeface="Calibri"/>
                        </a:rPr>
                        <a:t>Sizes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34">
                <a:tc>
                  <a:txBody>
                    <a:bodyPr wrap="none"/>
                    <a:lstStyle/>
                    <a:p>
                      <a:pPr algn="l"/>
                      <a:r>
                        <a:rPr sz="1100" b="1">
                          <a:solidFill>
                            <a:srgbClr val="2E2E2E"/>
                          </a:solidFill>
                          <a:latin typeface="Calibri"/>
                        </a:rPr>
                        <a:t>Custom-Engineered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3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619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3676650"/>
          </a:xfrm>
          <a:prstGeom prst="roundRect">
            <a:avLst>
              <a:gd name="adj" fmla="val 20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38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Customization</a:t>
            </a:r>
          </a:p>
        </p:txBody>
      </p:sp>
      <p:sp>
        <p:nvSpPr>
          <p:cNvPr id="17" name="Rectangle 16"/>
          <p:cNvSpPr/>
          <p:nvPr/>
        </p:nvSpPr>
        <p:spPr>
          <a:xfrm>
            <a:off x="276225" y="3276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362325"/>
            <a:ext cx="11639550" cy="3190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1876806"/>
            <a:ext cx="366712" cy="533400"/>
          </a:xfrm>
          <a:prstGeom prst="rect">
            <a:avLst/>
          </a:prstGeom>
        </p:spPr>
      </p:pic>
      <p:sp>
        <p:nvSpPr>
          <p:cNvPr id="21" name="TextBox 20"/>
          <p:cNvSpPr txBox="1"/>
          <p:nvPr/>
        </p:nvSpPr>
        <p:spPr>
          <a:xfrm>
            <a:off x="276225" y="3371850"/>
            <a:ext cx="3175198" cy="194310"/>
          </a:xfrm>
          <a:prstGeom prst="rect">
            <a:avLst/>
          </a:prstGeom>
          <a:noFill/>
        </p:spPr>
        <p:txBody>
          <a:bodyPr wrap="none" lIns="0" rIns="0" tIns="0" bIns="0">
            <a:spAutoFit/>
          </a:bodyPr>
          <a:lstStyle/>
          <a:p>
            <a:r>
              <a:rPr sz="1150" b="0">
                <a:solidFill>
                  <a:srgbClr val="2E2E2E"/>
                </a:solidFill>
                <a:latin typeface="Calibri"/>
              </a:rPr>
              <a:t>Custom-engineered segment is projected to register</a:t>
            </a:r>
          </a:p>
        </p:txBody>
      </p:sp>
      <p:pic>
        <p:nvPicPr>
          <p:cNvPr id="22" name="Picture 21" descr="lock.png"/>
          <p:cNvPicPr>
            <a:picLocks noChangeAspect="1"/>
          </p:cNvPicPr>
          <p:nvPr/>
        </p:nvPicPr>
        <p:blipFill>
          <a:blip r:embed="rId4"/>
          <a:stretch>
            <a:fillRect/>
          </a:stretch>
        </p:blipFill>
        <p:spPr>
          <a:xfrm>
            <a:off x="3400577" y="3361626"/>
            <a:ext cx="134549" cy="195707"/>
          </a:xfrm>
          <a:prstGeom prst="rect">
            <a:avLst/>
          </a:prstGeom>
        </p:spPr>
      </p:pic>
      <p:sp>
        <p:nvSpPr>
          <p:cNvPr id="23" name="TextBox 22"/>
          <p:cNvSpPr txBox="1"/>
          <p:nvPr/>
        </p:nvSpPr>
        <p:spPr>
          <a:xfrm>
            <a:off x="3575686" y="3371850"/>
            <a:ext cx="7790606" cy="194310"/>
          </a:xfrm>
          <a:prstGeom prst="rect">
            <a:avLst/>
          </a:prstGeom>
          <a:noFill/>
        </p:spPr>
        <p:txBody>
          <a:bodyPr wrap="none" lIns="0" rIns="0" tIns="0" bIns="0">
            <a:spAutoFit/>
          </a:bodyPr>
          <a:lstStyle/>
          <a:p>
            <a:r>
              <a:rPr sz="1150" b="0">
                <a:solidFill>
                  <a:srgbClr val="2E2E2E"/>
                </a:solidFill>
                <a:latin typeface="Calibri"/>
              </a:rPr>
              <a:t>X higher volume than standard / stock sizes segment in 2036. Among corrugated partition by customization, standard / stock sizes</a:t>
            </a:r>
          </a:p>
        </p:txBody>
      </p:sp>
      <p:sp>
        <p:nvSpPr>
          <p:cNvPr id="24" name="TextBox 23"/>
          <p:cNvSpPr txBox="1"/>
          <p:nvPr/>
        </p:nvSpPr>
        <p:spPr>
          <a:xfrm>
            <a:off x="276225" y="354711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536886"/>
            <a:ext cx="134549" cy="195707"/>
          </a:xfrm>
          <a:prstGeom prst="rect">
            <a:avLst/>
          </a:prstGeom>
        </p:spPr>
      </p:pic>
      <p:sp>
        <p:nvSpPr>
          <p:cNvPr id="26" name="TextBox 25"/>
          <p:cNvSpPr txBox="1"/>
          <p:nvPr/>
        </p:nvSpPr>
        <p:spPr>
          <a:xfrm>
            <a:off x="3557127" y="3547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774947"/>
            <a:ext cx="7186153" cy="194310"/>
          </a:xfrm>
          <a:prstGeom prst="rect">
            <a:avLst/>
          </a:prstGeom>
          <a:noFill/>
        </p:spPr>
        <p:txBody>
          <a:bodyPr wrap="none" lIns="0" rIns="0" tIns="0" bIns="0">
            <a:spAutoFit/>
          </a:bodyPr>
          <a:lstStyle/>
          <a:p>
            <a:r>
              <a:rPr sz="1150" b="0">
                <a:solidFill>
                  <a:srgbClr val="2E2E2E"/>
                </a:solidFill>
                <a:latin typeface="Calibri"/>
              </a:rPr>
              <a:t>In terms of volume share by customization, the custom-engineered segment is expected to dominate the market, losing</a:t>
            </a:r>
          </a:p>
        </p:txBody>
      </p:sp>
      <p:pic>
        <p:nvPicPr>
          <p:cNvPr id="28" name="Picture 27" descr="lock.png"/>
          <p:cNvPicPr>
            <a:picLocks noChangeAspect="1"/>
          </p:cNvPicPr>
          <p:nvPr/>
        </p:nvPicPr>
        <p:blipFill>
          <a:blip r:embed="rId4"/>
          <a:stretch>
            <a:fillRect/>
          </a:stretch>
        </p:blipFill>
        <p:spPr>
          <a:xfrm>
            <a:off x="7411532" y="3764724"/>
            <a:ext cx="134549" cy="195707"/>
          </a:xfrm>
          <a:prstGeom prst="rect">
            <a:avLst/>
          </a:prstGeom>
        </p:spPr>
      </p:pic>
      <p:sp>
        <p:nvSpPr>
          <p:cNvPr id="29" name="TextBox 28"/>
          <p:cNvSpPr txBox="1"/>
          <p:nvPr/>
        </p:nvSpPr>
        <p:spPr>
          <a:xfrm>
            <a:off x="7586641" y="3774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981785" y="3764724"/>
            <a:ext cx="134549" cy="195707"/>
          </a:xfrm>
          <a:prstGeom prst="rect">
            <a:avLst/>
          </a:prstGeom>
        </p:spPr>
      </p:pic>
      <p:sp>
        <p:nvSpPr>
          <p:cNvPr id="31" name="TextBox 30"/>
          <p:cNvSpPr txBox="1"/>
          <p:nvPr/>
        </p:nvSpPr>
        <p:spPr>
          <a:xfrm>
            <a:off x="9156894" y="3774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Customization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Customization,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Customization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1564953"/>
                <a:gridCol w="607191"/>
                <a:gridCol w="607191"/>
                <a:gridCol w="607191"/>
                <a:gridCol w="607191"/>
                <a:gridCol w="607191"/>
                <a:gridCol w="607191"/>
                <a:gridCol w="607191"/>
                <a:gridCol w="607191"/>
                <a:gridCol w="607191"/>
                <a:gridCol w="607191"/>
                <a:gridCol w="607191"/>
                <a:gridCol w="607191"/>
                <a:gridCol w="607191"/>
                <a:gridCol w="607191"/>
                <a:gridCol w="607191"/>
                <a:gridCol w="607191"/>
                <a:gridCol w="607191"/>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Customization</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1786" y="1589913"/>
            <a:ext cx="366712" cy="533400"/>
          </a:xfrm>
          <a:prstGeom prst="rect">
            <a:avLst/>
          </a:prstGeom>
        </p:spPr>
      </p:pic>
      <p:sp>
        <p:nvSpPr>
          <p:cNvPr id="21" name="TextBox 20"/>
          <p:cNvSpPr txBox="1"/>
          <p:nvPr/>
        </p:nvSpPr>
        <p:spPr>
          <a:xfrm>
            <a:off x="276225" y="2990850"/>
            <a:ext cx="3175198" cy="194310"/>
          </a:xfrm>
          <a:prstGeom prst="rect">
            <a:avLst/>
          </a:prstGeom>
          <a:noFill/>
        </p:spPr>
        <p:txBody>
          <a:bodyPr wrap="none" lIns="0" rIns="0" tIns="0" bIns="0">
            <a:spAutoFit/>
          </a:bodyPr>
          <a:lstStyle/>
          <a:p>
            <a:r>
              <a:rPr sz="1150" b="0">
                <a:solidFill>
                  <a:srgbClr val="2E2E2E"/>
                </a:solidFill>
                <a:latin typeface="Calibri"/>
              </a:rPr>
              <a:t>Custom-engineered segment is projected to register</a:t>
            </a:r>
          </a:p>
        </p:txBody>
      </p:sp>
      <p:pic>
        <p:nvPicPr>
          <p:cNvPr id="22" name="Picture 21" descr="lock.png"/>
          <p:cNvPicPr>
            <a:picLocks noChangeAspect="1"/>
          </p:cNvPicPr>
          <p:nvPr/>
        </p:nvPicPr>
        <p:blipFill>
          <a:blip r:embed="rId4"/>
          <a:stretch>
            <a:fillRect/>
          </a:stretch>
        </p:blipFill>
        <p:spPr>
          <a:xfrm>
            <a:off x="3400577" y="2980626"/>
            <a:ext cx="134549" cy="195707"/>
          </a:xfrm>
          <a:prstGeom prst="rect">
            <a:avLst/>
          </a:prstGeom>
        </p:spPr>
      </p:pic>
      <p:sp>
        <p:nvSpPr>
          <p:cNvPr id="23" name="TextBox 22"/>
          <p:cNvSpPr txBox="1"/>
          <p:nvPr/>
        </p:nvSpPr>
        <p:spPr>
          <a:xfrm>
            <a:off x="3575686" y="2990850"/>
            <a:ext cx="8213638" cy="194310"/>
          </a:xfrm>
          <a:prstGeom prst="rect">
            <a:avLst/>
          </a:prstGeom>
          <a:noFill/>
        </p:spPr>
        <p:txBody>
          <a:bodyPr wrap="none" lIns="0" rIns="0" tIns="0" bIns="0">
            <a:spAutoFit/>
          </a:bodyPr>
          <a:lstStyle/>
          <a:p>
            <a:r>
              <a:rPr sz="1150" b="0">
                <a:solidFill>
                  <a:srgbClr val="2E2E2E"/>
                </a:solidFill>
                <a:latin typeface="Calibri"/>
              </a:rPr>
              <a:t>X higher value than standard / stock sizes segment in 2036. Among corrugated partition by customization, standard / stock sizes segment</a:t>
            </a:r>
          </a:p>
        </p:txBody>
      </p:sp>
      <p:sp>
        <p:nvSpPr>
          <p:cNvPr id="24" name="TextBox 23"/>
          <p:cNvSpPr txBox="1"/>
          <p:nvPr/>
        </p:nvSpPr>
        <p:spPr>
          <a:xfrm>
            <a:off x="276225" y="3166110"/>
            <a:ext cx="2609807" cy="194310"/>
          </a:xfrm>
          <a:prstGeom prst="rect">
            <a:avLst/>
          </a:prstGeom>
          <a:noFill/>
        </p:spPr>
        <p:txBody>
          <a:bodyPr wrap="none" lIns="0" rIns="0" tIns="0" bIns="0">
            <a:spAutoFit/>
          </a:bodyPr>
          <a:lstStyle/>
          <a:p>
            <a:r>
              <a:rPr sz="1150" b="0">
                <a:solidFill>
                  <a:srgbClr val="2E2E2E"/>
                </a:solidFill>
                <a:latin typeface="Calibri"/>
              </a:rPr>
              <a:t>is expected to witness the highest CAGR of</a:t>
            </a:r>
          </a:p>
        </p:txBody>
      </p:sp>
      <p:pic>
        <p:nvPicPr>
          <p:cNvPr id="25" name="Picture 24" descr="lock.png"/>
          <p:cNvPicPr>
            <a:picLocks noChangeAspect="1"/>
          </p:cNvPicPr>
          <p:nvPr/>
        </p:nvPicPr>
        <p:blipFill>
          <a:blip r:embed="rId4"/>
          <a:stretch>
            <a:fillRect/>
          </a:stretch>
        </p:blipFill>
        <p:spPr>
          <a:xfrm>
            <a:off x="2835186" y="3155886"/>
            <a:ext cx="134549" cy="195707"/>
          </a:xfrm>
          <a:prstGeom prst="rect">
            <a:avLst/>
          </a:prstGeom>
        </p:spPr>
      </p:pic>
      <p:sp>
        <p:nvSpPr>
          <p:cNvPr id="26" name="TextBox 25"/>
          <p:cNvSpPr txBox="1"/>
          <p:nvPr/>
        </p:nvSpPr>
        <p:spPr>
          <a:xfrm>
            <a:off x="3010295"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062353" cy="194310"/>
          </a:xfrm>
          <a:prstGeom prst="rect">
            <a:avLst/>
          </a:prstGeom>
          <a:noFill/>
        </p:spPr>
        <p:txBody>
          <a:bodyPr wrap="none" lIns="0" rIns="0" tIns="0" bIns="0">
            <a:spAutoFit/>
          </a:bodyPr>
          <a:lstStyle/>
          <a:p>
            <a:r>
              <a:rPr sz="1150" b="0">
                <a:solidFill>
                  <a:srgbClr val="2E2E2E"/>
                </a:solidFill>
                <a:latin typeface="Calibri"/>
              </a:rPr>
              <a:t>In terms of value share by customization, the custom-engineered segment is expected to dominate the market, losing</a:t>
            </a:r>
          </a:p>
        </p:txBody>
      </p:sp>
      <p:pic>
        <p:nvPicPr>
          <p:cNvPr id="28" name="Picture 27" descr="lock.png"/>
          <p:cNvPicPr>
            <a:picLocks noChangeAspect="1"/>
          </p:cNvPicPr>
          <p:nvPr/>
        </p:nvPicPr>
        <p:blipFill>
          <a:blip r:embed="rId4"/>
          <a:stretch>
            <a:fillRect/>
          </a:stretch>
        </p:blipFill>
        <p:spPr>
          <a:xfrm>
            <a:off x="7287732" y="3383724"/>
            <a:ext cx="134549" cy="195707"/>
          </a:xfrm>
          <a:prstGeom prst="rect">
            <a:avLst/>
          </a:prstGeom>
        </p:spPr>
      </p:pic>
      <p:sp>
        <p:nvSpPr>
          <p:cNvPr id="29" name="TextBox 28"/>
          <p:cNvSpPr txBox="1"/>
          <p:nvPr/>
        </p:nvSpPr>
        <p:spPr>
          <a:xfrm>
            <a:off x="7462841"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857984" y="3383724"/>
            <a:ext cx="134549" cy="195707"/>
          </a:xfrm>
          <a:prstGeom prst="rect">
            <a:avLst/>
          </a:prstGeom>
        </p:spPr>
      </p:pic>
      <p:sp>
        <p:nvSpPr>
          <p:cNvPr id="31" name="TextBox 30"/>
          <p:cNvSpPr txBox="1"/>
          <p:nvPr/>
        </p:nvSpPr>
        <p:spPr>
          <a:xfrm>
            <a:off x="9033094"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Customization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Customization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Customization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3641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63165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5545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Stock Sizes</a:t>
            </a:r>
          </a:p>
        </p:txBody>
      </p:sp>
      <p:sp>
        <p:nvSpPr>
          <p:cNvPr id="19" name="BPS Value 1"/>
          <p:cNvSpPr txBox="1"/>
          <p:nvPr/>
        </p:nvSpPr>
        <p:spPr>
          <a:xfrm>
            <a:off x="6896100" y="261736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2260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178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4164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Custom-Engineered</a:t>
            </a:r>
          </a:p>
        </p:txBody>
      </p:sp>
      <p:sp>
        <p:nvSpPr>
          <p:cNvPr id="23" name="BPS Value 2"/>
          <p:cNvSpPr txBox="1"/>
          <p:nvPr/>
        </p:nvSpPr>
        <p:spPr>
          <a:xfrm>
            <a:off x="6896100" y="490355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Customization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57650" cy="194310"/>
          </a:xfrm>
          <a:prstGeom prst="rect">
            <a:avLst/>
          </a:prstGeom>
          <a:noFill/>
        </p:spPr>
        <p:txBody>
          <a:bodyPr wrap="none" lIns="0" rIns="0" tIns="0" bIns="0">
            <a:spAutoFit/>
          </a:bodyPr>
          <a:lstStyle/>
          <a:p>
            <a:r>
              <a:rPr sz="1150" b="0">
                <a:solidFill>
                  <a:srgbClr val="2E2E2E"/>
                </a:solidFill>
                <a:latin typeface="Calibri"/>
              </a:rPr>
              <a:t>Among corrugated partition by customization, standard / stock sizes</a:t>
            </a:r>
          </a:p>
        </p:txBody>
      </p:sp>
      <p:sp>
        <p:nvSpPr>
          <p:cNvPr id="31" name="TextBox 30"/>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32" name="Picture 31" descr="lock.png"/>
          <p:cNvPicPr>
            <a:picLocks noChangeAspect="1"/>
          </p:cNvPicPr>
          <p:nvPr/>
        </p:nvPicPr>
        <p:blipFill>
          <a:blip r:embed="rId5"/>
          <a:stretch>
            <a:fillRect/>
          </a:stretch>
        </p:blipFill>
        <p:spPr>
          <a:xfrm>
            <a:off x="10935343" y="1565211"/>
            <a:ext cx="134549" cy="195707"/>
          </a:xfrm>
          <a:prstGeom prst="rect">
            <a:avLst/>
          </a:prstGeom>
        </p:spPr>
      </p:pic>
      <p:sp>
        <p:nvSpPr>
          <p:cNvPr id="33" name="TextBox 32"/>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34" name="TextBox 33"/>
          <p:cNvSpPr txBox="1"/>
          <p:nvPr/>
        </p:nvSpPr>
        <p:spPr>
          <a:xfrm>
            <a:off x="7829550" y="175069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35" name="TextBox 34"/>
          <p:cNvSpPr txBox="1"/>
          <p:nvPr/>
        </p:nvSpPr>
        <p:spPr>
          <a:xfrm>
            <a:off x="7829550" y="1978533"/>
            <a:ext cx="3940819" cy="194310"/>
          </a:xfrm>
          <a:prstGeom prst="rect">
            <a:avLst/>
          </a:prstGeom>
          <a:noFill/>
        </p:spPr>
        <p:txBody>
          <a:bodyPr wrap="none" lIns="0" rIns="0" tIns="0" bIns="0">
            <a:spAutoFit/>
          </a:bodyPr>
          <a:lstStyle/>
          <a:p>
            <a:r>
              <a:rPr sz="1150" b="0">
                <a:solidFill>
                  <a:srgbClr val="2E2E2E"/>
                </a:solidFill>
                <a:latin typeface="Calibri"/>
              </a:rPr>
              <a:t>In terms of value share by customization, the custom-engineered</a:t>
            </a:r>
          </a:p>
        </p:txBody>
      </p:sp>
      <p:sp>
        <p:nvSpPr>
          <p:cNvPr id="36" name="TextBox 35"/>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37" name="Picture 36" descr="lock.png"/>
          <p:cNvPicPr>
            <a:picLocks noChangeAspect="1"/>
          </p:cNvPicPr>
          <p:nvPr/>
        </p:nvPicPr>
        <p:blipFill>
          <a:blip r:embed="rId5"/>
          <a:stretch>
            <a:fillRect/>
          </a:stretch>
        </p:blipFill>
        <p:spPr>
          <a:xfrm>
            <a:off x="10943347" y="2143569"/>
            <a:ext cx="134549" cy="195707"/>
          </a:xfrm>
          <a:prstGeom prst="rect">
            <a:avLst/>
          </a:prstGeom>
        </p:spPr>
      </p:pic>
      <p:sp>
        <p:nvSpPr>
          <p:cNvPr id="38" name="TextBox 37"/>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39" name="TextBox 38"/>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40" name="Picture 39" descr="lock.png"/>
          <p:cNvPicPr>
            <a:picLocks noChangeAspect="1"/>
          </p:cNvPicPr>
          <p:nvPr/>
        </p:nvPicPr>
        <p:blipFill>
          <a:blip r:embed="rId5"/>
          <a:stretch>
            <a:fillRect/>
          </a:stretch>
        </p:blipFill>
        <p:spPr>
          <a:xfrm>
            <a:off x="8712947" y="2318829"/>
            <a:ext cx="134549" cy="195707"/>
          </a:xfrm>
          <a:prstGeom prst="rect">
            <a:avLst/>
          </a:prstGeom>
        </p:spPr>
      </p:pic>
      <p:sp>
        <p:nvSpPr>
          <p:cNvPr id="41" name="TextBox 40"/>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Customization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Customization,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gridCol w="678329"/>
                <a:gridCol w="678329"/>
                <a:gridCol w="678329"/>
                <a:gridCol w="678329"/>
                <a:gridCol w="678329"/>
                <a:gridCol w="678329"/>
                <a:gridCol w="678329"/>
                <a:gridCol w="678329"/>
                <a:gridCol w="678329"/>
                <a:gridCol w="678329"/>
                <a:gridCol w="678329"/>
                <a:gridCol w="678329"/>
                <a:gridCol w="678329"/>
                <a:gridCol w="678329"/>
                <a:gridCol w="678329"/>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Customization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Standard / Stock Sizes</a:t>
            </a:r>
          </a:p>
        </p:txBody>
      </p:sp>
      <p:sp>
        <p:nvSpPr>
          <p:cNvPr id="33" name="Rectangle 32"/>
          <p:cNvSpPr/>
          <p:nvPr/>
        </p:nvSpPr>
        <p:spPr>
          <a:xfrm>
            <a:off x="1857375" y="2752725"/>
            <a:ext cx="643890" cy="190976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Custom-Engineered</a:t>
            </a:r>
          </a:p>
        </p:txBody>
      </p:sp>
      <p:sp>
        <p:nvSpPr>
          <p:cNvPr id="49" name="Rectangle 48"/>
          <p:cNvSpPr/>
          <p:nvPr/>
        </p:nvSpPr>
        <p:spPr>
          <a:xfrm>
            <a:off x="185737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784118" y="1482090"/>
            <a:ext cx="330041" cy="480060"/>
          </a:xfrm>
          <a:prstGeom prst="rect">
            <a:avLst/>
          </a:prstGeom>
        </p:spPr>
      </p:pic>
      <p:pic>
        <p:nvPicPr>
          <p:cNvPr id="110" name="Picture 109" descr="lock.png"/>
          <p:cNvPicPr>
            <a:picLocks noChangeAspect="1"/>
          </p:cNvPicPr>
          <p:nvPr/>
        </p:nvPicPr>
        <p:blipFill>
          <a:blip r:embed="rId4"/>
          <a:stretch>
            <a:fillRect/>
          </a:stretch>
        </p:blipFill>
        <p:spPr>
          <a:xfrm>
            <a:off x="11760938" y="2697226"/>
            <a:ext cx="128699" cy="187198"/>
          </a:xfrm>
          <a:prstGeom prst="rect">
            <a:avLst/>
          </a:prstGeom>
        </p:spPr>
      </p:pic>
      <p:pic>
        <p:nvPicPr>
          <p:cNvPr id="111" name="Picture 110" descr="lock.png"/>
          <p:cNvPicPr>
            <a:picLocks noChangeAspect="1"/>
          </p:cNvPicPr>
          <p:nvPr/>
        </p:nvPicPr>
        <p:blipFill>
          <a:blip r:embed="rId4"/>
          <a:stretch>
            <a:fillRect/>
          </a:stretch>
        </p:blipFill>
        <p:spPr>
          <a:xfrm>
            <a:off x="11760938" y="4568888"/>
            <a:ext cx="128699" cy="187198"/>
          </a:xfrm>
          <a:prstGeom prst="rect">
            <a:avLst/>
          </a:prstGeom>
        </p:spPr>
      </p:pic>
      <p:pic>
        <p:nvPicPr>
          <p:cNvPr id="112" name="Picture 11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Customization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Customization,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gridCol w="678329"/>
                <a:gridCol w="678329"/>
                <a:gridCol w="678329"/>
                <a:gridCol w="678329"/>
                <a:gridCol w="678329"/>
                <a:gridCol w="678329"/>
                <a:gridCol w="678329"/>
                <a:gridCol w="678329"/>
                <a:gridCol w="678329"/>
                <a:gridCol w="678329"/>
                <a:gridCol w="678329"/>
                <a:gridCol w="678329"/>
                <a:gridCol w="678329"/>
                <a:gridCol w="678329"/>
                <a:gridCol w="678329"/>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Customization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Standard / Stock Sizes</a:t>
            </a:r>
          </a:p>
        </p:txBody>
      </p:sp>
      <p:sp>
        <p:nvSpPr>
          <p:cNvPr id="33" name="Rectangle 32"/>
          <p:cNvSpPr/>
          <p:nvPr/>
        </p:nvSpPr>
        <p:spPr>
          <a:xfrm>
            <a:off x="1857375" y="2752725"/>
            <a:ext cx="643890" cy="190976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Custom-Engineered</a:t>
            </a:r>
          </a:p>
        </p:txBody>
      </p:sp>
      <p:sp>
        <p:nvSpPr>
          <p:cNvPr id="49" name="Rectangle 48"/>
          <p:cNvSpPr/>
          <p:nvPr/>
        </p:nvSpPr>
        <p:spPr>
          <a:xfrm>
            <a:off x="185737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784118" y="1482090"/>
            <a:ext cx="330041" cy="480060"/>
          </a:xfrm>
          <a:prstGeom prst="rect">
            <a:avLst/>
          </a:prstGeom>
        </p:spPr>
      </p:pic>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End Use,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 segment categorizes the market by end use.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Glassware, Ceramics &amp; Home Goods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Automotive &amp; Industrial Components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&amp; Beverage</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 split shows how demand is distributed across end use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233_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341_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9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01_3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249_1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71_1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30_6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3_0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60_4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86_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0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40595" cy="186689"/>
          </a:xfrm>
          <a:prstGeom prst="rect">
            <a:avLst/>
          </a:prstGeom>
          <a:noFill/>
        </p:spPr>
        <p:txBody>
          <a:bodyPr wrap="none" lIns="0" rIns="0" tIns="0" bIns="0">
            <a:spAutoFit/>
          </a:bodyPr>
          <a:lstStyle/>
          <a:p>
            <a:r>
              <a:rPr sz="1100" b="0">
                <a:solidFill>
                  <a:srgbClr val="2E2E2E"/>
                </a:solidFill>
                <a:latin typeface="Calibri"/>
              </a:rPr>
              <a:t>▪ ¶ Among corrugated partition by end use,</a:t>
            </a:r>
          </a:p>
        </p:txBody>
      </p:sp>
      <p:sp>
        <p:nvSpPr>
          <p:cNvPr id="81" name="TextBox 80"/>
          <p:cNvSpPr txBox="1"/>
          <p:nvPr/>
        </p:nvSpPr>
        <p:spPr>
          <a:xfrm>
            <a:off x="485775" y="4397077"/>
            <a:ext cx="2718494" cy="186689"/>
          </a:xfrm>
          <a:prstGeom prst="rect">
            <a:avLst/>
          </a:prstGeom>
          <a:noFill/>
        </p:spPr>
        <p:txBody>
          <a:bodyPr wrap="none" lIns="0" rIns="0" tIns="0" bIns="0">
            <a:spAutoFit/>
          </a:bodyPr>
          <a:lstStyle/>
          <a:p>
            <a:r>
              <a:rPr sz="1100" b="0">
                <a:solidFill>
                  <a:srgbClr val="2E2E2E"/>
                </a:solidFill>
                <a:latin typeface="Calibri"/>
              </a:rPr>
              <a:t>electronics &amp; electrical segment is expected to</a:t>
            </a:r>
          </a:p>
        </p:txBody>
      </p:sp>
      <p:sp>
        <p:nvSpPr>
          <p:cNvPr id="82" name="TextBox 81"/>
          <p:cNvSpPr txBox="1"/>
          <p:nvPr/>
        </p:nvSpPr>
        <p:spPr>
          <a:xfrm>
            <a:off x="485775" y="456471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83" name="Picture 82" descr="lock.png"/>
          <p:cNvPicPr>
            <a:picLocks noChangeAspect="1"/>
          </p:cNvPicPr>
          <p:nvPr/>
        </p:nvPicPr>
        <p:blipFill>
          <a:blip r:embed="rId16"/>
          <a:stretch>
            <a:fillRect/>
          </a:stretch>
        </p:blipFill>
        <p:spPr>
          <a:xfrm>
            <a:off x="2108919" y="4554938"/>
            <a:ext cx="128699" cy="187198"/>
          </a:xfrm>
          <a:prstGeom prst="rect">
            <a:avLst/>
          </a:prstGeom>
        </p:spPr>
      </p:pic>
      <p:sp>
        <p:nvSpPr>
          <p:cNvPr id="84" name="TextBox 83"/>
          <p:cNvSpPr txBox="1"/>
          <p:nvPr/>
        </p:nvSpPr>
        <p:spPr>
          <a:xfrm>
            <a:off x="2276415" y="456471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85" name="TextBox 84"/>
          <p:cNvSpPr txBox="1"/>
          <p:nvPr/>
        </p:nvSpPr>
        <p:spPr>
          <a:xfrm>
            <a:off x="485775" y="4732357"/>
            <a:ext cx="2717403" cy="186689"/>
          </a:xfrm>
          <a:prstGeom prst="rect">
            <a:avLst/>
          </a:prstGeom>
          <a:noFill/>
        </p:spPr>
        <p:txBody>
          <a:bodyPr wrap="none" lIns="0" rIns="0" tIns="0" bIns="0">
            <a:spAutoFit/>
          </a:bodyPr>
          <a:lstStyle/>
          <a:p>
            <a:r>
              <a:rPr sz="1100" b="0">
                <a:solidFill>
                  <a:srgbClr val="2E2E2E"/>
                </a:solidFill>
                <a:latin typeface="Calibri"/>
              </a:rPr>
              <a:t>period. In terms of value share by end use, the</a:t>
            </a:r>
          </a:p>
        </p:txBody>
      </p:sp>
      <p:sp>
        <p:nvSpPr>
          <p:cNvPr id="86" name="TextBox 85"/>
          <p:cNvSpPr txBox="1"/>
          <p:nvPr/>
        </p:nvSpPr>
        <p:spPr>
          <a:xfrm>
            <a:off x="485775" y="4899997"/>
            <a:ext cx="2704851" cy="186689"/>
          </a:xfrm>
          <a:prstGeom prst="rect">
            <a:avLst/>
          </a:prstGeom>
          <a:noFill/>
        </p:spPr>
        <p:txBody>
          <a:bodyPr wrap="none" lIns="0" rIns="0" tIns="0" bIns="0">
            <a:spAutoFit/>
          </a:bodyPr>
          <a:lstStyle/>
          <a:p>
            <a:r>
              <a:rPr sz="1100" b="0">
                <a:solidFill>
                  <a:srgbClr val="2E2E2E"/>
                </a:solidFill>
                <a:latin typeface="Calibri"/>
              </a:rPr>
              <a:t>glassware, ceramics &amp; home goods segment is</a:t>
            </a:r>
          </a:p>
        </p:txBody>
      </p:sp>
      <p:sp>
        <p:nvSpPr>
          <p:cNvPr id="87" name="TextBox 86"/>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88" name="Picture 87" descr="lock.png"/>
          <p:cNvPicPr>
            <a:picLocks noChangeAspect="1"/>
          </p:cNvPicPr>
          <p:nvPr/>
        </p:nvPicPr>
        <p:blipFill>
          <a:blip r:embed="rId16"/>
          <a:stretch>
            <a:fillRect/>
          </a:stretch>
        </p:blipFill>
        <p:spPr>
          <a:xfrm>
            <a:off x="2822716" y="5057858"/>
            <a:ext cx="128699" cy="187198"/>
          </a:xfrm>
          <a:prstGeom prst="rect">
            <a:avLst/>
          </a:prstGeom>
        </p:spPr>
      </p:pic>
      <p:sp>
        <p:nvSpPr>
          <p:cNvPr id="89" name="TextBox 88"/>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914650" cy="186689"/>
          </a:xfrm>
          <a:prstGeom prst="rect">
            <a:avLst/>
          </a:prstGeom>
          <a:noFill/>
        </p:spPr>
        <p:txBody>
          <a:bodyPr wrap="none" lIns="0" rIns="0" tIns="0" bIns="0">
            <a:spAutoFit/>
          </a:bodyPr>
          <a:lstStyle/>
          <a:p>
            <a:r>
              <a:rPr sz="1100" b="0">
                <a:solidFill>
                  <a:srgbClr val="2E2E2E"/>
                </a:solidFill>
                <a:latin typeface="Calibri"/>
              </a:rPr>
              <a:t>▪ ¶ Glassware, ceramics &amp; home goods segment is</a:t>
            </a:r>
          </a:p>
        </p:txBody>
      </p:sp>
      <p:sp>
        <p:nvSpPr>
          <p:cNvPr id="94" name="TextBox 93"/>
          <p:cNvSpPr txBox="1"/>
          <p:nvPr/>
        </p:nvSpPr>
        <p:spPr>
          <a:xfrm>
            <a:off x="485775" y="562084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95" name="Picture 94" descr="lock.png"/>
          <p:cNvPicPr>
            <a:picLocks noChangeAspect="1"/>
          </p:cNvPicPr>
          <p:nvPr/>
        </p:nvPicPr>
        <p:blipFill>
          <a:blip r:embed="rId16"/>
          <a:stretch>
            <a:fillRect/>
          </a:stretch>
        </p:blipFill>
        <p:spPr>
          <a:xfrm>
            <a:off x="1678376" y="5611070"/>
            <a:ext cx="128699" cy="187198"/>
          </a:xfrm>
          <a:prstGeom prst="rect">
            <a:avLst/>
          </a:prstGeom>
        </p:spPr>
      </p:pic>
      <p:sp>
        <p:nvSpPr>
          <p:cNvPr id="96" name="TextBox 95"/>
          <p:cNvSpPr txBox="1"/>
          <p:nvPr/>
        </p:nvSpPr>
        <p:spPr>
          <a:xfrm>
            <a:off x="1845872" y="5620849"/>
            <a:ext cx="1467470" cy="186689"/>
          </a:xfrm>
          <a:prstGeom prst="rect">
            <a:avLst/>
          </a:prstGeom>
          <a:noFill/>
        </p:spPr>
        <p:txBody>
          <a:bodyPr wrap="none" lIns="0" rIns="0" tIns="0" bIns="0">
            <a:spAutoFit/>
          </a:bodyPr>
          <a:lstStyle/>
          <a:p>
            <a:r>
              <a:rPr sz="1100" b="0">
                <a:solidFill>
                  <a:srgbClr val="2E2E2E"/>
                </a:solidFill>
                <a:latin typeface="Calibri"/>
              </a:rPr>
              <a:t>X higher value than food</a:t>
            </a:r>
          </a:p>
        </p:txBody>
      </p:sp>
      <p:sp>
        <p:nvSpPr>
          <p:cNvPr id="97" name="TextBox 96"/>
          <p:cNvSpPr txBox="1"/>
          <p:nvPr/>
        </p:nvSpPr>
        <p:spPr>
          <a:xfrm>
            <a:off x="485775" y="5788489"/>
            <a:ext cx="1740594" cy="186689"/>
          </a:xfrm>
          <a:prstGeom prst="rect">
            <a:avLst/>
          </a:prstGeom>
          <a:noFill/>
        </p:spPr>
        <p:txBody>
          <a:bodyPr wrap="none" lIns="0" rIns="0" tIns="0" bIns="0">
            <a:spAutoFit/>
          </a:bodyPr>
          <a:lstStyle/>
          <a:p>
            <a:r>
              <a:rPr sz="1100" b="0">
                <a:solidFill>
                  <a:srgbClr val="2E2E2E"/>
                </a:solidFill>
                <a:latin typeface="Calibri"/>
              </a:rPr>
              <a:t>&amp; beverage segment in 2036.</a:t>
            </a:r>
          </a:p>
        </p:txBody>
      </p:sp>
      <p:sp>
        <p:nvSpPr>
          <p:cNvPr id="98" name="TextBox 97"/>
          <p:cNvSpPr txBox="1"/>
          <p:nvPr/>
        </p:nvSpPr>
        <p:spPr>
          <a:xfrm>
            <a:off x="3838575" y="4229437"/>
            <a:ext cx="2290390" cy="186689"/>
          </a:xfrm>
          <a:prstGeom prst="rect">
            <a:avLst/>
          </a:prstGeom>
          <a:noFill/>
        </p:spPr>
        <p:txBody>
          <a:bodyPr wrap="none" lIns="0" rIns="0" tIns="0" bIns="0">
            <a:spAutoFit/>
          </a:bodyPr>
          <a:lstStyle/>
          <a:p>
            <a:r>
              <a:rPr sz="1100" b="0">
                <a:solidFill>
                  <a:srgbClr val="2E2E2E"/>
                </a:solidFill>
                <a:latin typeface="Calibri"/>
              </a:rPr>
              <a:t>● Glassware, Ceramics &amp; Home Goods:</a:t>
            </a:r>
          </a:p>
        </p:txBody>
      </p:sp>
      <p:pic>
        <p:nvPicPr>
          <p:cNvPr id="99" name="Picture 98" descr="lock.png"/>
          <p:cNvPicPr>
            <a:picLocks noChangeAspect="1"/>
          </p:cNvPicPr>
          <p:nvPr/>
        </p:nvPicPr>
        <p:blipFill>
          <a:blip r:embed="rId16"/>
          <a:stretch>
            <a:fillRect/>
          </a:stretch>
        </p:blipFill>
        <p:spPr>
          <a:xfrm>
            <a:off x="6077017" y="4219658"/>
            <a:ext cx="128699" cy="187198"/>
          </a:xfrm>
          <a:prstGeom prst="rect">
            <a:avLst/>
          </a:prstGeom>
        </p:spPr>
      </p:pic>
      <p:sp>
        <p:nvSpPr>
          <p:cNvPr id="100" name="TextBox 99"/>
          <p:cNvSpPr txBox="1"/>
          <p:nvPr/>
        </p:nvSpPr>
        <p:spPr>
          <a:xfrm>
            <a:off x="6244512"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7103963" y="4219658"/>
            <a:ext cx="128699" cy="187198"/>
          </a:xfrm>
          <a:prstGeom prst="rect">
            <a:avLst/>
          </a:prstGeom>
        </p:spPr>
      </p:pic>
      <p:sp>
        <p:nvSpPr>
          <p:cNvPr id="102" name="TextBox 101"/>
          <p:cNvSpPr txBox="1"/>
          <p:nvPr/>
        </p:nvSpPr>
        <p:spPr>
          <a:xfrm>
            <a:off x="7271458" y="4229437"/>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03" name="TextBox 102"/>
          <p:cNvSpPr txBox="1"/>
          <p:nvPr/>
        </p:nvSpPr>
        <p:spPr>
          <a:xfrm>
            <a:off x="3838575" y="4397077"/>
            <a:ext cx="1152599" cy="186689"/>
          </a:xfrm>
          <a:prstGeom prst="rect">
            <a:avLst/>
          </a:prstGeom>
          <a:noFill/>
        </p:spPr>
        <p:txBody>
          <a:bodyPr wrap="none" lIns="0" rIns="0" tIns="0" bIns="0">
            <a:spAutoFit/>
          </a:bodyPr>
          <a:lstStyle/>
          <a:p>
            <a:r>
              <a:rPr sz="1100" b="0">
                <a:solidFill>
                  <a:srgbClr val="2E2E2E"/>
                </a:solidFill>
                <a:latin typeface="Calibri"/>
              </a:rPr>
              <a:t>leads the segment.</a:t>
            </a:r>
          </a:p>
        </p:txBody>
      </p:sp>
      <p:sp>
        <p:nvSpPr>
          <p:cNvPr id="104" name="TextBox 103"/>
          <p:cNvSpPr txBox="1"/>
          <p:nvPr/>
        </p:nvSpPr>
        <p:spPr>
          <a:xfrm>
            <a:off x="3838575" y="4615009"/>
            <a:ext cx="615354" cy="186689"/>
          </a:xfrm>
          <a:prstGeom prst="rect">
            <a:avLst/>
          </a:prstGeom>
          <a:noFill/>
        </p:spPr>
        <p:txBody>
          <a:bodyPr wrap="none" lIns="0" rIns="0" tIns="0" bIns="0">
            <a:spAutoFit/>
          </a:bodyPr>
          <a:lstStyle/>
          <a:p>
            <a:r>
              <a:rPr sz="1100" b="0">
                <a:solidFill>
                  <a:srgbClr val="2E2E2E"/>
                </a:solidFill>
                <a:latin typeface="Calibri"/>
              </a:rPr>
              <a:t>● Others:</a:t>
            </a:r>
          </a:p>
        </p:txBody>
      </p:sp>
      <p:pic>
        <p:nvPicPr>
          <p:cNvPr id="105" name="Picture 104" descr="lock.png"/>
          <p:cNvPicPr>
            <a:picLocks noChangeAspect="1"/>
          </p:cNvPicPr>
          <p:nvPr/>
        </p:nvPicPr>
        <p:blipFill>
          <a:blip r:embed="rId16"/>
          <a:stretch>
            <a:fillRect/>
          </a:stretch>
        </p:blipFill>
        <p:spPr>
          <a:xfrm>
            <a:off x="4401981" y="4605230"/>
            <a:ext cx="128699" cy="187198"/>
          </a:xfrm>
          <a:prstGeom prst="rect">
            <a:avLst/>
          </a:prstGeom>
        </p:spPr>
      </p:pic>
      <p:sp>
        <p:nvSpPr>
          <p:cNvPr id="106" name="TextBox 105"/>
          <p:cNvSpPr txBox="1"/>
          <p:nvPr/>
        </p:nvSpPr>
        <p:spPr>
          <a:xfrm>
            <a:off x="4569477"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7" name="Picture 106" descr="lock.png"/>
          <p:cNvPicPr>
            <a:picLocks noChangeAspect="1"/>
          </p:cNvPicPr>
          <p:nvPr/>
        </p:nvPicPr>
        <p:blipFill>
          <a:blip r:embed="rId16"/>
          <a:stretch>
            <a:fillRect/>
          </a:stretch>
        </p:blipFill>
        <p:spPr>
          <a:xfrm>
            <a:off x="5428927" y="4605230"/>
            <a:ext cx="128699" cy="187198"/>
          </a:xfrm>
          <a:prstGeom prst="rect">
            <a:avLst/>
          </a:prstGeom>
        </p:spPr>
      </p:pic>
      <p:sp>
        <p:nvSpPr>
          <p:cNvPr id="108" name="TextBox 107"/>
          <p:cNvSpPr txBox="1"/>
          <p:nvPr/>
        </p:nvSpPr>
        <p:spPr>
          <a:xfrm>
            <a:off x="5596423"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9" name="TextBox 108"/>
          <p:cNvSpPr txBox="1"/>
          <p:nvPr/>
        </p:nvSpPr>
        <p:spPr>
          <a:xfrm>
            <a:off x="3838575" y="4832941"/>
            <a:ext cx="2353146" cy="186689"/>
          </a:xfrm>
          <a:prstGeom prst="rect">
            <a:avLst/>
          </a:prstGeom>
          <a:noFill/>
        </p:spPr>
        <p:txBody>
          <a:bodyPr wrap="none" lIns="0" rIns="0" tIns="0" bIns="0">
            <a:spAutoFit/>
          </a:bodyPr>
          <a:lstStyle/>
          <a:p>
            <a:r>
              <a:rPr sz="1100" b="0">
                <a:solidFill>
                  <a:srgbClr val="2E2E2E"/>
                </a:solidFill>
                <a:latin typeface="Calibri"/>
              </a:rPr>
              <a:t>● Automotive &amp; Industrial Components:</a:t>
            </a:r>
          </a:p>
        </p:txBody>
      </p:sp>
      <p:pic>
        <p:nvPicPr>
          <p:cNvPr id="110" name="Picture 109" descr="lock.png"/>
          <p:cNvPicPr>
            <a:picLocks noChangeAspect="1"/>
          </p:cNvPicPr>
          <p:nvPr/>
        </p:nvPicPr>
        <p:blipFill>
          <a:blip r:embed="rId16"/>
          <a:stretch>
            <a:fillRect/>
          </a:stretch>
        </p:blipFill>
        <p:spPr>
          <a:xfrm>
            <a:off x="6139772" y="4823162"/>
            <a:ext cx="128699" cy="187198"/>
          </a:xfrm>
          <a:prstGeom prst="rect">
            <a:avLst/>
          </a:prstGeom>
        </p:spPr>
      </p:pic>
      <p:sp>
        <p:nvSpPr>
          <p:cNvPr id="111" name="TextBox 110"/>
          <p:cNvSpPr txBox="1"/>
          <p:nvPr/>
        </p:nvSpPr>
        <p:spPr>
          <a:xfrm>
            <a:off x="6307268"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7166718" y="4823162"/>
            <a:ext cx="128699" cy="187198"/>
          </a:xfrm>
          <a:prstGeom prst="rect">
            <a:avLst/>
          </a:prstGeom>
        </p:spPr>
      </p:pic>
      <p:sp>
        <p:nvSpPr>
          <p:cNvPr id="113" name="TextBox 112"/>
          <p:cNvSpPr txBox="1"/>
          <p:nvPr/>
        </p:nvSpPr>
        <p:spPr>
          <a:xfrm>
            <a:off x="7334214" y="4832941"/>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14" name="TextBox 113"/>
          <p:cNvSpPr txBox="1"/>
          <p:nvPr/>
        </p:nvSpPr>
        <p:spPr>
          <a:xfrm>
            <a:off x="3838575" y="5000581"/>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15" name="TextBox 114"/>
          <p:cNvSpPr txBox="1"/>
          <p:nvPr/>
        </p:nvSpPr>
        <p:spPr>
          <a:xfrm>
            <a:off x="3838575" y="5218513"/>
            <a:ext cx="1202228" cy="186689"/>
          </a:xfrm>
          <a:prstGeom prst="rect">
            <a:avLst/>
          </a:prstGeom>
          <a:noFill/>
        </p:spPr>
        <p:txBody>
          <a:bodyPr wrap="none" lIns="0" rIns="0" tIns="0" bIns="0">
            <a:spAutoFit/>
          </a:bodyPr>
          <a:lstStyle/>
          <a:p>
            <a:r>
              <a:rPr sz="1100" b="0">
                <a:solidFill>
                  <a:srgbClr val="2E2E2E"/>
                </a:solidFill>
                <a:latin typeface="Calibri"/>
              </a:rPr>
              <a:t>● Food &amp; Beverage:</a:t>
            </a:r>
          </a:p>
        </p:txBody>
      </p:sp>
      <p:pic>
        <p:nvPicPr>
          <p:cNvPr id="116" name="Picture 115" descr="lock.png"/>
          <p:cNvPicPr>
            <a:picLocks noChangeAspect="1"/>
          </p:cNvPicPr>
          <p:nvPr/>
        </p:nvPicPr>
        <p:blipFill>
          <a:blip r:embed="rId16"/>
          <a:stretch>
            <a:fillRect/>
          </a:stretch>
        </p:blipFill>
        <p:spPr>
          <a:xfrm>
            <a:off x="4988855" y="5208733"/>
            <a:ext cx="128699" cy="187198"/>
          </a:xfrm>
          <a:prstGeom prst="rect">
            <a:avLst/>
          </a:prstGeom>
        </p:spPr>
      </p:pic>
      <p:sp>
        <p:nvSpPr>
          <p:cNvPr id="117" name="TextBox 116"/>
          <p:cNvSpPr txBox="1"/>
          <p:nvPr/>
        </p:nvSpPr>
        <p:spPr>
          <a:xfrm>
            <a:off x="5156350" y="521851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6"/>
          <a:stretch>
            <a:fillRect/>
          </a:stretch>
        </p:blipFill>
        <p:spPr>
          <a:xfrm>
            <a:off x="6015801" y="5208733"/>
            <a:ext cx="128699" cy="187198"/>
          </a:xfrm>
          <a:prstGeom prst="rect">
            <a:avLst/>
          </a:prstGeom>
        </p:spPr>
      </p:pic>
      <p:sp>
        <p:nvSpPr>
          <p:cNvPr id="119" name="TextBox 118"/>
          <p:cNvSpPr txBox="1"/>
          <p:nvPr/>
        </p:nvSpPr>
        <p:spPr>
          <a:xfrm>
            <a:off x="6183297" y="521851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0" name="TextBox 119"/>
          <p:cNvSpPr txBox="1"/>
          <p:nvPr/>
        </p:nvSpPr>
        <p:spPr>
          <a:xfrm>
            <a:off x="8524875" y="5842641"/>
            <a:ext cx="2887377" cy="194310"/>
          </a:xfrm>
          <a:prstGeom prst="rect">
            <a:avLst/>
          </a:prstGeom>
          <a:noFill/>
        </p:spPr>
        <p:txBody>
          <a:bodyPr wrap="none" lIns="0" rIns="0" tIns="0" bIns="0">
            <a:spAutoFit/>
          </a:bodyPr>
          <a:lstStyle/>
          <a:p>
            <a:r>
              <a:rPr sz="1150" b="1">
                <a:solidFill>
                  <a:srgbClr val="0B2E4A"/>
                </a:solidFill>
                <a:latin typeface="Calibri"/>
              </a:rPr>
              <a:t>The End Use segment is projected to grow at a</a:t>
            </a:r>
          </a:p>
        </p:txBody>
      </p:sp>
      <p:sp>
        <p:nvSpPr>
          <p:cNvPr id="121" name="TextBox 120"/>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22" name="Picture 121" descr="lock.png"/>
          <p:cNvPicPr>
            <a:picLocks noChangeAspect="1"/>
          </p:cNvPicPr>
          <p:nvPr/>
        </p:nvPicPr>
        <p:blipFill>
          <a:blip r:embed="rId16"/>
          <a:stretch>
            <a:fillRect/>
          </a:stretch>
        </p:blipFill>
        <p:spPr>
          <a:xfrm>
            <a:off x="9048826" y="6007677"/>
            <a:ext cx="134549" cy="195707"/>
          </a:xfrm>
          <a:prstGeom prst="rect">
            <a:avLst/>
          </a:prstGeom>
        </p:spPr>
      </p:pic>
      <p:sp>
        <p:nvSpPr>
          <p:cNvPr id="123" name="TextBox 122"/>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End Use,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 segment categorizes the market by end use.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Pharmaceuticals &amp; Healthcare</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Electronics &amp; Electrical</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Personal Care &amp; Cosmetics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6" name="Picture 45" descr="137_4_605E5C.png"/>
          <p:cNvPicPr>
            <a:picLocks noChangeAspect="1"/>
          </p:cNvPicPr>
          <p:nvPr/>
        </p:nvPicPr>
        <p:blipFill>
          <a:blip r:embed="rId4"/>
          <a:stretch>
            <a:fillRect/>
          </a:stretch>
        </p:blipFill>
        <p:spPr>
          <a:xfrm>
            <a:off x="2897811" y="2286582"/>
            <a:ext cx="1195728" cy="361950"/>
          </a:xfrm>
          <a:prstGeom prst="rect">
            <a:avLst/>
          </a:prstGeom>
        </p:spPr>
      </p:pic>
      <p:pic>
        <p:nvPicPr>
          <p:cNvPr id="47" name="Picture 46" descr="155_9_605E5C.png"/>
          <p:cNvPicPr>
            <a:picLocks noChangeAspect="1"/>
          </p:cNvPicPr>
          <p:nvPr/>
        </p:nvPicPr>
        <p:blipFill>
          <a:blip r:embed="rId5"/>
          <a:stretch>
            <a:fillRect/>
          </a:stretch>
        </p:blipFill>
        <p:spPr>
          <a:xfrm>
            <a:off x="2897811" y="2779432"/>
            <a:ext cx="1195728" cy="361950"/>
          </a:xfrm>
          <a:prstGeom prst="rect">
            <a:avLst/>
          </a:prstGeom>
        </p:spPr>
      </p:pic>
      <p:pic>
        <p:nvPicPr>
          <p:cNvPr id="48" name="Picture 47" descr="1_3__605E5C.png"/>
          <p:cNvPicPr>
            <a:picLocks noChangeAspect="1"/>
          </p:cNvPicPr>
          <p:nvPr/>
        </p:nvPicPr>
        <p:blipFill>
          <a:blip r:embed="rId6"/>
          <a:stretch>
            <a:fillRect/>
          </a:stretch>
        </p:blipFill>
        <p:spPr>
          <a:xfrm>
            <a:off x="3004457" y="3272281"/>
            <a:ext cx="982436" cy="361950"/>
          </a:xfrm>
          <a:prstGeom prst="rect">
            <a:avLst/>
          </a:prstGeom>
        </p:spPr>
      </p:pic>
      <p:pic>
        <p:nvPicPr>
          <p:cNvPr id="49" name="Picture 48" descr="119_1_605E5C.png"/>
          <p:cNvPicPr>
            <a:picLocks noChangeAspect="1"/>
          </p:cNvPicPr>
          <p:nvPr/>
        </p:nvPicPr>
        <p:blipFill>
          <a:blip r:embed="rId7"/>
          <a:stretch>
            <a:fillRect/>
          </a:stretch>
        </p:blipFill>
        <p:spPr>
          <a:xfrm>
            <a:off x="6269661" y="2286582"/>
            <a:ext cx="1195728" cy="361950"/>
          </a:xfrm>
          <a:prstGeom prst="rect">
            <a:avLst/>
          </a:prstGeom>
        </p:spPr>
      </p:pic>
      <p:pic>
        <p:nvPicPr>
          <p:cNvPr id="50" name="Picture 49" descr="242_7_605E5C.png"/>
          <p:cNvPicPr>
            <a:picLocks noChangeAspect="1"/>
          </p:cNvPicPr>
          <p:nvPr/>
        </p:nvPicPr>
        <p:blipFill>
          <a:blip r:embed="rId8"/>
          <a:stretch>
            <a:fillRect/>
          </a:stretch>
        </p:blipFill>
        <p:spPr>
          <a:xfrm>
            <a:off x="6269661" y="2779432"/>
            <a:ext cx="1195728" cy="361950"/>
          </a:xfrm>
          <a:prstGeom prst="rect">
            <a:avLst/>
          </a:prstGeom>
        </p:spPr>
      </p:pic>
      <p:pic>
        <p:nvPicPr>
          <p:cNvPr id="51" name="Picture 50" descr="7_4__605E5C.png"/>
          <p:cNvPicPr>
            <a:picLocks noChangeAspect="1"/>
          </p:cNvPicPr>
          <p:nvPr/>
        </p:nvPicPr>
        <p:blipFill>
          <a:blip r:embed="rId9"/>
          <a:stretch>
            <a:fillRect/>
          </a:stretch>
        </p:blipFill>
        <p:spPr>
          <a:xfrm>
            <a:off x="6376307" y="3272281"/>
            <a:ext cx="982436" cy="361950"/>
          </a:xfrm>
          <a:prstGeom prst="rect">
            <a:avLst/>
          </a:prstGeom>
        </p:spPr>
      </p:pic>
      <p:pic>
        <p:nvPicPr>
          <p:cNvPr id="52" name="Picture 51" descr="32_8_605E5C.png"/>
          <p:cNvPicPr>
            <a:picLocks noChangeAspect="1"/>
          </p:cNvPicPr>
          <p:nvPr/>
        </p:nvPicPr>
        <p:blipFill>
          <a:blip r:embed="rId10"/>
          <a:stretch>
            <a:fillRect/>
          </a:stretch>
        </p:blipFill>
        <p:spPr>
          <a:xfrm>
            <a:off x="9748157" y="2286582"/>
            <a:ext cx="982436" cy="361950"/>
          </a:xfrm>
          <a:prstGeom prst="rect">
            <a:avLst/>
          </a:prstGeom>
        </p:spPr>
      </p:pic>
      <p:pic>
        <p:nvPicPr>
          <p:cNvPr id="53" name="Picture 52" descr="65_5_605E5C.png"/>
          <p:cNvPicPr>
            <a:picLocks noChangeAspect="1"/>
          </p:cNvPicPr>
          <p:nvPr/>
        </p:nvPicPr>
        <p:blipFill>
          <a:blip r:embed="rId11"/>
          <a:stretch>
            <a:fillRect/>
          </a:stretch>
        </p:blipFill>
        <p:spPr>
          <a:xfrm>
            <a:off x="9748157" y="2779432"/>
            <a:ext cx="982436" cy="361950"/>
          </a:xfrm>
          <a:prstGeom prst="rect">
            <a:avLst/>
          </a:prstGeom>
        </p:spPr>
      </p:pic>
      <p:pic>
        <p:nvPicPr>
          <p:cNvPr id="54" name="Picture 53" descr="7_2__605E5C.png"/>
          <p:cNvPicPr>
            <a:picLocks noChangeAspect="1"/>
          </p:cNvPicPr>
          <p:nvPr/>
        </p:nvPicPr>
        <p:blipFill>
          <a:blip r:embed="rId12"/>
          <a:stretch>
            <a:fillRect/>
          </a:stretch>
        </p:blipFill>
        <p:spPr>
          <a:xfrm>
            <a:off x="9748157" y="3272281"/>
            <a:ext cx="982436" cy="361950"/>
          </a:xfrm>
          <a:prstGeom prst="rect">
            <a:avLst/>
          </a:prstGeom>
        </p:spPr>
      </p:pic>
      <p:pic>
        <p:nvPicPr>
          <p:cNvPr id="55" name="Picture 54" descr="lock.png"/>
          <p:cNvPicPr>
            <a:picLocks noChangeAspect="1"/>
          </p:cNvPicPr>
          <p:nvPr/>
        </p:nvPicPr>
        <p:blipFill>
          <a:blip r:embed="rId13"/>
          <a:stretch>
            <a:fillRect/>
          </a:stretch>
        </p:blipFill>
        <p:spPr>
          <a:xfrm>
            <a:off x="3402330" y="2827057"/>
            <a:ext cx="183356" cy="266700"/>
          </a:xfrm>
          <a:prstGeom prst="rect">
            <a:avLst/>
          </a:prstGeom>
        </p:spPr>
      </p:pic>
      <p:pic>
        <p:nvPicPr>
          <p:cNvPr id="56" name="Picture 55" descr="lock.png"/>
          <p:cNvPicPr>
            <a:picLocks noChangeAspect="1"/>
          </p:cNvPicPr>
          <p:nvPr/>
        </p:nvPicPr>
        <p:blipFill>
          <a:blip r:embed="rId13"/>
          <a:stretch>
            <a:fillRect/>
          </a:stretch>
        </p:blipFill>
        <p:spPr>
          <a:xfrm>
            <a:off x="6774180" y="2827057"/>
            <a:ext cx="183356" cy="266700"/>
          </a:xfrm>
          <a:prstGeom prst="rect">
            <a:avLst/>
          </a:prstGeom>
        </p:spPr>
      </p:pic>
      <p:pic>
        <p:nvPicPr>
          <p:cNvPr id="57" name="Picture 56" descr="lock.png"/>
          <p:cNvPicPr>
            <a:picLocks noChangeAspect="1"/>
          </p:cNvPicPr>
          <p:nvPr/>
        </p:nvPicPr>
        <p:blipFill>
          <a:blip r:embed="rId13"/>
          <a:stretch>
            <a:fillRect/>
          </a:stretch>
        </p:blipFill>
        <p:spPr>
          <a:xfrm>
            <a:off x="10146030" y="2827057"/>
            <a:ext cx="183356" cy="266700"/>
          </a:xfrm>
          <a:prstGeom prst="rect">
            <a:avLst/>
          </a:prstGeom>
        </p:spPr>
      </p:pic>
      <p:sp>
        <p:nvSpPr>
          <p:cNvPr id="58" name="TextBox 57"/>
          <p:cNvSpPr txBox="1"/>
          <p:nvPr/>
        </p:nvSpPr>
        <p:spPr>
          <a:xfrm>
            <a:off x="485775" y="4229437"/>
            <a:ext cx="1942504" cy="186689"/>
          </a:xfrm>
          <a:prstGeom prst="rect">
            <a:avLst/>
          </a:prstGeom>
          <a:noFill/>
        </p:spPr>
        <p:txBody>
          <a:bodyPr wrap="none" lIns="0" rIns="0" tIns="0" bIns="0">
            <a:spAutoFit/>
          </a:bodyPr>
          <a:lstStyle/>
          <a:p>
            <a:r>
              <a:rPr sz="1100" b="0">
                <a:solidFill>
                  <a:srgbClr val="2E2E2E"/>
                </a:solidFill>
                <a:latin typeface="Calibri"/>
              </a:rPr>
              <a:t>● Pharmaceuticals &amp; Healthcare:</a:t>
            </a:r>
          </a:p>
        </p:txBody>
      </p:sp>
      <p:pic>
        <p:nvPicPr>
          <p:cNvPr id="59" name="Picture 58" descr="lock.png"/>
          <p:cNvPicPr>
            <a:picLocks noChangeAspect="1"/>
          </p:cNvPicPr>
          <p:nvPr/>
        </p:nvPicPr>
        <p:blipFill>
          <a:blip r:embed="rId13"/>
          <a:stretch>
            <a:fillRect/>
          </a:stretch>
        </p:blipFill>
        <p:spPr>
          <a:xfrm>
            <a:off x="2376331" y="4219658"/>
            <a:ext cx="128699" cy="187198"/>
          </a:xfrm>
          <a:prstGeom prst="rect">
            <a:avLst/>
          </a:prstGeom>
        </p:spPr>
      </p:pic>
      <p:sp>
        <p:nvSpPr>
          <p:cNvPr id="60" name="TextBox 59"/>
          <p:cNvSpPr txBox="1"/>
          <p:nvPr/>
        </p:nvSpPr>
        <p:spPr>
          <a:xfrm>
            <a:off x="254382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1" name="Picture 60" descr="lock.png"/>
          <p:cNvPicPr>
            <a:picLocks noChangeAspect="1"/>
          </p:cNvPicPr>
          <p:nvPr/>
        </p:nvPicPr>
        <p:blipFill>
          <a:blip r:embed="rId13"/>
          <a:stretch>
            <a:fillRect/>
          </a:stretch>
        </p:blipFill>
        <p:spPr>
          <a:xfrm>
            <a:off x="3403277" y="4219658"/>
            <a:ext cx="128699" cy="187198"/>
          </a:xfrm>
          <a:prstGeom prst="rect">
            <a:avLst/>
          </a:prstGeom>
        </p:spPr>
      </p:pic>
      <p:sp>
        <p:nvSpPr>
          <p:cNvPr id="62" name="TextBox 61"/>
          <p:cNvSpPr txBox="1"/>
          <p:nvPr/>
        </p:nvSpPr>
        <p:spPr>
          <a:xfrm>
            <a:off x="3570773"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3" name="TextBox 62"/>
          <p:cNvSpPr txBox="1"/>
          <p:nvPr/>
        </p:nvSpPr>
        <p:spPr>
          <a:xfrm>
            <a:off x="485775" y="4447369"/>
            <a:ext cx="1521494" cy="186689"/>
          </a:xfrm>
          <a:prstGeom prst="rect">
            <a:avLst/>
          </a:prstGeom>
          <a:noFill/>
        </p:spPr>
        <p:txBody>
          <a:bodyPr wrap="none" lIns="0" rIns="0" tIns="0" bIns="0">
            <a:spAutoFit/>
          </a:bodyPr>
          <a:lstStyle/>
          <a:p>
            <a:r>
              <a:rPr sz="1100" b="0">
                <a:solidFill>
                  <a:srgbClr val="2E2E2E"/>
                </a:solidFill>
                <a:latin typeface="Calibri"/>
              </a:rPr>
              <a:t>● Electronics &amp; Electrical:</a:t>
            </a:r>
          </a:p>
        </p:txBody>
      </p:sp>
      <p:pic>
        <p:nvPicPr>
          <p:cNvPr id="64" name="Picture 63" descr="lock.png"/>
          <p:cNvPicPr>
            <a:picLocks noChangeAspect="1"/>
          </p:cNvPicPr>
          <p:nvPr/>
        </p:nvPicPr>
        <p:blipFill>
          <a:blip r:embed="rId13"/>
          <a:stretch>
            <a:fillRect/>
          </a:stretch>
        </p:blipFill>
        <p:spPr>
          <a:xfrm>
            <a:off x="1955321" y="4437590"/>
            <a:ext cx="128699" cy="187198"/>
          </a:xfrm>
          <a:prstGeom prst="rect">
            <a:avLst/>
          </a:prstGeom>
        </p:spPr>
      </p:pic>
      <p:sp>
        <p:nvSpPr>
          <p:cNvPr id="65" name="TextBox 64"/>
          <p:cNvSpPr txBox="1"/>
          <p:nvPr/>
        </p:nvSpPr>
        <p:spPr>
          <a:xfrm>
            <a:off x="212281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6" name="Picture 65" descr="lock.png"/>
          <p:cNvPicPr>
            <a:picLocks noChangeAspect="1"/>
          </p:cNvPicPr>
          <p:nvPr/>
        </p:nvPicPr>
        <p:blipFill>
          <a:blip r:embed="rId13"/>
          <a:stretch>
            <a:fillRect/>
          </a:stretch>
        </p:blipFill>
        <p:spPr>
          <a:xfrm>
            <a:off x="2982267" y="4437590"/>
            <a:ext cx="128699" cy="187198"/>
          </a:xfrm>
          <a:prstGeom prst="rect">
            <a:avLst/>
          </a:prstGeom>
        </p:spPr>
      </p:pic>
      <p:sp>
        <p:nvSpPr>
          <p:cNvPr id="67" name="TextBox 66"/>
          <p:cNvSpPr txBox="1"/>
          <p:nvPr/>
        </p:nvSpPr>
        <p:spPr>
          <a:xfrm>
            <a:off x="3149763"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68" name="TextBox 67"/>
          <p:cNvSpPr txBox="1"/>
          <p:nvPr/>
        </p:nvSpPr>
        <p:spPr>
          <a:xfrm>
            <a:off x="485775" y="4665301"/>
            <a:ext cx="1747688" cy="186689"/>
          </a:xfrm>
          <a:prstGeom prst="rect">
            <a:avLst/>
          </a:prstGeom>
          <a:noFill/>
        </p:spPr>
        <p:txBody>
          <a:bodyPr wrap="none" lIns="0" rIns="0" tIns="0" bIns="0">
            <a:spAutoFit/>
          </a:bodyPr>
          <a:lstStyle/>
          <a:p>
            <a:r>
              <a:rPr sz="1100" b="0">
                <a:solidFill>
                  <a:srgbClr val="2E2E2E"/>
                </a:solidFill>
                <a:latin typeface="Calibri"/>
              </a:rPr>
              <a:t>● Personal Care &amp; Cosmetics:</a:t>
            </a:r>
          </a:p>
        </p:txBody>
      </p:sp>
      <p:pic>
        <p:nvPicPr>
          <p:cNvPr id="69" name="Picture 68" descr="lock.png"/>
          <p:cNvPicPr>
            <a:picLocks noChangeAspect="1"/>
          </p:cNvPicPr>
          <p:nvPr/>
        </p:nvPicPr>
        <p:blipFill>
          <a:blip r:embed="rId13"/>
          <a:stretch>
            <a:fillRect/>
          </a:stretch>
        </p:blipFill>
        <p:spPr>
          <a:xfrm>
            <a:off x="2181515" y="4655522"/>
            <a:ext cx="128699" cy="187198"/>
          </a:xfrm>
          <a:prstGeom prst="rect">
            <a:avLst/>
          </a:prstGeom>
        </p:spPr>
      </p:pic>
      <p:sp>
        <p:nvSpPr>
          <p:cNvPr id="70" name="TextBox 69"/>
          <p:cNvSpPr txBox="1"/>
          <p:nvPr/>
        </p:nvSpPr>
        <p:spPr>
          <a:xfrm>
            <a:off x="2349011"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1" name="Picture 70" descr="lock.png"/>
          <p:cNvPicPr>
            <a:picLocks noChangeAspect="1"/>
          </p:cNvPicPr>
          <p:nvPr/>
        </p:nvPicPr>
        <p:blipFill>
          <a:blip r:embed="rId13"/>
          <a:stretch>
            <a:fillRect/>
          </a:stretch>
        </p:blipFill>
        <p:spPr>
          <a:xfrm>
            <a:off x="3208461" y="4655522"/>
            <a:ext cx="128699" cy="187198"/>
          </a:xfrm>
          <a:prstGeom prst="rect">
            <a:avLst/>
          </a:prstGeom>
        </p:spPr>
      </p:pic>
      <p:sp>
        <p:nvSpPr>
          <p:cNvPr id="72" name="TextBox 71"/>
          <p:cNvSpPr txBox="1"/>
          <p:nvPr/>
        </p:nvSpPr>
        <p:spPr>
          <a:xfrm>
            <a:off x="3375957"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End Use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404996" cy="186689"/>
          </a:xfrm>
          <a:prstGeom prst="rect">
            <a:avLst/>
          </a:prstGeom>
          <a:noFill/>
        </p:spPr>
        <p:txBody>
          <a:bodyPr wrap="none" lIns="0" rIns="0" tIns="0" bIns="0">
            <a:spAutoFit/>
          </a:bodyPr>
          <a:lstStyle/>
          <a:p>
            <a:r>
              <a:rPr sz="1100" b="0">
                <a:solidFill>
                  <a:srgbClr val="2E2E2E"/>
                </a:solidFill>
                <a:latin typeface="Calibri"/>
              </a:rPr>
              <a:t>Electronics &amp; electrical followed by food &amp; beverage are expected to be the two most attractive end use segments in the North America corrugated partition market in terms of value over the forecast</a:t>
            </a:r>
          </a:p>
        </p:txBody>
      </p:sp>
      <p:sp>
        <p:nvSpPr>
          <p:cNvPr id="21" name="TextBox 20"/>
          <p:cNvSpPr txBox="1"/>
          <p:nvPr/>
        </p:nvSpPr>
        <p:spPr>
          <a:xfrm>
            <a:off x="257175" y="5861685"/>
            <a:ext cx="4390784" cy="186689"/>
          </a:xfrm>
          <a:prstGeom prst="rect">
            <a:avLst/>
          </a:prstGeom>
          <a:noFill/>
        </p:spPr>
        <p:txBody>
          <a:bodyPr wrap="none" lIns="0" rIns="0" tIns="0" bIns="0">
            <a:spAutoFit/>
          </a:bodyPr>
          <a:lstStyle/>
          <a:p>
            <a:r>
              <a:rPr sz="1100" b="0">
                <a:solidFill>
                  <a:srgbClr val="2E2E2E"/>
                </a:solidFill>
                <a:latin typeface="Calibri"/>
              </a:rPr>
              <a:t>period. Electronics &amp; electrical and food &amp; beverage exhibit a CAGR index of</a:t>
            </a:r>
          </a:p>
        </p:txBody>
      </p:sp>
      <p:pic>
        <p:nvPicPr>
          <p:cNvPr id="22" name="Picture 21" descr="lock.png"/>
          <p:cNvPicPr>
            <a:picLocks noChangeAspect="1"/>
          </p:cNvPicPr>
          <p:nvPr/>
        </p:nvPicPr>
        <p:blipFill>
          <a:blip r:embed="rId6"/>
          <a:stretch>
            <a:fillRect/>
          </a:stretch>
        </p:blipFill>
        <p:spPr>
          <a:xfrm>
            <a:off x="4596011" y="5851905"/>
            <a:ext cx="128699" cy="187198"/>
          </a:xfrm>
          <a:prstGeom prst="rect">
            <a:avLst/>
          </a:prstGeom>
        </p:spPr>
      </p:pic>
      <p:sp>
        <p:nvSpPr>
          <p:cNvPr id="23" name="TextBox 22"/>
          <p:cNvSpPr txBox="1"/>
          <p:nvPr/>
        </p:nvSpPr>
        <p:spPr>
          <a:xfrm>
            <a:off x="4763507"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001401" y="5851905"/>
            <a:ext cx="128699" cy="187198"/>
          </a:xfrm>
          <a:prstGeom prst="rect">
            <a:avLst/>
          </a:prstGeom>
        </p:spPr>
      </p:pic>
      <p:sp>
        <p:nvSpPr>
          <p:cNvPr id="25" name="TextBox 24"/>
          <p:cNvSpPr txBox="1"/>
          <p:nvPr/>
        </p:nvSpPr>
        <p:spPr>
          <a:xfrm>
            <a:off x="5168897" y="5861685"/>
            <a:ext cx="2079749" cy="186689"/>
          </a:xfrm>
          <a:prstGeom prst="rect">
            <a:avLst/>
          </a:prstGeom>
          <a:noFill/>
        </p:spPr>
        <p:txBody>
          <a:bodyPr wrap="none" lIns="0" rIns="0" tIns="0" bIns="0">
            <a:spAutoFit/>
          </a:bodyPr>
          <a:lstStyle/>
          <a:p>
            <a:r>
              <a:rPr sz="1100" b="0">
                <a:solidFill>
                  <a:srgbClr val="2E2E2E"/>
                </a:solidFill>
                <a:latin typeface="Calibri"/>
              </a:rPr>
              <a:t>and a market share index of 79 and</a:t>
            </a:r>
          </a:p>
        </p:txBody>
      </p:sp>
      <p:pic>
        <p:nvPicPr>
          <p:cNvPr id="26" name="Picture 25" descr="lock.png"/>
          <p:cNvPicPr>
            <a:picLocks noChangeAspect="1"/>
          </p:cNvPicPr>
          <p:nvPr/>
        </p:nvPicPr>
        <p:blipFill>
          <a:blip r:embed="rId6"/>
          <a:stretch>
            <a:fillRect/>
          </a:stretch>
        </p:blipFill>
        <p:spPr>
          <a:xfrm>
            <a:off x="7196697" y="5851905"/>
            <a:ext cx="128699" cy="187198"/>
          </a:xfrm>
          <a:prstGeom prst="rect">
            <a:avLst/>
          </a:prstGeom>
        </p:spPr>
      </p:pic>
      <p:sp>
        <p:nvSpPr>
          <p:cNvPr id="27" name="TextBox 26"/>
          <p:cNvSpPr txBox="1"/>
          <p:nvPr/>
        </p:nvSpPr>
        <p:spPr>
          <a:xfrm>
            <a:off x="7364193"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8" name="Picture 27" descr="lock.png"/>
          <p:cNvPicPr>
            <a:picLocks noChangeAspect="1"/>
          </p:cNvPicPr>
          <p:nvPr/>
        </p:nvPicPr>
        <p:blipFill>
          <a:blip r:embed="rId6"/>
          <a:stretch>
            <a:fillRect/>
          </a:stretch>
        </p:blipFill>
        <p:spPr>
          <a:xfrm>
            <a:off x="9918597" y="5851905"/>
            <a:ext cx="128699" cy="187198"/>
          </a:xfrm>
          <a:prstGeom prst="rect">
            <a:avLst/>
          </a:prstGeom>
        </p:spPr>
      </p:pic>
      <p:sp>
        <p:nvSpPr>
          <p:cNvPr id="29" name="TextBox 28"/>
          <p:cNvSpPr txBox="1"/>
          <p:nvPr/>
        </p:nvSpPr>
        <p:spPr>
          <a:xfrm>
            <a:off x="10086093" y="5861685"/>
            <a:ext cx="1447824" cy="186689"/>
          </a:xfrm>
          <a:prstGeom prst="rect">
            <a:avLst/>
          </a:prstGeom>
          <a:noFill/>
        </p:spPr>
        <p:txBody>
          <a:bodyPr wrap="none" lIns="0" rIns="0" tIns="0" bIns="0">
            <a:spAutoFit/>
          </a:bodyPr>
          <a:lstStyle/>
          <a:p>
            <a:r>
              <a:rPr sz="1100" b="0">
                <a:solidFill>
                  <a:srgbClr val="2E2E2E"/>
                </a:solidFill>
                <a:latin typeface="Calibri"/>
              </a:rPr>
              <a:t>. The pharmaceuticals &amp;</a:t>
            </a:r>
          </a:p>
        </p:txBody>
      </p:sp>
      <p:sp>
        <p:nvSpPr>
          <p:cNvPr id="30" name="TextBox 29"/>
          <p:cNvSpPr txBox="1"/>
          <p:nvPr/>
        </p:nvSpPr>
        <p:spPr>
          <a:xfrm>
            <a:off x="257175" y="6029325"/>
            <a:ext cx="11506736" cy="186689"/>
          </a:xfrm>
          <a:prstGeom prst="rect">
            <a:avLst/>
          </a:prstGeom>
          <a:noFill/>
        </p:spPr>
        <p:txBody>
          <a:bodyPr wrap="none" lIns="0" rIns="0" tIns="0" bIns="0">
            <a:spAutoFit/>
          </a:bodyPr>
          <a:lstStyle/>
          <a:p>
            <a:r>
              <a:rPr sz="1100" b="0">
                <a:solidFill>
                  <a:srgbClr val="2E2E2E"/>
                </a:solidFill>
                <a:latin typeface="Calibri"/>
              </a:rPr>
              <a:t>healthcare segment is expected to be less attractive as compared to other segments over the forecast period, owing to its lower CAGR and incremental opportunity. Bubbles right of the CAGR-Index line</a:t>
            </a:r>
          </a:p>
        </p:txBody>
      </p:sp>
      <p:sp>
        <p:nvSpPr>
          <p:cNvPr id="31" name="TextBox 30"/>
          <p:cNvSpPr txBox="1"/>
          <p:nvPr/>
        </p:nvSpPr>
        <p:spPr>
          <a:xfrm>
            <a:off x="257175" y="6196965"/>
            <a:ext cx="2279476" cy="186689"/>
          </a:xfrm>
          <a:prstGeom prst="rect">
            <a:avLst/>
          </a:prstGeom>
          <a:noFill/>
        </p:spPr>
        <p:txBody>
          <a:bodyPr wrap="none" lIns="0" rIns="0" tIns="0" bIns="0">
            <a:spAutoFit/>
          </a:bodyPr>
          <a:lstStyle/>
          <a:p>
            <a:r>
              <a:rPr sz="1100" b="0">
                <a:solidFill>
                  <a:srgbClr val="2E2E2E"/>
                </a:solidFill>
                <a:latin typeface="Calibri"/>
              </a:rPr>
              <a:t>grow faster than the segment average.</a:t>
            </a:r>
          </a:p>
        </p:txBody>
      </p:sp>
      <p:sp>
        <p:nvSpPr>
          <p:cNvPr id="32"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End Use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Food &amp; Beverage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Pharmaceuticals &amp; Healthcare</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Personal Care &amp; Cosmetics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Electronics &amp; Electrical</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End Use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Automotive &amp; Industrial Components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Glassware, Ceramics &amp; Home Goods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End Use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7"/>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3094826" y="5123309"/>
            <a:ext cx="263506" cy="383281"/>
          </a:xfrm>
          <a:prstGeom prst="rect">
            <a:avLst/>
          </a:prstGeom>
        </p:spPr>
      </p:pic>
      <p:sp>
        <p:nvSpPr>
          <p:cNvPr id="27" name="TextBox 26"/>
          <p:cNvSpPr txBox="1"/>
          <p:nvPr/>
        </p:nvSpPr>
        <p:spPr>
          <a:xfrm>
            <a:off x="6305550" y="4286250"/>
            <a:ext cx="4492763" cy="194310"/>
          </a:xfrm>
          <a:prstGeom prst="rect">
            <a:avLst/>
          </a:prstGeom>
          <a:noFill/>
        </p:spPr>
        <p:txBody>
          <a:bodyPr wrap="none" lIns="0" rIns="0" tIns="0" bIns="0">
            <a:spAutoFit/>
          </a:bodyPr>
          <a:lstStyle/>
          <a:p>
            <a:r>
              <a:rPr sz="1150" b="0">
                <a:solidFill>
                  <a:srgbClr val="2E2E2E"/>
                </a:solidFill>
                <a:latin typeface="Calibri"/>
              </a:rPr>
              <a:t>By 2036, food &amp; beverage segment is anticipated to witness an increase of</a:t>
            </a:r>
          </a:p>
        </p:txBody>
      </p:sp>
      <p:pic>
        <p:nvPicPr>
          <p:cNvPr id="28" name="Picture 27" descr="lock.png"/>
          <p:cNvPicPr>
            <a:picLocks noChangeAspect="1"/>
          </p:cNvPicPr>
          <p:nvPr/>
        </p:nvPicPr>
        <p:blipFill>
          <a:blip r:embed="rId7"/>
          <a:stretch>
            <a:fillRect/>
          </a:stretch>
        </p:blipFill>
        <p:spPr>
          <a:xfrm>
            <a:off x="10747467" y="4276026"/>
            <a:ext cx="134549" cy="195707"/>
          </a:xfrm>
          <a:prstGeom prst="rect">
            <a:avLst/>
          </a:prstGeom>
        </p:spPr>
      </p:pic>
      <p:sp>
        <p:nvSpPr>
          <p:cNvPr id="29" name="TextBox 28"/>
          <p:cNvSpPr txBox="1"/>
          <p:nvPr/>
        </p:nvSpPr>
        <p:spPr>
          <a:xfrm>
            <a:off x="10922577" y="4286250"/>
            <a:ext cx="829840" cy="194310"/>
          </a:xfrm>
          <a:prstGeom prst="rect">
            <a:avLst/>
          </a:prstGeom>
          <a:noFill/>
        </p:spPr>
        <p:txBody>
          <a:bodyPr wrap="none" lIns="0" rIns="0" tIns="0" bIns="0">
            <a:spAutoFit/>
          </a:bodyPr>
          <a:lstStyle/>
          <a:p>
            <a:r>
              <a:rPr sz="1150" b="0">
                <a:solidFill>
                  <a:srgbClr val="2E2E2E"/>
                </a:solidFill>
                <a:latin typeface="Calibri"/>
              </a:rPr>
              <a:t>X in terms of</a:t>
            </a:r>
          </a:p>
        </p:txBody>
      </p:sp>
      <p:sp>
        <p:nvSpPr>
          <p:cNvPr id="30" name="TextBox 29"/>
          <p:cNvSpPr txBox="1"/>
          <p:nvPr/>
        </p:nvSpPr>
        <p:spPr>
          <a:xfrm>
            <a:off x="6305550" y="4461510"/>
            <a:ext cx="4994262" cy="194310"/>
          </a:xfrm>
          <a:prstGeom prst="rect">
            <a:avLst/>
          </a:prstGeom>
          <a:noFill/>
        </p:spPr>
        <p:txBody>
          <a:bodyPr wrap="none" lIns="0" rIns="0" tIns="0" bIns="0">
            <a:spAutoFit/>
          </a:bodyPr>
          <a:lstStyle/>
          <a:p>
            <a:r>
              <a:rPr sz="1150" b="0">
                <a:solidFill>
                  <a:srgbClr val="2E2E2E"/>
                </a:solidFill>
                <a:latin typeface="Calibri"/>
              </a:rPr>
              <a:t>value as compared to 2026. The food &amp; beverage segment is expected to create an</a:t>
            </a:r>
          </a:p>
        </p:txBody>
      </p:sp>
      <p:sp>
        <p:nvSpPr>
          <p:cNvPr id="31" name="TextBox 30"/>
          <p:cNvSpPr txBox="1"/>
          <p:nvPr/>
        </p:nvSpPr>
        <p:spPr>
          <a:xfrm>
            <a:off x="6305550" y="4636770"/>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32" name="Picture 31" descr="lock.png"/>
          <p:cNvPicPr>
            <a:picLocks noChangeAspect="1"/>
          </p:cNvPicPr>
          <p:nvPr/>
        </p:nvPicPr>
        <p:blipFill>
          <a:blip r:embed="rId7"/>
          <a:stretch>
            <a:fillRect/>
          </a:stretch>
        </p:blipFill>
        <p:spPr>
          <a:xfrm>
            <a:off x="8211582" y="4626546"/>
            <a:ext cx="134549" cy="195707"/>
          </a:xfrm>
          <a:prstGeom prst="rect">
            <a:avLst/>
          </a:prstGeom>
        </p:spPr>
      </p:pic>
      <p:sp>
        <p:nvSpPr>
          <p:cNvPr id="33" name="TextBox 32"/>
          <p:cNvSpPr txBox="1"/>
          <p:nvPr/>
        </p:nvSpPr>
        <p:spPr>
          <a:xfrm>
            <a:off x="8386692" y="4636770"/>
            <a:ext cx="3501243"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a:t>
            </a:r>
          </a:p>
        </p:txBody>
      </p:sp>
      <p:sp>
        <p:nvSpPr>
          <p:cNvPr id="34" name="TextBox 33"/>
          <p:cNvSpPr txBox="1"/>
          <p:nvPr/>
        </p:nvSpPr>
        <p:spPr>
          <a:xfrm>
            <a:off x="6305550" y="4812029"/>
            <a:ext cx="568833" cy="194310"/>
          </a:xfrm>
          <a:prstGeom prst="rect">
            <a:avLst/>
          </a:prstGeom>
          <a:noFill/>
        </p:spPr>
        <p:txBody>
          <a:bodyPr wrap="none" lIns="0" rIns="0" tIns="0" bIns="0">
            <a:spAutoFit/>
          </a:bodyPr>
          <a:lstStyle/>
          <a:p>
            <a:r>
              <a:rPr sz="1150" b="0">
                <a:solidFill>
                  <a:srgbClr val="2E2E2E"/>
                </a:solidFill>
                <a:latin typeface="Calibri"/>
              </a:rPr>
              <a:t>to 2036.</a:t>
            </a:r>
          </a:p>
        </p:txBody>
      </p:sp>
      <p:sp>
        <p:nvSpPr>
          <p:cNvPr id="35" name="TextBox 34"/>
          <p:cNvSpPr txBox="1"/>
          <p:nvPr/>
        </p:nvSpPr>
        <p:spPr>
          <a:xfrm>
            <a:off x="6305550" y="5039867"/>
            <a:ext cx="5591175" cy="194310"/>
          </a:xfrm>
          <a:prstGeom prst="rect">
            <a:avLst/>
          </a:prstGeom>
          <a:noFill/>
        </p:spPr>
        <p:txBody>
          <a:bodyPr wrap="none" lIns="0" rIns="0" tIns="0" bIns="0">
            <a:spAutoFit/>
          </a:bodyPr>
          <a:lstStyle/>
          <a:p>
            <a:r>
              <a:rPr sz="1150" b="0">
                <a:solidFill>
                  <a:srgbClr val="2E2E2E"/>
                </a:solidFill>
                <a:latin typeface="Calibri"/>
              </a:rPr>
              <a:t>The electronics &amp; electrical segment is expected to create an incremental opportunity of US$</a:t>
            </a:r>
          </a:p>
        </p:txBody>
      </p:sp>
      <p:pic>
        <p:nvPicPr>
          <p:cNvPr id="36" name="Picture 35" descr="lock.png"/>
          <p:cNvPicPr>
            <a:picLocks noChangeAspect="1"/>
          </p:cNvPicPr>
          <p:nvPr/>
        </p:nvPicPr>
        <p:blipFill>
          <a:blip r:embed="rId7"/>
          <a:stretch>
            <a:fillRect/>
          </a:stretch>
        </p:blipFill>
        <p:spPr>
          <a:xfrm>
            <a:off x="6291470" y="5204904"/>
            <a:ext cx="134549" cy="195707"/>
          </a:xfrm>
          <a:prstGeom prst="rect">
            <a:avLst/>
          </a:prstGeom>
        </p:spPr>
      </p:pic>
      <p:sp>
        <p:nvSpPr>
          <p:cNvPr id="37" name="TextBox 36"/>
          <p:cNvSpPr txBox="1"/>
          <p:nvPr/>
        </p:nvSpPr>
        <p:spPr>
          <a:xfrm>
            <a:off x="6466579" y="5215127"/>
            <a:ext cx="4934929"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 to 2036. The glassware,</a:t>
            </a:r>
          </a:p>
        </p:txBody>
      </p:sp>
      <p:sp>
        <p:nvSpPr>
          <p:cNvPr id="38" name="TextBox 37"/>
          <p:cNvSpPr txBox="1"/>
          <p:nvPr/>
        </p:nvSpPr>
        <p:spPr>
          <a:xfrm>
            <a:off x="6305550" y="5390387"/>
            <a:ext cx="5412444" cy="194310"/>
          </a:xfrm>
          <a:prstGeom prst="rect">
            <a:avLst/>
          </a:prstGeom>
          <a:noFill/>
        </p:spPr>
        <p:txBody>
          <a:bodyPr wrap="none" lIns="0" rIns="0" tIns="0" bIns="0">
            <a:spAutoFit/>
          </a:bodyPr>
          <a:lstStyle/>
          <a:p>
            <a:r>
              <a:rPr sz="1150" b="0">
                <a:solidFill>
                  <a:srgbClr val="2E2E2E"/>
                </a:solidFill>
                <a:latin typeface="Calibri"/>
              </a:rPr>
              <a:t>ceramics &amp; home goods segment is expected to create an incremental opportunity of US$</a:t>
            </a:r>
          </a:p>
        </p:txBody>
      </p:sp>
      <p:pic>
        <p:nvPicPr>
          <p:cNvPr id="39" name="Picture 38" descr="lock.png"/>
          <p:cNvPicPr>
            <a:picLocks noChangeAspect="1"/>
          </p:cNvPicPr>
          <p:nvPr/>
        </p:nvPicPr>
        <p:blipFill>
          <a:blip r:embed="rId7"/>
          <a:stretch>
            <a:fillRect/>
          </a:stretch>
        </p:blipFill>
        <p:spPr>
          <a:xfrm>
            <a:off x="6291470" y="5555424"/>
            <a:ext cx="134549" cy="195707"/>
          </a:xfrm>
          <a:prstGeom prst="rect">
            <a:avLst/>
          </a:prstGeom>
        </p:spPr>
      </p:pic>
      <p:sp>
        <p:nvSpPr>
          <p:cNvPr id="40" name="TextBox 39"/>
          <p:cNvSpPr txBox="1"/>
          <p:nvPr/>
        </p:nvSpPr>
        <p:spPr>
          <a:xfrm>
            <a:off x="6466579" y="5565647"/>
            <a:ext cx="4026966" cy="194310"/>
          </a:xfrm>
          <a:prstGeom prst="rect">
            <a:avLst/>
          </a:prstGeom>
          <a:noFill/>
        </p:spPr>
        <p:txBody>
          <a:bodyPr wrap="none" lIns="0" rIns="0" tIns="0" bIns="0">
            <a:spAutoFit/>
          </a:bodyPr>
          <a:lstStyle/>
          <a:p>
            <a:r>
              <a:rPr sz="1150" b="0">
                <a:solidFill>
                  <a:srgbClr val="2E2E2E"/>
                </a:solidFill>
                <a:latin typeface="Calibri"/>
              </a:rPr>
              <a:t>Mn for the overall corrugated partition market from 2026 to 2036.</a:t>
            </a:r>
          </a:p>
        </p:txBody>
      </p:sp>
      <p:sp>
        <p:nvSpPr>
          <p:cNvPr id="41"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End Use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4229100"/>
          </a:xfrm>
          <a:prstGeom prst="roundRect">
            <a:avLst>
              <a:gd name="adj" fmla="val 18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End Use (MT)</a:t>
            </a:r>
          </a:p>
        </p:txBody>
      </p:sp>
      <p:graphicFrame>
        <p:nvGraphicFramePr>
          <p:cNvPr id="13" name="Table 12"/>
          <p:cNvGraphicFramePr>
            <a:graphicFrameLocks noGrp="1"/>
          </p:cNvGraphicFramePr>
          <p:nvPr/>
        </p:nvGraphicFramePr>
        <p:xfrm>
          <a:off x="152400" y="1238250"/>
          <a:ext cx="11887208" cy="3762371"/>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End Use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745">
                <a:tc>
                  <a:txBody>
                    <a:bodyPr wrap="none"/>
                    <a:lstStyle/>
                    <a:p>
                      <a:pPr algn="l"/>
                      <a:r>
                        <a:rPr sz="1100" b="1">
                          <a:solidFill>
                            <a:srgbClr val="2E2E2E"/>
                          </a:solidFill>
                          <a:latin typeface="Calibri"/>
                        </a:rPr>
                        <a:t>Food &amp; Beverage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530">
                <a:tc>
                  <a:txBody>
                    <a:bodyPr wrap="none"/>
                    <a:lstStyle/>
                    <a:p>
                      <a:pPr algn="l"/>
                      <a:r>
                        <a:rPr sz="1100" b="1">
                          <a:solidFill>
                            <a:srgbClr val="2E2E2E"/>
                          </a:solidFill>
                          <a:latin typeface="Calibri"/>
                        </a:rPr>
                        <a:t>Pharmaceuticals &amp;</a:t>
                      </a:r>
                      <a:endParaRPr sz="1100"/>
                    </a:p>
                    <a:p>
                      <a:pPr algn="l"/>
                      <a:r>
                        <a:rPr sz="1100" b="1">
                          <a:solidFill>
                            <a:srgbClr val="2E2E2E"/>
                          </a:solidFill>
                          <a:latin typeface="Calibri"/>
                        </a:rPr>
                        <a:t>Healthcare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530">
                <a:tc>
                  <a:txBody>
                    <a:bodyPr wrap="none"/>
                    <a:lstStyle/>
                    <a:p>
                      <a:pPr algn="l"/>
                      <a:r>
                        <a:rPr sz="1100" b="1">
                          <a:solidFill>
                            <a:srgbClr val="2E2E2E"/>
                          </a:solidFill>
                          <a:latin typeface="Calibri"/>
                        </a:rPr>
                        <a:t>Personal Care &amp;</a:t>
                      </a:r>
                      <a:endParaRPr sz="1100"/>
                    </a:p>
                    <a:p>
                      <a:pPr algn="l"/>
                      <a:r>
                        <a:rPr sz="1100" b="1">
                          <a:solidFill>
                            <a:srgbClr val="2E2E2E"/>
                          </a:solidFill>
                          <a:latin typeface="Calibri"/>
                        </a:rPr>
                        <a:t>Cosmetics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530">
                <a:tc>
                  <a:txBody>
                    <a:bodyPr wrap="none"/>
                    <a:lstStyle/>
                    <a:p>
                      <a:pPr algn="l"/>
                      <a:r>
                        <a:rPr sz="1100" b="1">
                          <a:solidFill>
                            <a:srgbClr val="2E2E2E"/>
                          </a:solidFill>
                          <a:latin typeface="Calibri"/>
                        </a:rPr>
                        <a:t>Electronics &amp;</a:t>
                      </a:r>
                      <a:endParaRPr sz="1100"/>
                    </a:p>
                    <a:p>
                      <a:pPr algn="l"/>
                      <a:r>
                        <a:rPr sz="1100" b="1">
                          <a:solidFill>
                            <a:srgbClr val="2E2E2E"/>
                          </a:solidFill>
                          <a:latin typeface="Calibri"/>
                        </a:rPr>
                        <a:t>Electrical</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317">
                <a:tc>
                  <a:txBody>
                    <a:bodyPr wrap="none"/>
                    <a:lstStyle/>
                    <a:p>
                      <a:pPr algn="l"/>
                      <a:r>
                        <a:rPr sz="1100" b="1">
                          <a:solidFill>
                            <a:srgbClr val="2E2E2E"/>
                          </a:solidFill>
                          <a:latin typeface="Calibri"/>
                        </a:rPr>
                        <a:t>Automotive &amp;</a:t>
                      </a:r>
                      <a:endParaRPr sz="1100"/>
                    </a:p>
                    <a:p>
                      <a:pPr algn="l"/>
                      <a:r>
                        <a:rPr sz="1100" b="1">
                          <a:solidFill>
                            <a:srgbClr val="2E2E2E"/>
                          </a:solidFill>
                          <a:latin typeface="Calibri"/>
                        </a:rPr>
                        <a:t>Industrial</a:t>
                      </a:r>
                      <a:endParaRPr sz="1100"/>
                    </a:p>
                    <a:p>
                      <a:pPr algn="l"/>
                      <a:r>
                        <a:rPr sz="1100" b="1">
                          <a:solidFill>
                            <a:srgbClr val="2E2E2E"/>
                          </a:solidFill>
                          <a:latin typeface="Calibri"/>
                        </a:rPr>
                        <a:t>Components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317">
                <a:tc>
                  <a:txBody>
                    <a:bodyPr wrap="none"/>
                    <a:lstStyle/>
                    <a:p>
                      <a:pPr algn="l"/>
                      <a:r>
                        <a:rPr sz="1100" b="1">
                          <a:solidFill>
                            <a:srgbClr val="2E2E2E"/>
                          </a:solidFill>
                          <a:latin typeface="Calibri"/>
                        </a:rPr>
                        <a:t>Glassware,</a:t>
                      </a:r>
                      <a:endParaRPr sz="1100"/>
                    </a:p>
                    <a:p>
                      <a:pPr algn="l"/>
                      <a:r>
                        <a:rPr sz="1100" b="1">
                          <a:solidFill>
                            <a:srgbClr val="2E2E2E"/>
                          </a:solidFill>
                          <a:latin typeface="Calibri"/>
                        </a:rPr>
                        <a:t>Ceramics &amp; Home</a:t>
                      </a:r>
                      <a:endParaRPr sz="1100"/>
                    </a:p>
                    <a:p>
                      <a:pPr algn="l"/>
                      <a:r>
                        <a:rPr sz="1100" b="1">
                          <a:solidFill>
                            <a:srgbClr val="2E2E2E"/>
                          </a:solidFill>
                          <a:latin typeface="Calibri"/>
                        </a:rPr>
                        <a:t>Goods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745">
                <a:tc>
                  <a:txBody>
                    <a:bodyPr wrap="none"/>
                    <a:lstStyle/>
                    <a:p>
                      <a:pPr algn="l"/>
                      <a:r>
                        <a:rPr sz="1100" b="1">
                          <a:solidFill>
                            <a:srgbClr val="2E2E2E"/>
                          </a:solidFill>
                          <a:latin typeface="Calibri"/>
                        </a:rPr>
                        <a:t>Others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74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010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343525"/>
            <a:ext cx="11906250"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End Use</a:t>
            </a:r>
          </a:p>
        </p:txBody>
      </p:sp>
      <p:sp>
        <p:nvSpPr>
          <p:cNvPr id="17" name="Rectangle 16"/>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753100"/>
            <a:ext cx="11639550"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
            </a:r>
          </a:p>
          <a:p>
            <a:pPr algn="l">
              <a:lnSpc>
                <a:spcPct val="100000"/>
              </a:lnSpc>
              <a:spcBef>
                <a:spcPts val="0"/>
              </a:spcBef>
              <a:spcAft>
                <a:spcPts val="300"/>
              </a:spcAft>
            </a:pPr>
            <a:r>
              <a:rPr sz="110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3072193"/>
            <a:ext cx="366712" cy="533400"/>
          </a:xfrm>
          <a:prstGeom prst="rect">
            <a:avLst/>
          </a:prstGeom>
        </p:spPr>
      </p:pic>
      <p:sp>
        <p:nvSpPr>
          <p:cNvPr id="21" name="TextBox 20"/>
          <p:cNvSpPr txBox="1"/>
          <p:nvPr/>
        </p:nvSpPr>
        <p:spPr>
          <a:xfrm>
            <a:off x="276225" y="5762625"/>
            <a:ext cx="3927226" cy="186689"/>
          </a:xfrm>
          <a:prstGeom prst="rect">
            <a:avLst/>
          </a:prstGeom>
          <a:noFill/>
        </p:spPr>
        <p:txBody>
          <a:bodyPr wrap="none" lIns="0" rIns="0" tIns="0" bIns="0">
            <a:spAutoFit/>
          </a:bodyPr>
          <a:lstStyle/>
          <a:p>
            <a:r>
              <a:rPr sz="1100" b="0">
                <a:solidFill>
                  <a:srgbClr val="2E2E2E"/>
                </a:solidFill>
                <a:latin typeface="Calibri"/>
              </a:rPr>
              <a:t>Glassware, ceramics &amp; home goods segment is projected to register</a:t>
            </a:r>
          </a:p>
        </p:txBody>
      </p:sp>
      <p:pic>
        <p:nvPicPr>
          <p:cNvPr id="22" name="Picture 21" descr="lock.png"/>
          <p:cNvPicPr>
            <a:picLocks noChangeAspect="1"/>
          </p:cNvPicPr>
          <p:nvPr/>
        </p:nvPicPr>
        <p:blipFill>
          <a:blip r:embed="rId4"/>
          <a:stretch>
            <a:fillRect/>
          </a:stretch>
        </p:blipFill>
        <p:spPr>
          <a:xfrm>
            <a:off x="4151503" y="5752845"/>
            <a:ext cx="128699" cy="187198"/>
          </a:xfrm>
          <a:prstGeom prst="rect">
            <a:avLst/>
          </a:prstGeom>
        </p:spPr>
      </p:pic>
      <p:sp>
        <p:nvSpPr>
          <p:cNvPr id="23" name="TextBox 22"/>
          <p:cNvSpPr txBox="1"/>
          <p:nvPr/>
        </p:nvSpPr>
        <p:spPr>
          <a:xfrm>
            <a:off x="4318999" y="5762625"/>
            <a:ext cx="7523683" cy="186689"/>
          </a:xfrm>
          <a:prstGeom prst="rect">
            <a:avLst/>
          </a:prstGeom>
          <a:noFill/>
        </p:spPr>
        <p:txBody>
          <a:bodyPr wrap="none" lIns="0" rIns="0" tIns="0" bIns="0">
            <a:spAutoFit/>
          </a:bodyPr>
          <a:lstStyle/>
          <a:p>
            <a:r>
              <a:rPr sz="1100" b="0">
                <a:solidFill>
                  <a:srgbClr val="2E2E2E"/>
                </a:solidFill>
                <a:latin typeface="Calibri"/>
              </a:rPr>
              <a:t>X higher volume than others segment in 2036. Among corrugated partition by end use, electronics &amp; electrical segment is expected</a:t>
            </a:r>
          </a:p>
        </p:txBody>
      </p:sp>
      <p:sp>
        <p:nvSpPr>
          <p:cNvPr id="24" name="TextBox 23"/>
          <p:cNvSpPr txBox="1"/>
          <p:nvPr/>
        </p:nvSpPr>
        <p:spPr>
          <a:xfrm>
            <a:off x="276225" y="5930265"/>
            <a:ext cx="1827344" cy="186689"/>
          </a:xfrm>
          <a:prstGeom prst="rect">
            <a:avLst/>
          </a:prstGeom>
          <a:noFill/>
        </p:spPr>
        <p:txBody>
          <a:bodyPr wrap="none" lIns="0" rIns="0" tIns="0" bIns="0">
            <a:spAutoFit/>
          </a:bodyPr>
          <a:lstStyle/>
          <a:p>
            <a:r>
              <a:rPr sz="110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051620" y="5920485"/>
            <a:ext cx="128699" cy="187198"/>
          </a:xfrm>
          <a:prstGeom prst="rect">
            <a:avLst/>
          </a:prstGeom>
        </p:spPr>
      </p:pic>
      <p:sp>
        <p:nvSpPr>
          <p:cNvPr id="26" name="TextBox 25"/>
          <p:cNvSpPr txBox="1"/>
          <p:nvPr/>
        </p:nvSpPr>
        <p:spPr>
          <a:xfrm>
            <a:off x="2219116" y="5930265"/>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27" name="TextBox 26"/>
          <p:cNvSpPr txBox="1"/>
          <p:nvPr/>
        </p:nvSpPr>
        <p:spPr>
          <a:xfrm>
            <a:off x="276225" y="6148197"/>
            <a:ext cx="9353425" cy="186689"/>
          </a:xfrm>
          <a:prstGeom prst="rect">
            <a:avLst/>
          </a:prstGeom>
          <a:noFill/>
        </p:spPr>
        <p:txBody>
          <a:bodyPr wrap="none" lIns="0" rIns="0" tIns="0" bIns="0">
            <a:spAutoFit/>
          </a:bodyPr>
          <a:lstStyle/>
          <a:p>
            <a:r>
              <a:rPr sz="1100" b="0">
                <a:solidFill>
                  <a:srgbClr val="2E2E2E"/>
                </a:solidFill>
                <a:latin typeface="Calibri"/>
              </a:rPr>
              <a:t>In terms of volume share by end use, the glassware, ceramics &amp; home goods segment is expected to dominate the market, maintaining its share and accounting for</a:t>
            </a:r>
          </a:p>
        </p:txBody>
      </p:sp>
      <p:pic>
        <p:nvPicPr>
          <p:cNvPr id="28" name="Picture 27" descr="lock.png"/>
          <p:cNvPicPr>
            <a:picLocks noChangeAspect="1"/>
          </p:cNvPicPr>
          <p:nvPr/>
        </p:nvPicPr>
        <p:blipFill>
          <a:blip r:embed="rId4"/>
          <a:stretch>
            <a:fillRect/>
          </a:stretch>
        </p:blipFill>
        <p:spPr>
          <a:xfrm>
            <a:off x="9577702" y="6138417"/>
            <a:ext cx="128699" cy="187198"/>
          </a:xfrm>
          <a:prstGeom prst="rect">
            <a:avLst/>
          </a:prstGeom>
        </p:spPr>
      </p:pic>
      <p:sp>
        <p:nvSpPr>
          <p:cNvPr id="29" name="TextBox 28"/>
          <p:cNvSpPr txBox="1"/>
          <p:nvPr/>
        </p:nvSpPr>
        <p:spPr>
          <a:xfrm>
            <a:off x="9745198" y="6148197"/>
            <a:ext cx="1151235" cy="186689"/>
          </a:xfrm>
          <a:prstGeom prst="rect">
            <a:avLst/>
          </a:prstGeom>
          <a:noFill/>
        </p:spPr>
        <p:txBody>
          <a:bodyPr wrap="none" lIns="0" rIns="0" tIns="0" bIns="0">
            <a:spAutoFit/>
          </a:bodyPr>
          <a:lstStyle/>
          <a:p>
            <a:r>
              <a:rPr sz="1100" b="0">
                <a:solidFill>
                  <a:srgbClr val="2E2E2E"/>
                </a:solidFill>
                <a:latin typeface="Calibri"/>
              </a:rPr>
              <a:t>share by 2036. The</a:t>
            </a:r>
          </a:p>
        </p:txBody>
      </p:sp>
      <p:sp>
        <p:nvSpPr>
          <p:cNvPr id="30" name="TextBox 29"/>
          <p:cNvSpPr txBox="1"/>
          <p:nvPr/>
        </p:nvSpPr>
        <p:spPr>
          <a:xfrm>
            <a:off x="276225" y="6315837"/>
            <a:ext cx="3385889" cy="186689"/>
          </a:xfrm>
          <a:prstGeom prst="rect">
            <a:avLst/>
          </a:prstGeom>
          <a:noFill/>
        </p:spPr>
        <p:txBody>
          <a:bodyPr wrap="none" lIns="0" rIns="0" tIns="0" bIns="0">
            <a:spAutoFit/>
          </a:bodyPr>
          <a:lstStyle/>
          <a:p>
            <a:r>
              <a:rPr sz="1100" b="0">
                <a:solidFill>
                  <a:srgbClr val="2E2E2E"/>
                </a:solidFill>
                <a:latin typeface="Calibri"/>
              </a:rPr>
              <a:t>pharmaceuticals &amp; healthcare segment is expected to lose</a:t>
            </a:r>
          </a:p>
        </p:txBody>
      </p:sp>
      <p:pic>
        <p:nvPicPr>
          <p:cNvPr id="31" name="Picture 30" descr="lock.png"/>
          <p:cNvPicPr>
            <a:picLocks noChangeAspect="1"/>
          </p:cNvPicPr>
          <p:nvPr/>
        </p:nvPicPr>
        <p:blipFill>
          <a:blip r:embed="rId4"/>
          <a:stretch>
            <a:fillRect/>
          </a:stretch>
        </p:blipFill>
        <p:spPr>
          <a:xfrm>
            <a:off x="3610166" y="6306058"/>
            <a:ext cx="128699" cy="187198"/>
          </a:xfrm>
          <a:prstGeom prst="rect">
            <a:avLst/>
          </a:prstGeom>
        </p:spPr>
      </p:pic>
      <p:sp>
        <p:nvSpPr>
          <p:cNvPr id="32" name="TextBox 31"/>
          <p:cNvSpPr txBox="1"/>
          <p:nvPr/>
        </p:nvSpPr>
        <p:spPr>
          <a:xfrm>
            <a:off x="3777661" y="6315837"/>
            <a:ext cx="2526952" cy="186689"/>
          </a:xfrm>
          <a:prstGeom prst="rect">
            <a:avLst/>
          </a:prstGeom>
          <a:noFill/>
        </p:spPr>
        <p:txBody>
          <a:bodyPr wrap="none" lIns="0" rIns="0" tIns="0" bIns="0">
            <a:spAutoFit/>
          </a:bodyPr>
          <a:lstStyle/>
          <a:p>
            <a:r>
              <a:rPr sz="1100" b="0">
                <a:solidFill>
                  <a:srgbClr val="2E2E2E"/>
                </a:solidFill>
                <a:latin typeface="Calibri"/>
              </a:rPr>
              <a:t>BPS over the forecast period to account for</a:t>
            </a:r>
          </a:p>
        </p:txBody>
      </p:sp>
      <p:pic>
        <p:nvPicPr>
          <p:cNvPr id="33" name="Picture 32" descr="lock.png"/>
          <p:cNvPicPr>
            <a:picLocks noChangeAspect="1"/>
          </p:cNvPicPr>
          <p:nvPr/>
        </p:nvPicPr>
        <p:blipFill>
          <a:blip r:embed="rId4"/>
          <a:stretch>
            <a:fillRect/>
          </a:stretch>
        </p:blipFill>
        <p:spPr>
          <a:xfrm>
            <a:off x="6252666" y="6306058"/>
            <a:ext cx="128699" cy="187198"/>
          </a:xfrm>
          <a:prstGeom prst="rect">
            <a:avLst/>
          </a:prstGeom>
        </p:spPr>
      </p:pic>
      <p:sp>
        <p:nvSpPr>
          <p:cNvPr id="34" name="TextBox 33"/>
          <p:cNvSpPr txBox="1"/>
          <p:nvPr/>
        </p:nvSpPr>
        <p:spPr>
          <a:xfrm>
            <a:off x="6420162" y="63158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End Use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End Use (US$ Mn)</a:t>
            </a:r>
          </a:p>
        </p:txBody>
      </p:sp>
      <p:graphicFrame>
        <p:nvGraphicFramePr>
          <p:cNvPr id="13" name="Table 12"/>
          <p:cNvGraphicFramePr>
            <a:graphicFrameLocks noGrp="1"/>
          </p:cNvGraphicFramePr>
          <p:nvPr/>
        </p:nvGraphicFramePr>
        <p:xfrm>
          <a:off x="152400" y="1238250"/>
          <a:ext cx="11887202" cy="2219326"/>
        </p:xfrm>
        <a:graphic>
          <a:graphicData uri="http://schemas.openxmlformats.org/drawingml/2006/table">
            <a:tbl>
              <a:tblPr>
                <a:tableStyleId>{5C22544A-7EE6-4342-B048-85BDC9FD1C3A}</a:tableStyleId>
              </a:tblPr>
              <a:tblGrid>
                <a:gridCol w="2384338"/>
                <a:gridCol w="558992"/>
                <a:gridCol w="558992"/>
                <a:gridCol w="558992"/>
                <a:gridCol w="558992"/>
                <a:gridCol w="558992"/>
                <a:gridCol w="558992"/>
                <a:gridCol w="558992"/>
                <a:gridCol w="558992"/>
                <a:gridCol w="558992"/>
                <a:gridCol w="558992"/>
                <a:gridCol w="558992"/>
                <a:gridCol w="558992"/>
                <a:gridCol w="558992"/>
                <a:gridCol w="558992"/>
                <a:gridCol w="558992"/>
                <a:gridCol w="558992"/>
                <a:gridCol w="558992"/>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End Use</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01480" y="2204276"/>
            <a:ext cx="366712" cy="533400"/>
          </a:xfrm>
          <a:prstGeom prst="rect">
            <a:avLst/>
          </a:prstGeom>
        </p:spPr>
      </p:pic>
      <p:sp>
        <p:nvSpPr>
          <p:cNvPr id="21" name="TextBox 20"/>
          <p:cNvSpPr txBox="1"/>
          <p:nvPr/>
        </p:nvSpPr>
        <p:spPr>
          <a:xfrm>
            <a:off x="276225" y="4219575"/>
            <a:ext cx="4102273" cy="194310"/>
          </a:xfrm>
          <a:prstGeom prst="rect">
            <a:avLst/>
          </a:prstGeom>
          <a:noFill/>
        </p:spPr>
        <p:txBody>
          <a:bodyPr wrap="none" lIns="0" rIns="0" tIns="0" bIns="0">
            <a:spAutoFit/>
          </a:bodyPr>
          <a:lstStyle/>
          <a:p>
            <a:r>
              <a:rPr sz="1150" b="0">
                <a:solidFill>
                  <a:srgbClr val="2E2E2E"/>
                </a:solidFill>
                <a:latin typeface="Calibri"/>
              </a:rPr>
              <a:t>Glassware, ceramics &amp; home goods segment is projected to register</a:t>
            </a:r>
          </a:p>
        </p:txBody>
      </p:sp>
      <p:pic>
        <p:nvPicPr>
          <p:cNvPr id="22" name="Picture 21" descr="lock.png"/>
          <p:cNvPicPr>
            <a:picLocks noChangeAspect="1"/>
          </p:cNvPicPr>
          <p:nvPr/>
        </p:nvPicPr>
        <p:blipFill>
          <a:blip r:embed="rId4"/>
          <a:stretch>
            <a:fillRect/>
          </a:stretch>
        </p:blipFill>
        <p:spPr>
          <a:xfrm>
            <a:off x="4327652" y="4209351"/>
            <a:ext cx="134549" cy="195707"/>
          </a:xfrm>
          <a:prstGeom prst="rect">
            <a:avLst/>
          </a:prstGeom>
        </p:spPr>
      </p:pic>
      <p:sp>
        <p:nvSpPr>
          <p:cNvPr id="23" name="TextBox 22"/>
          <p:cNvSpPr txBox="1"/>
          <p:nvPr/>
        </p:nvSpPr>
        <p:spPr>
          <a:xfrm>
            <a:off x="4502761" y="4219575"/>
            <a:ext cx="7096583" cy="194310"/>
          </a:xfrm>
          <a:prstGeom prst="rect">
            <a:avLst/>
          </a:prstGeom>
          <a:noFill/>
        </p:spPr>
        <p:txBody>
          <a:bodyPr wrap="none" lIns="0" rIns="0" tIns="0" bIns="0">
            <a:spAutoFit/>
          </a:bodyPr>
          <a:lstStyle/>
          <a:p>
            <a:r>
              <a:rPr sz="1150" b="0">
                <a:solidFill>
                  <a:srgbClr val="2E2E2E"/>
                </a:solidFill>
                <a:latin typeface="Calibri"/>
              </a:rPr>
              <a:t>X higher value than food &amp; beverage segment in 2036. Among corrugated partition by end use, electronics &amp; electrical</a:t>
            </a:r>
          </a:p>
        </p:txBody>
      </p:sp>
      <p:sp>
        <p:nvSpPr>
          <p:cNvPr id="24" name="TextBox 23"/>
          <p:cNvSpPr txBox="1"/>
          <p:nvPr/>
        </p:nvSpPr>
        <p:spPr>
          <a:xfrm>
            <a:off x="276225" y="43948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384611"/>
            <a:ext cx="134549" cy="195707"/>
          </a:xfrm>
          <a:prstGeom prst="rect">
            <a:avLst/>
          </a:prstGeom>
        </p:spPr>
      </p:pic>
      <p:sp>
        <p:nvSpPr>
          <p:cNvPr id="26" name="TextBox 25"/>
          <p:cNvSpPr txBox="1"/>
          <p:nvPr/>
        </p:nvSpPr>
        <p:spPr>
          <a:xfrm>
            <a:off x="3557127"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622672"/>
            <a:ext cx="7611752" cy="194310"/>
          </a:xfrm>
          <a:prstGeom prst="rect">
            <a:avLst/>
          </a:prstGeom>
          <a:noFill/>
        </p:spPr>
        <p:txBody>
          <a:bodyPr wrap="none" lIns="0" rIns="0" tIns="0" bIns="0">
            <a:spAutoFit/>
          </a:bodyPr>
          <a:lstStyle/>
          <a:p>
            <a:r>
              <a:rPr sz="1150" b="0">
                <a:solidFill>
                  <a:srgbClr val="2E2E2E"/>
                </a:solidFill>
                <a:latin typeface="Calibri"/>
              </a:rPr>
              <a:t>In terms of value share by end use, the glassware, ceramics &amp; home goods segment is expected to dominate the market, losing</a:t>
            </a:r>
          </a:p>
        </p:txBody>
      </p:sp>
      <p:pic>
        <p:nvPicPr>
          <p:cNvPr id="28" name="Picture 27" descr="lock.png"/>
          <p:cNvPicPr>
            <a:picLocks noChangeAspect="1"/>
          </p:cNvPicPr>
          <p:nvPr/>
        </p:nvPicPr>
        <p:blipFill>
          <a:blip r:embed="rId4"/>
          <a:stretch>
            <a:fillRect/>
          </a:stretch>
        </p:blipFill>
        <p:spPr>
          <a:xfrm>
            <a:off x="7837131" y="4612449"/>
            <a:ext cx="134549" cy="195707"/>
          </a:xfrm>
          <a:prstGeom prst="rect">
            <a:avLst/>
          </a:prstGeom>
        </p:spPr>
      </p:pic>
      <p:sp>
        <p:nvSpPr>
          <p:cNvPr id="29" name="TextBox 28"/>
          <p:cNvSpPr txBox="1"/>
          <p:nvPr/>
        </p:nvSpPr>
        <p:spPr>
          <a:xfrm>
            <a:off x="8012240"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07383" y="4612449"/>
            <a:ext cx="134549" cy="195707"/>
          </a:xfrm>
          <a:prstGeom prst="rect">
            <a:avLst/>
          </a:prstGeom>
        </p:spPr>
      </p:pic>
      <p:sp>
        <p:nvSpPr>
          <p:cNvPr id="31" name="TextBox 30"/>
          <p:cNvSpPr txBox="1"/>
          <p:nvPr/>
        </p:nvSpPr>
        <p:spPr>
          <a:xfrm>
            <a:off x="9582493" y="4622672"/>
            <a:ext cx="1616856" cy="194310"/>
          </a:xfrm>
          <a:prstGeom prst="rect">
            <a:avLst/>
          </a:prstGeom>
          <a:noFill/>
        </p:spPr>
        <p:txBody>
          <a:bodyPr wrap="none" lIns="0" rIns="0" tIns="0" bIns="0">
            <a:spAutoFit/>
          </a:bodyPr>
          <a:lstStyle/>
          <a:p>
            <a:r>
              <a:rPr sz="1150" b="0">
                <a:solidFill>
                  <a:srgbClr val="2E2E2E"/>
                </a:solidFill>
                <a:latin typeface="Calibri"/>
              </a:rPr>
              <a:t>share by 2036. The others</a:t>
            </a:r>
          </a:p>
        </p:txBody>
      </p:sp>
      <p:sp>
        <p:nvSpPr>
          <p:cNvPr id="32" name="TextBox 31"/>
          <p:cNvSpPr txBox="1"/>
          <p:nvPr/>
        </p:nvSpPr>
        <p:spPr>
          <a:xfrm>
            <a:off x="276225" y="4797932"/>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4787709"/>
            <a:ext cx="134549" cy="195707"/>
          </a:xfrm>
          <a:prstGeom prst="rect">
            <a:avLst/>
          </a:prstGeom>
        </p:spPr>
      </p:pic>
      <p:sp>
        <p:nvSpPr>
          <p:cNvPr id="34" name="TextBox 33"/>
          <p:cNvSpPr txBox="1"/>
          <p:nvPr/>
        </p:nvSpPr>
        <p:spPr>
          <a:xfrm>
            <a:off x="2126026" y="47979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4787709"/>
            <a:ext cx="134549" cy="195707"/>
          </a:xfrm>
          <a:prstGeom prst="rect">
            <a:avLst/>
          </a:prstGeom>
        </p:spPr>
      </p:pic>
      <p:sp>
        <p:nvSpPr>
          <p:cNvPr id="36" name="TextBox 35"/>
          <p:cNvSpPr txBox="1"/>
          <p:nvPr/>
        </p:nvSpPr>
        <p:spPr>
          <a:xfrm>
            <a:off x="4888640" y="47979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End Use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End Use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66564"/>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618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856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Personal Care &amp; Cosmetics</a:t>
            </a:r>
          </a:p>
        </p:txBody>
      </p:sp>
      <p:sp>
        <p:nvSpPr>
          <p:cNvPr id="19" name="BPS Value 1"/>
          <p:cNvSpPr txBox="1"/>
          <p:nvPr/>
        </p:nvSpPr>
        <p:spPr>
          <a:xfrm>
            <a:off x="6896100" y="17475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08861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8385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0765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Pharmaceuticals &amp; Healthcare</a:t>
            </a:r>
          </a:p>
        </p:txBody>
      </p:sp>
      <p:sp>
        <p:nvSpPr>
          <p:cNvPr id="23" name="BPS Value 2"/>
          <p:cNvSpPr txBox="1"/>
          <p:nvPr/>
        </p:nvSpPr>
        <p:spPr>
          <a:xfrm>
            <a:off x="6896100" y="206956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65084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64608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5698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Automotive &amp; Industrial Components</a:t>
            </a:r>
          </a:p>
        </p:txBody>
      </p:sp>
      <p:sp>
        <p:nvSpPr>
          <p:cNvPr id="27" name="BPS Value 3"/>
          <p:cNvSpPr txBox="1"/>
          <p:nvPr/>
        </p:nvSpPr>
        <p:spPr>
          <a:xfrm>
            <a:off x="6896100" y="263179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333934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333457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25837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Electronics &amp; Electrical</a:t>
            </a:r>
          </a:p>
        </p:txBody>
      </p:sp>
      <p:sp>
        <p:nvSpPr>
          <p:cNvPr id="31" name="BPS Value 4"/>
          <p:cNvSpPr txBox="1"/>
          <p:nvPr/>
        </p:nvSpPr>
        <p:spPr>
          <a:xfrm>
            <a:off x="6896100" y="332029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405467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40499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9737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Others</a:t>
            </a:r>
          </a:p>
        </p:txBody>
      </p:sp>
      <p:sp>
        <p:nvSpPr>
          <p:cNvPr id="35" name="BPS Value 5"/>
          <p:cNvSpPr txBox="1"/>
          <p:nvPr/>
        </p:nvSpPr>
        <p:spPr>
          <a:xfrm>
            <a:off x="6896100" y="40356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83317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8284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7522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&amp; Beverage</a:t>
            </a:r>
          </a:p>
        </p:txBody>
      </p:sp>
      <p:sp>
        <p:nvSpPr>
          <p:cNvPr id="39" name="BPS Value 6"/>
          <p:cNvSpPr txBox="1"/>
          <p:nvPr/>
        </p:nvSpPr>
        <p:spPr>
          <a:xfrm>
            <a:off x="6896100" y="48141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FMI Legend Chip"/>
          <p:cNvSpPr/>
          <p:nvPr/>
        </p:nvSpPr>
        <p:spPr>
          <a:xfrm>
            <a:off x="4928997" y="574649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57417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6655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Glassware, Ceramics &amp; Home Goods</a:t>
            </a:r>
          </a:p>
        </p:txBody>
      </p:sp>
      <p:sp>
        <p:nvSpPr>
          <p:cNvPr id="43" name="BPS Value 7"/>
          <p:cNvSpPr txBox="1"/>
          <p:nvPr/>
        </p:nvSpPr>
        <p:spPr>
          <a:xfrm>
            <a:off x="6896100" y="572744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End Use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5"/>
          <a:stretch>
            <a:fillRect/>
          </a:stretch>
        </p:blipFill>
        <p:spPr>
          <a:xfrm>
            <a:off x="2557843" y="3833622"/>
            <a:ext cx="275034" cy="400050"/>
          </a:xfrm>
          <a:prstGeom prst="rect">
            <a:avLst/>
          </a:prstGeom>
        </p:spPr>
      </p:pic>
      <p:sp>
        <p:nvSpPr>
          <p:cNvPr id="50" name="TextBox 49"/>
          <p:cNvSpPr txBox="1"/>
          <p:nvPr/>
        </p:nvSpPr>
        <p:spPr>
          <a:xfrm>
            <a:off x="7829550" y="1400175"/>
            <a:ext cx="3835846" cy="194310"/>
          </a:xfrm>
          <a:prstGeom prst="rect">
            <a:avLst/>
          </a:prstGeom>
          <a:noFill/>
        </p:spPr>
        <p:txBody>
          <a:bodyPr wrap="none" lIns="0" rIns="0" tIns="0" bIns="0">
            <a:spAutoFit/>
          </a:bodyPr>
          <a:lstStyle/>
          <a:p>
            <a:r>
              <a:rPr sz="1150" b="0">
                <a:solidFill>
                  <a:srgbClr val="2E2E2E"/>
                </a:solidFill>
                <a:latin typeface="Calibri"/>
              </a:rPr>
              <a:t>Among corrugated partition by end use, electronics &amp; electrical</a:t>
            </a:r>
          </a:p>
        </p:txBody>
      </p:sp>
      <p:sp>
        <p:nvSpPr>
          <p:cNvPr id="51" name="TextBox 50"/>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52" name="Picture 51" descr="lock.png"/>
          <p:cNvPicPr>
            <a:picLocks noChangeAspect="1"/>
          </p:cNvPicPr>
          <p:nvPr/>
        </p:nvPicPr>
        <p:blipFill>
          <a:blip r:embed="rId5"/>
          <a:stretch>
            <a:fillRect/>
          </a:stretch>
        </p:blipFill>
        <p:spPr>
          <a:xfrm>
            <a:off x="10935343" y="1565211"/>
            <a:ext cx="134549" cy="195707"/>
          </a:xfrm>
          <a:prstGeom prst="rect">
            <a:avLst/>
          </a:prstGeom>
        </p:spPr>
      </p:pic>
      <p:sp>
        <p:nvSpPr>
          <p:cNvPr id="53" name="TextBox 52"/>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54" name="TextBox 53"/>
          <p:cNvSpPr txBox="1"/>
          <p:nvPr/>
        </p:nvSpPr>
        <p:spPr>
          <a:xfrm>
            <a:off x="7829550" y="1750695"/>
            <a:ext cx="4007854" cy="194310"/>
          </a:xfrm>
          <a:prstGeom prst="rect">
            <a:avLst/>
          </a:prstGeom>
          <a:noFill/>
        </p:spPr>
        <p:txBody>
          <a:bodyPr wrap="none" lIns="0" rIns="0" tIns="0" bIns="0">
            <a:spAutoFit/>
          </a:bodyPr>
          <a:lstStyle/>
          <a:p>
            <a:r>
              <a:rPr sz="1150" b="0">
                <a:solidFill>
                  <a:srgbClr val="2E2E2E"/>
                </a:solidFill>
                <a:latin typeface="Calibri"/>
              </a:rPr>
              <a:t>forecast period. In terms of value share by end use, the glassware,</a:t>
            </a:r>
          </a:p>
        </p:txBody>
      </p:sp>
      <p:sp>
        <p:nvSpPr>
          <p:cNvPr id="55" name="TextBox 54"/>
          <p:cNvSpPr txBox="1"/>
          <p:nvPr/>
        </p:nvSpPr>
        <p:spPr>
          <a:xfrm>
            <a:off x="7829550" y="1925955"/>
            <a:ext cx="3745706" cy="194310"/>
          </a:xfrm>
          <a:prstGeom prst="rect">
            <a:avLst/>
          </a:prstGeom>
          <a:noFill/>
        </p:spPr>
        <p:txBody>
          <a:bodyPr wrap="none" lIns="0" rIns="0" tIns="0" bIns="0">
            <a:spAutoFit/>
          </a:bodyPr>
          <a:lstStyle/>
          <a:p>
            <a:r>
              <a:rPr sz="1150" b="0">
                <a:solidFill>
                  <a:srgbClr val="2E2E2E"/>
                </a:solidFill>
                <a:latin typeface="Calibri"/>
              </a:rPr>
              <a:t>ceramics &amp; home goods segment is expected to dominate the</a:t>
            </a:r>
          </a:p>
        </p:txBody>
      </p:sp>
      <p:sp>
        <p:nvSpPr>
          <p:cNvPr id="56" name="TextBox 55"/>
          <p:cNvSpPr txBox="1"/>
          <p:nvPr/>
        </p:nvSpPr>
        <p:spPr>
          <a:xfrm>
            <a:off x="7829550" y="2101215"/>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57" name="Picture 56" descr="lock.png"/>
          <p:cNvPicPr>
            <a:picLocks noChangeAspect="1"/>
          </p:cNvPicPr>
          <p:nvPr/>
        </p:nvPicPr>
        <p:blipFill>
          <a:blip r:embed="rId5"/>
          <a:stretch>
            <a:fillRect/>
          </a:stretch>
        </p:blipFill>
        <p:spPr>
          <a:xfrm>
            <a:off x="8697258" y="2090991"/>
            <a:ext cx="134549" cy="195707"/>
          </a:xfrm>
          <a:prstGeom prst="rect">
            <a:avLst/>
          </a:prstGeom>
        </p:spPr>
      </p:pic>
      <p:sp>
        <p:nvSpPr>
          <p:cNvPr id="58" name="TextBox 57"/>
          <p:cNvSpPr txBox="1"/>
          <p:nvPr/>
        </p:nvSpPr>
        <p:spPr>
          <a:xfrm>
            <a:off x="8872367"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9" name="Picture 58" descr="lock.png"/>
          <p:cNvPicPr>
            <a:picLocks noChangeAspect="1"/>
          </p:cNvPicPr>
          <p:nvPr/>
        </p:nvPicPr>
        <p:blipFill>
          <a:blip r:embed="rId5"/>
          <a:stretch>
            <a:fillRect/>
          </a:stretch>
        </p:blipFill>
        <p:spPr>
          <a:xfrm>
            <a:off x="10267511" y="2090991"/>
            <a:ext cx="134549" cy="195707"/>
          </a:xfrm>
          <a:prstGeom prst="rect">
            <a:avLst/>
          </a:prstGeom>
        </p:spPr>
      </p:pic>
      <p:sp>
        <p:nvSpPr>
          <p:cNvPr id="60" name="TextBox 59"/>
          <p:cNvSpPr txBox="1"/>
          <p:nvPr/>
        </p:nvSpPr>
        <p:spPr>
          <a:xfrm>
            <a:off x="10442620"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1" name="TextBox 60"/>
          <p:cNvSpPr txBox="1"/>
          <p:nvPr/>
        </p:nvSpPr>
        <p:spPr>
          <a:xfrm>
            <a:off x="7829550" y="2329053"/>
            <a:ext cx="2396170" cy="194310"/>
          </a:xfrm>
          <a:prstGeom prst="rect">
            <a:avLst/>
          </a:prstGeom>
          <a:noFill/>
        </p:spPr>
        <p:txBody>
          <a:bodyPr wrap="none" lIns="0" rIns="0" tIns="0" bIns="0">
            <a:spAutoFit/>
          </a:bodyPr>
          <a:lstStyle/>
          <a:p>
            <a:r>
              <a:rPr sz="1150" b="0">
                <a:solidFill>
                  <a:srgbClr val="2E2E2E"/>
                </a:solidFill>
                <a:latin typeface="Calibri"/>
              </a:rPr>
              <a:t>The others segment is expected to lose</a:t>
            </a:r>
          </a:p>
        </p:txBody>
      </p:sp>
      <p:pic>
        <p:nvPicPr>
          <p:cNvPr id="62" name="Picture 61" descr="lock.png"/>
          <p:cNvPicPr>
            <a:picLocks noChangeAspect="1"/>
          </p:cNvPicPr>
          <p:nvPr/>
        </p:nvPicPr>
        <p:blipFill>
          <a:blip r:embed="rId5"/>
          <a:stretch>
            <a:fillRect/>
          </a:stretch>
        </p:blipFill>
        <p:spPr>
          <a:xfrm>
            <a:off x="10174873" y="2318829"/>
            <a:ext cx="134549" cy="195707"/>
          </a:xfrm>
          <a:prstGeom prst="rect">
            <a:avLst/>
          </a:prstGeom>
        </p:spPr>
      </p:pic>
      <p:sp>
        <p:nvSpPr>
          <p:cNvPr id="63" name="TextBox 62"/>
          <p:cNvSpPr txBox="1"/>
          <p:nvPr/>
        </p:nvSpPr>
        <p:spPr>
          <a:xfrm>
            <a:off x="10349983"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64" name="TextBox 63"/>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65" name="Picture 64" descr="lock.png"/>
          <p:cNvPicPr>
            <a:picLocks noChangeAspect="1"/>
          </p:cNvPicPr>
          <p:nvPr/>
        </p:nvPicPr>
        <p:blipFill>
          <a:blip r:embed="rId5"/>
          <a:stretch>
            <a:fillRect/>
          </a:stretch>
        </p:blipFill>
        <p:spPr>
          <a:xfrm>
            <a:off x="9114014" y="2494089"/>
            <a:ext cx="134549" cy="195707"/>
          </a:xfrm>
          <a:prstGeom prst="rect">
            <a:avLst/>
          </a:prstGeom>
        </p:spPr>
      </p:pic>
      <p:sp>
        <p:nvSpPr>
          <p:cNvPr id="66" name="TextBox 65"/>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End Use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971675"/>
        </p:xfrm>
        <a:graphic>
          <a:graphicData uri="http://schemas.openxmlformats.org/drawingml/2006/table">
            <a:tbl>
              <a:tblPr>
                <a:tableStyleId>{5C22544A-7EE6-4342-B048-85BDC9FD1C3A}</a:tableStyleId>
              </a:tblPr>
              <a:tblGrid>
                <a:gridCol w="2589442"/>
                <a:gridCol w="619851"/>
                <a:gridCol w="619851"/>
                <a:gridCol w="619851"/>
                <a:gridCol w="619851"/>
                <a:gridCol w="619851"/>
                <a:gridCol w="619851"/>
                <a:gridCol w="619851"/>
                <a:gridCol w="619851"/>
                <a:gridCol w="619851"/>
                <a:gridCol w="619851"/>
                <a:gridCol w="619851"/>
                <a:gridCol w="619851"/>
                <a:gridCol w="619851"/>
                <a:gridCol w="619851"/>
                <a:gridCol w="619851"/>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End Use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Food &amp; Beverage</a:t>
            </a:r>
          </a:p>
        </p:txBody>
      </p:sp>
      <p:sp>
        <p:nvSpPr>
          <p:cNvPr id="33" name="Rectangle 32"/>
          <p:cNvSpPr/>
          <p:nvPr/>
        </p:nvSpPr>
        <p:spPr>
          <a:xfrm>
            <a:off x="1857375" y="3981450"/>
            <a:ext cx="643890" cy="37011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Pharmaceuticals &amp; Healthcare</a:t>
            </a:r>
          </a:p>
        </p:txBody>
      </p:sp>
      <p:sp>
        <p:nvSpPr>
          <p:cNvPr id="49" name="Rectangle 48"/>
          <p:cNvSpPr/>
          <p:nvPr/>
        </p:nvSpPr>
        <p:spPr>
          <a:xfrm>
            <a:off x="1857375" y="4351564"/>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Personal Care &amp; Cosmetics</a:t>
            </a:r>
          </a:p>
        </p:txBody>
      </p:sp>
      <p:sp>
        <p:nvSpPr>
          <p:cNvPr id="65" name="Rectangle 64"/>
          <p:cNvSpPr/>
          <p:nvPr/>
        </p:nvSpPr>
        <p:spPr>
          <a:xfrm>
            <a:off x="1857375" y="4721679"/>
            <a:ext cx="643890" cy="37011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Electronics &amp; Electrical</a:t>
            </a:r>
          </a:p>
        </p:txBody>
      </p:sp>
      <p:sp>
        <p:nvSpPr>
          <p:cNvPr id="81" name="Rectangle 80"/>
          <p:cNvSpPr/>
          <p:nvPr/>
        </p:nvSpPr>
        <p:spPr>
          <a:xfrm>
            <a:off x="1857375" y="5091793"/>
            <a:ext cx="643890" cy="37011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Automotive &amp; Industrial Components</a:t>
            </a:r>
          </a:p>
        </p:txBody>
      </p:sp>
      <p:sp>
        <p:nvSpPr>
          <p:cNvPr id="97" name="Rectangle 96"/>
          <p:cNvSpPr/>
          <p:nvPr/>
        </p:nvSpPr>
        <p:spPr>
          <a:xfrm>
            <a:off x="185737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Glassware, Ceramics &amp; Home Goods</a:t>
            </a:r>
          </a:p>
        </p:txBody>
      </p:sp>
      <p:sp>
        <p:nvSpPr>
          <p:cNvPr id="113" name="Rectangle 112"/>
          <p:cNvSpPr/>
          <p:nvPr/>
        </p:nvSpPr>
        <p:spPr>
          <a:xfrm>
            <a:off x="185737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Others</a:t>
            </a:r>
          </a:p>
        </p:txBody>
      </p:sp>
      <p:sp>
        <p:nvSpPr>
          <p:cNvPr id="129" name="Rectangle 128"/>
          <p:cNvSpPr/>
          <p:nvPr/>
        </p:nvSpPr>
        <p:spPr>
          <a:xfrm>
            <a:off x="1857375" y="6202136"/>
            <a:ext cx="643890" cy="37011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204034"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End Use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971675"/>
        </p:xfrm>
        <a:graphic>
          <a:graphicData uri="http://schemas.openxmlformats.org/drawingml/2006/table">
            <a:tbl>
              <a:tblPr>
                <a:tableStyleId>{5C22544A-7EE6-4342-B048-85BDC9FD1C3A}</a:tableStyleId>
              </a:tblPr>
              <a:tblGrid>
                <a:gridCol w="2589442"/>
                <a:gridCol w="619851"/>
                <a:gridCol w="619851"/>
                <a:gridCol w="619851"/>
                <a:gridCol w="619851"/>
                <a:gridCol w="619851"/>
                <a:gridCol w="619851"/>
                <a:gridCol w="619851"/>
                <a:gridCol w="619851"/>
                <a:gridCol w="619851"/>
                <a:gridCol w="619851"/>
                <a:gridCol w="619851"/>
                <a:gridCol w="619851"/>
                <a:gridCol w="619851"/>
                <a:gridCol w="619851"/>
                <a:gridCol w="619851"/>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End Use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Food &amp; Beverage</a:t>
            </a:r>
          </a:p>
        </p:txBody>
      </p:sp>
      <p:sp>
        <p:nvSpPr>
          <p:cNvPr id="33" name="Rectangle 32"/>
          <p:cNvSpPr/>
          <p:nvPr/>
        </p:nvSpPr>
        <p:spPr>
          <a:xfrm>
            <a:off x="1857375" y="3981450"/>
            <a:ext cx="643890" cy="37011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Pharmaceuticals &amp; Healthcare</a:t>
            </a:r>
          </a:p>
        </p:txBody>
      </p:sp>
      <p:sp>
        <p:nvSpPr>
          <p:cNvPr id="49" name="Rectangle 48"/>
          <p:cNvSpPr/>
          <p:nvPr/>
        </p:nvSpPr>
        <p:spPr>
          <a:xfrm>
            <a:off x="1857375" y="4351564"/>
            <a:ext cx="643890"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Personal Care &amp; Cosmetics</a:t>
            </a:r>
          </a:p>
        </p:txBody>
      </p:sp>
      <p:sp>
        <p:nvSpPr>
          <p:cNvPr id="65" name="Rectangle 64"/>
          <p:cNvSpPr/>
          <p:nvPr/>
        </p:nvSpPr>
        <p:spPr>
          <a:xfrm>
            <a:off x="1857375" y="4721679"/>
            <a:ext cx="643890" cy="370114"/>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Electronics &amp; Electrical</a:t>
            </a:r>
          </a:p>
        </p:txBody>
      </p:sp>
      <p:sp>
        <p:nvSpPr>
          <p:cNvPr id="81" name="Rectangle 80"/>
          <p:cNvSpPr/>
          <p:nvPr/>
        </p:nvSpPr>
        <p:spPr>
          <a:xfrm>
            <a:off x="1857375" y="5091793"/>
            <a:ext cx="643890" cy="37011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Automotive &amp; Industrial Components</a:t>
            </a:r>
          </a:p>
        </p:txBody>
      </p:sp>
      <p:sp>
        <p:nvSpPr>
          <p:cNvPr id="97" name="Rectangle 96"/>
          <p:cNvSpPr/>
          <p:nvPr/>
        </p:nvSpPr>
        <p:spPr>
          <a:xfrm>
            <a:off x="185737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Glassware, Ceramics &amp; Home Goods</a:t>
            </a:r>
          </a:p>
        </p:txBody>
      </p:sp>
      <p:sp>
        <p:nvSpPr>
          <p:cNvPr id="113" name="Rectangle 112"/>
          <p:cNvSpPr/>
          <p:nvPr/>
        </p:nvSpPr>
        <p:spPr>
          <a:xfrm>
            <a:off x="185737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Others</a:t>
            </a:r>
          </a:p>
        </p:txBody>
      </p:sp>
      <p:sp>
        <p:nvSpPr>
          <p:cNvPr id="129" name="Rectangle 128"/>
          <p:cNvSpPr/>
          <p:nvPr/>
        </p:nvSpPr>
        <p:spPr>
          <a:xfrm>
            <a:off x="1857375" y="6202136"/>
            <a:ext cx="643890" cy="37011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204034"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Sales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Sales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Sales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Sales Channel segment categorizes the market by sales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Indirect</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Channel split shows how demand is distributed across sales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99_8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_01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8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356_2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552_7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5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41414" cy="179984"/>
          </a:xfrm>
          <a:prstGeom prst="rect">
            <a:avLst/>
          </a:prstGeom>
          <a:noFill/>
        </p:spPr>
        <p:txBody>
          <a:bodyPr wrap="none" lIns="0" rIns="0" tIns="0" bIns="0">
            <a:spAutoFit/>
          </a:bodyPr>
          <a:lstStyle/>
          <a:p>
            <a:r>
              <a:rPr sz="1055" b="0">
                <a:solidFill>
                  <a:srgbClr val="2E2E2E"/>
                </a:solidFill>
                <a:latin typeface="Calibri"/>
              </a:rPr>
              <a:t>▪ ¶ Among corrugated partition by sales channel,</a:t>
            </a:r>
          </a:p>
        </p:txBody>
      </p:sp>
      <p:sp>
        <p:nvSpPr>
          <p:cNvPr id="59" name="TextBox 58"/>
          <p:cNvSpPr txBox="1"/>
          <p:nvPr/>
        </p:nvSpPr>
        <p:spPr>
          <a:xfrm>
            <a:off x="485775" y="4390371"/>
            <a:ext cx="2659427" cy="179984"/>
          </a:xfrm>
          <a:prstGeom prst="rect">
            <a:avLst/>
          </a:prstGeom>
          <a:noFill/>
        </p:spPr>
        <p:txBody>
          <a:bodyPr wrap="none" lIns="0" rIns="0" tIns="0" bIns="0">
            <a:spAutoFit/>
          </a:bodyPr>
          <a:lstStyle/>
          <a:p>
            <a:r>
              <a:rPr sz="1055" b="0">
                <a:solidFill>
                  <a:srgbClr val="2E2E2E"/>
                </a:solidFill>
                <a:latin typeface="Calibri"/>
              </a:rPr>
              <a:t>indirect (distributors and packaging merchants)</a:t>
            </a:r>
          </a:p>
        </p:txBody>
      </p:sp>
      <p:sp>
        <p:nvSpPr>
          <p:cNvPr id="60" name="TextBox 59"/>
          <p:cNvSpPr txBox="1"/>
          <p:nvPr/>
        </p:nvSpPr>
        <p:spPr>
          <a:xfrm>
            <a:off x="485775" y="4551305"/>
            <a:ext cx="2904846" cy="179984"/>
          </a:xfrm>
          <a:prstGeom prst="rect">
            <a:avLst/>
          </a:prstGeom>
          <a:noFill/>
        </p:spPr>
        <p:txBody>
          <a:bodyPr wrap="none" lIns="0" rIns="0" tIns="0" bIns="0">
            <a:spAutoFit/>
          </a:bodyPr>
          <a:lstStyle/>
          <a:p>
            <a:r>
              <a:rPr sz="1055" b="0">
                <a:solidFill>
                  <a:srgbClr val="2E2E2E"/>
                </a:solidFill>
                <a:latin typeface="Calibri"/>
              </a:rPr>
              <a:t>segment is expected to witness the highest CAGR of</a:t>
            </a:r>
          </a:p>
        </p:txBody>
      </p:sp>
      <p:pic>
        <p:nvPicPr>
          <p:cNvPr id="61" name="Picture 60" descr="lock.png"/>
          <p:cNvPicPr>
            <a:picLocks noChangeAspect="1"/>
          </p:cNvPicPr>
          <p:nvPr/>
        </p:nvPicPr>
        <p:blipFill>
          <a:blip r:embed="rId10"/>
          <a:stretch>
            <a:fillRect/>
          </a:stretch>
        </p:blipFill>
        <p:spPr>
          <a:xfrm>
            <a:off x="472846" y="4702852"/>
            <a:ext cx="123551" cy="179710"/>
          </a:xfrm>
          <a:prstGeom prst="rect">
            <a:avLst/>
          </a:prstGeom>
        </p:spPr>
      </p:pic>
      <p:sp>
        <p:nvSpPr>
          <p:cNvPr id="62" name="TextBox 61"/>
          <p:cNvSpPr txBox="1"/>
          <p:nvPr/>
        </p:nvSpPr>
        <p:spPr>
          <a:xfrm>
            <a:off x="633642" y="4712240"/>
            <a:ext cx="2707886" cy="179984"/>
          </a:xfrm>
          <a:prstGeom prst="rect">
            <a:avLst/>
          </a:prstGeom>
          <a:noFill/>
        </p:spPr>
        <p:txBody>
          <a:bodyPr wrap="none" lIns="0" rIns="0" tIns="0" bIns="0">
            <a:spAutoFit/>
          </a:bodyPr>
          <a:lstStyle/>
          <a:p>
            <a:r>
              <a:rPr sz="1055" b="0">
                <a:solidFill>
                  <a:srgbClr val="2E2E2E"/>
                </a:solidFill>
                <a:latin typeface="Calibri"/>
              </a:rPr>
              <a:t>over the forecast period. In terms of value share</a:t>
            </a:r>
          </a:p>
        </p:txBody>
      </p:sp>
      <p:sp>
        <p:nvSpPr>
          <p:cNvPr id="63" name="TextBox 62"/>
          <p:cNvSpPr txBox="1"/>
          <p:nvPr/>
        </p:nvSpPr>
        <p:spPr>
          <a:xfrm>
            <a:off x="485775" y="4873174"/>
            <a:ext cx="2914650" cy="179984"/>
          </a:xfrm>
          <a:prstGeom prst="rect">
            <a:avLst/>
          </a:prstGeom>
          <a:noFill/>
        </p:spPr>
        <p:txBody>
          <a:bodyPr wrap="none" lIns="0" rIns="0" tIns="0" bIns="0">
            <a:spAutoFit/>
          </a:bodyPr>
          <a:lstStyle/>
          <a:p>
            <a:r>
              <a:rPr sz="1055" b="0">
                <a:solidFill>
                  <a:srgbClr val="2E2E2E"/>
                </a:solidFill>
                <a:latin typeface="Calibri"/>
              </a:rPr>
              <a:t>by sales channel, the direct (to brand owners/oems)</a:t>
            </a:r>
          </a:p>
        </p:txBody>
      </p:sp>
      <p:sp>
        <p:nvSpPr>
          <p:cNvPr id="64" name="TextBox 63"/>
          <p:cNvSpPr txBox="1"/>
          <p:nvPr/>
        </p:nvSpPr>
        <p:spPr>
          <a:xfrm>
            <a:off x="485775" y="5034109"/>
            <a:ext cx="2912197" cy="179984"/>
          </a:xfrm>
          <a:prstGeom prst="rect">
            <a:avLst/>
          </a:prstGeom>
          <a:noFill/>
        </p:spPr>
        <p:txBody>
          <a:bodyPr wrap="none" lIns="0" rIns="0" tIns="0" bIns="0">
            <a:spAutoFit/>
          </a:bodyPr>
          <a:lstStyle/>
          <a:p>
            <a:r>
              <a:rPr sz="1055" b="0">
                <a:solidFill>
                  <a:srgbClr val="2E2E2E"/>
                </a:solidFill>
                <a:latin typeface="Calibri"/>
              </a:rPr>
              <a:t>segment is expected to dominate the market, losing</a:t>
            </a:r>
          </a:p>
        </p:txBody>
      </p:sp>
      <p:pic>
        <p:nvPicPr>
          <p:cNvPr id="65" name="Picture 64" descr="lock.png"/>
          <p:cNvPicPr>
            <a:picLocks noChangeAspect="1"/>
          </p:cNvPicPr>
          <p:nvPr/>
        </p:nvPicPr>
        <p:blipFill>
          <a:blip r:embed="rId10"/>
          <a:stretch>
            <a:fillRect/>
          </a:stretch>
        </p:blipFill>
        <p:spPr>
          <a:xfrm>
            <a:off x="472846" y="5185655"/>
            <a:ext cx="123551" cy="179710"/>
          </a:xfrm>
          <a:prstGeom prst="rect">
            <a:avLst/>
          </a:prstGeom>
        </p:spPr>
      </p:pic>
      <p:sp>
        <p:nvSpPr>
          <p:cNvPr id="66" name="TextBox 65"/>
          <p:cNvSpPr txBox="1"/>
          <p:nvPr/>
        </p:nvSpPr>
        <p:spPr>
          <a:xfrm>
            <a:off x="633642" y="5195043"/>
            <a:ext cx="1334023" cy="179984"/>
          </a:xfrm>
          <a:prstGeom prst="rect">
            <a:avLst/>
          </a:prstGeom>
          <a:noFill/>
        </p:spPr>
        <p:txBody>
          <a:bodyPr wrap="none" lIns="0" rIns="0" tIns="0" bIns="0">
            <a:spAutoFit/>
          </a:bodyPr>
          <a:lstStyle/>
          <a:p>
            <a:r>
              <a:rPr sz="1055" b="0">
                <a:solidFill>
                  <a:srgbClr val="2E2E2E"/>
                </a:solidFill>
                <a:latin typeface="Calibri"/>
              </a:rPr>
              <a:t>BPS and accounting for</a:t>
            </a:r>
          </a:p>
        </p:txBody>
      </p:sp>
      <p:pic>
        <p:nvPicPr>
          <p:cNvPr id="67" name="Picture 66" descr="lock.png"/>
          <p:cNvPicPr>
            <a:picLocks noChangeAspect="1"/>
          </p:cNvPicPr>
          <p:nvPr/>
        </p:nvPicPr>
        <p:blipFill>
          <a:blip r:embed="rId10"/>
          <a:stretch>
            <a:fillRect/>
          </a:stretch>
        </p:blipFill>
        <p:spPr>
          <a:xfrm>
            <a:off x="1914747" y="5185655"/>
            <a:ext cx="123551" cy="179710"/>
          </a:xfrm>
          <a:prstGeom prst="rect">
            <a:avLst/>
          </a:prstGeom>
        </p:spPr>
      </p:pic>
      <p:sp>
        <p:nvSpPr>
          <p:cNvPr id="68" name="TextBox 67"/>
          <p:cNvSpPr txBox="1"/>
          <p:nvPr/>
        </p:nvSpPr>
        <p:spPr>
          <a:xfrm>
            <a:off x="2075543" y="5195043"/>
            <a:ext cx="875109" cy="179984"/>
          </a:xfrm>
          <a:prstGeom prst="rect">
            <a:avLst/>
          </a:prstGeom>
          <a:noFill/>
        </p:spPr>
        <p:txBody>
          <a:bodyPr wrap="none" lIns="0" rIns="0" tIns="0" bIns="0">
            <a:spAutoFit/>
          </a:bodyPr>
          <a:lstStyle/>
          <a:p>
            <a:r>
              <a:rPr sz="1055" b="0">
                <a:solidFill>
                  <a:srgbClr val="2E2E2E"/>
                </a:solidFill>
                <a:latin typeface="Calibri"/>
              </a:rPr>
              <a:t>share by 2036.</a:t>
            </a:r>
          </a:p>
        </p:txBody>
      </p:sp>
      <p:sp>
        <p:nvSpPr>
          <p:cNvPr id="69" name="TextBox 68"/>
          <p:cNvSpPr txBox="1"/>
          <p:nvPr/>
        </p:nvSpPr>
        <p:spPr>
          <a:xfrm>
            <a:off x="485775" y="5404258"/>
            <a:ext cx="2570368" cy="179984"/>
          </a:xfrm>
          <a:prstGeom prst="rect">
            <a:avLst/>
          </a:prstGeom>
          <a:noFill/>
        </p:spPr>
        <p:txBody>
          <a:bodyPr wrap="none" lIns="0" rIns="0" tIns="0" bIns="0">
            <a:spAutoFit/>
          </a:bodyPr>
          <a:lstStyle/>
          <a:p>
            <a:r>
              <a:rPr sz="1055" b="0">
                <a:solidFill>
                  <a:srgbClr val="2E2E2E"/>
                </a:solidFill>
                <a:latin typeface="Calibri"/>
              </a:rPr>
              <a:t>▪ ¶ Direct (to brand owners/oems) segment is</a:t>
            </a:r>
          </a:p>
        </p:txBody>
      </p:sp>
      <p:sp>
        <p:nvSpPr>
          <p:cNvPr id="70" name="TextBox 69"/>
          <p:cNvSpPr txBox="1"/>
          <p:nvPr/>
        </p:nvSpPr>
        <p:spPr>
          <a:xfrm>
            <a:off x="485775" y="5565192"/>
            <a:ext cx="1197816" cy="179984"/>
          </a:xfrm>
          <a:prstGeom prst="rect">
            <a:avLst/>
          </a:prstGeom>
          <a:noFill/>
        </p:spPr>
        <p:txBody>
          <a:bodyPr wrap="none" lIns="0" rIns="0" tIns="0" bIns="0">
            <a:spAutoFit/>
          </a:bodyPr>
          <a:lstStyle/>
          <a:p>
            <a:r>
              <a:rPr sz="1055" b="0">
                <a:solidFill>
                  <a:srgbClr val="2E2E2E"/>
                </a:solidFill>
                <a:latin typeface="Calibri"/>
              </a:rPr>
              <a:t>projected to register</a:t>
            </a:r>
          </a:p>
        </p:txBody>
      </p:sp>
      <p:pic>
        <p:nvPicPr>
          <p:cNvPr id="71" name="Picture 70" descr="lock.png"/>
          <p:cNvPicPr>
            <a:picLocks noChangeAspect="1"/>
          </p:cNvPicPr>
          <p:nvPr/>
        </p:nvPicPr>
        <p:blipFill>
          <a:blip r:embed="rId10"/>
          <a:stretch>
            <a:fillRect/>
          </a:stretch>
        </p:blipFill>
        <p:spPr>
          <a:xfrm>
            <a:off x="1630672" y="5555804"/>
            <a:ext cx="123551" cy="179710"/>
          </a:xfrm>
          <a:prstGeom prst="rect">
            <a:avLst/>
          </a:prstGeom>
        </p:spPr>
      </p:pic>
      <p:sp>
        <p:nvSpPr>
          <p:cNvPr id="72" name="TextBox 71"/>
          <p:cNvSpPr txBox="1"/>
          <p:nvPr/>
        </p:nvSpPr>
        <p:spPr>
          <a:xfrm>
            <a:off x="1791468" y="5565192"/>
            <a:ext cx="1577363" cy="179984"/>
          </a:xfrm>
          <a:prstGeom prst="rect">
            <a:avLst/>
          </a:prstGeom>
          <a:noFill/>
        </p:spPr>
        <p:txBody>
          <a:bodyPr wrap="none" lIns="0" rIns="0" tIns="0" bIns="0">
            <a:spAutoFit/>
          </a:bodyPr>
          <a:lstStyle/>
          <a:p>
            <a:r>
              <a:rPr sz="1055" b="0">
                <a:solidFill>
                  <a:srgbClr val="2E2E2E"/>
                </a:solidFill>
                <a:latin typeface="Calibri"/>
              </a:rPr>
              <a:t>X higher value than indirect</a:t>
            </a:r>
          </a:p>
        </p:txBody>
      </p:sp>
      <p:sp>
        <p:nvSpPr>
          <p:cNvPr id="73" name="TextBox 72"/>
          <p:cNvSpPr txBox="1"/>
          <p:nvPr/>
        </p:nvSpPr>
        <p:spPr>
          <a:xfrm>
            <a:off x="485775" y="5726126"/>
            <a:ext cx="2844617" cy="179984"/>
          </a:xfrm>
          <a:prstGeom prst="rect">
            <a:avLst/>
          </a:prstGeom>
          <a:noFill/>
        </p:spPr>
        <p:txBody>
          <a:bodyPr wrap="none" lIns="0" rIns="0" tIns="0" bIns="0">
            <a:spAutoFit/>
          </a:bodyPr>
          <a:lstStyle/>
          <a:p>
            <a:r>
              <a:rPr sz="1055" b="0">
                <a:solidFill>
                  <a:srgbClr val="2E2E2E"/>
                </a:solidFill>
                <a:latin typeface="Calibri"/>
              </a:rPr>
              <a:t>(distributors and packaging merchants) segment in</a:t>
            </a:r>
          </a:p>
        </p:txBody>
      </p:sp>
      <p:sp>
        <p:nvSpPr>
          <p:cNvPr id="74" name="TextBox 73"/>
          <p:cNvSpPr txBox="1"/>
          <p:nvPr/>
        </p:nvSpPr>
        <p:spPr>
          <a:xfrm>
            <a:off x="485775" y="5887061"/>
            <a:ext cx="382404" cy="179984"/>
          </a:xfrm>
          <a:prstGeom prst="rect">
            <a:avLst/>
          </a:prstGeom>
          <a:noFill/>
        </p:spPr>
        <p:txBody>
          <a:bodyPr wrap="none" lIns="0" rIns="0" tIns="0" bIns="0">
            <a:spAutoFit/>
          </a:bodyPr>
          <a:lstStyle/>
          <a:p>
            <a:r>
              <a:rPr sz="1055" b="0">
                <a:solidFill>
                  <a:srgbClr val="2E2E2E"/>
                </a:solidFill>
                <a:latin typeface="Calibri"/>
              </a:rPr>
              <a:t>2036.</a:t>
            </a:r>
          </a:p>
        </p:txBody>
      </p:sp>
      <p:sp>
        <p:nvSpPr>
          <p:cNvPr id="75" name="TextBox 74"/>
          <p:cNvSpPr txBox="1"/>
          <p:nvPr/>
        </p:nvSpPr>
        <p:spPr>
          <a:xfrm>
            <a:off x="3838575" y="4229437"/>
            <a:ext cx="2016993" cy="186689"/>
          </a:xfrm>
          <a:prstGeom prst="rect">
            <a:avLst/>
          </a:prstGeom>
          <a:noFill/>
        </p:spPr>
        <p:txBody>
          <a:bodyPr wrap="none" lIns="0" rIns="0" tIns="0" bIns="0">
            <a:spAutoFit/>
          </a:bodyPr>
          <a:lstStyle/>
          <a:p>
            <a:r>
              <a:rPr sz="1100" b="0">
                <a:solidFill>
                  <a:srgbClr val="2E2E2E"/>
                </a:solidFill>
                <a:latin typeface="Calibri"/>
              </a:rPr>
              <a:t>● Direct (to brand owners/OEMs):</a:t>
            </a:r>
          </a:p>
        </p:txBody>
      </p:sp>
      <p:pic>
        <p:nvPicPr>
          <p:cNvPr id="76" name="Picture 75" descr="lock.png"/>
          <p:cNvPicPr>
            <a:picLocks noChangeAspect="1"/>
          </p:cNvPicPr>
          <p:nvPr/>
        </p:nvPicPr>
        <p:blipFill>
          <a:blip r:embed="rId10"/>
          <a:stretch>
            <a:fillRect/>
          </a:stretch>
        </p:blipFill>
        <p:spPr>
          <a:xfrm>
            <a:off x="5803619" y="4219658"/>
            <a:ext cx="128699" cy="187198"/>
          </a:xfrm>
          <a:prstGeom prst="rect">
            <a:avLst/>
          </a:prstGeom>
        </p:spPr>
      </p:pic>
      <p:sp>
        <p:nvSpPr>
          <p:cNvPr id="77" name="TextBox 76"/>
          <p:cNvSpPr txBox="1"/>
          <p:nvPr/>
        </p:nvSpPr>
        <p:spPr>
          <a:xfrm>
            <a:off x="597111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8" name="Picture 77" descr="lock.png"/>
          <p:cNvPicPr>
            <a:picLocks noChangeAspect="1"/>
          </p:cNvPicPr>
          <p:nvPr/>
        </p:nvPicPr>
        <p:blipFill>
          <a:blip r:embed="rId10"/>
          <a:stretch>
            <a:fillRect/>
          </a:stretch>
        </p:blipFill>
        <p:spPr>
          <a:xfrm>
            <a:off x="6830565" y="4219658"/>
            <a:ext cx="128699" cy="187198"/>
          </a:xfrm>
          <a:prstGeom prst="rect">
            <a:avLst/>
          </a:prstGeom>
        </p:spPr>
      </p:pic>
      <p:sp>
        <p:nvSpPr>
          <p:cNvPr id="79" name="TextBox 78"/>
          <p:cNvSpPr txBox="1"/>
          <p:nvPr/>
        </p:nvSpPr>
        <p:spPr>
          <a:xfrm>
            <a:off x="6998061"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80" name="TextBox 79"/>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81" name="TextBox 80"/>
          <p:cNvSpPr txBox="1"/>
          <p:nvPr/>
        </p:nvSpPr>
        <p:spPr>
          <a:xfrm>
            <a:off x="3838575" y="4615009"/>
            <a:ext cx="2985343" cy="186689"/>
          </a:xfrm>
          <a:prstGeom prst="rect">
            <a:avLst/>
          </a:prstGeom>
          <a:noFill/>
        </p:spPr>
        <p:txBody>
          <a:bodyPr wrap="none" lIns="0" rIns="0" tIns="0" bIns="0">
            <a:spAutoFit/>
          </a:bodyPr>
          <a:lstStyle/>
          <a:p>
            <a:r>
              <a:rPr sz="1100" b="1">
                <a:solidFill>
                  <a:srgbClr val="0E72AE"/>
                </a:solidFill>
                <a:latin typeface="Calibri"/>
              </a:rPr>
              <a:t>● Indirect (distributors and packaging merchants):</a:t>
            </a:r>
          </a:p>
        </p:txBody>
      </p:sp>
      <p:pic>
        <p:nvPicPr>
          <p:cNvPr id="82" name="Picture 81" descr="lock.png"/>
          <p:cNvPicPr>
            <a:picLocks noChangeAspect="1"/>
          </p:cNvPicPr>
          <p:nvPr/>
        </p:nvPicPr>
        <p:blipFill>
          <a:blip r:embed="rId10"/>
          <a:stretch>
            <a:fillRect/>
          </a:stretch>
        </p:blipFill>
        <p:spPr>
          <a:xfrm>
            <a:off x="6771969" y="4605230"/>
            <a:ext cx="128699" cy="187198"/>
          </a:xfrm>
          <a:prstGeom prst="rect">
            <a:avLst/>
          </a:prstGeom>
        </p:spPr>
      </p:pic>
      <p:sp>
        <p:nvSpPr>
          <p:cNvPr id="83" name="TextBox 82"/>
          <p:cNvSpPr txBox="1"/>
          <p:nvPr/>
        </p:nvSpPr>
        <p:spPr>
          <a:xfrm>
            <a:off x="6939465" y="4615009"/>
            <a:ext cx="926405" cy="186689"/>
          </a:xfrm>
          <a:prstGeom prst="rect">
            <a:avLst/>
          </a:prstGeom>
          <a:noFill/>
        </p:spPr>
        <p:txBody>
          <a:bodyPr wrap="none" lIns="0" rIns="0" tIns="0" bIns="0">
            <a:spAutoFit/>
          </a:bodyPr>
          <a:lstStyle/>
          <a:p>
            <a:r>
              <a:rPr sz="1100" b="1">
                <a:solidFill>
                  <a:srgbClr val="0E72AE"/>
                </a:solidFill>
                <a:latin typeface="Calibri"/>
              </a:rPr>
              <a:t>of 2026 value ·</a:t>
            </a:r>
          </a:p>
        </p:txBody>
      </p:sp>
      <p:pic>
        <p:nvPicPr>
          <p:cNvPr id="84" name="Picture 83" descr="lock.png"/>
          <p:cNvPicPr>
            <a:picLocks noChangeAspect="1"/>
          </p:cNvPicPr>
          <p:nvPr/>
        </p:nvPicPr>
        <p:blipFill>
          <a:blip r:embed="rId10"/>
          <a:stretch>
            <a:fillRect/>
          </a:stretch>
        </p:blipFill>
        <p:spPr>
          <a:xfrm>
            <a:off x="3825107" y="4772870"/>
            <a:ext cx="128699" cy="187198"/>
          </a:xfrm>
          <a:prstGeom prst="rect">
            <a:avLst/>
          </a:prstGeom>
        </p:spPr>
      </p:pic>
      <p:sp>
        <p:nvSpPr>
          <p:cNvPr id="85" name="TextBox 84"/>
          <p:cNvSpPr txBox="1"/>
          <p:nvPr/>
        </p:nvSpPr>
        <p:spPr>
          <a:xfrm>
            <a:off x="3992603" y="4782649"/>
            <a:ext cx="1245889" cy="186689"/>
          </a:xfrm>
          <a:prstGeom prst="rect">
            <a:avLst/>
          </a:prstGeom>
          <a:noFill/>
        </p:spPr>
        <p:txBody>
          <a:bodyPr wrap="none" lIns="0" rIns="0" tIns="0" bIns="0">
            <a:spAutoFit/>
          </a:bodyPr>
          <a:lstStyle/>
          <a:p>
            <a:r>
              <a:rPr sz="1100" b="1">
                <a:solidFill>
                  <a:srgbClr val="0E72AE"/>
                </a:solidFill>
                <a:latin typeface="Calibri"/>
              </a:rPr>
              <a:t>CAGR grows fastest.</a:t>
            </a:r>
          </a:p>
        </p:txBody>
      </p:sp>
      <p:sp>
        <p:nvSpPr>
          <p:cNvPr id="86" name="TextBox 8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Sales Channel segment is projected to grow at a</a:t>
            </a:r>
          </a:p>
        </p:txBody>
      </p:sp>
      <p:sp>
        <p:nvSpPr>
          <p:cNvPr id="87" name="TextBox 86"/>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8" name="Picture 87" descr="lock.png"/>
          <p:cNvPicPr>
            <a:picLocks noChangeAspect="1"/>
          </p:cNvPicPr>
          <p:nvPr/>
        </p:nvPicPr>
        <p:blipFill>
          <a:blip r:embed="rId10"/>
          <a:stretch>
            <a:fillRect/>
          </a:stretch>
        </p:blipFill>
        <p:spPr>
          <a:xfrm>
            <a:off x="9048826" y="6007677"/>
            <a:ext cx="134549" cy="195707"/>
          </a:xfrm>
          <a:prstGeom prst="rect">
            <a:avLst/>
          </a:prstGeom>
        </p:spPr>
      </p:pic>
      <p:sp>
        <p:nvSpPr>
          <p:cNvPr id="89" name="TextBox 88"/>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Sales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Sales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Sales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501859" cy="186689"/>
          </a:xfrm>
          <a:prstGeom prst="rect">
            <a:avLst/>
          </a:prstGeom>
          <a:noFill/>
        </p:spPr>
        <p:txBody>
          <a:bodyPr wrap="none" lIns="0" rIns="0" tIns="0" bIns="0">
            <a:spAutoFit/>
          </a:bodyPr>
          <a:lstStyle/>
          <a:p>
            <a:r>
              <a:rPr sz="1100" b="0">
                <a:solidFill>
                  <a:srgbClr val="2E2E2E"/>
                </a:solidFill>
                <a:latin typeface="Calibri"/>
              </a:rPr>
              <a:t>Direct (to brand owners/oems) followed by indirect (distributors and packaging merchants) are expected to be the two most attractive sales channel segments in the North America corrugated partition</a:t>
            </a:r>
          </a:p>
        </p:txBody>
      </p:sp>
      <p:sp>
        <p:nvSpPr>
          <p:cNvPr id="21" name="TextBox 20"/>
          <p:cNvSpPr txBox="1"/>
          <p:nvPr/>
        </p:nvSpPr>
        <p:spPr>
          <a:xfrm>
            <a:off x="257175" y="5945505"/>
            <a:ext cx="9472372" cy="186689"/>
          </a:xfrm>
          <a:prstGeom prst="rect">
            <a:avLst/>
          </a:prstGeom>
          <a:noFill/>
        </p:spPr>
        <p:txBody>
          <a:bodyPr wrap="none" lIns="0" rIns="0" tIns="0" bIns="0">
            <a:spAutoFit/>
          </a:bodyPr>
          <a:lstStyle/>
          <a:p>
            <a:r>
              <a:rPr sz="1100" b="0">
                <a:solidFill>
                  <a:srgbClr val="2E2E2E"/>
                </a:solidFill>
                <a:latin typeface="Calibri"/>
              </a:rPr>
              <a:t>market in terms of value over the forecast period. Direct (to brand owners/OEMs) and indirect (distributors and packaging merchants) exhibit a CAGR index of 94 and</a:t>
            </a:r>
          </a:p>
        </p:txBody>
      </p:sp>
      <p:pic>
        <p:nvPicPr>
          <p:cNvPr id="22" name="Picture 21" descr="lock.png"/>
          <p:cNvPicPr>
            <a:picLocks noChangeAspect="1"/>
          </p:cNvPicPr>
          <p:nvPr/>
        </p:nvPicPr>
        <p:blipFill>
          <a:blip r:embed="rId6"/>
          <a:stretch>
            <a:fillRect/>
          </a:stretch>
        </p:blipFill>
        <p:spPr>
          <a:xfrm>
            <a:off x="9677598" y="5935726"/>
            <a:ext cx="128699" cy="187198"/>
          </a:xfrm>
          <a:prstGeom prst="rect">
            <a:avLst/>
          </a:prstGeom>
        </p:spPr>
      </p:pic>
      <p:sp>
        <p:nvSpPr>
          <p:cNvPr id="23" name="TextBox 22"/>
          <p:cNvSpPr txBox="1"/>
          <p:nvPr/>
        </p:nvSpPr>
        <p:spPr>
          <a:xfrm>
            <a:off x="9845094"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4" name="Picture 23" descr="lock.png"/>
          <p:cNvPicPr>
            <a:picLocks noChangeAspect="1"/>
          </p:cNvPicPr>
          <p:nvPr/>
        </p:nvPicPr>
        <p:blipFill>
          <a:blip r:embed="rId6"/>
          <a:stretch>
            <a:fillRect/>
          </a:stretch>
        </p:blipFill>
        <p:spPr>
          <a:xfrm>
            <a:off x="11454068" y="5935726"/>
            <a:ext cx="128699" cy="187198"/>
          </a:xfrm>
          <a:prstGeom prst="rect">
            <a:avLst/>
          </a:prstGeom>
        </p:spPr>
      </p:pic>
      <p:sp>
        <p:nvSpPr>
          <p:cNvPr id="25" name="TextBox 24"/>
          <p:cNvSpPr txBox="1"/>
          <p:nvPr/>
        </p:nvSpPr>
        <p:spPr>
          <a:xfrm>
            <a:off x="257175" y="6113145"/>
            <a:ext cx="3025179" cy="186689"/>
          </a:xfrm>
          <a:prstGeom prst="rect">
            <a:avLst/>
          </a:prstGeom>
          <a:noFill/>
        </p:spPr>
        <p:txBody>
          <a:bodyPr wrap="none" lIns="0" rIns="0" tIns="0" bIns="0">
            <a:spAutoFit/>
          </a:bodyPr>
          <a:lstStyle/>
          <a:p>
            <a:r>
              <a:rPr sz="1100" b="0">
                <a:solidFill>
                  <a:srgbClr val="2E2E2E"/>
                </a:solidFill>
                <a:latin typeface="Calibri"/>
              </a:rPr>
              <a:t>and 67 respectively, against the segment average of</a:t>
            </a:r>
          </a:p>
        </p:txBody>
      </p:sp>
      <p:pic>
        <p:nvPicPr>
          <p:cNvPr id="26" name="Picture 25" descr="lock.png"/>
          <p:cNvPicPr>
            <a:picLocks noChangeAspect="1"/>
          </p:cNvPicPr>
          <p:nvPr/>
        </p:nvPicPr>
        <p:blipFill>
          <a:blip r:embed="rId6"/>
          <a:stretch>
            <a:fillRect/>
          </a:stretch>
        </p:blipFill>
        <p:spPr>
          <a:xfrm>
            <a:off x="3230406" y="6103366"/>
            <a:ext cx="128699" cy="187198"/>
          </a:xfrm>
          <a:prstGeom prst="rect">
            <a:avLst/>
          </a:prstGeom>
        </p:spPr>
      </p:pic>
      <p:sp>
        <p:nvSpPr>
          <p:cNvPr id="27" name="TextBox 26"/>
          <p:cNvSpPr txBox="1"/>
          <p:nvPr/>
        </p:nvSpPr>
        <p:spPr>
          <a:xfrm>
            <a:off x="3397902" y="6113145"/>
            <a:ext cx="4443717" cy="186689"/>
          </a:xfrm>
          <a:prstGeom prst="rect">
            <a:avLst/>
          </a:prstGeom>
          <a:noFill/>
        </p:spPr>
        <p:txBody>
          <a:bodyPr wrap="none" lIns="0" rIns="0" tIns="0" bIns="0">
            <a:spAutoFit/>
          </a:bodyPr>
          <a:lstStyle/>
          <a:p>
            <a:r>
              <a:rPr sz="1100" b="0">
                <a:solidFill>
                  <a:srgbClr val="2E2E2E"/>
                </a:solidFill>
                <a:latin typeface="Calibri"/>
              </a:rPr>
              <a:t>. Bubbles right of the CAGR-Index line grow faster than the segment average.</a:t>
            </a:r>
          </a:p>
        </p:txBody>
      </p:sp>
      <p:sp>
        <p:nvSpPr>
          <p:cNvPr id="28"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Direct (to brand owners/OEMs)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Indirect (distributors and packaging merchants)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Sales Channel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19350"/>
          </a:xfrm>
          <a:prstGeom prst="roundRect">
            <a:avLst>
              <a:gd name="adj" fmla="val 31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Sales Channel (MT)</a:t>
            </a:r>
          </a:p>
        </p:txBody>
      </p:sp>
      <p:graphicFrame>
        <p:nvGraphicFramePr>
          <p:cNvPr id="13" name="Table 12"/>
          <p:cNvGraphicFramePr>
            <a:graphicFrameLocks noGrp="1"/>
          </p:cNvGraphicFramePr>
          <p:nvPr/>
        </p:nvGraphicFramePr>
        <p:xfrm>
          <a:off x="152400" y="1238250"/>
          <a:ext cx="11887200" cy="1952625"/>
        </p:xfrm>
        <a:graphic>
          <a:graphicData uri="http://schemas.openxmlformats.org/drawingml/2006/table">
            <a:tbl>
              <a:tblPr>
                <a:tableStyleId>{5C22544A-7EE6-4342-B048-85BDC9FD1C3A}</a:tableStyleId>
              </a:tblPr>
              <a:tblGrid>
                <a:gridCol w="649304"/>
                <a:gridCol w="674370"/>
                <a:gridCol w="674370"/>
                <a:gridCol w="674370"/>
                <a:gridCol w="674370"/>
                <a:gridCol w="674370"/>
                <a:gridCol w="674370"/>
                <a:gridCol w="674370"/>
                <a:gridCol w="674370"/>
                <a:gridCol w="674370"/>
                <a:gridCol w="674370"/>
                <a:gridCol w="674370"/>
                <a:gridCol w="674370"/>
                <a:gridCol w="674370"/>
                <a:gridCol w="674370"/>
                <a:gridCol w="674370"/>
                <a:gridCol w="674370"/>
                <a:gridCol w="447976"/>
              </a:tblGrid>
              <a:tr h="438912">
                <a:tc>
                  <a:txBody>
                    <a:bodyPr wrap="none"/>
                    <a:lstStyle/>
                    <a:p>
                      <a:pPr algn="l"/>
                      <a:r>
                        <a:rPr sz="1100" b="1">
                          <a:solidFill>
                            <a:srgbClr val="0B2E4A"/>
                          </a:solidFill>
                          <a:latin typeface="Calibri"/>
                        </a:rPr>
                        <a:t>Sales</a:t>
                      </a:r>
                      <a:endParaRPr sz="1100"/>
                    </a:p>
                    <a:p>
                      <a:pPr algn="l"/>
                      <a:r>
                        <a:rPr sz="1100" b="1">
                          <a:solidFill>
                            <a:srgbClr val="0B2E4A"/>
                          </a:solidFill>
                          <a:latin typeface="Calibri"/>
                        </a:rPr>
                        <a:t>Channel</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504571">
                <a:tc>
                  <a:txBody>
                    <a:bodyPr wrap="none"/>
                    <a:lstStyle/>
                    <a:p>
                      <a:pPr algn="l"/>
                      <a:r>
                        <a:rPr sz="1100" b="1">
                          <a:solidFill>
                            <a:srgbClr val="2E2E2E"/>
                          </a:solidFill>
                          <a:latin typeface="Calibri"/>
                        </a:rPr>
                        <a:t>Direct</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504571">
                <a:tc>
                  <a:txBody>
                    <a:bodyPr wrap="none"/>
                    <a:lstStyle/>
                    <a:p>
                      <a:pPr algn="l"/>
                      <a:r>
                        <a:rPr sz="1100" b="1">
                          <a:solidFill>
                            <a:srgbClr val="2E2E2E"/>
                          </a:solidFill>
                          <a:latin typeface="Calibri"/>
                        </a:rPr>
                        <a:t>Indirect</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504571">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3200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33775"/>
            <a:ext cx="11906250" cy="3095625"/>
          </a:xfrm>
          <a:prstGeom prst="roundRect">
            <a:avLst>
              <a:gd name="adj" fmla="val 24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19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Sales Channel</a:t>
            </a:r>
          </a:p>
        </p:txBody>
      </p:sp>
      <p:sp>
        <p:nvSpPr>
          <p:cNvPr id="17" name="Rectangle 16"/>
          <p:cNvSpPr/>
          <p:nvPr/>
        </p:nvSpPr>
        <p:spPr>
          <a:xfrm>
            <a:off x="276225" y="3857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43350"/>
            <a:ext cx="11639550" cy="2609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33961" y="2167318"/>
            <a:ext cx="366712" cy="533400"/>
          </a:xfrm>
          <a:prstGeom prst="rect">
            <a:avLst/>
          </a:prstGeom>
        </p:spPr>
      </p:pic>
      <p:sp>
        <p:nvSpPr>
          <p:cNvPr id="21" name="TextBox 20"/>
          <p:cNvSpPr txBox="1"/>
          <p:nvPr/>
        </p:nvSpPr>
        <p:spPr>
          <a:xfrm>
            <a:off x="276225" y="3952875"/>
            <a:ext cx="3843548" cy="194310"/>
          </a:xfrm>
          <a:prstGeom prst="rect">
            <a:avLst/>
          </a:prstGeom>
          <a:noFill/>
        </p:spPr>
        <p:txBody>
          <a:bodyPr wrap="none" lIns="0" rIns="0" tIns="0" bIns="0">
            <a:spAutoFit/>
          </a:bodyPr>
          <a:lstStyle/>
          <a:p>
            <a:r>
              <a:rPr sz="1150" b="0">
                <a:solidFill>
                  <a:srgbClr val="2E2E2E"/>
                </a:solidFill>
                <a:latin typeface="Calibri"/>
              </a:rPr>
              <a:t>Direct (to brand owners/oems) segment is projected to register</a:t>
            </a:r>
          </a:p>
        </p:txBody>
      </p:sp>
      <p:pic>
        <p:nvPicPr>
          <p:cNvPr id="22" name="Picture 21" descr="lock.png"/>
          <p:cNvPicPr>
            <a:picLocks noChangeAspect="1"/>
          </p:cNvPicPr>
          <p:nvPr/>
        </p:nvPicPr>
        <p:blipFill>
          <a:blip r:embed="rId4"/>
          <a:stretch>
            <a:fillRect/>
          </a:stretch>
        </p:blipFill>
        <p:spPr>
          <a:xfrm>
            <a:off x="4068927" y="3942651"/>
            <a:ext cx="134549" cy="195707"/>
          </a:xfrm>
          <a:prstGeom prst="rect">
            <a:avLst/>
          </a:prstGeom>
        </p:spPr>
      </p:pic>
      <p:sp>
        <p:nvSpPr>
          <p:cNvPr id="23" name="TextBox 22"/>
          <p:cNvSpPr txBox="1"/>
          <p:nvPr/>
        </p:nvSpPr>
        <p:spPr>
          <a:xfrm>
            <a:off x="4244036" y="3952875"/>
            <a:ext cx="7443452" cy="194310"/>
          </a:xfrm>
          <a:prstGeom prst="rect">
            <a:avLst/>
          </a:prstGeom>
          <a:noFill/>
        </p:spPr>
        <p:txBody>
          <a:bodyPr wrap="none" lIns="0" rIns="0" tIns="0" bIns="0">
            <a:spAutoFit/>
          </a:bodyPr>
          <a:lstStyle/>
          <a:p>
            <a:r>
              <a:rPr sz="1150" b="0">
                <a:solidFill>
                  <a:srgbClr val="2E2E2E"/>
                </a:solidFill>
                <a:latin typeface="Calibri"/>
              </a:rPr>
              <a:t>X higher volume than indirect (distributors and packaging merchants) segment in 2036. Among corrugated partition by sales</a:t>
            </a:r>
          </a:p>
        </p:txBody>
      </p:sp>
      <p:sp>
        <p:nvSpPr>
          <p:cNvPr id="24" name="TextBox 23"/>
          <p:cNvSpPr txBox="1"/>
          <p:nvPr/>
        </p:nvSpPr>
        <p:spPr>
          <a:xfrm>
            <a:off x="276225" y="4128135"/>
            <a:ext cx="6540891" cy="194310"/>
          </a:xfrm>
          <a:prstGeom prst="rect">
            <a:avLst/>
          </a:prstGeom>
          <a:noFill/>
        </p:spPr>
        <p:txBody>
          <a:bodyPr wrap="none" lIns="0" rIns="0" tIns="0" bIns="0">
            <a:spAutoFit/>
          </a:bodyPr>
          <a:lstStyle/>
          <a:p>
            <a:r>
              <a:rPr sz="1150" b="0">
                <a:solidFill>
                  <a:srgbClr val="2E2E2E"/>
                </a:solidFill>
                <a:latin typeface="Calibri"/>
              </a:rPr>
              <a:t>channel, indirect (distributors and packaging merchants) segment is expected to witness the highest CAGR of</a:t>
            </a:r>
          </a:p>
        </p:txBody>
      </p:sp>
      <p:pic>
        <p:nvPicPr>
          <p:cNvPr id="25" name="Picture 24" descr="lock.png"/>
          <p:cNvPicPr>
            <a:picLocks noChangeAspect="1"/>
          </p:cNvPicPr>
          <p:nvPr/>
        </p:nvPicPr>
        <p:blipFill>
          <a:blip r:embed="rId4"/>
          <a:stretch>
            <a:fillRect/>
          </a:stretch>
        </p:blipFill>
        <p:spPr>
          <a:xfrm>
            <a:off x="6766270" y="4117911"/>
            <a:ext cx="134549" cy="195707"/>
          </a:xfrm>
          <a:prstGeom prst="rect">
            <a:avLst/>
          </a:prstGeom>
        </p:spPr>
      </p:pic>
      <p:sp>
        <p:nvSpPr>
          <p:cNvPr id="26" name="TextBox 25"/>
          <p:cNvSpPr txBox="1"/>
          <p:nvPr/>
        </p:nvSpPr>
        <p:spPr>
          <a:xfrm>
            <a:off x="6941379" y="4128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55972"/>
            <a:ext cx="7813141" cy="194310"/>
          </a:xfrm>
          <a:prstGeom prst="rect">
            <a:avLst/>
          </a:prstGeom>
          <a:noFill/>
        </p:spPr>
        <p:txBody>
          <a:bodyPr wrap="none" lIns="0" rIns="0" tIns="0" bIns="0">
            <a:spAutoFit/>
          </a:bodyPr>
          <a:lstStyle/>
          <a:p>
            <a:r>
              <a:rPr sz="1150" b="0">
                <a:solidFill>
                  <a:srgbClr val="2E2E2E"/>
                </a:solidFill>
                <a:latin typeface="Calibri"/>
              </a:rPr>
              <a:t>In terms of volume share by sales channel, the direct (to brand owners/oems) segment is expected to dominate the market, losing</a:t>
            </a:r>
          </a:p>
        </p:txBody>
      </p:sp>
      <p:pic>
        <p:nvPicPr>
          <p:cNvPr id="28" name="Picture 27" descr="lock.png"/>
          <p:cNvPicPr>
            <a:picLocks noChangeAspect="1"/>
          </p:cNvPicPr>
          <p:nvPr/>
        </p:nvPicPr>
        <p:blipFill>
          <a:blip r:embed="rId4"/>
          <a:stretch>
            <a:fillRect/>
          </a:stretch>
        </p:blipFill>
        <p:spPr>
          <a:xfrm>
            <a:off x="8038520" y="4345749"/>
            <a:ext cx="134549" cy="195707"/>
          </a:xfrm>
          <a:prstGeom prst="rect">
            <a:avLst/>
          </a:prstGeom>
        </p:spPr>
      </p:pic>
      <p:sp>
        <p:nvSpPr>
          <p:cNvPr id="29" name="TextBox 28"/>
          <p:cNvSpPr txBox="1"/>
          <p:nvPr/>
        </p:nvSpPr>
        <p:spPr>
          <a:xfrm>
            <a:off x="8213629" y="4355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608773" y="4345749"/>
            <a:ext cx="134549" cy="195707"/>
          </a:xfrm>
          <a:prstGeom prst="rect">
            <a:avLst/>
          </a:prstGeom>
        </p:spPr>
      </p:pic>
      <p:sp>
        <p:nvSpPr>
          <p:cNvPr id="31" name="TextBox 30"/>
          <p:cNvSpPr txBox="1"/>
          <p:nvPr/>
        </p:nvSpPr>
        <p:spPr>
          <a:xfrm>
            <a:off x="9783882" y="43559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Sales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Sales Channel (US$ Mn)</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073029"/>
                <a:gridCol w="636128"/>
                <a:gridCol w="636128"/>
                <a:gridCol w="636128"/>
                <a:gridCol w="636128"/>
                <a:gridCol w="636128"/>
                <a:gridCol w="636128"/>
                <a:gridCol w="636128"/>
                <a:gridCol w="636128"/>
                <a:gridCol w="636128"/>
                <a:gridCol w="636128"/>
                <a:gridCol w="636128"/>
                <a:gridCol w="636128"/>
                <a:gridCol w="636128"/>
                <a:gridCol w="636128"/>
                <a:gridCol w="636128"/>
                <a:gridCol w="636128"/>
                <a:gridCol w="63612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Sales Channel</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45826" y="1589913"/>
            <a:ext cx="366712" cy="533400"/>
          </a:xfrm>
          <a:prstGeom prst="rect">
            <a:avLst/>
          </a:prstGeom>
        </p:spPr>
      </p:pic>
      <p:sp>
        <p:nvSpPr>
          <p:cNvPr id="21" name="TextBox 20"/>
          <p:cNvSpPr txBox="1"/>
          <p:nvPr/>
        </p:nvSpPr>
        <p:spPr>
          <a:xfrm>
            <a:off x="276225" y="2990850"/>
            <a:ext cx="3843548" cy="194310"/>
          </a:xfrm>
          <a:prstGeom prst="rect">
            <a:avLst/>
          </a:prstGeom>
          <a:noFill/>
        </p:spPr>
        <p:txBody>
          <a:bodyPr wrap="none" lIns="0" rIns="0" tIns="0" bIns="0">
            <a:spAutoFit/>
          </a:bodyPr>
          <a:lstStyle/>
          <a:p>
            <a:r>
              <a:rPr sz="1150" b="0">
                <a:solidFill>
                  <a:srgbClr val="2E2E2E"/>
                </a:solidFill>
                <a:latin typeface="Calibri"/>
              </a:rPr>
              <a:t>Direct (to brand owners/oems) segment is projected to register</a:t>
            </a:r>
          </a:p>
        </p:txBody>
      </p:sp>
      <p:pic>
        <p:nvPicPr>
          <p:cNvPr id="22" name="Picture 21" descr="lock.png"/>
          <p:cNvPicPr>
            <a:picLocks noChangeAspect="1"/>
          </p:cNvPicPr>
          <p:nvPr/>
        </p:nvPicPr>
        <p:blipFill>
          <a:blip r:embed="rId4"/>
          <a:stretch>
            <a:fillRect/>
          </a:stretch>
        </p:blipFill>
        <p:spPr>
          <a:xfrm>
            <a:off x="4068927" y="2980626"/>
            <a:ext cx="134549" cy="195707"/>
          </a:xfrm>
          <a:prstGeom prst="rect">
            <a:avLst/>
          </a:prstGeom>
        </p:spPr>
      </p:pic>
      <p:sp>
        <p:nvSpPr>
          <p:cNvPr id="23" name="TextBox 22"/>
          <p:cNvSpPr txBox="1"/>
          <p:nvPr/>
        </p:nvSpPr>
        <p:spPr>
          <a:xfrm>
            <a:off x="4244036" y="2990850"/>
            <a:ext cx="7319652" cy="194310"/>
          </a:xfrm>
          <a:prstGeom prst="rect">
            <a:avLst/>
          </a:prstGeom>
          <a:noFill/>
        </p:spPr>
        <p:txBody>
          <a:bodyPr wrap="none" lIns="0" rIns="0" tIns="0" bIns="0">
            <a:spAutoFit/>
          </a:bodyPr>
          <a:lstStyle/>
          <a:p>
            <a:r>
              <a:rPr sz="1150" b="0">
                <a:solidFill>
                  <a:srgbClr val="2E2E2E"/>
                </a:solidFill>
                <a:latin typeface="Calibri"/>
              </a:rPr>
              <a:t>X higher value than indirect (distributors and packaging merchants) segment in 2036. Among corrugated partition by sales</a:t>
            </a:r>
          </a:p>
        </p:txBody>
      </p:sp>
      <p:sp>
        <p:nvSpPr>
          <p:cNvPr id="24" name="TextBox 23"/>
          <p:cNvSpPr txBox="1"/>
          <p:nvPr/>
        </p:nvSpPr>
        <p:spPr>
          <a:xfrm>
            <a:off x="276225" y="3166110"/>
            <a:ext cx="6540891" cy="194310"/>
          </a:xfrm>
          <a:prstGeom prst="rect">
            <a:avLst/>
          </a:prstGeom>
          <a:noFill/>
        </p:spPr>
        <p:txBody>
          <a:bodyPr wrap="none" lIns="0" rIns="0" tIns="0" bIns="0">
            <a:spAutoFit/>
          </a:bodyPr>
          <a:lstStyle/>
          <a:p>
            <a:r>
              <a:rPr sz="1150" b="0">
                <a:solidFill>
                  <a:srgbClr val="2E2E2E"/>
                </a:solidFill>
                <a:latin typeface="Calibri"/>
              </a:rPr>
              <a:t>channel, indirect (distributors and packaging merchants) segment is expected to witness the highest CAGR of</a:t>
            </a:r>
          </a:p>
        </p:txBody>
      </p:sp>
      <p:pic>
        <p:nvPicPr>
          <p:cNvPr id="25" name="Picture 24" descr="lock.png"/>
          <p:cNvPicPr>
            <a:picLocks noChangeAspect="1"/>
          </p:cNvPicPr>
          <p:nvPr/>
        </p:nvPicPr>
        <p:blipFill>
          <a:blip r:embed="rId4"/>
          <a:stretch>
            <a:fillRect/>
          </a:stretch>
        </p:blipFill>
        <p:spPr>
          <a:xfrm>
            <a:off x="6766270" y="3155886"/>
            <a:ext cx="134549" cy="195707"/>
          </a:xfrm>
          <a:prstGeom prst="rect">
            <a:avLst/>
          </a:prstGeom>
        </p:spPr>
      </p:pic>
      <p:sp>
        <p:nvSpPr>
          <p:cNvPr id="26" name="TextBox 25"/>
          <p:cNvSpPr txBox="1"/>
          <p:nvPr/>
        </p:nvSpPr>
        <p:spPr>
          <a:xfrm>
            <a:off x="6941379"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689341" cy="194310"/>
          </a:xfrm>
          <a:prstGeom prst="rect">
            <a:avLst/>
          </a:prstGeom>
          <a:noFill/>
        </p:spPr>
        <p:txBody>
          <a:bodyPr wrap="none" lIns="0" rIns="0" tIns="0" bIns="0">
            <a:spAutoFit/>
          </a:bodyPr>
          <a:lstStyle/>
          <a:p>
            <a:r>
              <a:rPr sz="1150" b="0">
                <a:solidFill>
                  <a:srgbClr val="2E2E2E"/>
                </a:solidFill>
                <a:latin typeface="Calibri"/>
              </a:rPr>
              <a:t>In terms of value share by sales channel, the direct (to brand owners/oems) segment is expected to dominate the market, losing</a:t>
            </a:r>
          </a:p>
        </p:txBody>
      </p:sp>
      <p:pic>
        <p:nvPicPr>
          <p:cNvPr id="28" name="Picture 27" descr="lock.png"/>
          <p:cNvPicPr>
            <a:picLocks noChangeAspect="1"/>
          </p:cNvPicPr>
          <p:nvPr/>
        </p:nvPicPr>
        <p:blipFill>
          <a:blip r:embed="rId4"/>
          <a:stretch>
            <a:fillRect/>
          </a:stretch>
        </p:blipFill>
        <p:spPr>
          <a:xfrm>
            <a:off x="7914720" y="3383724"/>
            <a:ext cx="134549" cy="195707"/>
          </a:xfrm>
          <a:prstGeom prst="rect">
            <a:avLst/>
          </a:prstGeom>
        </p:spPr>
      </p:pic>
      <p:sp>
        <p:nvSpPr>
          <p:cNvPr id="29" name="TextBox 28"/>
          <p:cNvSpPr txBox="1"/>
          <p:nvPr/>
        </p:nvSpPr>
        <p:spPr>
          <a:xfrm>
            <a:off x="8089829"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84972" y="3383724"/>
            <a:ext cx="134549" cy="195707"/>
          </a:xfrm>
          <a:prstGeom prst="rect">
            <a:avLst/>
          </a:prstGeom>
        </p:spPr>
      </p:pic>
      <p:sp>
        <p:nvSpPr>
          <p:cNvPr id="31" name="TextBox 30"/>
          <p:cNvSpPr txBox="1"/>
          <p:nvPr/>
        </p:nvSpPr>
        <p:spPr>
          <a:xfrm>
            <a:off x="9660082"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Sales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Sales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7528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4705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943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Indirect</a:t>
            </a:r>
          </a:p>
        </p:txBody>
      </p:sp>
      <p:sp>
        <p:nvSpPr>
          <p:cNvPr id="19" name="BPS Value 1"/>
          <p:cNvSpPr txBox="1"/>
          <p:nvPr/>
        </p:nvSpPr>
        <p:spPr>
          <a:xfrm>
            <a:off x="6896100" y="245623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76147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7567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6805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a:t>
            </a:r>
          </a:p>
        </p:txBody>
      </p:sp>
      <p:sp>
        <p:nvSpPr>
          <p:cNvPr id="23" name="BPS Value 2"/>
          <p:cNvSpPr txBox="1"/>
          <p:nvPr/>
        </p:nvSpPr>
        <p:spPr>
          <a:xfrm>
            <a:off x="6896100" y="474242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Sales Channel</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30104" cy="194310"/>
          </a:xfrm>
          <a:prstGeom prst="rect">
            <a:avLst/>
          </a:prstGeom>
          <a:noFill/>
        </p:spPr>
        <p:txBody>
          <a:bodyPr wrap="none" lIns="0" rIns="0" tIns="0" bIns="0">
            <a:spAutoFit/>
          </a:bodyPr>
          <a:lstStyle/>
          <a:p>
            <a:r>
              <a:rPr sz="1150" b="0">
                <a:solidFill>
                  <a:srgbClr val="2E2E2E"/>
                </a:solidFill>
                <a:latin typeface="Calibri"/>
              </a:rPr>
              <a:t>Among corrugated partition by sales channel, indirect (distributors</a:t>
            </a:r>
          </a:p>
        </p:txBody>
      </p:sp>
      <p:sp>
        <p:nvSpPr>
          <p:cNvPr id="31" name="TextBox 30"/>
          <p:cNvSpPr txBox="1"/>
          <p:nvPr/>
        </p:nvSpPr>
        <p:spPr>
          <a:xfrm>
            <a:off x="7829550" y="1575435"/>
            <a:ext cx="3758827" cy="194310"/>
          </a:xfrm>
          <a:prstGeom prst="rect">
            <a:avLst/>
          </a:prstGeom>
          <a:noFill/>
        </p:spPr>
        <p:txBody>
          <a:bodyPr wrap="none" lIns="0" rIns="0" tIns="0" bIns="0">
            <a:spAutoFit/>
          </a:bodyPr>
          <a:lstStyle/>
          <a:p>
            <a:r>
              <a:rPr sz="1150" b="0">
                <a:solidFill>
                  <a:srgbClr val="2E2E2E"/>
                </a:solidFill>
                <a:latin typeface="Calibri"/>
              </a:rPr>
              <a:t>and packaging merchants) segment is expected to witness the</a:t>
            </a:r>
          </a:p>
        </p:txBody>
      </p:sp>
      <p:sp>
        <p:nvSpPr>
          <p:cNvPr id="32" name="TextBox 31"/>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33" name="Picture 32" descr="lock.png"/>
          <p:cNvPicPr>
            <a:picLocks noChangeAspect="1"/>
          </p:cNvPicPr>
          <p:nvPr/>
        </p:nvPicPr>
        <p:blipFill>
          <a:blip r:embed="rId5"/>
          <a:stretch>
            <a:fillRect/>
          </a:stretch>
        </p:blipFill>
        <p:spPr>
          <a:xfrm>
            <a:off x="8811057" y="1740471"/>
            <a:ext cx="134549" cy="195707"/>
          </a:xfrm>
          <a:prstGeom prst="rect">
            <a:avLst/>
          </a:prstGeom>
        </p:spPr>
      </p:pic>
      <p:sp>
        <p:nvSpPr>
          <p:cNvPr id="34" name="TextBox 33"/>
          <p:cNvSpPr txBox="1"/>
          <p:nvPr/>
        </p:nvSpPr>
        <p:spPr>
          <a:xfrm>
            <a:off x="8986166"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5" name="TextBox 34"/>
          <p:cNvSpPr txBox="1"/>
          <p:nvPr/>
        </p:nvSpPr>
        <p:spPr>
          <a:xfrm>
            <a:off x="7829550" y="1978533"/>
            <a:ext cx="3671540" cy="194310"/>
          </a:xfrm>
          <a:prstGeom prst="rect">
            <a:avLst/>
          </a:prstGeom>
          <a:noFill/>
        </p:spPr>
        <p:txBody>
          <a:bodyPr wrap="none" lIns="0" rIns="0" tIns="0" bIns="0">
            <a:spAutoFit/>
          </a:bodyPr>
          <a:lstStyle/>
          <a:p>
            <a:r>
              <a:rPr sz="1150" b="0">
                <a:solidFill>
                  <a:srgbClr val="2E2E2E"/>
                </a:solidFill>
                <a:latin typeface="Calibri"/>
              </a:rPr>
              <a:t>In terms of value share by sales channel, the direct (to brand</a:t>
            </a:r>
          </a:p>
        </p:txBody>
      </p:sp>
      <p:sp>
        <p:nvSpPr>
          <p:cNvPr id="36" name="TextBox 35"/>
          <p:cNvSpPr txBox="1"/>
          <p:nvPr/>
        </p:nvSpPr>
        <p:spPr>
          <a:xfrm>
            <a:off x="7829550" y="2153793"/>
            <a:ext cx="4057650" cy="194310"/>
          </a:xfrm>
          <a:prstGeom prst="rect">
            <a:avLst/>
          </a:prstGeom>
          <a:noFill/>
        </p:spPr>
        <p:txBody>
          <a:bodyPr wrap="none" lIns="0" rIns="0" tIns="0" bIns="0">
            <a:spAutoFit/>
          </a:bodyPr>
          <a:lstStyle/>
          <a:p>
            <a:r>
              <a:rPr sz="1150" b="0">
                <a:solidFill>
                  <a:srgbClr val="2E2E2E"/>
                </a:solidFill>
                <a:latin typeface="Calibri"/>
              </a:rPr>
              <a:t>owners/oems) segment is expected to dominate the market, losing</a:t>
            </a:r>
          </a:p>
        </p:txBody>
      </p:sp>
      <p:pic>
        <p:nvPicPr>
          <p:cNvPr id="37" name="Picture 36" descr="lock.png"/>
          <p:cNvPicPr>
            <a:picLocks noChangeAspect="1"/>
          </p:cNvPicPr>
          <p:nvPr/>
        </p:nvPicPr>
        <p:blipFill>
          <a:blip r:embed="rId5"/>
          <a:stretch>
            <a:fillRect/>
          </a:stretch>
        </p:blipFill>
        <p:spPr>
          <a:xfrm>
            <a:off x="7815470" y="2318829"/>
            <a:ext cx="134549" cy="195707"/>
          </a:xfrm>
          <a:prstGeom prst="rect">
            <a:avLst/>
          </a:prstGeom>
        </p:spPr>
      </p:pic>
      <p:sp>
        <p:nvSpPr>
          <p:cNvPr id="38" name="TextBox 37"/>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9" name="Picture 38" descr="lock.png"/>
          <p:cNvPicPr>
            <a:picLocks noChangeAspect="1"/>
          </p:cNvPicPr>
          <p:nvPr/>
        </p:nvPicPr>
        <p:blipFill>
          <a:blip r:embed="rId5"/>
          <a:stretch>
            <a:fillRect/>
          </a:stretch>
        </p:blipFill>
        <p:spPr>
          <a:xfrm>
            <a:off x="9385722" y="2318829"/>
            <a:ext cx="134549" cy="195707"/>
          </a:xfrm>
          <a:prstGeom prst="rect">
            <a:avLst/>
          </a:prstGeom>
        </p:spPr>
      </p:pic>
      <p:sp>
        <p:nvSpPr>
          <p:cNvPr id="40" name="TextBox 39"/>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gridCol w="713858"/>
                <a:gridCol w="713858"/>
                <a:gridCol w="713858"/>
                <a:gridCol w="713858"/>
                <a:gridCol w="713858"/>
                <a:gridCol w="713858"/>
                <a:gridCol w="713858"/>
                <a:gridCol w="713858"/>
                <a:gridCol w="713858"/>
                <a:gridCol w="713858"/>
                <a:gridCol w="713858"/>
                <a:gridCol w="713858"/>
                <a:gridCol w="713858"/>
                <a:gridCol w="713858"/>
                <a:gridCol w="71385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Sales Channel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Direct (to brand owners/OEMs)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Indirect (distributors and packaging merchants)</a:t>
            </a:r>
          </a:p>
        </p:txBody>
      </p:sp>
      <p:sp>
        <p:nvSpPr>
          <p:cNvPr id="49" name="Rectangle 48"/>
          <p:cNvSpPr/>
          <p:nvPr/>
        </p:nvSpPr>
        <p:spPr>
          <a:xfrm>
            <a:off x="1857375" y="4662488"/>
            <a:ext cx="643890" cy="190976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517645" y="1482090"/>
            <a:ext cx="330041" cy="480060"/>
          </a:xfrm>
          <a:prstGeom prst="rect">
            <a:avLst/>
          </a:prstGeom>
        </p:spPr>
      </p:pic>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gridCol w="713858"/>
                <a:gridCol w="713858"/>
                <a:gridCol w="713858"/>
                <a:gridCol w="713858"/>
                <a:gridCol w="713858"/>
                <a:gridCol w="713858"/>
                <a:gridCol w="713858"/>
                <a:gridCol w="713858"/>
                <a:gridCol w="713858"/>
                <a:gridCol w="713858"/>
                <a:gridCol w="713858"/>
                <a:gridCol w="713858"/>
                <a:gridCol w="713858"/>
                <a:gridCol w="713858"/>
                <a:gridCol w="71385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Sales Channel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Direct (to brand owners/OEMs)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Indirect (distributors and packaging merchants)</a:t>
            </a:r>
          </a:p>
        </p:txBody>
      </p:sp>
      <p:sp>
        <p:nvSpPr>
          <p:cNvPr id="49" name="Rectangle 48"/>
          <p:cNvSpPr/>
          <p:nvPr/>
        </p:nvSpPr>
        <p:spPr>
          <a:xfrm>
            <a:off x="1857375" y="4662488"/>
            <a:ext cx="643890" cy="190976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C3B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517645" y="1482090"/>
            <a:ext cx="330041" cy="480060"/>
          </a:xfrm>
          <a:prstGeom prst="rect">
            <a:avLst/>
          </a:prstGeom>
        </p:spPr>
      </p:pic>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Partition Type × 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Board Construction × 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Cell Configuration × End Use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Partition Type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Partition Type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partition type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Partition Type × End Use, 2026E and 2036F (US$ Mn)</a:t>
            </a:r>
          </a:p>
        </p:txBody>
      </p:sp>
      <p:graphicFrame>
        <p:nvGraphicFramePr>
          <p:cNvPr id="13" name="Table 12"/>
          <p:cNvGraphicFramePr>
            <a:graphicFrameLocks noGrp="1"/>
          </p:cNvGraphicFramePr>
          <p:nvPr/>
        </p:nvGraphicFramePr>
        <p:xfrm>
          <a:off x="152400" y="1238250"/>
          <a:ext cx="11887193" cy="1866897"/>
        </p:xfrm>
        <a:graphic>
          <a:graphicData uri="http://schemas.openxmlformats.org/drawingml/2006/table">
            <a:tbl>
              <a:tblPr>
                <a:tableStyleId>{5C22544A-7EE6-4342-B048-85BDC9FD1C3A}</a:tableStyleId>
              </a:tblPr>
              <a:tblGrid>
                <a:gridCol w="2760297"/>
                <a:gridCol w="570431"/>
                <a:gridCol w="570431"/>
                <a:gridCol w="570431"/>
                <a:gridCol w="570431"/>
                <a:gridCol w="570431"/>
                <a:gridCol w="570431"/>
                <a:gridCol w="570431"/>
                <a:gridCol w="570431"/>
                <a:gridCol w="570431"/>
                <a:gridCol w="570431"/>
                <a:gridCol w="570431"/>
                <a:gridCol w="570431"/>
                <a:gridCol w="570431"/>
                <a:gridCol w="570431"/>
                <a:gridCol w="570431"/>
                <a:gridCol w="570431"/>
              </a:tblGrid>
              <a:tr h="631697">
                <a:tc rowSpan="2">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a:t>
                      </a:r>
                      <a:endParaRPr sz="1100"/>
                    </a:p>
                    <a:p>
                      <a:pPr algn="ctr"/>
                      <a:r>
                        <a:rPr sz="1100" b="1">
                          <a:solidFill>
                            <a:srgbClr val="0B2E4A"/>
                          </a:solidFill>
                          <a:latin typeface="Calibri"/>
                        </a:rPr>
                        <a:t>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9454" y="2344368"/>
            <a:ext cx="366712" cy="533400"/>
          </a:xfrm>
          <a:prstGeom prst="rect">
            <a:avLst/>
          </a:prstGeom>
        </p:spPr>
      </p:pic>
      <p:sp>
        <p:nvSpPr>
          <p:cNvPr id="21" name="TextBox 20"/>
          <p:cNvSpPr txBox="1"/>
          <p:nvPr/>
        </p:nvSpPr>
        <p:spPr>
          <a:xfrm>
            <a:off x="276225" y="3867150"/>
            <a:ext cx="10692209" cy="194310"/>
          </a:xfrm>
          <a:prstGeom prst="rect">
            <a:avLst/>
          </a:prstGeom>
          <a:noFill/>
        </p:spPr>
        <p:txBody>
          <a:bodyPr wrap="none" lIns="0" rIns="0" tIns="0" bIns="0">
            <a:spAutoFit/>
          </a:bodyPr>
          <a:lstStyle/>
          <a:p>
            <a:r>
              <a:rPr sz="1150" b="0">
                <a:solidFill>
                  <a:srgbClr val="2E2E2E"/>
                </a:solidFill>
                <a:latin typeface="Calibri"/>
              </a:rPr>
              <a:t>Flat dividers &amp; layer pads segment is projected to account for the largest share of the North America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917588" y="3856926"/>
            <a:ext cx="134549" cy="195707"/>
          </a:xfrm>
          <a:prstGeom prst="rect">
            <a:avLst/>
          </a:prstGeom>
        </p:spPr>
      </p:pic>
      <p:sp>
        <p:nvSpPr>
          <p:cNvPr id="23" name="TextBox 22"/>
          <p:cNvSpPr txBox="1"/>
          <p:nvPr/>
        </p:nvSpPr>
        <p:spPr>
          <a:xfrm>
            <a:off x="11092697" y="3867150"/>
            <a:ext cx="787908" cy="194310"/>
          </a:xfrm>
          <a:prstGeom prst="rect">
            <a:avLst/>
          </a:prstGeom>
          <a:noFill/>
        </p:spPr>
        <p:txBody>
          <a:bodyPr wrap="none" lIns="0" rIns="0" tIns="0" bIns="0">
            <a:spAutoFit/>
          </a:bodyPr>
          <a:lstStyle/>
          <a:p>
            <a:r>
              <a:rPr sz="1150" b="0">
                <a:solidFill>
                  <a:srgbClr val="2E2E2E"/>
                </a:solidFill>
                <a:latin typeface="Calibri"/>
              </a:rPr>
              <a:t>Mn in 2036.</a:t>
            </a:r>
          </a:p>
        </p:txBody>
      </p:sp>
      <p:sp>
        <p:nvSpPr>
          <p:cNvPr id="24" name="TextBox 23"/>
          <p:cNvSpPr txBox="1"/>
          <p:nvPr/>
        </p:nvSpPr>
        <p:spPr>
          <a:xfrm>
            <a:off x="276225" y="4042410"/>
            <a:ext cx="6359202" cy="194310"/>
          </a:xfrm>
          <a:prstGeom prst="rect">
            <a:avLst/>
          </a:prstGeom>
          <a:noFill/>
        </p:spPr>
        <p:txBody>
          <a:bodyPr wrap="none" lIns="0" rIns="0" tIns="0" bIns="0">
            <a:spAutoFit/>
          </a:bodyPr>
          <a:lstStyle/>
          <a:p>
            <a:r>
              <a:rPr sz="1150" b="0">
                <a:solidFill>
                  <a:srgbClr val="2E2E2E"/>
                </a:solidFill>
                <a:latin typeface="Calibri"/>
              </a:rPr>
              <a:t>'Flat Dividers &amp; Layer Pads × 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6584581" y="4032186"/>
            <a:ext cx="134549" cy="195707"/>
          </a:xfrm>
          <a:prstGeom prst="rect">
            <a:avLst/>
          </a:prstGeom>
        </p:spPr>
      </p:pic>
      <p:sp>
        <p:nvSpPr>
          <p:cNvPr id="26" name="TextBox 25"/>
          <p:cNvSpPr txBox="1"/>
          <p:nvPr/>
        </p:nvSpPr>
        <p:spPr>
          <a:xfrm>
            <a:off x="6759690" y="4042410"/>
            <a:ext cx="5019079" cy="194310"/>
          </a:xfrm>
          <a:prstGeom prst="rect">
            <a:avLst/>
          </a:prstGeom>
          <a:noFill/>
        </p:spPr>
        <p:txBody>
          <a:bodyPr wrap="none" lIns="0" rIns="0" tIns="0" bIns="0">
            <a:spAutoFit/>
          </a:bodyPr>
          <a:lstStyle/>
          <a:p>
            <a:r>
              <a:rPr sz="1150" b="0">
                <a:solidFill>
                  <a:srgbClr val="2E2E2E"/>
                </a:solidFill>
                <a:latin typeface="Calibri"/>
              </a:rPr>
              <a:t>US$ Mn, 2026E), while 'Flat Dividers &amp; Layer Pads × Electronics &amp; Electrical' records</a:t>
            </a:r>
          </a:p>
        </p:txBody>
      </p:sp>
      <p:sp>
        <p:nvSpPr>
          <p:cNvPr id="27" name="TextBox 26"/>
          <p:cNvSpPr txBox="1"/>
          <p:nvPr/>
        </p:nvSpPr>
        <p:spPr>
          <a:xfrm>
            <a:off x="276225" y="4217670"/>
            <a:ext cx="1943739" cy="194310"/>
          </a:xfrm>
          <a:prstGeom prst="rect">
            <a:avLst/>
          </a:prstGeom>
          <a:noFill/>
        </p:spPr>
        <p:txBody>
          <a:bodyPr wrap="none" lIns="0" rIns="0" tIns="0" bIns="0">
            <a:spAutoFit/>
          </a:bodyPr>
          <a:lstStyle/>
          <a:p>
            <a:r>
              <a:rPr sz="1150" b="0">
                <a:solidFill>
                  <a:srgbClr val="2E2E2E"/>
                </a:solidFill>
                <a:latin typeface="Calibri"/>
              </a:rPr>
              <a:t>the fastest growth at a CAGR of</a:t>
            </a:r>
          </a:p>
        </p:txBody>
      </p:sp>
      <p:pic>
        <p:nvPicPr>
          <p:cNvPr id="28" name="Picture 27" descr="lock.png"/>
          <p:cNvPicPr>
            <a:picLocks noChangeAspect="1"/>
          </p:cNvPicPr>
          <p:nvPr/>
        </p:nvPicPr>
        <p:blipFill>
          <a:blip r:embed="rId4"/>
          <a:stretch>
            <a:fillRect/>
          </a:stretch>
        </p:blipFill>
        <p:spPr>
          <a:xfrm>
            <a:off x="2169118" y="4207446"/>
            <a:ext cx="134549" cy="195707"/>
          </a:xfrm>
          <a:prstGeom prst="rect">
            <a:avLst/>
          </a:prstGeom>
        </p:spPr>
      </p:pic>
      <p:sp>
        <p:nvSpPr>
          <p:cNvPr id="29" name="TextBox 28"/>
          <p:cNvSpPr txBox="1"/>
          <p:nvPr/>
        </p:nvSpPr>
        <p:spPr>
          <a:xfrm>
            <a:off x="2344227" y="421767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445507"/>
            <a:ext cx="5585879" cy="194310"/>
          </a:xfrm>
          <a:prstGeom prst="rect">
            <a:avLst/>
          </a:prstGeom>
          <a:noFill/>
        </p:spPr>
        <p:txBody>
          <a:bodyPr wrap="none" lIns="0" rIns="0" tIns="0" bIns="0">
            <a:spAutoFit/>
          </a:bodyPr>
          <a:lstStyle/>
          <a:p>
            <a:r>
              <a:rPr sz="1150" b="0">
                <a:solidFill>
                  <a:srgbClr val="2E2E2E"/>
                </a:solidFill>
                <a:latin typeface="Calibri"/>
              </a:rPr>
              <a:t>Combined, the top three partition type × end use cells generate an absolute $ opportunity of</a:t>
            </a:r>
          </a:p>
        </p:txBody>
      </p:sp>
      <p:pic>
        <p:nvPicPr>
          <p:cNvPr id="31" name="Picture 30" descr="lock.png"/>
          <p:cNvPicPr>
            <a:picLocks noChangeAspect="1"/>
          </p:cNvPicPr>
          <p:nvPr/>
        </p:nvPicPr>
        <p:blipFill>
          <a:blip r:embed="rId4"/>
          <a:stretch>
            <a:fillRect/>
          </a:stretch>
        </p:blipFill>
        <p:spPr>
          <a:xfrm>
            <a:off x="5811258" y="4435284"/>
            <a:ext cx="134549" cy="195707"/>
          </a:xfrm>
          <a:prstGeom prst="rect">
            <a:avLst/>
          </a:prstGeom>
        </p:spPr>
      </p:pic>
      <p:sp>
        <p:nvSpPr>
          <p:cNvPr id="32" name="TextBox 31"/>
          <p:cNvSpPr txBox="1"/>
          <p:nvPr/>
        </p:nvSpPr>
        <p:spPr>
          <a:xfrm>
            <a:off x="5986367" y="444550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Partition Type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Partition Type × End Use, 2026E (% of each row)</a:t>
            </a:r>
          </a:p>
        </p:txBody>
      </p:sp>
      <p:graphicFrame>
        <p:nvGraphicFramePr>
          <p:cNvPr id="13" name="Table 12"/>
          <p:cNvGraphicFramePr>
            <a:graphicFrameLocks noGrp="1"/>
          </p:cNvGraphicFramePr>
          <p:nvPr/>
        </p:nvGraphicFramePr>
        <p:xfrm>
          <a:off x="152400" y="1238250"/>
          <a:ext cx="11887200" cy="1619249"/>
        </p:xfrm>
        <a:graphic>
          <a:graphicData uri="http://schemas.openxmlformats.org/drawingml/2006/table">
            <a:tbl>
              <a:tblPr>
                <a:tableStyleId>{5C22544A-7EE6-4342-B048-85BDC9FD1C3A}</a:tableStyleId>
              </a:tblPr>
              <a:tblGrid>
                <a:gridCol w="2275403"/>
                <a:gridCol w="954259"/>
                <a:gridCol w="1598062"/>
                <a:gridCol w="1323387"/>
                <a:gridCol w="1192720"/>
                <a:gridCol w="1787231"/>
                <a:gridCol w="1697958"/>
                <a:gridCol w="514374"/>
                <a:gridCol w="543806"/>
              </a:tblGrid>
              <a:tr h="631697">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88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8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7286625"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575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Partition Type, 2026E (% share)</a:t>
            </a:r>
          </a:p>
        </p:txBody>
      </p:sp>
      <p:graphicFrame>
        <p:nvGraphicFramePr>
          <p:cNvPr id="17" name="Chart 16"/>
          <p:cNvGraphicFramePr>
            <a:graphicFrameLocks noGrp="1"/>
          </p:cNvGraphicFramePr>
          <p:nvPr/>
        </p:nvGraphicFramePr>
        <p:xfrm>
          <a:off x="238125" y="3486150"/>
          <a:ext cx="7096125" cy="30861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00400"/>
            <a:ext cx="445770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2861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24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09975"/>
            <a:ext cx="41910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047011" y="209702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4116149"/>
            <a:ext cx="440818" cy="641190"/>
          </a:xfrm>
          <a:prstGeom prst="rect">
            <a:avLst/>
          </a:prstGeom>
        </p:spPr>
      </p:pic>
      <p:sp>
        <p:nvSpPr>
          <p:cNvPr id="25" name="TextBox 24"/>
          <p:cNvSpPr txBox="1"/>
          <p:nvPr/>
        </p:nvSpPr>
        <p:spPr>
          <a:xfrm>
            <a:off x="7715250" y="3619500"/>
            <a:ext cx="3948807" cy="194310"/>
          </a:xfrm>
          <a:prstGeom prst="rect">
            <a:avLst/>
          </a:prstGeom>
          <a:noFill/>
        </p:spPr>
        <p:txBody>
          <a:bodyPr wrap="none" lIns="0" rIns="0" tIns="0" bIns="0">
            <a:spAutoFit/>
          </a:bodyPr>
          <a:lstStyle/>
          <a:p>
            <a:r>
              <a:rPr sz="1150" b="0">
                <a:solidFill>
                  <a:srgbClr val="2E2E2E"/>
                </a:solidFill>
                <a:latin typeface="Calibri"/>
              </a:rPr>
              <a:t>▪ 'Glassware, Ceramics &amp; Home Goods' holds the highest share of</a:t>
            </a:r>
          </a:p>
        </p:txBody>
      </p:sp>
      <p:sp>
        <p:nvSpPr>
          <p:cNvPr id="26" name="TextBox 25"/>
          <p:cNvSpPr txBox="1"/>
          <p:nvPr/>
        </p:nvSpPr>
        <p:spPr>
          <a:xfrm>
            <a:off x="7715250" y="3794760"/>
            <a:ext cx="2436676" cy="194310"/>
          </a:xfrm>
          <a:prstGeom prst="rect">
            <a:avLst/>
          </a:prstGeom>
          <a:noFill/>
        </p:spPr>
        <p:txBody>
          <a:bodyPr wrap="none" lIns="0" rIns="0" tIns="0" bIns="0">
            <a:spAutoFit/>
          </a:bodyPr>
          <a:lstStyle/>
          <a:p>
            <a:r>
              <a:rPr sz="1150" b="0">
                <a:solidFill>
                  <a:srgbClr val="2E2E2E"/>
                </a:solidFill>
                <a:latin typeface="Calibri"/>
              </a:rPr>
              <a:t>'Slotted (Interlocking Grid) Partitions' at</a:t>
            </a:r>
          </a:p>
        </p:txBody>
      </p:sp>
      <p:pic>
        <p:nvPicPr>
          <p:cNvPr id="27" name="Picture 26" descr="lock.png"/>
          <p:cNvPicPr>
            <a:picLocks noChangeAspect="1"/>
          </p:cNvPicPr>
          <p:nvPr/>
        </p:nvPicPr>
        <p:blipFill>
          <a:blip r:embed="rId5"/>
          <a:stretch>
            <a:fillRect/>
          </a:stretch>
        </p:blipFill>
        <p:spPr>
          <a:xfrm>
            <a:off x="10101080" y="3784536"/>
            <a:ext cx="134549" cy="195707"/>
          </a:xfrm>
          <a:prstGeom prst="rect">
            <a:avLst/>
          </a:prstGeom>
        </p:spPr>
      </p:pic>
      <p:sp>
        <p:nvSpPr>
          <p:cNvPr id="28" name="TextBox 27"/>
          <p:cNvSpPr txBox="1"/>
          <p:nvPr/>
        </p:nvSpPr>
        <p:spPr>
          <a:xfrm>
            <a:off x="10276189" y="37947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022597"/>
            <a:ext cx="3886336" cy="194310"/>
          </a:xfrm>
          <a:prstGeom prst="rect">
            <a:avLst/>
          </a:prstGeom>
          <a:noFill/>
        </p:spPr>
        <p:txBody>
          <a:bodyPr wrap="none" lIns="0" rIns="0" tIns="0" bIns="0">
            <a:spAutoFit/>
          </a:bodyPr>
          <a:lstStyle/>
          <a:p>
            <a:r>
              <a:rPr sz="1150" b="0">
                <a:solidFill>
                  <a:srgbClr val="2E2E2E"/>
                </a:solidFill>
                <a:latin typeface="Calibri"/>
              </a:rPr>
              <a:t>▪ 'Slotted (Interlocking Grid) Partitions' is the most concentrated</a:t>
            </a:r>
          </a:p>
        </p:txBody>
      </p:sp>
      <p:sp>
        <p:nvSpPr>
          <p:cNvPr id="30" name="TextBox 29"/>
          <p:cNvSpPr txBox="1"/>
          <p:nvPr/>
        </p:nvSpPr>
        <p:spPr>
          <a:xfrm>
            <a:off x="7715250" y="4197857"/>
            <a:ext cx="2026480" cy="194310"/>
          </a:xfrm>
          <a:prstGeom prst="rect">
            <a:avLst/>
          </a:prstGeom>
          <a:noFill/>
        </p:spPr>
        <p:txBody>
          <a:bodyPr wrap="none" lIns="0" rIns="0" tIns="0" bIns="0">
            <a:spAutoFit/>
          </a:bodyPr>
          <a:lstStyle/>
          <a:p>
            <a:r>
              <a:rPr sz="1150" b="0">
                <a:solidFill>
                  <a:srgbClr val="2E2E2E"/>
                </a:solidFill>
                <a:latin typeface="Calibri"/>
              </a:rPr>
              <a:t>partition type sub-segment, with</a:t>
            </a:r>
          </a:p>
        </p:txBody>
      </p:sp>
      <p:pic>
        <p:nvPicPr>
          <p:cNvPr id="31" name="Picture 30" descr="lock.png"/>
          <p:cNvPicPr>
            <a:picLocks noChangeAspect="1"/>
          </p:cNvPicPr>
          <p:nvPr/>
        </p:nvPicPr>
        <p:blipFill>
          <a:blip r:embed="rId5"/>
          <a:stretch>
            <a:fillRect/>
          </a:stretch>
        </p:blipFill>
        <p:spPr>
          <a:xfrm>
            <a:off x="9690884" y="4187634"/>
            <a:ext cx="134549" cy="195707"/>
          </a:xfrm>
          <a:prstGeom prst="rect">
            <a:avLst/>
          </a:prstGeom>
        </p:spPr>
      </p:pic>
      <p:sp>
        <p:nvSpPr>
          <p:cNvPr id="32" name="TextBox 31"/>
          <p:cNvSpPr txBox="1"/>
          <p:nvPr/>
        </p:nvSpPr>
        <p:spPr>
          <a:xfrm>
            <a:off x="9865994" y="4197857"/>
            <a:ext cx="1634827" cy="194310"/>
          </a:xfrm>
          <a:prstGeom prst="rect">
            <a:avLst/>
          </a:prstGeom>
          <a:noFill/>
        </p:spPr>
        <p:txBody>
          <a:bodyPr wrap="none" lIns="0" rIns="0" tIns="0" bIns="0">
            <a:spAutoFit/>
          </a:bodyPr>
          <a:lstStyle/>
          <a:p>
            <a:r>
              <a:rPr sz="1150" b="0">
                <a:solidFill>
                  <a:srgbClr val="2E2E2E"/>
                </a:solidFill>
                <a:latin typeface="Calibri"/>
              </a:rPr>
              <a:t>of its value via 'Glassware,</a:t>
            </a:r>
          </a:p>
        </p:txBody>
      </p:sp>
      <p:sp>
        <p:nvSpPr>
          <p:cNvPr id="33" name="TextBox 32"/>
          <p:cNvSpPr txBox="1"/>
          <p:nvPr/>
        </p:nvSpPr>
        <p:spPr>
          <a:xfrm>
            <a:off x="7715250" y="4373117"/>
            <a:ext cx="1622276" cy="194310"/>
          </a:xfrm>
          <a:prstGeom prst="rect">
            <a:avLst/>
          </a:prstGeom>
          <a:noFill/>
        </p:spPr>
        <p:txBody>
          <a:bodyPr wrap="none" lIns="0" rIns="0" tIns="0" bIns="0">
            <a:spAutoFit/>
          </a:bodyPr>
          <a:lstStyle/>
          <a:p>
            <a:r>
              <a:rPr sz="1150" b="0">
                <a:solidFill>
                  <a:srgbClr val="2E2E2E"/>
                </a:solidFill>
                <a:latin typeface="Calibri"/>
              </a:rPr>
              <a:t>Ceramics &amp; Home Goods'.</a:t>
            </a:r>
          </a:p>
        </p:txBody>
      </p:sp>
      <p:sp>
        <p:nvSpPr>
          <p:cNvPr id="34" name="TextBox 33"/>
          <p:cNvSpPr txBox="1"/>
          <p:nvPr/>
        </p:nvSpPr>
        <p:spPr>
          <a:xfrm>
            <a:off x="7715250" y="460095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590732"/>
            <a:ext cx="134549" cy="195707"/>
          </a:xfrm>
          <a:prstGeom prst="rect">
            <a:avLst/>
          </a:prstGeom>
        </p:spPr>
      </p:pic>
      <p:sp>
        <p:nvSpPr>
          <p:cNvPr id="36" name="TextBox 35"/>
          <p:cNvSpPr txBox="1"/>
          <p:nvPr/>
        </p:nvSpPr>
        <p:spPr>
          <a:xfrm>
            <a:off x="9860574" y="4600955"/>
            <a:ext cx="1581199" cy="194310"/>
          </a:xfrm>
          <a:prstGeom prst="rect">
            <a:avLst/>
          </a:prstGeom>
          <a:noFill/>
        </p:spPr>
        <p:txBody>
          <a:bodyPr wrap="none" lIns="0" rIns="0" tIns="0" bIns="0">
            <a:spAutoFit/>
          </a:bodyPr>
          <a:lstStyle/>
          <a:p>
            <a:r>
              <a:rPr sz="1150" b="0">
                <a:solidFill>
                  <a:srgbClr val="2E2E2E"/>
                </a:solidFill>
                <a:latin typeface="Calibri"/>
              </a:rPr>
              <a:t>BPS of share of the North</a:t>
            </a:r>
          </a:p>
        </p:txBody>
      </p:sp>
      <p:sp>
        <p:nvSpPr>
          <p:cNvPr id="37" name="TextBox 36"/>
          <p:cNvSpPr txBox="1"/>
          <p:nvPr/>
        </p:nvSpPr>
        <p:spPr>
          <a:xfrm>
            <a:off x="7715250" y="4776215"/>
            <a:ext cx="1986046" cy="194310"/>
          </a:xfrm>
          <a:prstGeom prst="rect">
            <a:avLst/>
          </a:prstGeom>
          <a:noFill/>
        </p:spPr>
        <p:txBody>
          <a:bodyPr wrap="none" lIns="0" rIns="0" tIns="0" bIns="0">
            <a:spAutoFit/>
          </a:bodyPr>
          <a:lstStyle/>
          <a:p>
            <a:r>
              <a:rPr sz="1150" b="0">
                <a:solidFill>
                  <a:srgbClr val="2E2E2E"/>
                </a:solidFill>
                <a:latin typeface="Calibri"/>
              </a:rPr>
              <a:t>America cross-section by 2036F.</a:t>
            </a:r>
          </a:p>
        </p:txBody>
      </p:sp>
      <p:sp>
        <p:nvSpPr>
          <p:cNvPr id="38" name="lockshield_17"/>
          <p:cNvSpPr/>
          <p:nvPr/>
        </p:nvSpPr>
        <p:spPr>
          <a:xfrm>
            <a:off x="238125" y="3486150"/>
            <a:ext cx="7096125" cy="3086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Partition Type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Partition Type × End Use, 2026E–2036F</a:t>
            </a:r>
          </a:p>
        </p:txBody>
      </p:sp>
      <p:graphicFrame>
        <p:nvGraphicFramePr>
          <p:cNvPr id="13" name="Table 12"/>
          <p:cNvGraphicFramePr>
            <a:graphicFrameLocks noGrp="1"/>
          </p:cNvGraphicFramePr>
          <p:nvPr/>
        </p:nvGraphicFramePr>
        <p:xfrm>
          <a:off x="152400" y="1238250"/>
          <a:ext cx="11887207" cy="1866897"/>
        </p:xfrm>
        <a:graphic>
          <a:graphicData uri="http://schemas.openxmlformats.org/drawingml/2006/table">
            <a:tbl>
              <a:tblPr>
                <a:tableStyleId>{5C22544A-7EE6-4342-B048-85BDC9FD1C3A}</a:tableStyleId>
              </a:tblPr>
              <a:tblGrid>
                <a:gridCol w="2338807"/>
                <a:gridCol w="596775"/>
                <a:gridCol w="596775"/>
                <a:gridCol w="596775"/>
                <a:gridCol w="596775"/>
                <a:gridCol w="596775"/>
                <a:gridCol w="596775"/>
                <a:gridCol w="596775"/>
                <a:gridCol w="596775"/>
                <a:gridCol w="596775"/>
                <a:gridCol w="596775"/>
                <a:gridCol w="596775"/>
                <a:gridCol w="596775"/>
                <a:gridCol w="596775"/>
                <a:gridCol w="596775"/>
                <a:gridCol w="596775"/>
                <a:gridCol w="596775"/>
              </a:tblGrid>
              <a:tr h="631697">
                <a:tc rowSpan="2">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53340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'Flat Dividers &amp; Layer Pads × Food &amp; Beverage' ranks highest (5/5); 'Slotted Partitions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078717" y="2344368"/>
            <a:ext cx="366712" cy="533400"/>
          </a:xfrm>
          <a:prstGeom prst="rect">
            <a:avLst/>
          </a:prstGeom>
        </p:spPr>
      </p:pic>
      <p:sp>
        <p:nvSpPr>
          <p:cNvPr id="33" name="TextBox 32"/>
          <p:cNvSpPr txBox="1"/>
          <p:nvPr/>
        </p:nvSpPr>
        <p:spPr>
          <a:xfrm>
            <a:off x="276225" y="3867150"/>
            <a:ext cx="3099289" cy="194310"/>
          </a:xfrm>
          <a:prstGeom prst="rect">
            <a:avLst/>
          </a:prstGeom>
          <a:noFill/>
        </p:spPr>
        <p:txBody>
          <a:bodyPr wrap="none" lIns="0" rIns="0" tIns="0" bIns="0">
            <a:spAutoFit/>
          </a:bodyPr>
          <a:lstStyle/>
          <a:p>
            <a:r>
              <a:rPr sz="1150" b="0">
                <a:solidFill>
                  <a:srgbClr val="2E2E2E"/>
                </a:solidFill>
                <a:latin typeface="Calibri"/>
              </a:rPr>
              <a:t>▪ 1. Flat Dividers &amp; Layer Pads × Food &amp; Beverage –</a:t>
            </a:r>
          </a:p>
        </p:txBody>
      </p:sp>
      <p:pic>
        <p:nvPicPr>
          <p:cNvPr id="34" name="Picture 33" descr="lock.png"/>
          <p:cNvPicPr>
            <a:picLocks noChangeAspect="1"/>
          </p:cNvPicPr>
          <p:nvPr/>
        </p:nvPicPr>
        <p:blipFill>
          <a:blip r:embed="rId4"/>
          <a:stretch>
            <a:fillRect/>
          </a:stretch>
        </p:blipFill>
        <p:spPr>
          <a:xfrm>
            <a:off x="3324668" y="3856926"/>
            <a:ext cx="134549" cy="195707"/>
          </a:xfrm>
          <a:prstGeom prst="rect">
            <a:avLst/>
          </a:prstGeom>
        </p:spPr>
      </p:pic>
      <p:sp>
        <p:nvSpPr>
          <p:cNvPr id="35" name="TextBox 34"/>
          <p:cNvSpPr txBox="1"/>
          <p:nvPr/>
        </p:nvSpPr>
        <p:spPr>
          <a:xfrm>
            <a:off x="3499777" y="38671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561929" y="3856926"/>
            <a:ext cx="134549" cy="195707"/>
          </a:xfrm>
          <a:prstGeom prst="rect">
            <a:avLst/>
          </a:prstGeom>
        </p:spPr>
      </p:pic>
      <p:sp>
        <p:nvSpPr>
          <p:cNvPr id="37" name="TextBox 36"/>
          <p:cNvSpPr txBox="1"/>
          <p:nvPr/>
        </p:nvSpPr>
        <p:spPr>
          <a:xfrm>
            <a:off x="3737038" y="38671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094987"/>
            <a:ext cx="3433067" cy="194310"/>
          </a:xfrm>
          <a:prstGeom prst="rect">
            <a:avLst/>
          </a:prstGeom>
          <a:noFill/>
        </p:spPr>
        <p:txBody>
          <a:bodyPr wrap="none" lIns="0" rIns="0" tIns="0" bIns="0">
            <a:spAutoFit/>
          </a:bodyPr>
          <a:lstStyle/>
          <a:p>
            <a:r>
              <a:rPr sz="1150" b="0">
                <a:solidFill>
                  <a:srgbClr val="2E2E2E"/>
                </a:solidFill>
                <a:latin typeface="Calibri"/>
              </a:rPr>
              <a:t>▪ 2. Flat Dividers &amp; Layer Pads × Electronics &amp; Electrical –</a:t>
            </a:r>
          </a:p>
        </p:txBody>
      </p:sp>
      <p:pic>
        <p:nvPicPr>
          <p:cNvPr id="39" name="Picture 38" descr="lock.png"/>
          <p:cNvPicPr>
            <a:picLocks noChangeAspect="1"/>
          </p:cNvPicPr>
          <p:nvPr/>
        </p:nvPicPr>
        <p:blipFill>
          <a:blip r:embed="rId4"/>
          <a:stretch>
            <a:fillRect/>
          </a:stretch>
        </p:blipFill>
        <p:spPr>
          <a:xfrm>
            <a:off x="3658446" y="4084764"/>
            <a:ext cx="134549" cy="195707"/>
          </a:xfrm>
          <a:prstGeom prst="rect">
            <a:avLst/>
          </a:prstGeom>
        </p:spPr>
      </p:pic>
      <p:sp>
        <p:nvSpPr>
          <p:cNvPr id="40" name="TextBox 39"/>
          <p:cNvSpPr txBox="1"/>
          <p:nvPr/>
        </p:nvSpPr>
        <p:spPr>
          <a:xfrm>
            <a:off x="3833556" y="409498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95707" y="4084764"/>
            <a:ext cx="134549" cy="195707"/>
          </a:xfrm>
          <a:prstGeom prst="rect">
            <a:avLst/>
          </a:prstGeom>
        </p:spPr>
      </p:pic>
      <p:sp>
        <p:nvSpPr>
          <p:cNvPr id="42" name="TextBox 41"/>
          <p:cNvSpPr txBox="1"/>
          <p:nvPr/>
        </p:nvSpPr>
        <p:spPr>
          <a:xfrm>
            <a:off x="4070817" y="409498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22825"/>
            <a:ext cx="4236913" cy="194310"/>
          </a:xfrm>
          <a:prstGeom prst="rect">
            <a:avLst/>
          </a:prstGeom>
          <a:noFill/>
        </p:spPr>
        <p:txBody>
          <a:bodyPr wrap="none" lIns="0" rIns="0" tIns="0" bIns="0">
            <a:spAutoFit/>
          </a:bodyPr>
          <a:lstStyle/>
          <a:p>
            <a:r>
              <a:rPr sz="1150" b="0">
                <a:solidFill>
                  <a:srgbClr val="2E2E2E"/>
                </a:solidFill>
                <a:latin typeface="Calibri"/>
              </a:rPr>
              <a:t>▪ 3. Flat Dividers &amp; Layer Pads × Glassware, Ceramics &amp; Home Goods –</a:t>
            </a:r>
          </a:p>
        </p:txBody>
      </p:sp>
      <p:pic>
        <p:nvPicPr>
          <p:cNvPr id="44" name="Picture 43" descr="lock.png"/>
          <p:cNvPicPr>
            <a:picLocks noChangeAspect="1"/>
          </p:cNvPicPr>
          <p:nvPr/>
        </p:nvPicPr>
        <p:blipFill>
          <a:blip r:embed="rId4"/>
          <a:stretch>
            <a:fillRect/>
          </a:stretch>
        </p:blipFill>
        <p:spPr>
          <a:xfrm>
            <a:off x="4462292" y="4312602"/>
            <a:ext cx="134549" cy="195707"/>
          </a:xfrm>
          <a:prstGeom prst="rect">
            <a:avLst/>
          </a:prstGeom>
        </p:spPr>
      </p:pic>
      <p:sp>
        <p:nvSpPr>
          <p:cNvPr id="45" name="TextBox 44"/>
          <p:cNvSpPr txBox="1"/>
          <p:nvPr/>
        </p:nvSpPr>
        <p:spPr>
          <a:xfrm>
            <a:off x="4637401" y="43228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699553" y="4312602"/>
            <a:ext cx="134549" cy="195707"/>
          </a:xfrm>
          <a:prstGeom prst="rect">
            <a:avLst/>
          </a:prstGeom>
        </p:spPr>
      </p:pic>
      <p:sp>
        <p:nvSpPr>
          <p:cNvPr id="47" name="TextBox 46"/>
          <p:cNvSpPr txBox="1"/>
          <p:nvPr/>
        </p:nvSpPr>
        <p:spPr>
          <a:xfrm>
            <a:off x="4874662" y="4322825"/>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8" name="TextBox 47"/>
          <p:cNvSpPr txBox="1"/>
          <p:nvPr/>
        </p:nvSpPr>
        <p:spPr>
          <a:xfrm>
            <a:off x="276225" y="4550663"/>
            <a:ext cx="4302521" cy="194310"/>
          </a:xfrm>
          <a:prstGeom prst="rect">
            <a:avLst/>
          </a:prstGeom>
          <a:noFill/>
        </p:spPr>
        <p:txBody>
          <a:bodyPr wrap="none" lIns="0" rIns="0" tIns="0" bIns="0">
            <a:spAutoFit/>
          </a:bodyPr>
          <a:lstStyle/>
          <a:p>
            <a:r>
              <a:rPr sz="1150" b="0">
                <a:solidFill>
                  <a:srgbClr val="2E2E2E"/>
                </a:solidFill>
                <a:latin typeface="Calibri"/>
              </a:rPr>
              <a:t>▪ 4. Flat Dividers &amp; Layer Pads × Automotive &amp; Industrial Components –</a:t>
            </a:r>
          </a:p>
        </p:txBody>
      </p:sp>
      <p:pic>
        <p:nvPicPr>
          <p:cNvPr id="49" name="Picture 48" descr="lock.png"/>
          <p:cNvPicPr>
            <a:picLocks noChangeAspect="1"/>
          </p:cNvPicPr>
          <p:nvPr/>
        </p:nvPicPr>
        <p:blipFill>
          <a:blip r:embed="rId4"/>
          <a:stretch>
            <a:fillRect/>
          </a:stretch>
        </p:blipFill>
        <p:spPr>
          <a:xfrm>
            <a:off x="4527900" y="4540440"/>
            <a:ext cx="134549" cy="195707"/>
          </a:xfrm>
          <a:prstGeom prst="rect">
            <a:avLst/>
          </a:prstGeom>
        </p:spPr>
      </p:pic>
      <p:sp>
        <p:nvSpPr>
          <p:cNvPr id="50" name="TextBox 49"/>
          <p:cNvSpPr txBox="1"/>
          <p:nvPr/>
        </p:nvSpPr>
        <p:spPr>
          <a:xfrm>
            <a:off x="4703010" y="45506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765161" y="4540440"/>
            <a:ext cx="134549" cy="195707"/>
          </a:xfrm>
          <a:prstGeom prst="rect">
            <a:avLst/>
          </a:prstGeom>
        </p:spPr>
      </p:pic>
      <p:sp>
        <p:nvSpPr>
          <p:cNvPr id="52" name="TextBox 51"/>
          <p:cNvSpPr txBox="1"/>
          <p:nvPr/>
        </p:nvSpPr>
        <p:spPr>
          <a:xfrm>
            <a:off x="4940271" y="455066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778501"/>
            <a:ext cx="2485739" cy="194310"/>
          </a:xfrm>
          <a:prstGeom prst="rect">
            <a:avLst/>
          </a:prstGeom>
          <a:noFill/>
        </p:spPr>
        <p:txBody>
          <a:bodyPr wrap="none" lIns="0" rIns="0" tIns="0" bIns="0">
            <a:spAutoFit/>
          </a:bodyPr>
          <a:lstStyle/>
          <a:p>
            <a:r>
              <a:rPr sz="1150" b="0">
                <a:solidFill>
                  <a:srgbClr val="2E2E2E"/>
                </a:solidFill>
                <a:latin typeface="Calibri"/>
              </a:rPr>
              <a:t>▪ 5. Flat Dividers &amp; Layer Pads × Others –</a:t>
            </a:r>
          </a:p>
        </p:txBody>
      </p:sp>
      <p:pic>
        <p:nvPicPr>
          <p:cNvPr id="54" name="Picture 53" descr="lock.png"/>
          <p:cNvPicPr>
            <a:picLocks noChangeAspect="1"/>
          </p:cNvPicPr>
          <p:nvPr/>
        </p:nvPicPr>
        <p:blipFill>
          <a:blip r:embed="rId4"/>
          <a:stretch>
            <a:fillRect/>
          </a:stretch>
        </p:blipFill>
        <p:spPr>
          <a:xfrm>
            <a:off x="2711118" y="4768278"/>
            <a:ext cx="134549" cy="195707"/>
          </a:xfrm>
          <a:prstGeom prst="rect">
            <a:avLst/>
          </a:prstGeom>
        </p:spPr>
      </p:pic>
      <p:sp>
        <p:nvSpPr>
          <p:cNvPr id="55" name="TextBox 54"/>
          <p:cNvSpPr txBox="1"/>
          <p:nvPr/>
        </p:nvSpPr>
        <p:spPr>
          <a:xfrm>
            <a:off x="2886227" y="47785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2948379" y="4768278"/>
            <a:ext cx="134549" cy="195707"/>
          </a:xfrm>
          <a:prstGeom prst="rect">
            <a:avLst/>
          </a:prstGeom>
        </p:spPr>
      </p:pic>
      <p:sp>
        <p:nvSpPr>
          <p:cNvPr id="57" name="TextBox 56"/>
          <p:cNvSpPr txBox="1"/>
          <p:nvPr/>
        </p:nvSpPr>
        <p:spPr>
          <a:xfrm>
            <a:off x="3123488" y="477850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867150"/>
            <a:ext cx="1657350" cy="194310"/>
          </a:xfrm>
          <a:prstGeom prst="rect">
            <a:avLst/>
          </a:prstGeom>
          <a:noFill/>
        </p:spPr>
        <p:txBody>
          <a:bodyPr wrap="none" lIns="0" rIns="0" tIns="0" bIns="0">
            <a:spAutoFit/>
          </a:bodyPr>
          <a:lstStyle/>
          <a:p>
            <a:r>
              <a:rPr sz="1150" b="0">
                <a:solidFill>
                  <a:srgbClr val="2E2E2E"/>
                </a:solidFill>
                <a:latin typeface="Calibri"/>
              </a:rPr>
              <a:t>▪ 'Flat Dividers &amp; Layer Pads</a:t>
            </a:r>
          </a:p>
        </p:txBody>
      </p:sp>
      <p:sp>
        <p:nvSpPr>
          <p:cNvPr id="59" name="TextBox 58"/>
          <p:cNvSpPr txBox="1"/>
          <p:nvPr/>
        </p:nvSpPr>
        <p:spPr>
          <a:xfrm>
            <a:off x="6029325" y="4042410"/>
            <a:ext cx="1544655" cy="194310"/>
          </a:xfrm>
          <a:prstGeom prst="rect">
            <a:avLst/>
          </a:prstGeom>
          <a:noFill/>
        </p:spPr>
        <p:txBody>
          <a:bodyPr wrap="none" lIns="0" rIns="0" tIns="0" bIns="0">
            <a:spAutoFit/>
          </a:bodyPr>
          <a:lstStyle/>
          <a:p>
            <a:r>
              <a:rPr sz="1150" b="0">
                <a:solidFill>
                  <a:srgbClr val="2E2E2E"/>
                </a:solidFill>
                <a:latin typeface="Calibri"/>
              </a:rPr>
              <a:t>× Food &amp; Beverage' adds</a:t>
            </a:r>
          </a:p>
        </p:txBody>
      </p:sp>
      <p:pic>
        <p:nvPicPr>
          <p:cNvPr id="60" name="Picture 59" descr="lock.png"/>
          <p:cNvPicPr>
            <a:picLocks noChangeAspect="1"/>
          </p:cNvPicPr>
          <p:nvPr/>
        </p:nvPicPr>
        <p:blipFill>
          <a:blip r:embed="rId4"/>
          <a:stretch>
            <a:fillRect/>
          </a:stretch>
        </p:blipFill>
        <p:spPr>
          <a:xfrm>
            <a:off x="6015245" y="4207446"/>
            <a:ext cx="134549" cy="195707"/>
          </a:xfrm>
          <a:prstGeom prst="rect">
            <a:avLst/>
          </a:prstGeom>
        </p:spPr>
      </p:pic>
      <p:sp>
        <p:nvSpPr>
          <p:cNvPr id="61" name="TextBox 60"/>
          <p:cNvSpPr txBox="1"/>
          <p:nvPr/>
        </p:nvSpPr>
        <p:spPr>
          <a:xfrm>
            <a:off x="6190354" y="4217670"/>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2" name="Picture 61" descr="lock.png"/>
          <p:cNvPicPr>
            <a:picLocks noChangeAspect="1"/>
          </p:cNvPicPr>
          <p:nvPr/>
        </p:nvPicPr>
        <p:blipFill>
          <a:blip r:embed="rId4"/>
          <a:stretch>
            <a:fillRect/>
          </a:stretch>
        </p:blipFill>
        <p:spPr>
          <a:xfrm>
            <a:off x="6015245" y="4382706"/>
            <a:ext cx="134549" cy="195707"/>
          </a:xfrm>
          <a:prstGeom prst="rect">
            <a:avLst/>
          </a:prstGeom>
        </p:spPr>
      </p:pic>
      <p:sp>
        <p:nvSpPr>
          <p:cNvPr id="63" name="TextBox 62"/>
          <p:cNvSpPr txBox="1"/>
          <p:nvPr/>
        </p:nvSpPr>
        <p:spPr>
          <a:xfrm>
            <a:off x="6190354" y="439292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4" name="TextBox 63"/>
          <p:cNvSpPr txBox="1"/>
          <p:nvPr/>
        </p:nvSpPr>
        <p:spPr>
          <a:xfrm>
            <a:off x="6029325" y="456818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5" name="TextBox 64"/>
          <p:cNvSpPr txBox="1"/>
          <p:nvPr/>
        </p:nvSpPr>
        <p:spPr>
          <a:xfrm>
            <a:off x="8124825" y="3867150"/>
            <a:ext cx="1657350" cy="194310"/>
          </a:xfrm>
          <a:prstGeom prst="rect">
            <a:avLst/>
          </a:prstGeom>
          <a:noFill/>
        </p:spPr>
        <p:txBody>
          <a:bodyPr wrap="none" lIns="0" rIns="0" tIns="0" bIns="0">
            <a:spAutoFit/>
          </a:bodyPr>
          <a:lstStyle/>
          <a:p>
            <a:r>
              <a:rPr sz="1150" b="0">
                <a:solidFill>
                  <a:srgbClr val="2E2E2E"/>
                </a:solidFill>
                <a:latin typeface="Calibri"/>
              </a:rPr>
              <a:t>▪ 'Flat Dividers &amp; Layer Pads</a:t>
            </a:r>
          </a:p>
        </p:txBody>
      </p:sp>
      <p:sp>
        <p:nvSpPr>
          <p:cNvPr id="66" name="TextBox 65"/>
          <p:cNvSpPr txBox="1"/>
          <p:nvPr/>
        </p:nvSpPr>
        <p:spPr>
          <a:xfrm>
            <a:off x="8124825" y="4042410"/>
            <a:ext cx="1564940" cy="194310"/>
          </a:xfrm>
          <a:prstGeom prst="rect">
            <a:avLst/>
          </a:prstGeom>
          <a:noFill/>
        </p:spPr>
        <p:txBody>
          <a:bodyPr wrap="none" lIns="0" rIns="0" tIns="0" bIns="0">
            <a:spAutoFit/>
          </a:bodyPr>
          <a:lstStyle/>
          <a:p>
            <a:r>
              <a:rPr sz="1150" b="0">
                <a:solidFill>
                  <a:srgbClr val="2E2E2E"/>
                </a:solidFill>
                <a:latin typeface="Calibri"/>
              </a:rPr>
              <a:t>× Electronics &amp; Electrical'</a:t>
            </a:r>
          </a:p>
        </p:txBody>
      </p:sp>
      <p:sp>
        <p:nvSpPr>
          <p:cNvPr id="67" name="TextBox 66"/>
          <p:cNvSpPr txBox="1"/>
          <p:nvPr/>
        </p:nvSpPr>
        <p:spPr>
          <a:xfrm>
            <a:off x="8124825" y="421767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68" name="Picture 67" descr="lock.png"/>
          <p:cNvPicPr>
            <a:picLocks noChangeAspect="1"/>
          </p:cNvPicPr>
          <p:nvPr/>
        </p:nvPicPr>
        <p:blipFill>
          <a:blip r:embed="rId4"/>
          <a:stretch>
            <a:fillRect/>
          </a:stretch>
        </p:blipFill>
        <p:spPr>
          <a:xfrm>
            <a:off x="8763474" y="4207446"/>
            <a:ext cx="134549" cy="195707"/>
          </a:xfrm>
          <a:prstGeom prst="rect">
            <a:avLst/>
          </a:prstGeom>
        </p:spPr>
      </p:pic>
      <p:sp>
        <p:nvSpPr>
          <p:cNvPr id="69" name="TextBox 68"/>
          <p:cNvSpPr txBox="1"/>
          <p:nvPr/>
        </p:nvSpPr>
        <p:spPr>
          <a:xfrm>
            <a:off x="8938584" y="42176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9334179" y="4207446"/>
            <a:ext cx="134549" cy="195707"/>
          </a:xfrm>
          <a:prstGeom prst="rect">
            <a:avLst/>
          </a:prstGeom>
        </p:spPr>
      </p:pic>
      <p:sp>
        <p:nvSpPr>
          <p:cNvPr id="71" name="TextBox 70"/>
          <p:cNvSpPr txBox="1"/>
          <p:nvPr/>
        </p:nvSpPr>
        <p:spPr>
          <a:xfrm>
            <a:off x="8124825" y="439292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56818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Board Construction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Board Construction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board construction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Board Construction × End Use, 2026E and 2036F (US$ Mn)</a:t>
            </a:r>
          </a:p>
        </p:txBody>
      </p:sp>
      <p:graphicFrame>
        <p:nvGraphicFramePr>
          <p:cNvPr id="13" name="Table 12"/>
          <p:cNvGraphicFramePr>
            <a:graphicFrameLocks noGrp="1"/>
          </p:cNvGraphicFramePr>
          <p:nvPr/>
        </p:nvGraphicFramePr>
        <p:xfrm>
          <a:off x="152400" y="1238250"/>
          <a:ext cx="11887196" cy="1866897"/>
        </p:xfrm>
        <a:graphic>
          <a:graphicData uri="http://schemas.openxmlformats.org/drawingml/2006/table">
            <a:tbl>
              <a:tblPr>
                <a:tableStyleId>{5C22544A-7EE6-4342-B048-85BDC9FD1C3A}</a:tableStyleId>
              </a:tblPr>
              <a:tblGrid>
                <a:gridCol w="1194636"/>
                <a:gridCol w="668285"/>
                <a:gridCol w="668285"/>
                <a:gridCol w="668285"/>
                <a:gridCol w="668285"/>
                <a:gridCol w="668285"/>
                <a:gridCol w="668285"/>
                <a:gridCol w="668285"/>
                <a:gridCol w="668285"/>
                <a:gridCol w="668285"/>
                <a:gridCol w="668285"/>
                <a:gridCol w="668285"/>
                <a:gridCol w="668285"/>
                <a:gridCol w="668285"/>
                <a:gridCol w="668285"/>
                <a:gridCol w="668285"/>
                <a:gridCol w="668285"/>
              </a:tblGrid>
              <a:tr h="631697">
                <a:tc rowSpan="2">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06626" y="2344368"/>
            <a:ext cx="366712" cy="533400"/>
          </a:xfrm>
          <a:prstGeom prst="rect">
            <a:avLst/>
          </a:prstGeom>
        </p:spPr>
      </p:pic>
      <p:sp>
        <p:nvSpPr>
          <p:cNvPr id="21" name="TextBox 20"/>
          <p:cNvSpPr txBox="1"/>
          <p:nvPr/>
        </p:nvSpPr>
        <p:spPr>
          <a:xfrm>
            <a:off x="276225" y="3867150"/>
            <a:ext cx="9900629" cy="194310"/>
          </a:xfrm>
          <a:prstGeom prst="rect">
            <a:avLst/>
          </a:prstGeom>
          <a:noFill/>
        </p:spPr>
        <p:txBody>
          <a:bodyPr wrap="none" lIns="0" rIns="0" tIns="0" bIns="0">
            <a:spAutoFit/>
          </a:bodyPr>
          <a:lstStyle/>
          <a:p>
            <a:r>
              <a:rPr sz="1150" b="0">
                <a:solidFill>
                  <a:srgbClr val="2E2E2E"/>
                </a:solidFill>
                <a:latin typeface="Calibri"/>
              </a:rPr>
              <a:t>Double wall segment is projected to account for the largest share of the North America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126008" y="3856926"/>
            <a:ext cx="134549" cy="195707"/>
          </a:xfrm>
          <a:prstGeom prst="rect">
            <a:avLst/>
          </a:prstGeom>
        </p:spPr>
      </p:pic>
      <p:sp>
        <p:nvSpPr>
          <p:cNvPr id="23" name="TextBox 22"/>
          <p:cNvSpPr txBox="1"/>
          <p:nvPr/>
        </p:nvSpPr>
        <p:spPr>
          <a:xfrm>
            <a:off x="10301117" y="3867150"/>
            <a:ext cx="1492770" cy="194310"/>
          </a:xfrm>
          <a:prstGeom prst="rect">
            <a:avLst/>
          </a:prstGeom>
          <a:noFill/>
        </p:spPr>
        <p:txBody>
          <a:bodyPr wrap="none" lIns="0" rIns="0" tIns="0" bIns="0">
            <a:spAutoFit/>
          </a:bodyPr>
          <a:lstStyle/>
          <a:p>
            <a:r>
              <a:rPr sz="1150" b="0">
                <a:solidFill>
                  <a:srgbClr val="2E2E2E"/>
                </a:solidFill>
                <a:latin typeface="Calibri"/>
              </a:rPr>
              <a:t>Mn in 2036. 'Triple Wall</a:t>
            </a:r>
          </a:p>
        </p:txBody>
      </p:sp>
      <p:sp>
        <p:nvSpPr>
          <p:cNvPr id="24" name="TextBox 23"/>
          <p:cNvSpPr txBox="1"/>
          <p:nvPr/>
        </p:nvSpPr>
        <p:spPr>
          <a:xfrm>
            <a:off x="276225" y="4042410"/>
            <a:ext cx="4761210" cy="194310"/>
          </a:xfrm>
          <a:prstGeom prst="rect">
            <a:avLst/>
          </a:prstGeom>
          <a:noFill/>
        </p:spPr>
        <p:txBody>
          <a:bodyPr wrap="none" lIns="0" rIns="0" tIns="0" bIns="0">
            <a:spAutoFit/>
          </a:bodyPr>
          <a:lstStyle/>
          <a:p>
            <a:r>
              <a:rPr sz="1150" b="0">
                <a:solidFill>
                  <a:srgbClr val="2E2E2E"/>
                </a:solidFill>
                <a:latin typeface="Calibri"/>
              </a:rPr>
              <a:t>× 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4986589" y="4032186"/>
            <a:ext cx="134549" cy="195707"/>
          </a:xfrm>
          <a:prstGeom prst="rect">
            <a:avLst/>
          </a:prstGeom>
        </p:spPr>
      </p:pic>
      <p:sp>
        <p:nvSpPr>
          <p:cNvPr id="26" name="TextBox 25"/>
          <p:cNvSpPr txBox="1"/>
          <p:nvPr/>
        </p:nvSpPr>
        <p:spPr>
          <a:xfrm>
            <a:off x="5161698" y="4042410"/>
            <a:ext cx="6026578" cy="194310"/>
          </a:xfrm>
          <a:prstGeom prst="rect">
            <a:avLst/>
          </a:prstGeom>
          <a:noFill/>
        </p:spPr>
        <p:txBody>
          <a:bodyPr wrap="none" lIns="0" rIns="0" tIns="0" bIns="0">
            <a:spAutoFit/>
          </a:bodyPr>
          <a:lstStyle/>
          <a:p>
            <a:r>
              <a:rPr sz="1150" b="0">
                <a:solidFill>
                  <a:srgbClr val="2E2E2E"/>
                </a:solidFill>
                <a:latin typeface="Calibri"/>
              </a:rPr>
              <a:t>US$ Mn, 2026E), while 'Triple Wall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137430" y="4032186"/>
            <a:ext cx="134549" cy="195707"/>
          </a:xfrm>
          <a:prstGeom prst="rect">
            <a:avLst/>
          </a:prstGeom>
        </p:spPr>
      </p:pic>
      <p:sp>
        <p:nvSpPr>
          <p:cNvPr id="28" name="TextBox 27"/>
          <p:cNvSpPr txBox="1"/>
          <p:nvPr/>
        </p:nvSpPr>
        <p:spPr>
          <a:xfrm>
            <a:off x="11312540" y="4042410"/>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29" name="TextBox 28"/>
          <p:cNvSpPr txBox="1"/>
          <p:nvPr/>
        </p:nvSpPr>
        <p:spPr>
          <a:xfrm>
            <a:off x="276225" y="4217670"/>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30" name="TextBox 29"/>
          <p:cNvSpPr txBox="1"/>
          <p:nvPr/>
        </p:nvSpPr>
        <p:spPr>
          <a:xfrm>
            <a:off x="276225" y="4445507"/>
            <a:ext cx="5903652" cy="194310"/>
          </a:xfrm>
          <a:prstGeom prst="rect">
            <a:avLst/>
          </a:prstGeom>
          <a:noFill/>
        </p:spPr>
        <p:txBody>
          <a:bodyPr wrap="none" lIns="0" rIns="0" tIns="0" bIns="0">
            <a:spAutoFit/>
          </a:bodyPr>
          <a:lstStyle/>
          <a:p>
            <a:r>
              <a:rPr sz="1150" b="0">
                <a:solidFill>
                  <a:srgbClr val="2E2E2E"/>
                </a:solidFill>
                <a:latin typeface="Calibri"/>
              </a:rPr>
              <a:t>Combined, the top three board construction × end use cells generate an absolute $ opportunity of</a:t>
            </a:r>
          </a:p>
        </p:txBody>
      </p:sp>
      <p:pic>
        <p:nvPicPr>
          <p:cNvPr id="31" name="Picture 30" descr="lock.png"/>
          <p:cNvPicPr>
            <a:picLocks noChangeAspect="1"/>
          </p:cNvPicPr>
          <p:nvPr/>
        </p:nvPicPr>
        <p:blipFill>
          <a:blip r:embed="rId4"/>
          <a:stretch>
            <a:fillRect/>
          </a:stretch>
        </p:blipFill>
        <p:spPr>
          <a:xfrm>
            <a:off x="6129030" y="4435284"/>
            <a:ext cx="134549" cy="195707"/>
          </a:xfrm>
          <a:prstGeom prst="rect">
            <a:avLst/>
          </a:prstGeom>
        </p:spPr>
      </p:pic>
      <p:sp>
        <p:nvSpPr>
          <p:cNvPr id="32" name="TextBox 31"/>
          <p:cNvSpPr txBox="1"/>
          <p:nvPr/>
        </p:nvSpPr>
        <p:spPr>
          <a:xfrm>
            <a:off x="6304140" y="444550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Board Construction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Board Construction × End Use, 2026E (% of each row)</a:t>
            </a:r>
          </a:p>
        </p:txBody>
      </p:sp>
      <p:graphicFrame>
        <p:nvGraphicFramePr>
          <p:cNvPr id="13" name="Table 12"/>
          <p:cNvGraphicFramePr>
            <a:graphicFrameLocks noGrp="1"/>
          </p:cNvGraphicFramePr>
          <p:nvPr/>
        </p:nvGraphicFramePr>
        <p:xfrm>
          <a:off x="152400" y="1238250"/>
          <a:ext cx="11887199" cy="1428752"/>
        </p:xfrm>
        <a:graphic>
          <a:graphicData uri="http://schemas.openxmlformats.org/drawingml/2006/table">
            <a:tbl>
              <a:tblPr>
                <a:tableStyleId>{5C22544A-7EE6-4342-B048-85BDC9FD1C3A}</a:tableStyleId>
              </a:tblPr>
              <a:tblGrid>
                <a:gridCol w="1189472"/>
                <a:gridCol w="1038980"/>
                <a:gridCol w="1746668"/>
                <a:gridCol w="1503046"/>
                <a:gridCol w="1320921"/>
                <a:gridCol w="2056497"/>
                <a:gridCol w="1973435"/>
                <a:gridCol w="514374"/>
                <a:gridCol w="543806"/>
              </a:tblGrid>
              <a:tr h="438912">
                <a:tc>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7286625"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0670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Board Construction, 2026E (% share)</a:t>
            </a:r>
          </a:p>
        </p:txBody>
      </p:sp>
      <p:graphicFrame>
        <p:nvGraphicFramePr>
          <p:cNvPr id="17" name="Chart 16"/>
          <p:cNvGraphicFramePr>
            <a:graphicFrameLocks noGrp="1"/>
          </p:cNvGraphicFramePr>
          <p:nvPr/>
        </p:nvGraphicFramePr>
        <p:xfrm>
          <a:off x="238125" y="3295650"/>
          <a:ext cx="7096125" cy="32766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009900"/>
            <a:ext cx="4457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0956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3337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419475"/>
            <a:ext cx="41910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504045" y="1905381"/>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990419"/>
            <a:ext cx="440818" cy="641190"/>
          </a:xfrm>
          <a:prstGeom prst="rect">
            <a:avLst/>
          </a:prstGeom>
        </p:spPr>
      </p:pic>
      <p:sp>
        <p:nvSpPr>
          <p:cNvPr id="25" name="TextBox 24"/>
          <p:cNvSpPr txBox="1"/>
          <p:nvPr/>
        </p:nvSpPr>
        <p:spPr>
          <a:xfrm>
            <a:off x="7715250" y="3429000"/>
            <a:ext cx="3948807" cy="194310"/>
          </a:xfrm>
          <a:prstGeom prst="rect">
            <a:avLst/>
          </a:prstGeom>
          <a:noFill/>
        </p:spPr>
        <p:txBody>
          <a:bodyPr wrap="none" lIns="0" rIns="0" tIns="0" bIns="0">
            <a:spAutoFit/>
          </a:bodyPr>
          <a:lstStyle/>
          <a:p>
            <a:r>
              <a:rPr sz="1150" b="0">
                <a:solidFill>
                  <a:srgbClr val="2E2E2E"/>
                </a:solidFill>
                <a:latin typeface="Calibri"/>
              </a:rPr>
              <a:t>▪ 'Glassware, Ceramics &amp; Home Goods' holds the highest share of</a:t>
            </a:r>
          </a:p>
        </p:txBody>
      </p:sp>
      <p:sp>
        <p:nvSpPr>
          <p:cNvPr id="26" name="TextBox 25"/>
          <p:cNvSpPr txBox="1"/>
          <p:nvPr/>
        </p:nvSpPr>
        <p:spPr>
          <a:xfrm>
            <a:off x="7715250" y="3604260"/>
            <a:ext cx="932246" cy="194310"/>
          </a:xfrm>
          <a:prstGeom prst="rect">
            <a:avLst/>
          </a:prstGeom>
          <a:noFill/>
        </p:spPr>
        <p:txBody>
          <a:bodyPr wrap="none" lIns="0" rIns="0" tIns="0" bIns="0">
            <a:spAutoFit/>
          </a:bodyPr>
          <a:lstStyle/>
          <a:p>
            <a:r>
              <a:rPr sz="1150" b="0">
                <a:solidFill>
                  <a:srgbClr val="2E2E2E"/>
                </a:solidFill>
                <a:latin typeface="Calibri"/>
              </a:rPr>
              <a:t>'Triple Wall' at</a:t>
            </a:r>
          </a:p>
        </p:txBody>
      </p:sp>
      <p:pic>
        <p:nvPicPr>
          <p:cNvPr id="27" name="Picture 26" descr="lock.png"/>
          <p:cNvPicPr>
            <a:picLocks noChangeAspect="1"/>
          </p:cNvPicPr>
          <p:nvPr/>
        </p:nvPicPr>
        <p:blipFill>
          <a:blip r:embed="rId5"/>
          <a:stretch>
            <a:fillRect/>
          </a:stretch>
        </p:blipFill>
        <p:spPr>
          <a:xfrm>
            <a:off x="8596650" y="3594036"/>
            <a:ext cx="134549" cy="195707"/>
          </a:xfrm>
          <a:prstGeom prst="rect">
            <a:avLst/>
          </a:prstGeom>
        </p:spPr>
      </p:pic>
      <p:sp>
        <p:nvSpPr>
          <p:cNvPr id="28" name="TextBox 27"/>
          <p:cNvSpPr txBox="1"/>
          <p:nvPr/>
        </p:nvSpPr>
        <p:spPr>
          <a:xfrm>
            <a:off x="8771760" y="36042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3832097"/>
            <a:ext cx="3547454" cy="194310"/>
          </a:xfrm>
          <a:prstGeom prst="rect">
            <a:avLst/>
          </a:prstGeom>
          <a:noFill/>
        </p:spPr>
        <p:txBody>
          <a:bodyPr wrap="none" lIns="0" rIns="0" tIns="0" bIns="0">
            <a:spAutoFit/>
          </a:bodyPr>
          <a:lstStyle/>
          <a:p>
            <a:r>
              <a:rPr sz="1150" b="0">
                <a:solidFill>
                  <a:srgbClr val="2E2E2E"/>
                </a:solidFill>
                <a:latin typeface="Calibri"/>
              </a:rPr>
              <a:t>▪ 'Triple Wall' is the most concentrated board construction</a:t>
            </a:r>
          </a:p>
        </p:txBody>
      </p:sp>
      <p:sp>
        <p:nvSpPr>
          <p:cNvPr id="30" name="TextBox 29"/>
          <p:cNvSpPr txBox="1"/>
          <p:nvPr/>
        </p:nvSpPr>
        <p:spPr>
          <a:xfrm>
            <a:off x="7715250" y="40073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3997134"/>
            <a:ext cx="134549" cy="195707"/>
          </a:xfrm>
          <a:prstGeom prst="rect">
            <a:avLst/>
          </a:prstGeom>
        </p:spPr>
      </p:pic>
      <p:sp>
        <p:nvSpPr>
          <p:cNvPr id="32" name="TextBox 31"/>
          <p:cNvSpPr txBox="1"/>
          <p:nvPr/>
        </p:nvSpPr>
        <p:spPr>
          <a:xfrm>
            <a:off x="9018219" y="4007357"/>
            <a:ext cx="2731913" cy="194310"/>
          </a:xfrm>
          <a:prstGeom prst="rect">
            <a:avLst/>
          </a:prstGeom>
          <a:noFill/>
        </p:spPr>
        <p:txBody>
          <a:bodyPr wrap="none" lIns="0" rIns="0" tIns="0" bIns="0">
            <a:spAutoFit/>
          </a:bodyPr>
          <a:lstStyle/>
          <a:p>
            <a:r>
              <a:rPr sz="1150" b="0">
                <a:solidFill>
                  <a:srgbClr val="2E2E2E"/>
                </a:solidFill>
                <a:latin typeface="Calibri"/>
              </a:rPr>
              <a:t>of its value via 'Glassware, Ceramics &amp; Home</a:t>
            </a:r>
          </a:p>
        </p:txBody>
      </p:sp>
      <p:sp>
        <p:nvSpPr>
          <p:cNvPr id="33" name="TextBox 32"/>
          <p:cNvSpPr txBox="1"/>
          <p:nvPr/>
        </p:nvSpPr>
        <p:spPr>
          <a:xfrm>
            <a:off x="7715250" y="4182617"/>
            <a:ext cx="525189" cy="194310"/>
          </a:xfrm>
          <a:prstGeom prst="rect">
            <a:avLst/>
          </a:prstGeom>
          <a:noFill/>
        </p:spPr>
        <p:txBody>
          <a:bodyPr wrap="none" lIns="0" rIns="0" tIns="0" bIns="0">
            <a:spAutoFit/>
          </a:bodyPr>
          <a:lstStyle/>
          <a:p>
            <a:r>
              <a:rPr sz="1150" b="0">
                <a:solidFill>
                  <a:srgbClr val="2E2E2E"/>
                </a:solidFill>
                <a:latin typeface="Calibri"/>
              </a:rPr>
              <a:t>Goods'.</a:t>
            </a:r>
          </a:p>
        </p:txBody>
      </p:sp>
      <p:sp>
        <p:nvSpPr>
          <p:cNvPr id="34" name="TextBox 33"/>
          <p:cNvSpPr txBox="1"/>
          <p:nvPr/>
        </p:nvSpPr>
        <p:spPr>
          <a:xfrm>
            <a:off x="7715250" y="441045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400232"/>
            <a:ext cx="134549" cy="195707"/>
          </a:xfrm>
          <a:prstGeom prst="rect">
            <a:avLst/>
          </a:prstGeom>
        </p:spPr>
      </p:pic>
      <p:sp>
        <p:nvSpPr>
          <p:cNvPr id="36" name="TextBox 35"/>
          <p:cNvSpPr txBox="1"/>
          <p:nvPr/>
        </p:nvSpPr>
        <p:spPr>
          <a:xfrm>
            <a:off x="9860574" y="4410455"/>
            <a:ext cx="1581199" cy="194310"/>
          </a:xfrm>
          <a:prstGeom prst="rect">
            <a:avLst/>
          </a:prstGeom>
          <a:noFill/>
        </p:spPr>
        <p:txBody>
          <a:bodyPr wrap="none" lIns="0" rIns="0" tIns="0" bIns="0">
            <a:spAutoFit/>
          </a:bodyPr>
          <a:lstStyle/>
          <a:p>
            <a:r>
              <a:rPr sz="1150" b="0">
                <a:solidFill>
                  <a:srgbClr val="2E2E2E"/>
                </a:solidFill>
                <a:latin typeface="Calibri"/>
              </a:rPr>
              <a:t>BPS of share of the North</a:t>
            </a:r>
          </a:p>
        </p:txBody>
      </p:sp>
      <p:sp>
        <p:nvSpPr>
          <p:cNvPr id="37" name="TextBox 36"/>
          <p:cNvSpPr txBox="1"/>
          <p:nvPr/>
        </p:nvSpPr>
        <p:spPr>
          <a:xfrm>
            <a:off x="7715250" y="4585715"/>
            <a:ext cx="1986046" cy="194310"/>
          </a:xfrm>
          <a:prstGeom prst="rect">
            <a:avLst/>
          </a:prstGeom>
          <a:noFill/>
        </p:spPr>
        <p:txBody>
          <a:bodyPr wrap="none" lIns="0" rIns="0" tIns="0" bIns="0">
            <a:spAutoFit/>
          </a:bodyPr>
          <a:lstStyle/>
          <a:p>
            <a:r>
              <a:rPr sz="1150" b="0">
                <a:solidFill>
                  <a:srgbClr val="2E2E2E"/>
                </a:solidFill>
                <a:latin typeface="Calibri"/>
              </a:rPr>
              <a:t>America cross-section by 2036F.</a:t>
            </a:r>
          </a:p>
        </p:txBody>
      </p:sp>
      <p:sp>
        <p:nvSpPr>
          <p:cNvPr id="38" name="lockshield_17"/>
          <p:cNvSpPr/>
          <p:nvPr/>
        </p:nvSpPr>
        <p:spPr>
          <a:xfrm>
            <a:off x="238125" y="3295650"/>
            <a:ext cx="7096125" cy="32766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Board Construction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Board Construction × End Use, 2026E–2036F</a:t>
            </a:r>
          </a:p>
        </p:txBody>
      </p:sp>
      <p:graphicFrame>
        <p:nvGraphicFramePr>
          <p:cNvPr id="13" name="Table 12"/>
          <p:cNvGraphicFramePr>
            <a:graphicFrameLocks noGrp="1"/>
          </p:cNvGraphicFramePr>
          <p:nvPr/>
        </p:nvGraphicFramePr>
        <p:xfrm>
          <a:off x="152400" y="1238250"/>
          <a:ext cx="11887197" cy="1866897"/>
        </p:xfrm>
        <a:graphic>
          <a:graphicData uri="http://schemas.openxmlformats.org/drawingml/2006/table">
            <a:tbl>
              <a:tblPr>
                <a:tableStyleId>{5C22544A-7EE6-4342-B048-85BDC9FD1C3A}</a:tableStyleId>
              </a:tblPr>
              <a:tblGrid>
                <a:gridCol w="986381"/>
                <a:gridCol w="681301"/>
                <a:gridCol w="681301"/>
                <a:gridCol w="681301"/>
                <a:gridCol w="681301"/>
                <a:gridCol w="681301"/>
                <a:gridCol w="681301"/>
                <a:gridCol w="681301"/>
                <a:gridCol w="681301"/>
                <a:gridCol w="681301"/>
                <a:gridCol w="681301"/>
                <a:gridCol w="681301"/>
                <a:gridCol w="681301"/>
                <a:gridCol w="681301"/>
                <a:gridCol w="681301"/>
                <a:gridCol w="681301"/>
                <a:gridCol w="681301"/>
              </a:tblGrid>
              <a:tr h="631697">
                <a:tc rowSpan="2">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53340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'Double Wall × Food &amp; Beverage' ranks highest (5/5); 'Single Wall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02499" y="2344368"/>
            <a:ext cx="366712" cy="533400"/>
          </a:xfrm>
          <a:prstGeom prst="rect">
            <a:avLst/>
          </a:prstGeom>
        </p:spPr>
      </p:pic>
      <p:sp>
        <p:nvSpPr>
          <p:cNvPr id="33" name="TextBox 32"/>
          <p:cNvSpPr txBox="1"/>
          <p:nvPr/>
        </p:nvSpPr>
        <p:spPr>
          <a:xfrm>
            <a:off x="276225" y="3867150"/>
            <a:ext cx="2293732" cy="194310"/>
          </a:xfrm>
          <a:prstGeom prst="rect">
            <a:avLst/>
          </a:prstGeom>
          <a:noFill/>
        </p:spPr>
        <p:txBody>
          <a:bodyPr wrap="none" lIns="0" rIns="0" tIns="0" bIns="0">
            <a:spAutoFit/>
          </a:bodyPr>
          <a:lstStyle/>
          <a:p>
            <a:r>
              <a:rPr sz="1150" b="0">
                <a:solidFill>
                  <a:srgbClr val="2E2E2E"/>
                </a:solidFill>
                <a:latin typeface="Calibri"/>
              </a:rPr>
              <a:t>▪ 1. Double Wall × Food &amp; Beverage –</a:t>
            </a:r>
          </a:p>
        </p:txBody>
      </p:sp>
      <p:pic>
        <p:nvPicPr>
          <p:cNvPr id="34" name="Picture 33" descr="lock.png"/>
          <p:cNvPicPr>
            <a:picLocks noChangeAspect="1"/>
          </p:cNvPicPr>
          <p:nvPr/>
        </p:nvPicPr>
        <p:blipFill>
          <a:blip r:embed="rId4"/>
          <a:stretch>
            <a:fillRect/>
          </a:stretch>
        </p:blipFill>
        <p:spPr>
          <a:xfrm>
            <a:off x="2519111" y="3856926"/>
            <a:ext cx="134549" cy="195707"/>
          </a:xfrm>
          <a:prstGeom prst="rect">
            <a:avLst/>
          </a:prstGeom>
        </p:spPr>
      </p:pic>
      <p:sp>
        <p:nvSpPr>
          <p:cNvPr id="35" name="TextBox 34"/>
          <p:cNvSpPr txBox="1"/>
          <p:nvPr/>
        </p:nvSpPr>
        <p:spPr>
          <a:xfrm>
            <a:off x="2694220" y="38671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756372" y="3856926"/>
            <a:ext cx="134549" cy="195707"/>
          </a:xfrm>
          <a:prstGeom prst="rect">
            <a:avLst/>
          </a:prstGeom>
        </p:spPr>
      </p:pic>
      <p:sp>
        <p:nvSpPr>
          <p:cNvPr id="37" name="TextBox 36"/>
          <p:cNvSpPr txBox="1"/>
          <p:nvPr/>
        </p:nvSpPr>
        <p:spPr>
          <a:xfrm>
            <a:off x="2931481" y="38671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094987"/>
            <a:ext cx="2627510" cy="194310"/>
          </a:xfrm>
          <a:prstGeom prst="rect">
            <a:avLst/>
          </a:prstGeom>
          <a:noFill/>
        </p:spPr>
        <p:txBody>
          <a:bodyPr wrap="none" lIns="0" rIns="0" tIns="0" bIns="0">
            <a:spAutoFit/>
          </a:bodyPr>
          <a:lstStyle/>
          <a:p>
            <a:r>
              <a:rPr sz="1150" b="0">
                <a:solidFill>
                  <a:srgbClr val="2E2E2E"/>
                </a:solidFill>
                <a:latin typeface="Calibri"/>
              </a:rPr>
              <a:t>▪ 2. Double Wall × Electronics &amp; Electrical –</a:t>
            </a:r>
          </a:p>
        </p:txBody>
      </p:sp>
      <p:pic>
        <p:nvPicPr>
          <p:cNvPr id="39" name="Picture 38" descr="lock.png"/>
          <p:cNvPicPr>
            <a:picLocks noChangeAspect="1"/>
          </p:cNvPicPr>
          <p:nvPr/>
        </p:nvPicPr>
        <p:blipFill>
          <a:blip r:embed="rId4"/>
          <a:stretch>
            <a:fillRect/>
          </a:stretch>
        </p:blipFill>
        <p:spPr>
          <a:xfrm>
            <a:off x="2852889" y="4084764"/>
            <a:ext cx="134549" cy="195707"/>
          </a:xfrm>
          <a:prstGeom prst="rect">
            <a:avLst/>
          </a:prstGeom>
        </p:spPr>
      </p:pic>
      <p:sp>
        <p:nvSpPr>
          <p:cNvPr id="40" name="TextBox 39"/>
          <p:cNvSpPr txBox="1"/>
          <p:nvPr/>
        </p:nvSpPr>
        <p:spPr>
          <a:xfrm>
            <a:off x="3027999" y="409498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090150" y="4084764"/>
            <a:ext cx="134549" cy="195707"/>
          </a:xfrm>
          <a:prstGeom prst="rect">
            <a:avLst/>
          </a:prstGeom>
        </p:spPr>
      </p:pic>
      <p:sp>
        <p:nvSpPr>
          <p:cNvPr id="42" name="TextBox 41"/>
          <p:cNvSpPr txBox="1"/>
          <p:nvPr/>
        </p:nvSpPr>
        <p:spPr>
          <a:xfrm>
            <a:off x="3265260" y="409498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22825"/>
            <a:ext cx="3343783" cy="194310"/>
          </a:xfrm>
          <a:prstGeom prst="rect">
            <a:avLst/>
          </a:prstGeom>
          <a:noFill/>
        </p:spPr>
        <p:txBody>
          <a:bodyPr wrap="none" lIns="0" rIns="0" tIns="0" bIns="0">
            <a:spAutoFit/>
          </a:bodyPr>
          <a:lstStyle/>
          <a:p>
            <a:r>
              <a:rPr sz="1150" b="0">
                <a:solidFill>
                  <a:srgbClr val="2E2E2E"/>
                </a:solidFill>
                <a:latin typeface="Calibri"/>
              </a:rPr>
              <a:t>▪ 3. Triple Wall × Glassware, Ceramics &amp; Home Goods –</a:t>
            </a:r>
          </a:p>
        </p:txBody>
      </p:sp>
      <p:pic>
        <p:nvPicPr>
          <p:cNvPr id="44" name="Picture 43" descr="lock.png"/>
          <p:cNvPicPr>
            <a:picLocks noChangeAspect="1"/>
          </p:cNvPicPr>
          <p:nvPr/>
        </p:nvPicPr>
        <p:blipFill>
          <a:blip r:embed="rId4"/>
          <a:stretch>
            <a:fillRect/>
          </a:stretch>
        </p:blipFill>
        <p:spPr>
          <a:xfrm>
            <a:off x="3569162" y="4312602"/>
            <a:ext cx="134549" cy="195707"/>
          </a:xfrm>
          <a:prstGeom prst="rect">
            <a:avLst/>
          </a:prstGeom>
        </p:spPr>
      </p:pic>
      <p:sp>
        <p:nvSpPr>
          <p:cNvPr id="45" name="TextBox 44"/>
          <p:cNvSpPr txBox="1"/>
          <p:nvPr/>
        </p:nvSpPr>
        <p:spPr>
          <a:xfrm>
            <a:off x="3744271" y="43228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806423" y="4312602"/>
            <a:ext cx="134549" cy="195707"/>
          </a:xfrm>
          <a:prstGeom prst="rect">
            <a:avLst/>
          </a:prstGeom>
        </p:spPr>
      </p:pic>
      <p:sp>
        <p:nvSpPr>
          <p:cNvPr id="47" name="TextBox 46"/>
          <p:cNvSpPr txBox="1"/>
          <p:nvPr/>
        </p:nvSpPr>
        <p:spPr>
          <a:xfrm>
            <a:off x="3981532" y="4322825"/>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8" name="TextBox 47"/>
          <p:cNvSpPr txBox="1"/>
          <p:nvPr/>
        </p:nvSpPr>
        <p:spPr>
          <a:xfrm>
            <a:off x="276225" y="4550663"/>
            <a:ext cx="2206159" cy="194310"/>
          </a:xfrm>
          <a:prstGeom prst="rect">
            <a:avLst/>
          </a:prstGeom>
          <a:noFill/>
        </p:spPr>
        <p:txBody>
          <a:bodyPr wrap="none" lIns="0" rIns="0" tIns="0" bIns="0">
            <a:spAutoFit/>
          </a:bodyPr>
          <a:lstStyle/>
          <a:p>
            <a:r>
              <a:rPr sz="1150" b="0">
                <a:solidFill>
                  <a:srgbClr val="2E2E2E"/>
                </a:solidFill>
                <a:latin typeface="Calibri"/>
              </a:rPr>
              <a:t>▪ 4. Triple Wall × Food &amp; Beverage –</a:t>
            </a:r>
          </a:p>
        </p:txBody>
      </p:sp>
      <p:pic>
        <p:nvPicPr>
          <p:cNvPr id="49" name="Picture 48" descr="lock.png"/>
          <p:cNvPicPr>
            <a:picLocks noChangeAspect="1"/>
          </p:cNvPicPr>
          <p:nvPr/>
        </p:nvPicPr>
        <p:blipFill>
          <a:blip r:embed="rId4"/>
          <a:stretch>
            <a:fillRect/>
          </a:stretch>
        </p:blipFill>
        <p:spPr>
          <a:xfrm>
            <a:off x="2431538" y="4540440"/>
            <a:ext cx="134549" cy="195707"/>
          </a:xfrm>
          <a:prstGeom prst="rect">
            <a:avLst/>
          </a:prstGeom>
        </p:spPr>
      </p:pic>
      <p:sp>
        <p:nvSpPr>
          <p:cNvPr id="50" name="TextBox 49"/>
          <p:cNvSpPr txBox="1"/>
          <p:nvPr/>
        </p:nvSpPr>
        <p:spPr>
          <a:xfrm>
            <a:off x="2606647" y="45506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668799" y="4540440"/>
            <a:ext cx="134549" cy="195707"/>
          </a:xfrm>
          <a:prstGeom prst="rect">
            <a:avLst/>
          </a:prstGeom>
        </p:spPr>
      </p:pic>
      <p:sp>
        <p:nvSpPr>
          <p:cNvPr id="52" name="TextBox 51"/>
          <p:cNvSpPr txBox="1"/>
          <p:nvPr/>
        </p:nvSpPr>
        <p:spPr>
          <a:xfrm>
            <a:off x="2843908" y="455066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778501"/>
            <a:ext cx="2539937" cy="194310"/>
          </a:xfrm>
          <a:prstGeom prst="rect">
            <a:avLst/>
          </a:prstGeom>
          <a:noFill/>
        </p:spPr>
        <p:txBody>
          <a:bodyPr wrap="none" lIns="0" rIns="0" tIns="0" bIns="0">
            <a:spAutoFit/>
          </a:bodyPr>
          <a:lstStyle/>
          <a:p>
            <a:r>
              <a:rPr sz="1150" b="0">
                <a:solidFill>
                  <a:srgbClr val="2E2E2E"/>
                </a:solidFill>
                <a:latin typeface="Calibri"/>
              </a:rPr>
              <a:t>▪ 5. Triple Wall × Electronics &amp; Electrical –</a:t>
            </a:r>
          </a:p>
        </p:txBody>
      </p:sp>
      <p:pic>
        <p:nvPicPr>
          <p:cNvPr id="54" name="Picture 53" descr="lock.png"/>
          <p:cNvPicPr>
            <a:picLocks noChangeAspect="1"/>
          </p:cNvPicPr>
          <p:nvPr/>
        </p:nvPicPr>
        <p:blipFill>
          <a:blip r:embed="rId4"/>
          <a:stretch>
            <a:fillRect/>
          </a:stretch>
        </p:blipFill>
        <p:spPr>
          <a:xfrm>
            <a:off x="2765316" y="4768278"/>
            <a:ext cx="134549" cy="195707"/>
          </a:xfrm>
          <a:prstGeom prst="rect">
            <a:avLst/>
          </a:prstGeom>
        </p:spPr>
      </p:pic>
      <p:sp>
        <p:nvSpPr>
          <p:cNvPr id="55" name="TextBox 54"/>
          <p:cNvSpPr txBox="1"/>
          <p:nvPr/>
        </p:nvSpPr>
        <p:spPr>
          <a:xfrm>
            <a:off x="2940426" y="47785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002577" y="4768278"/>
            <a:ext cx="134549" cy="195707"/>
          </a:xfrm>
          <a:prstGeom prst="rect">
            <a:avLst/>
          </a:prstGeom>
        </p:spPr>
      </p:pic>
      <p:sp>
        <p:nvSpPr>
          <p:cNvPr id="57" name="TextBox 56"/>
          <p:cNvSpPr txBox="1"/>
          <p:nvPr/>
        </p:nvSpPr>
        <p:spPr>
          <a:xfrm>
            <a:off x="3177687" y="477850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8" name="TextBox 57"/>
          <p:cNvSpPr txBox="1"/>
          <p:nvPr/>
        </p:nvSpPr>
        <p:spPr>
          <a:xfrm>
            <a:off x="6029325" y="3867150"/>
            <a:ext cx="1489601" cy="194310"/>
          </a:xfrm>
          <a:prstGeom prst="rect">
            <a:avLst/>
          </a:prstGeom>
          <a:noFill/>
        </p:spPr>
        <p:txBody>
          <a:bodyPr wrap="none" lIns="0" rIns="0" tIns="0" bIns="0">
            <a:spAutoFit/>
          </a:bodyPr>
          <a:lstStyle/>
          <a:p>
            <a:r>
              <a:rPr sz="1150" b="0">
                <a:solidFill>
                  <a:srgbClr val="2E2E2E"/>
                </a:solidFill>
                <a:latin typeface="Calibri"/>
              </a:rPr>
              <a:t>▪ 'Double Wall × Food &amp;</a:t>
            </a:r>
          </a:p>
        </p:txBody>
      </p:sp>
      <p:sp>
        <p:nvSpPr>
          <p:cNvPr id="59" name="TextBox 58"/>
          <p:cNvSpPr txBox="1"/>
          <p:nvPr/>
        </p:nvSpPr>
        <p:spPr>
          <a:xfrm>
            <a:off x="6029325" y="4042410"/>
            <a:ext cx="975320" cy="194310"/>
          </a:xfrm>
          <a:prstGeom prst="rect">
            <a:avLst/>
          </a:prstGeom>
          <a:noFill/>
        </p:spPr>
        <p:txBody>
          <a:bodyPr wrap="none" lIns="0" rIns="0" tIns="0" bIns="0">
            <a:spAutoFit/>
          </a:bodyPr>
          <a:lstStyle/>
          <a:p>
            <a:r>
              <a:rPr sz="1150" b="0">
                <a:solidFill>
                  <a:srgbClr val="2E2E2E"/>
                </a:solidFill>
                <a:latin typeface="Calibri"/>
              </a:rPr>
              <a:t>Beverage' adds</a:t>
            </a:r>
          </a:p>
        </p:txBody>
      </p:sp>
      <p:pic>
        <p:nvPicPr>
          <p:cNvPr id="60" name="Picture 59" descr="lock.png"/>
          <p:cNvPicPr>
            <a:picLocks noChangeAspect="1"/>
          </p:cNvPicPr>
          <p:nvPr/>
        </p:nvPicPr>
        <p:blipFill>
          <a:blip r:embed="rId4"/>
          <a:stretch>
            <a:fillRect/>
          </a:stretch>
        </p:blipFill>
        <p:spPr>
          <a:xfrm>
            <a:off x="6953799" y="4032186"/>
            <a:ext cx="134549" cy="195707"/>
          </a:xfrm>
          <a:prstGeom prst="rect">
            <a:avLst/>
          </a:prstGeom>
        </p:spPr>
      </p:pic>
      <p:sp>
        <p:nvSpPr>
          <p:cNvPr id="61" name="TextBox 60"/>
          <p:cNvSpPr txBox="1"/>
          <p:nvPr/>
        </p:nvSpPr>
        <p:spPr>
          <a:xfrm>
            <a:off x="7128908" y="404241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2" name="TextBox 61"/>
          <p:cNvSpPr txBox="1"/>
          <p:nvPr/>
        </p:nvSpPr>
        <p:spPr>
          <a:xfrm>
            <a:off x="6029325" y="4217670"/>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207446"/>
            <a:ext cx="134549" cy="195707"/>
          </a:xfrm>
          <a:prstGeom prst="rect">
            <a:avLst/>
          </a:prstGeom>
        </p:spPr>
      </p:pic>
      <p:sp>
        <p:nvSpPr>
          <p:cNvPr id="64" name="TextBox 63"/>
          <p:cNvSpPr txBox="1"/>
          <p:nvPr/>
        </p:nvSpPr>
        <p:spPr>
          <a:xfrm>
            <a:off x="7110081" y="4217670"/>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5" name="TextBox 64"/>
          <p:cNvSpPr txBox="1"/>
          <p:nvPr/>
        </p:nvSpPr>
        <p:spPr>
          <a:xfrm>
            <a:off x="6029325" y="439292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6" name="TextBox 65"/>
          <p:cNvSpPr txBox="1"/>
          <p:nvPr/>
        </p:nvSpPr>
        <p:spPr>
          <a:xfrm>
            <a:off x="8124825" y="3867150"/>
            <a:ext cx="1617712" cy="194310"/>
          </a:xfrm>
          <a:prstGeom prst="rect">
            <a:avLst/>
          </a:prstGeom>
          <a:noFill/>
        </p:spPr>
        <p:txBody>
          <a:bodyPr wrap="none" lIns="0" rIns="0" tIns="0" bIns="0">
            <a:spAutoFit/>
          </a:bodyPr>
          <a:lstStyle/>
          <a:p>
            <a:r>
              <a:rPr sz="1150" b="0">
                <a:solidFill>
                  <a:srgbClr val="2E2E2E"/>
                </a:solidFill>
                <a:latin typeface="Calibri"/>
              </a:rPr>
              <a:t>▪ 'Triple Wall × Electronics</a:t>
            </a:r>
          </a:p>
        </p:txBody>
      </p:sp>
      <p:sp>
        <p:nvSpPr>
          <p:cNvPr id="67" name="TextBox 66"/>
          <p:cNvSpPr txBox="1"/>
          <p:nvPr/>
        </p:nvSpPr>
        <p:spPr>
          <a:xfrm>
            <a:off x="8124825" y="4042410"/>
            <a:ext cx="1426306" cy="194310"/>
          </a:xfrm>
          <a:prstGeom prst="rect">
            <a:avLst/>
          </a:prstGeom>
          <a:noFill/>
        </p:spPr>
        <p:txBody>
          <a:bodyPr wrap="none" lIns="0" rIns="0" t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032186"/>
            <a:ext cx="134549" cy="195707"/>
          </a:xfrm>
          <a:prstGeom prst="rect">
            <a:avLst/>
          </a:prstGeom>
        </p:spPr>
      </p:pic>
      <p:sp>
        <p:nvSpPr>
          <p:cNvPr id="69" name="TextBox 68"/>
          <p:cNvSpPr txBox="1"/>
          <p:nvPr/>
        </p:nvSpPr>
        <p:spPr>
          <a:xfrm>
            <a:off x="8124825" y="42176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207446"/>
            <a:ext cx="134549" cy="195707"/>
          </a:xfrm>
          <a:prstGeom prst="rect">
            <a:avLst/>
          </a:prstGeom>
        </p:spPr>
      </p:pic>
      <p:sp>
        <p:nvSpPr>
          <p:cNvPr id="71" name="TextBox 70"/>
          <p:cNvSpPr txBox="1"/>
          <p:nvPr/>
        </p:nvSpPr>
        <p:spPr>
          <a:xfrm>
            <a:off x="8695529" y="4217670"/>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39292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Cell Configuration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Cell Configuration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cell configuration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Cell Configuration × End Use, 2026E and 2036F (US$ Mn)</a:t>
            </a:r>
          </a:p>
        </p:txBody>
      </p:sp>
      <p:graphicFrame>
        <p:nvGraphicFramePr>
          <p:cNvPr id="13" name="Table 12"/>
          <p:cNvGraphicFramePr>
            <a:graphicFrameLocks noGrp="1"/>
          </p:cNvGraphicFramePr>
          <p:nvPr/>
        </p:nvGraphicFramePr>
        <p:xfrm>
          <a:off x="152400" y="1238250"/>
          <a:ext cx="11887202" cy="2114549"/>
        </p:xfrm>
        <a:graphic>
          <a:graphicData uri="http://schemas.openxmlformats.org/drawingml/2006/table">
            <a:tbl>
              <a:tblPr>
                <a:tableStyleId>{5C22544A-7EE6-4342-B048-85BDC9FD1C3A}</a:tableStyleId>
              </a:tblPr>
              <a:tblGrid>
                <a:gridCol w="1370418"/>
                <a:gridCol w="657299"/>
                <a:gridCol w="657299"/>
                <a:gridCol w="657299"/>
                <a:gridCol w="657299"/>
                <a:gridCol w="657299"/>
                <a:gridCol w="657299"/>
                <a:gridCol w="657299"/>
                <a:gridCol w="657299"/>
                <a:gridCol w="657299"/>
                <a:gridCol w="657299"/>
                <a:gridCol w="657299"/>
                <a:gridCol w="657299"/>
                <a:gridCol w="657299"/>
                <a:gridCol w="657299"/>
                <a:gridCol w="657299"/>
                <a:gridCol w="657299"/>
              </a:tblGrid>
              <a:tr h="631697">
                <a:tc rowSpan="2">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142">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814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05275"/>
            <a:ext cx="1163955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4519" y="2468245"/>
            <a:ext cx="366712" cy="533400"/>
          </a:xfrm>
          <a:prstGeom prst="rect">
            <a:avLst/>
          </a:prstGeom>
        </p:spPr>
      </p:pic>
      <p:sp>
        <p:nvSpPr>
          <p:cNvPr id="21" name="TextBox 20"/>
          <p:cNvSpPr txBox="1"/>
          <p:nvPr/>
        </p:nvSpPr>
        <p:spPr>
          <a:xfrm>
            <a:off x="276225" y="4114800"/>
            <a:ext cx="9928299" cy="194310"/>
          </a:xfrm>
          <a:prstGeom prst="rect">
            <a:avLst/>
          </a:prstGeom>
          <a:noFill/>
        </p:spPr>
        <p:txBody>
          <a:bodyPr wrap="none" lIns="0" rIns="0" tIns="0" bIns="0">
            <a:spAutoFit/>
          </a:bodyPr>
          <a:lstStyle/>
          <a:p>
            <a:r>
              <a:rPr sz="1150" b="0">
                <a:solidFill>
                  <a:srgbClr val="2E2E2E"/>
                </a:solidFill>
                <a:latin typeface="Calibri"/>
              </a:rPr>
              <a:t>Up to 4 cells segment is projected to account for the largest share of the North America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153678" y="4104576"/>
            <a:ext cx="134549" cy="195707"/>
          </a:xfrm>
          <a:prstGeom prst="rect">
            <a:avLst/>
          </a:prstGeom>
        </p:spPr>
      </p:pic>
      <p:sp>
        <p:nvSpPr>
          <p:cNvPr id="23" name="TextBox 22"/>
          <p:cNvSpPr txBox="1"/>
          <p:nvPr/>
        </p:nvSpPr>
        <p:spPr>
          <a:xfrm>
            <a:off x="10328787" y="4114800"/>
            <a:ext cx="1290240" cy="194310"/>
          </a:xfrm>
          <a:prstGeom prst="rect">
            <a:avLst/>
          </a:prstGeom>
          <a:noFill/>
        </p:spPr>
        <p:txBody>
          <a:bodyPr wrap="none" lIns="0" rIns="0" tIns="0" bIns="0">
            <a:spAutoFit/>
          </a:bodyPr>
          <a:lstStyle/>
          <a:p>
            <a:r>
              <a:rPr sz="1150" b="0">
                <a:solidFill>
                  <a:srgbClr val="2E2E2E"/>
                </a:solidFill>
                <a:latin typeface="Calibri"/>
              </a:rPr>
              <a:t>Mn in 2036. 'Up to 4</a:t>
            </a:r>
          </a:p>
        </p:txBody>
      </p:sp>
      <p:sp>
        <p:nvSpPr>
          <p:cNvPr id="24" name="TextBox 23"/>
          <p:cNvSpPr txBox="1"/>
          <p:nvPr/>
        </p:nvSpPr>
        <p:spPr>
          <a:xfrm>
            <a:off x="276225" y="4290060"/>
            <a:ext cx="5069284" cy="194310"/>
          </a:xfrm>
          <a:prstGeom prst="rect">
            <a:avLst/>
          </a:prstGeom>
          <a:noFill/>
        </p:spPr>
        <p:txBody>
          <a:bodyPr wrap="none" lIns="0" rIns="0" tIns="0" bIns="0">
            <a:spAutoFit/>
          </a:bodyPr>
          <a:lstStyle/>
          <a:p>
            <a:r>
              <a:rPr sz="1150" b="0">
                <a:solidFill>
                  <a:srgbClr val="2E2E2E"/>
                </a:solidFill>
                <a:latin typeface="Calibri"/>
              </a:rPr>
              <a:t>Cells × 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5294663" y="4279836"/>
            <a:ext cx="134549" cy="195707"/>
          </a:xfrm>
          <a:prstGeom prst="rect">
            <a:avLst/>
          </a:prstGeom>
        </p:spPr>
      </p:pic>
      <p:sp>
        <p:nvSpPr>
          <p:cNvPr id="26" name="TextBox 25"/>
          <p:cNvSpPr txBox="1"/>
          <p:nvPr/>
        </p:nvSpPr>
        <p:spPr>
          <a:xfrm>
            <a:off x="5469772" y="4290060"/>
            <a:ext cx="6109872" cy="194310"/>
          </a:xfrm>
          <a:prstGeom prst="rect">
            <a:avLst/>
          </a:prstGeom>
          <a:noFill/>
        </p:spPr>
        <p:txBody>
          <a:bodyPr wrap="none" lIns="0" rIns="0" tIns="0" bIns="0">
            <a:spAutoFit/>
          </a:bodyPr>
          <a:lstStyle/>
          <a:p>
            <a:r>
              <a:rPr sz="1150" b="0">
                <a:solidFill>
                  <a:srgbClr val="2E2E2E"/>
                </a:solidFill>
                <a:latin typeface="Calibri"/>
              </a:rPr>
              <a:t>US$ Mn, 2026E), while '6 to 12 Cells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528799" y="4279836"/>
            <a:ext cx="134549" cy="195707"/>
          </a:xfrm>
          <a:prstGeom prst="rect">
            <a:avLst/>
          </a:prstGeom>
        </p:spPr>
      </p:pic>
      <p:sp>
        <p:nvSpPr>
          <p:cNvPr id="28" name="TextBox 27"/>
          <p:cNvSpPr txBox="1"/>
          <p:nvPr/>
        </p:nvSpPr>
        <p:spPr>
          <a:xfrm>
            <a:off x="276225" y="44653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29" name="TextBox 28"/>
          <p:cNvSpPr txBox="1"/>
          <p:nvPr/>
        </p:nvSpPr>
        <p:spPr>
          <a:xfrm>
            <a:off x="276225" y="4693157"/>
            <a:ext cx="5802957" cy="194310"/>
          </a:xfrm>
          <a:prstGeom prst="rect">
            <a:avLst/>
          </a:prstGeom>
          <a:noFill/>
        </p:spPr>
        <p:txBody>
          <a:bodyPr wrap="none" lIns="0" rIns="0" tIns="0" bIns="0">
            <a:spAutoFit/>
          </a:bodyPr>
          <a:lstStyle/>
          <a:p>
            <a:r>
              <a:rPr sz="1150" b="0">
                <a:solidFill>
                  <a:srgbClr val="2E2E2E"/>
                </a:solidFill>
                <a:latin typeface="Calibri"/>
              </a:rPr>
              <a:t>Combined, the top three cell configuration × end use cells generate an absolute $ opportunity of</a:t>
            </a:r>
          </a:p>
        </p:txBody>
      </p:sp>
      <p:pic>
        <p:nvPicPr>
          <p:cNvPr id="30" name="Picture 29" descr="lock.png"/>
          <p:cNvPicPr>
            <a:picLocks noChangeAspect="1"/>
          </p:cNvPicPr>
          <p:nvPr/>
        </p:nvPicPr>
        <p:blipFill>
          <a:blip r:embed="rId4"/>
          <a:stretch>
            <a:fillRect/>
          </a:stretch>
        </p:blipFill>
        <p:spPr>
          <a:xfrm>
            <a:off x="6028336" y="4682934"/>
            <a:ext cx="134549" cy="195707"/>
          </a:xfrm>
          <a:prstGeom prst="rect">
            <a:avLst/>
          </a:prstGeom>
        </p:spPr>
      </p:pic>
      <p:sp>
        <p:nvSpPr>
          <p:cNvPr id="31" name="TextBox 30"/>
          <p:cNvSpPr txBox="1"/>
          <p:nvPr/>
        </p:nvSpPr>
        <p:spPr>
          <a:xfrm>
            <a:off x="6203445" y="46931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Cell Configuration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Cell Configuration × End Use, 2026E (% of each row)</a:t>
            </a:r>
          </a:p>
        </p:txBody>
      </p:sp>
      <p:graphicFrame>
        <p:nvGraphicFramePr>
          <p:cNvPr id="13" name="Table 12"/>
          <p:cNvGraphicFramePr>
            <a:graphicFrameLocks noGrp="1"/>
          </p:cNvGraphicFramePr>
          <p:nvPr/>
        </p:nvGraphicFramePr>
        <p:xfrm>
          <a:off x="152400" y="1238250"/>
          <a:ext cx="11887201" cy="1676402"/>
        </p:xfrm>
        <a:graphic>
          <a:graphicData uri="http://schemas.openxmlformats.org/drawingml/2006/table">
            <a:tbl>
              <a:tblPr>
                <a:tableStyleId>{5C22544A-7EE6-4342-B048-85BDC9FD1C3A}</a:tableStyleId>
              </a:tblPr>
              <a:tblGrid>
                <a:gridCol w="1140022"/>
                <a:gridCol w="1042838"/>
                <a:gridCol w="1753436"/>
                <a:gridCol w="1511227"/>
                <a:gridCol w="1326759"/>
                <a:gridCol w="2068759"/>
                <a:gridCol w="1985980"/>
                <a:gridCol w="514374"/>
                <a:gridCol w="543806"/>
              </a:tblGrid>
              <a:tr h="438912">
                <a:tc>
                  <a:txBody>
                    <a:bodyPr wrap="none"/>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7498">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98">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98">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98">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7286625"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147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Cell Configuration, 2026E (% share)</a:t>
            </a:r>
          </a:p>
        </p:txBody>
      </p:sp>
      <p:graphicFrame>
        <p:nvGraphicFramePr>
          <p:cNvPr id="17" name="Chart 16"/>
          <p:cNvGraphicFramePr>
            <a:graphicFrameLocks noGrp="1"/>
          </p:cNvGraphicFramePr>
          <p:nvPr/>
        </p:nvGraphicFramePr>
        <p:xfrm>
          <a:off x="238125" y="3543300"/>
          <a:ext cx="7096125" cy="302895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57550"/>
            <a:ext cx="445770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432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814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67125"/>
            <a:ext cx="419100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79321" y="2029206"/>
            <a:ext cx="366712" cy="533400"/>
          </a:xfrm>
          <a:prstGeom prst="rect">
            <a:avLst/>
          </a:prstGeom>
        </p:spPr>
      </p:pic>
      <p:pic>
        <p:nvPicPr>
          <p:cNvPr id="24" name="Picture 23" descr="lock.png"/>
          <p:cNvPicPr>
            <a:picLocks noChangeAspect="1"/>
          </p:cNvPicPr>
          <p:nvPr/>
        </p:nvPicPr>
        <p:blipFill>
          <a:blip r:embed="rId5"/>
          <a:stretch>
            <a:fillRect/>
          </a:stretch>
        </p:blipFill>
        <p:spPr>
          <a:xfrm>
            <a:off x="3737844" y="4194492"/>
            <a:ext cx="384961" cy="559943"/>
          </a:xfrm>
          <a:prstGeom prst="rect">
            <a:avLst/>
          </a:prstGeom>
        </p:spPr>
      </p:pic>
      <p:sp>
        <p:nvSpPr>
          <p:cNvPr id="25" name="TextBox 24"/>
          <p:cNvSpPr txBox="1"/>
          <p:nvPr/>
        </p:nvSpPr>
        <p:spPr>
          <a:xfrm>
            <a:off x="7715250" y="3676650"/>
            <a:ext cx="4171950" cy="194310"/>
          </a:xfrm>
          <a:prstGeom prst="rect">
            <a:avLst/>
          </a:prstGeom>
          <a:noFill/>
        </p:spPr>
        <p:txBody>
          <a:bodyPr wrap="none" lIns="0" rIns="0" tIns="0" bIns="0">
            <a:spAutoFit/>
          </a:bodyPr>
          <a:lstStyle/>
          <a:p>
            <a:r>
              <a:rPr sz="1150" b="0">
                <a:solidFill>
                  <a:srgbClr val="2E2E2E"/>
                </a:solidFill>
                <a:latin typeface="Calibri"/>
              </a:rPr>
              <a:t>▪ 'Glassware, Ceramics &amp; Home Goods' holds the highest share of 'Up</a:t>
            </a:r>
          </a:p>
        </p:txBody>
      </p:sp>
      <p:sp>
        <p:nvSpPr>
          <p:cNvPr id="26" name="TextBox 25"/>
          <p:cNvSpPr txBox="1"/>
          <p:nvPr/>
        </p:nvSpPr>
        <p:spPr>
          <a:xfrm>
            <a:off x="7715250" y="3851910"/>
            <a:ext cx="801885" cy="194310"/>
          </a:xfrm>
          <a:prstGeom prst="rect">
            <a:avLst/>
          </a:prstGeom>
          <a:noFill/>
        </p:spPr>
        <p:txBody>
          <a:bodyPr wrap="none" lIns="0" rIns="0" tIns="0" bIns="0">
            <a:spAutoFit/>
          </a:bodyPr>
          <a:lstStyle/>
          <a:p>
            <a:r>
              <a:rPr sz="1150" b="0">
                <a:solidFill>
                  <a:srgbClr val="2E2E2E"/>
                </a:solidFill>
                <a:latin typeface="Calibri"/>
              </a:rPr>
              <a:t>to 4 Cells' at</a:t>
            </a:r>
          </a:p>
        </p:txBody>
      </p:sp>
      <p:pic>
        <p:nvPicPr>
          <p:cNvPr id="27" name="Picture 26" descr="lock.png"/>
          <p:cNvPicPr>
            <a:picLocks noChangeAspect="1"/>
          </p:cNvPicPr>
          <p:nvPr/>
        </p:nvPicPr>
        <p:blipFill>
          <a:blip r:embed="rId5"/>
          <a:stretch>
            <a:fillRect/>
          </a:stretch>
        </p:blipFill>
        <p:spPr>
          <a:xfrm>
            <a:off x="8466289" y="3841686"/>
            <a:ext cx="134549" cy="195707"/>
          </a:xfrm>
          <a:prstGeom prst="rect">
            <a:avLst/>
          </a:prstGeom>
        </p:spPr>
      </p:pic>
      <p:sp>
        <p:nvSpPr>
          <p:cNvPr id="28" name="TextBox 27"/>
          <p:cNvSpPr txBox="1"/>
          <p:nvPr/>
        </p:nvSpPr>
        <p:spPr>
          <a:xfrm>
            <a:off x="8641399" y="385191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079747"/>
            <a:ext cx="3552304" cy="194310"/>
          </a:xfrm>
          <a:prstGeom prst="rect">
            <a:avLst/>
          </a:prstGeom>
          <a:noFill/>
        </p:spPr>
        <p:txBody>
          <a:bodyPr wrap="none" lIns="0" rIns="0" tIns="0" bIns="0">
            <a:spAutoFit/>
          </a:bodyPr>
          <a:lstStyle/>
          <a:p>
            <a:r>
              <a:rPr sz="1150" b="0">
                <a:solidFill>
                  <a:srgbClr val="2E2E2E"/>
                </a:solidFill>
                <a:latin typeface="Calibri"/>
              </a:rPr>
              <a:t>▪ 'Up to 4 Cells' is the most concentrated cell configuration</a:t>
            </a:r>
          </a:p>
        </p:txBody>
      </p:sp>
      <p:sp>
        <p:nvSpPr>
          <p:cNvPr id="30" name="TextBox 29"/>
          <p:cNvSpPr txBox="1"/>
          <p:nvPr/>
        </p:nvSpPr>
        <p:spPr>
          <a:xfrm>
            <a:off x="7715250" y="425500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244784"/>
            <a:ext cx="134549" cy="195707"/>
          </a:xfrm>
          <a:prstGeom prst="rect">
            <a:avLst/>
          </a:prstGeom>
        </p:spPr>
      </p:pic>
      <p:sp>
        <p:nvSpPr>
          <p:cNvPr id="32" name="TextBox 31"/>
          <p:cNvSpPr txBox="1"/>
          <p:nvPr/>
        </p:nvSpPr>
        <p:spPr>
          <a:xfrm>
            <a:off x="9018219" y="4255007"/>
            <a:ext cx="2731913" cy="194310"/>
          </a:xfrm>
          <a:prstGeom prst="rect">
            <a:avLst/>
          </a:prstGeom>
          <a:noFill/>
        </p:spPr>
        <p:txBody>
          <a:bodyPr wrap="none" lIns="0" rIns="0" tIns="0" bIns="0">
            <a:spAutoFit/>
          </a:bodyPr>
          <a:lstStyle/>
          <a:p>
            <a:r>
              <a:rPr sz="1150" b="0">
                <a:solidFill>
                  <a:srgbClr val="2E2E2E"/>
                </a:solidFill>
                <a:latin typeface="Calibri"/>
              </a:rPr>
              <a:t>of its value via 'Glassware, Ceramics &amp; Home</a:t>
            </a:r>
          </a:p>
        </p:txBody>
      </p:sp>
      <p:sp>
        <p:nvSpPr>
          <p:cNvPr id="33" name="TextBox 32"/>
          <p:cNvSpPr txBox="1"/>
          <p:nvPr/>
        </p:nvSpPr>
        <p:spPr>
          <a:xfrm>
            <a:off x="7715250" y="4430267"/>
            <a:ext cx="525189" cy="194310"/>
          </a:xfrm>
          <a:prstGeom prst="rect">
            <a:avLst/>
          </a:prstGeom>
          <a:noFill/>
        </p:spPr>
        <p:txBody>
          <a:bodyPr wrap="none" lIns="0" rIns="0" tIns="0" bIns="0">
            <a:spAutoFit/>
          </a:bodyPr>
          <a:lstStyle/>
          <a:p>
            <a:r>
              <a:rPr sz="1150" b="0">
                <a:solidFill>
                  <a:srgbClr val="2E2E2E"/>
                </a:solidFill>
                <a:latin typeface="Calibri"/>
              </a:rPr>
              <a:t>Goods'.</a:t>
            </a:r>
          </a:p>
        </p:txBody>
      </p:sp>
      <p:sp>
        <p:nvSpPr>
          <p:cNvPr id="34" name="TextBox 33"/>
          <p:cNvSpPr txBox="1"/>
          <p:nvPr/>
        </p:nvSpPr>
        <p:spPr>
          <a:xfrm>
            <a:off x="7715250" y="465810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647882"/>
            <a:ext cx="134549" cy="195707"/>
          </a:xfrm>
          <a:prstGeom prst="rect">
            <a:avLst/>
          </a:prstGeom>
        </p:spPr>
      </p:pic>
      <p:sp>
        <p:nvSpPr>
          <p:cNvPr id="36" name="TextBox 35"/>
          <p:cNvSpPr txBox="1"/>
          <p:nvPr/>
        </p:nvSpPr>
        <p:spPr>
          <a:xfrm>
            <a:off x="9860574" y="4658105"/>
            <a:ext cx="1581199" cy="194310"/>
          </a:xfrm>
          <a:prstGeom prst="rect">
            <a:avLst/>
          </a:prstGeom>
          <a:noFill/>
        </p:spPr>
        <p:txBody>
          <a:bodyPr wrap="none" lIns="0" rIns="0" tIns="0" bIns="0">
            <a:spAutoFit/>
          </a:bodyPr>
          <a:lstStyle/>
          <a:p>
            <a:r>
              <a:rPr sz="1150" b="0">
                <a:solidFill>
                  <a:srgbClr val="2E2E2E"/>
                </a:solidFill>
                <a:latin typeface="Calibri"/>
              </a:rPr>
              <a:t>BPS of share of the North</a:t>
            </a:r>
          </a:p>
        </p:txBody>
      </p:sp>
      <p:sp>
        <p:nvSpPr>
          <p:cNvPr id="37" name="TextBox 36"/>
          <p:cNvSpPr txBox="1"/>
          <p:nvPr/>
        </p:nvSpPr>
        <p:spPr>
          <a:xfrm>
            <a:off x="7715250" y="4833365"/>
            <a:ext cx="1986046" cy="194310"/>
          </a:xfrm>
          <a:prstGeom prst="rect">
            <a:avLst/>
          </a:prstGeom>
          <a:noFill/>
        </p:spPr>
        <p:txBody>
          <a:bodyPr wrap="none" lIns="0" rIns="0" tIns="0" bIns="0">
            <a:spAutoFit/>
          </a:bodyPr>
          <a:lstStyle/>
          <a:p>
            <a:r>
              <a:rPr sz="1150" b="0">
                <a:solidFill>
                  <a:srgbClr val="2E2E2E"/>
                </a:solidFill>
                <a:latin typeface="Calibri"/>
              </a:rPr>
              <a:t>America cross-section by 2036F.</a:t>
            </a:r>
          </a:p>
        </p:txBody>
      </p:sp>
      <p:sp>
        <p:nvSpPr>
          <p:cNvPr id="38" name="lockshield_17"/>
          <p:cNvSpPr/>
          <p:nvPr/>
        </p:nvSpPr>
        <p:spPr>
          <a:xfrm>
            <a:off x="238125" y="3543300"/>
            <a:ext cx="7096125" cy="30289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Cell Configuration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Cell Configuration × End Use, 2026E–2036F</a:t>
            </a:r>
          </a:p>
        </p:txBody>
      </p:sp>
      <p:graphicFrame>
        <p:nvGraphicFramePr>
          <p:cNvPr id="13" name="Table 12"/>
          <p:cNvGraphicFramePr>
            <a:graphicFrameLocks noGrp="1"/>
          </p:cNvGraphicFramePr>
          <p:nvPr/>
        </p:nvGraphicFramePr>
        <p:xfrm>
          <a:off x="152400" y="1238250"/>
          <a:ext cx="11887204" cy="2114549"/>
        </p:xfrm>
        <a:graphic>
          <a:graphicData uri="http://schemas.openxmlformats.org/drawingml/2006/table">
            <a:tbl>
              <a:tblPr>
                <a:tableStyleId>{5C22544A-7EE6-4342-B048-85BDC9FD1C3A}</a:tableStyleId>
              </a:tblPr>
              <a:tblGrid>
                <a:gridCol w="1134772"/>
                <a:gridCol w="672027"/>
                <a:gridCol w="672027"/>
                <a:gridCol w="672027"/>
                <a:gridCol w="672027"/>
                <a:gridCol w="672027"/>
                <a:gridCol w="672027"/>
                <a:gridCol w="672027"/>
                <a:gridCol w="672027"/>
                <a:gridCol w="672027"/>
                <a:gridCol w="672027"/>
                <a:gridCol w="672027"/>
                <a:gridCol w="672027"/>
                <a:gridCol w="672027"/>
                <a:gridCol w="672027"/>
                <a:gridCol w="672027"/>
                <a:gridCol w="672027"/>
              </a:tblGrid>
              <a:tr h="631697">
                <a:tc rowSpan="2">
                  <a:txBody>
                    <a:bodyPr wrap="none"/>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142">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5600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814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40195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05275"/>
            <a:ext cx="5334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 to 4 Cells × Food &amp; Beverage' ranks highest (5/5); '13 to 24 Cells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76697" y="2468245"/>
            <a:ext cx="366712" cy="533400"/>
          </a:xfrm>
          <a:prstGeom prst="rect">
            <a:avLst/>
          </a:prstGeom>
        </p:spPr>
      </p:pic>
      <p:sp>
        <p:nvSpPr>
          <p:cNvPr id="33" name="TextBox 32"/>
          <p:cNvSpPr txBox="1"/>
          <p:nvPr/>
        </p:nvSpPr>
        <p:spPr>
          <a:xfrm>
            <a:off x="276225" y="4114800"/>
            <a:ext cx="2289453" cy="194310"/>
          </a:xfrm>
          <a:prstGeom prst="rect">
            <a:avLst/>
          </a:prstGeom>
          <a:noFill/>
        </p:spPr>
        <p:txBody>
          <a:bodyPr wrap="none" lIns="0" rIns="0" tIns="0" bIns="0">
            <a:spAutoFit/>
          </a:bodyPr>
          <a:lstStyle/>
          <a:p>
            <a:r>
              <a:rPr sz="1150" b="0">
                <a:solidFill>
                  <a:srgbClr val="2E2E2E"/>
                </a:solidFill>
                <a:latin typeface="Calibri"/>
              </a:rPr>
              <a:t>▪ 1. 6 to 12 Cells × Food &amp; Beverage –</a:t>
            </a:r>
          </a:p>
        </p:txBody>
      </p:sp>
      <p:pic>
        <p:nvPicPr>
          <p:cNvPr id="34" name="Picture 33" descr="lock.png"/>
          <p:cNvPicPr>
            <a:picLocks noChangeAspect="1"/>
          </p:cNvPicPr>
          <p:nvPr/>
        </p:nvPicPr>
        <p:blipFill>
          <a:blip r:embed="rId4"/>
          <a:stretch>
            <a:fillRect/>
          </a:stretch>
        </p:blipFill>
        <p:spPr>
          <a:xfrm>
            <a:off x="2514832" y="4104576"/>
            <a:ext cx="134549" cy="195707"/>
          </a:xfrm>
          <a:prstGeom prst="rect">
            <a:avLst/>
          </a:prstGeom>
        </p:spPr>
      </p:pic>
      <p:sp>
        <p:nvSpPr>
          <p:cNvPr id="35" name="TextBox 34"/>
          <p:cNvSpPr txBox="1"/>
          <p:nvPr/>
        </p:nvSpPr>
        <p:spPr>
          <a:xfrm>
            <a:off x="2689942" y="41148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752093" y="4104576"/>
            <a:ext cx="134549" cy="195707"/>
          </a:xfrm>
          <a:prstGeom prst="rect">
            <a:avLst/>
          </a:prstGeom>
        </p:spPr>
      </p:pic>
      <p:sp>
        <p:nvSpPr>
          <p:cNvPr id="37" name="TextBox 36"/>
          <p:cNvSpPr txBox="1"/>
          <p:nvPr/>
        </p:nvSpPr>
        <p:spPr>
          <a:xfrm>
            <a:off x="2927203" y="41148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342638"/>
            <a:ext cx="2311703" cy="194310"/>
          </a:xfrm>
          <a:prstGeom prst="rect">
            <a:avLst/>
          </a:prstGeom>
          <a:noFill/>
        </p:spPr>
        <p:txBody>
          <a:bodyPr wrap="none" lIns="0" rIns="0" tIns="0" bIns="0">
            <a:spAutoFit/>
          </a:bodyPr>
          <a:lstStyle/>
          <a:p>
            <a:r>
              <a:rPr sz="1150" b="0">
                <a:solidFill>
                  <a:srgbClr val="2E2E2E"/>
                </a:solidFill>
                <a:latin typeface="Calibri"/>
              </a:rPr>
              <a:t>▪ 2. Up to 4 Cells × Food &amp; Beverage –</a:t>
            </a:r>
          </a:p>
        </p:txBody>
      </p:sp>
      <p:pic>
        <p:nvPicPr>
          <p:cNvPr id="39" name="Picture 38" descr="lock.png"/>
          <p:cNvPicPr>
            <a:picLocks noChangeAspect="1"/>
          </p:cNvPicPr>
          <p:nvPr/>
        </p:nvPicPr>
        <p:blipFill>
          <a:blip r:embed="rId4"/>
          <a:stretch>
            <a:fillRect/>
          </a:stretch>
        </p:blipFill>
        <p:spPr>
          <a:xfrm>
            <a:off x="2537082" y="4332414"/>
            <a:ext cx="134549" cy="195707"/>
          </a:xfrm>
          <a:prstGeom prst="rect">
            <a:avLst/>
          </a:prstGeom>
        </p:spPr>
      </p:pic>
      <p:sp>
        <p:nvSpPr>
          <p:cNvPr id="40" name="TextBox 39"/>
          <p:cNvSpPr txBox="1"/>
          <p:nvPr/>
        </p:nvSpPr>
        <p:spPr>
          <a:xfrm>
            <a:off x="2712191" y="434263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2774343" y="4332414"/>
            <a:ext cx="134549" cy="195707"/>
          </a:xfrm>
          <a:prstGeom prst="rect">
            <a:avLst/>
          </a:prstGeom>
        </p:spPr>
      </p:pic>
      <p:sp>
        <p:nvSpPr>
          <p:cNvPr id="42" name="TextBox 41"/>
          <p:cNvSpPr txBox="1"/>
          <p:nvPr/>
        </p:nvSpPr>
        <p:spPr>
          <a:xfrm>
            <a:off x="2949452" y="4342638"/>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570475"/>
            <a:ext cx="2645481" cy="194310"/>
          </a:xfrm>
          <a:prstGeom prst="rect">
            <a:avLst/>
          </a:prstGeom>
          <a:noFill/>
        </p:spPr>
        <p:txBody>
          <a:bodyPr wrap="none" lIns="0" rIns="0" tIns="0" bIns="0">
            <a:spAutoFit/>
          </a:bodyPr>
          <a:lstStyle/>
          <a:p>
            <a:r>
              <a:rPr sz="1150" b="0">
                <a:solidFill>
                  <a:srgbClr val="2E2E2E"/>
                </a:solidFill>
                <a:latin typeface="Calibri"/>
              </a:rPr>
              <a:t>▪ 3. Up to 4 Cells × Electronics &amp; Electrical –</a:t>
            </a:r>
          </a:p>
        </p:txBody>
      </p:sp>
      <p:pic>
        <p:nvPicPr>
          <p:cNvPr id="44" name="Picture 43" descr="lock.png"/>
          <p:cNvPicPr>
            <a:picLocks noChangeAspect="1"/>
          </p:cNvPicPr>
          <p:nvPr/>
        </p:nvPicPr>
        <p:blipFill>
          <a:blip r:embed="rId4"/>
          <a:stretch>
            <a:fillRect/>
          </a:stretch>
        </p:blipFill>
        <p:spPr>
          <a:xfrm>
            <a:off x="2870860" y="4560252"/>
            <a:ext cx="134549" cy="195707"/>
          </a:xfrm>
          <a:prstGeom prst="rect">
            <a:avLst/>
          </a:prstGeom>
        </p:spPr>
      </p:pic>
      <p:sp>
        <p:nvSpPr>
          <p:cNvPr id="45" name="TextBox 44"/>
          <p:cNvSpPr txBox="1"/>
          <p:nvPr/>
        </p:nvSpPr>
        <p:spPr>
          <a:xfrm>
            <a:off x="3045970" y="45704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108121" y="4560252"/>
            <a:ext cx="134549" cy="195707"/>
          </a:xfrm>
          <a:prstGeom prst="rect">
            <a:avLst/>
          </a:prstGeom>
        </p:spPr>
      </p:pic>
      <p:sp>
        <p:nvSpPr>
          <p:cNvPr id="47" name="TextBox 46"/>
          <p:cNvSpPr txBox="1"/>
          <p:nvPr/>
        </p:nvSpPr>
        <p:spPr>
          <a:xfrm>
            <a:off x="3283231" y="45704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798313"/>
            <a:ext cx="3449327" cy="194310"/>
          </a:xfrm>
          <a:prstGeom prst="rect">
            <a:avLst/>
          </a:prstGeom>
          <a:noFill/>
        </p:spPr>
        <p:txBody>
          <a:bodyPr wrap="none" lIns="0" rIns="0" tIns="0" bIns="0">
            <a:spAutoFit/>
          </a:bodyPr>
          <a:lstStyle/>
          <a:p>
            <a:r>
              <a:rPr sz="1150" b="0">
                <a:solidFill>
                  <a:srgbClr val="2E2E2E"/>
                </a:solidFill>
                <a:latin typeface="Calibri"/>
              </a:rPr>
              <a:t>▪ 4. Up to 4 Cells × Glassware, Ceramics &amp; Home Goods –</a:t>
            </a:r>
          </a:p>
        </p:txBody>
      </p:sp>
      <p:pic>
        <p:nvPicPr>
          <p:cNvPr id="49" name="Picture 48" descr="lock.png"/>
          <p:cNvPicPr>
            <a:picLocks noChangeAspect="1"/>
          </p:cNvPicPr>
          <p:nvPr/>
        </p:nvPicPr>
        <p:blipFill>
          <a:blip r:embed="rId4"/>
          <a:stretch>
            <a:fillRect/>
          </a:stretch>
        </p:blipFill>
        <p:spPr>
          <a:xfrm>
            <a:off x="3674706" y="4788090"/>
            <a:ext cx="134549" cy="195707"/>
          </a:xfrm>
          <a:prstGeom prst="rect">
            <a:avLst/>
          </a:prstGeom>
        </p:spPr>
      </p:pic>
      <p:sp>
        <p:nvSpPr>
          <p:cNvPr id="50" name="TextBox 49"/>
          <p:cNvSpPr txBox="1"/>
          <p:nvPr/>
        </p:nvSpPr>
        <p:spPr>
          <a:xfrm>
            <a:off x="3849815" y="47983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911967" y="4788090"/>
            <a:ext cx="134549" cy="195707"/>
          </a:xfrm>
          <a:prstGeom prst="rect">
            <a:avLst/>
          </a:prstGeom>
        </p:spPr>
      </p:pic>
      <p:sp>
        <p:nvSpPr>
          <p:cNvPr id="52" name="TextBox 51"/>
          <p:cNvSpPr txBox="1"/>
          <p:nvPr/>
        </p:nvSpPr>
        <p:spPr>
          <a:xfrm>
            <a:off x="4087076" y="47983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5026151"/>
            <a:ext cx="3427077" cy="194310"/>
          </a:xfrm>
          <a:prstGeom prst="rect">
            <a:avLst/>
          </a:prstGeom>
          <a:noFill/>
        </p:spPr>
        <p:txBody>
          <a:bodyPr wrap="none" lIns="0" rIns="0" tIns="0" bIns="0">
            <a:spAutoFit/>
          </a:bodyPr>
          <a:lstStyle/>
          <a:p>
            <a:r>
              <a:rPr sz="1150" b="0">
                <a:solidFill>
                  <a:srgbClr val="2E2E2E"/>
                </a:solidFill>
                <a:latin typeface="Calibri"/>
              </a:rPr>
              <a:t>▪ 5. 6 to 12 Cells × Glassware, Ceramics &amp; Home Goods –</a:t>
            </a:r>
          </a:p>
        </p:txBody>
      </p:sp>
      <p:pic>
        <p:nvPicPr>
          <p:cNvPr id="54" name="Picture 53" descr="lock.png"/>
          <p:cNvPicPr>
            <a:picLocks noChangeAspect="1"/>
          </p:cNvPicPr>
          <p:nvPr/>
        </p:nvPicPr>
        <p:blipFill>
          <a:blip r:embed="rId4"/>
          <a:stretch>
            <a:fillRect/>
          </a:stretch>
        </p:blipFill>
        <p:spPr>
          <a:xfrm>
            <a:off x="3652456" y="5015928"/>
            <a:ext cx="134549" cy="195707"/>
          </a:xfrm>
          <a:prstGeom prst="rect">
            <a:avLst/>
          </a:prstGeom>
        </p:spPr>
      </p:pic>
      <p:sp>
        <p:nvSpPr>
          <p:cNvPr id="55" name="TextBox 54"/>
          <p:cNvSpPr txBox="1"/>
          <p:nvPr/>
        </p:nvSpPr>
        <p:spPr>
          <a:xfrm>
            <a:off x="3827565" y="50261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889717" y="5015928"/>
            <a:ext cx="134549" cy="195707"/>
          </a:xfrm>
          <a:prstGeom prst="rect">
            <a:avLst/>
          </a:prstGeom>
        </p:spPr>
      </p:pic>
      <p:sp>
        <p:nvSpPr>
          <p:cNvPr id="57" name="TextBox 56"/>
          <p:cNvSpPr txBox="1"/>
          <p:nvPr/>
        </p:nvSpPr>
        <p:spPr>
          <a:xfrm>
            <a:off x="4064826" y="50261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4114800"/>
            <a:ext cx="1485323" cy="194310"/>
          </a:xfrm>
          <a:prstGeom prst="rect">
            <a:avLst/>
          </a:prstGeom>
          <a:noFill/>
        </p:spPr>
        <p:txBody>
          <a:bodyPr wrap="none" lIns="0" rIns="0" tIns="0" bIns="0">
            <a:spAutoFit/>
          </a:bodyPr>
          <a:lstStyle/>
          <a:p>
            <a:r>
              <a:rPr sz="1150" b="0">
                <a:solidFill>
                  <a:srgbClr val="2E2E2E"/>
                </a:solidFill>
                <a:latin typeface="Calibri"/>
              </a:rPr>
              <a:t>▪ '6 to 12 Cells × Food &amp;</a:t>
            </a:r>
          </a:p>
        </p:txBody>
      </p:sp>
      <p:sp>
        <p:nvSpPr>
          <p:cNvPr id="59" name="TextBox 58"/>
          <p:cNvSpPr txBox="1"/>
          <p:nvPr/>
        </p:nvSpPr>
        <p:spPr>
          <a:xfrm>
            <a:off x="6029325" y="4290060"/>
            <a:ext cx="975320" cy="194310"/>
          </a:xfrm>
          <a:prstGeom prst="rect">
            <a:avLst/>
          </a:prstGeom>
          <a:noFill/>
        </p:spPr>
        <p:txBody>
          <a:bodyPr wrap="none" lIns="0" rIns="0" tIns="0" bIns="0">
            <a:spAutoFit/>
          </a:bodyPr>
          <a:lstStyle/>
          <a:p>
            <a:r>
              <a:rPr sz="1150" b="0">
                <a:solidFill>
                  <a:srgbClr val="2E2E2E"/>
                </a:solidFill>
                <a:latin typeface="Calibri"/>
              </a:rPr>
              <a:t>Beverage' adds</a:t>
            </a:r>
          </a:p>
        </p:txBody>
      </p:sp>
      <p:pic>
        <p:nvPicPr>
          <p:cNvPr id="60" name="Picture 59" descr="lock.png"/>
          <p:cNvPicPr>
            <a:picLocks noChangeAspect="1"/>
          </p:cNvPicPr>
          <p:nvPr/>
        </p:nvPicPr>
        <p:blipFill>
          <a:blip r:embed="rId4"/>
          <a:stretch>
            <a:fillRect/>
          </a:stretch>
        </p:blipFill>
        <p:spPr>
          <a:xfrm>
            <a:off x="6953799" y="4279836"/>
            <a:ext cx="134549" cy="195707"/>
          </a:xfrm>
          <a:prstGeom prst="rect">
            <a:avLst/>
          </a:prstGeom>
        </p:spPr>
      </p:pic>
      <p:sp>
        <p:nvSpPr>
          <p:cNvPr id="61" name="TextBox 60"/>
          <p:cNvSpPr txBox="1"/>
          <p:nvPr/>
        </p:nvSpPr>
        <p:spPr>
          <a:xfrm>
            <a:off x="7128908" y="429006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2" name="TextBox 61"/>
          <p:cNvSpPr txBox="1"/>
          <p:nvPr/>
        </p:nvSpPr>
        <p:spPr>
          <a:xfrm>
            <a:off x="6029325" y="4465320"/>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455096"/>
            <a:ext cx="134549" cy="195707"/>
          </a:xfrm>
          <a:prstGeom prst="rect">
            <a:avLst/>
          </a:prstGeom>
        </p:spPr>
      </p:pic>
      <p:sp>
        <p:nvSpPr>
          <p:cNvPr id="64" name="TextBox 63"/>
          <p:cNvSpPr txBox="1"/>
          <p:nvPr/>
        </p:nvSpPr>
        <p:spPr>
          <a:xfrm>
            <a:off x="7110081" y="4465320"/>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5" name="TextBox 64"/>
          <p:cNvSpPr txBox="1"/>
          <p:nvPr/>
        </p:nvSpPr>
        <p:spPr>
          <a:xfrm>
            <a:off x="6029325" y="464057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6" name="TextBox 65"/>
          <p:cNvSpPr txBox="1"/>
          <p:nvPr/>
        </p:nvSpPr>
        <p:spPr>
          <a:xfrm>
            <a:off x="8124825" y="4114800"/>
            <a:ext cx="1657350" cy="194310"/>
          </a:xfrm>
          <a:prstGeom prst="rect">
            <a:avLst/>
          </a:prstGeom>
          <a:noFill/>
        </p:spPr>
        <p:txBody>
          <a:bodyPr wrap="none" lIns="0" rIns="0" tIns="0" bIns="0">
            <a:spAutoFit/>
          </a:bodyPr>
          <a:lstStyle/>
          <a:p>
            <a:r>
              <a:rPr sz="1150" b="0">
                <a:solidFill>
                  <a:srgbClr val="2E2E2E"/>
                </a:solidFill>
                <a:latin typeface="Calibri"/>
              </a:rPr>
              <a:t>▪ '6 to 12 Cells × Electronics</a:t>
            </a:r>
          </a:p>
        </p:txBody>
      </p:sp>
      <p:sp>
        <p:nvSpPr>
          <p:cNvPr id="67" name="TextBox 66"/>
          <p:cNvSpPr txBox="1"/>
          <p:nvPr/>
        </p:nvSpPr>
        <p:spPr>
          <a:xfrm>
            <a:off x="8124825" y="4290060"/>
            <a:ext cx="1426306" cy="194310"/>
          </a:xfrm>
          <a:prstGeom prst="rect">
            <a:avLst/>
          </a:prstGeom>
          <a:noFill/>
        </p:spPr>
        <p:txBody>
          <a:bodyPr wrap="none" lIns="0" rIns="0" t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279836"/>
            <a:ext cx="134549" cy="195707"/>
          </a:xfrm>
          <a:prstGeom prst="rect">
            <a:avLst/>
          </a:prstGeom>
        </p:spPr>
      </p:pic>
      <p:sp>
        <p:nvSpPr>
          <p:cNvPr id="69" name="TextBox 68"/>
          <p:cNvSpPr txBox="1"/>
          <p:nvPr/>
        </p:nvSpPr>
        <p:spPr>
          <a:xfrm>
            <a:off x="8124825" y="44653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455096"/>
            <a:ext cx="134549" cy="195707"/>
          </a:xfrm>
          <a:prstGeom prst="rect">
            <a:avLst/>
          </a:prstGeom>
        </p:spPr>
      </p:pic>
      <p:sp>
        <p:nvSpPr>
          <p:cNvPr id="71" name="TextBox 70"/>
          <p:cNvSpPr txBox="1"/>
          <p:nvPr/>
        </p:nvSpPr>
        <p:spPr>
          <a:xfrm>
            <a:off x="8695529" y="4465320"/>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64057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232660"/>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2537460"/>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242310"/>
            <a:ext cx="7124700" cy="28117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Partition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Board Construction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Source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Cell Configuration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Customization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End Use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Sales Channel</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Volume Overview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(MT)</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2657921" cy="186689"/>
          </a:xfrm>
          <a:prstGeom prst="rect">
            <a:avLst/>
          </a:prstGeom>
          <a:noFill/>
        </p:spPr>
        <p:txBody>
          <a:bodyPr wrap="none" lIns="0" rIns="0" tIns="0" bIns="0">
            <a:spAutoFit/>
          </a:bodyPr>
          <a:lstStyle/>
          <a:p>
            <a:r>
              <a:rPr sz="1100" b="0">
                <a:solidFill>
                  <a:srgbClr val="2E2E2E"/>
                </a:solidFill>
                <a:latin typeface="Calibri"/>
              </a:rPr>
              <a:t>U.S.'s corrugated partition market expands at</a:t>
            </a:r>
          </a:p>
        </p:txBody>
      </p:sp>
      <p:pic>
        <p:nvPicPr>
          <p:cNvPr id="42" name="Picture 41" descr="lock.png"/>
          <p:cNvPicPr>
            <a:picLocks noChangeAspect="1"/>
          </p:cNvPicPr>
          <p:nvPr/>
        </p:nvPicPr>
        <p:blipFill>
          <a:blip r:embed="rId8"/>
          <a:stretch>
            <a:fillRect/>
          </a:stretch>
        </p:blipFill>
        <p:spPr>
          <a:xfrm>
            <a:off x="10677458" y="2866771"/>
            <a:ext cx="128699" cy="187198"/>
          </a:xfrm>
          <a:prstGeom prst="rect">
            <a:avLst/>
          </a:prstGeom>
        </p:spPr>
      </p:pic>
      <p:sp>
        <p:nvSpPr>
          <p:cNvPr id="43" name="TextBox 42"/>
          <p:cNvSpPr txBox="1"/>
          <p:nvPr/>
        </p:nvSpPr>
        <p:spPr>
          <a:xfrm>
            <a:off x="10844953" y="2876550"/>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44" name="TextBox 43"/>
          <p:cNvSpPr txBox="1"/>
          <p:nvPr/>
        </p:nvSpPr>
        <p:spPr>
          <a:xfrm>
            <a:off x="8071485" y="3044190"/>
            <a:ext cx="2731318" cy="186689"/>
          </a:xfrm>
          <a:prstGeom prst="rect">
            <a:avLst/>
          </a:prstGeom>
          <a:noFill/>
        </p:spPr>
        <p:txBody>
          <a:bodyPr wrap="none" lIns="0" rIns="0" tIns="0" bIns="0">
            <a:spAutoFit/>
          </a:bodyPr>
          <a:lstStyle/>
          <a:p>
            <a:r>
              <a:rPr sz="1100" b="0">
                <a:solidFill>
                  <a:srgbClr val="2E2E2E"/>
                </a:solidFill>
                <a:latin typeface="Calibri"/>
              </a:rPr>
              <a:t>2036, trailing the North America benchmark of</a:t>
            </a:r>
          </a:p>
        </p:txBody>
      </p:sp>
      <p:pic>
        <p:nvPicPr>
          <p:cNvPr id="45" name="Picture 44" descr="lock.png"/>
          <p:cNvPicPr>
            <a:picLocks noChangeAspect="1"/>
          </p:cNvPicPr>
          <p:nvPr/>
        </p:nvPicPr>
        <p:blipFill>
          <a:blip r:embed="rId8"/>
          <a:stretch>
            <a:fillRect/>
          </a:stretch>
        </p:blipFill>
        <p:spPr>
          <a:xfrm>
            <a:off x="10750855" y="3034411"/>
            <a:ext cx="128699" cy="187198"/>
          </a:xfrm>
          <a:prstGeom prst="rect">
            <a:avLst/>
          </a:prstGeom>
        </p:spPr>
      </p:pic>
      <p:sp>
        <p:nvSpPr>
          <p:cNvPr id="46" name="TextBox 45"/>
          <p:cNvSpPr txBox="1"/>
          <p:nvPr/>
        </p:nvSpPr>
        <p:spPr>
          <a:xfrm>
            <a:off x="10918350"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11079301" y="3034411"/>
            <a:ext cx="128699" cy="187198"/>
          </a:xfrm>
          <a:prstGeom prst="rect">
            <a:avLst/>
          </a:prstGeom>
        </p:spPr>
      </p:pic>
      <p:sp>
        <p:nvSpPr>
          <p:cNvPr id="48" name="TextBox 47"/>
          <p:cNvSpPr txBox="1"/>
          <p:nvPr/>
        </p:nvSpPr>
        <p:spPr>
          <a:xfrm>
            <a:off x="11246797" y="304419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561060" cy="186689"/>
          </a:xfrm>
          <a:prstGeom prst="rect">
            <a:avLst/>
          </a:prstGeom>
          <a:noFill/>
        </p:spPr>
        <p:txBody>
          <a:bodyPr wrap="none" lIns="0" rIns="0" tIns="0" bIns="0">
            <a:spAutoFit/>
          </a:bodyPr>
          <a:lstStyle/>
          <a:p>
            <a:r>
              <a:rPr sz="1100" b="0">
                <a:solidFill>
                  <a:srgbClr val="2E2E2E"/>
                </a:solidFill>
                <a:latin typeface="Calibri"/>
              </a:rPr>
              <a:t>of the North America corrugated partition market in 2026; by</a:t>
            </a:r>
          </a:p>
        </p:txBody>
      </p:sp>
      <p:sp>
        <p:nvSpPr>
          <p:cNvPr id="54" name="TextBox 53"/>
          <p:cNvSpPr txBox="1"/>
          <p:nvPr/>
        </p:nvSpPr>
        <p:spPr>
          <a:xfrm>
            <a:off x="257175" y="6134100"/>
            <a:ext cx="1610990" cy="186689"/>
          </a:xfrm>
          <a:prstGeom prst="rect">
            <a:avLst/>
          </a:prstGeom>
          <a:noFill/>
        </p:spPr>
        <p:txBody>
          <a:bodyPr wrap="none" lIns="0" rIns="0" tIns="0" bIns="0">
            <a:spAutoFit/>
          </a:bodyPr>
          <a:lstStyle/>
          <a:p>
            <a:r>
              <a:rPr sz="1100" b="0">
                <a:solidFill>
                  <a:srgbClr val="2E2E2E"/>
                </a:solidFill>
                <a:latin typeface="Calibri"/>
              </a:rPr>
              <a:t>2036 those shares move to</a:t>
            </a:r>
          </a:p>
        </p:txBody>
      </p:sp>
      <p:pic>
        <p:nvPicPr>
          <p:cNvPr id="55" name="Picture 54" descr="lock.png"/>
          <p:cNvPicPr>
            <a:picLocks noChangeAspect="1"/>
          </p:cNvPicPr>
          <p:nvPr/>
        </p:nvPicPr>
        <p:blipFill>
          <a:blip r:embed="rId8"/>
          <a:stretch>
            <a:fillRect/>
          </a:stretch>
        </p:blipFill>
        <p:spPr>
          <a:xfrm>
            <a:off x="1816216" y="6124320"/>
            <a:ext cx="128699" cy="187198"/>
          </a:xfrm>
          <a:prstGeom prst="rect">
            <a:avLst/>
          </a:prstGeom>
        </p:spPr>
      </p:pic>
      <p:sp>
        <p:nvSpPr>
          <p:cNvPr id="56" name="TextBox 55"/>
          <p:cNvSpPr txBox="1"/>
          <p:nvPr/>
        </p:nvSpPr>
        <p:spPr>
          <a:xfrm>
            <a:off x="1983712"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221606" y="6124320"/>
            <a:ext cx="128699" cy="187198"/>
          </a:xfrm>
          <a:prstGeom prst="rect">
            <a:avLst/>
          </a:prstGeom>
        </p:spPr>
      </p:pic>
      <p:sp>
        <p:nvSpPr>
          <p:cNvPr id="58" name="TextBox 57"/>
          <p:cNvSpPr txBox="1"/>
          <p:nvPr/>
        </p:nvSpPr>
        <p:spPr>
          <a:xfrm>
            <a:off x="2389102"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966460"/>
            <a:ext cx="1586979" cy="186689"/>
          </a:xfrm>
          <a:prstGeom prst="rect">
            <a:avLst/>
          </a:prstGeom>
          <a:noFill/>
        </p:spPr>
        <p:txBody>
          <a:bodyPr wrap="none" lIns="0" rIns="0" tIns="0" bIns="0">
            <a:spAutoFit/>
          </a:bodyPr>
          <a:lstStyle/>
          <a:p>
            <a:r>
              <a:rPr sz="1100" b="0">
                <a:solidFill>
                  <a:srgbClr val="2E2E2E"/>
                </a:solidFill>
                <a:latin typeface="Calibri"/>
              </a:rPr>
              <a:t>The forecast build-up adds</a:t>
            </a:r>
          </a:p>
        </p:txBody>
      </p:sp>
      <p:pic>
        <p:nvPicPr>
          <p:cNvPr id="60" name="Picture 59" descr="lock.png"/>
          <p:cNvPicPr>
            <a:picLocks noChangeAspect="1"/>
          </p:cNvPicPr>
          <p:nvPr/>
        </p:nvPicPr>
        <p:blipFill>
          <a:blip r:embed="rId8"/>
          <a:stretch>
            <a:fillRect/>
          </a:stretch>
        </p:blipFill>
        <p:spPr>
          <a:xfrm>
            <a:off x="7821530" y="5956680"/>
            <a:ext cx="128699" cy="187198"/>
          </a:xfrm>
          <a:prstGeom prst="rect">
            <a:avLst/>
          </a:prstGeom>
        </p:spPr>
      </p:pic>
      <p:sp>
        <p:nvSpPr>
          <p:cNvPr id="61" name="TextBox 60"/>
          <p:cNvSpPr txBox="1"/>
          <p:nvPr/>
        </p:nvSpPr>
        <p:spPr>
          <a:xfrm>
            <a:off x="7989026" y="5966460"/>
            <a:ext cx="3117130" cy="186689"/>
          </a:xfrm>
          <a:prstGeom prst="rect">
            <a:avLst/>
          </a:prstGeom>
          <a:noFill/>
        </p:spPr>
        <p:txBody>
          <a:bodyPr wrap="none" lIns="0" rIns="0" tIns="0" bIns="0">
            <a:spAutoFit/>
          </a:bodyPr>
          <a:lstStyle/>
          <a:p>
            <a:r>
              <a:rPr sz="1100" b="0">
                <a:solidFill>
                  <a:srgbClr val="2E2E2E"/>
                </a:solidFill>
                <a:latin typeface="Calibri"/>
              </a:rPr>
              <a:t>MT between 2026 and 2036 the U.S. market grows to</a:t>
            </a:r>
          </a:p>
        </p:txBody>
      </p:sp>
      <p:pic>
        <p:nvPicPr>
          <p:cNvPr id="62" name="Picture 61" descr="lock.png"/>
          <p:cNvPicPr>
            <a:picLocks noChangeAspect="1"/>
          </p:cNvPicPr>
          <p:nvPr/>
        </p:nvPicPr>
        <p:blipFill>
          <a:blip r:embed="rId8"/>
          <a:stretch>
            <a:fillRect/>
          </a:stretch>
        </p:blipFill>
        <p:spPr>
          <a:xfrm>
            <a:off x="11054208" y="5956680"/>
            <a:ext cx="128699" cy="187198"/>
          </a:xfrm>
          <a:prstGeom prst="rect">
            <a:avLst/>
          </a:prstGeom>
        </p:spPr>
      </p:pic>
      <p:sp>
        <p:nvSpPr>
          <p:cNvPr id="63" name="TextBox 62"/>
          <p:cNvSpPr txBox="1"/>
          <p:nvPr/>
        </p:nvSpPr>
        <p:spPr>
          <a:xfrm>
            <a:off x="11221704" y="5966460"/>
            <a:ext cx="311125" cy="186689"/>
          </a:xfrm>
          <a:prstGeom prst="rect">
            <a:avLst/>
          </a:prstGeom>
          <a:noFill/>
        </p:spPr>
        <p:txBody>
          <a:bodyPr wrap="none" lIns="0" rIns="0" tIns="0" bIns="0">
            <a:spAutoFit/>
          </a:bodyPr>
          <a:lstStyle/>
          <a:p>
            <a:r>
              <a:rPr sz="1100" b="0">
                <a:solidFill>
                  <a:srgbClr val="2E2E2E"/>
                </a:solidFill>
                <a:latin typeface="Calibri"/>
              </a:rPr>
              <a:t>× its</a:t>
            </a:r>
          </a:p>
        </p:txBody>
      </p:sp>
      <p:sp>
        <p:nvSpPr>
          <p:cNvPr id="64" name="TextBox 63"/>
          <p:cNvSpPr txBox="1"/>
          <p:nvPr/>
        </p:nvSpPr>
        <p:spPr>
          <a:xfrm>
            <a:off x="6286500" y="6134100"/>
            <a:ext cx="1590253" cy="186689"/>
          </a:xfrm>
          <a:prstGeom prst="rect">
            <a:avLst/>
          </a:prstGeom>
          <a:noFill/>
        </p:spPr>
        <p:txBody>
          <a:bodyPr wrap="none" lIns="0" rIns="0" tIns="0" bIns="0">
            <a:spAutoFit/>
          </a:bodyPr>
          <a:lstStyle/>
          <a:p>
            <a:r>
              <a:rPr sz="1100" b="0">
                <a:solidFill>
                  <a:srgbClr val="2E2E2E"/>
                </a:solidFill>
                <a:latin typeface="Calibri"/>
              </a:rPr>
              <a:t>2026 size over the decade.</a:t>
            </a:r>
          </a:p>
        </p:txBody>
      </p:sp>
      <p:sp>
        <p:nvSpPr>
          <p:cNvPr id="65"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2657921" cy="186689"/>
          </a:xfrm>
          <a:prstGeom prst="rect">
            <a:avLst/>
          </a:prstGeom>
          <a:noFill/>
        </p:spPr>
        <p:txBody>
          <a:bodyPr wrap="none" lIns="0" rIns="0" tIns="0" bIns="0">
            <a:spAutoFit/>
          </a:bodyPr>
          <a:lstStyle/>
          <a:p>
            <a:r>
              <a:rPr sz="1100" b="0">
                <a:solidFill>
                  <a:srgbClr val="2E2E2E"/>
                </a:solidFill>
                <a:latin typeface="Calibri"/>
              </a:rPr>
              <a:t>U.S.'s corrugated partition market expands at</a:t>
            </a:r>
          </a:p>
        </p:txBody>
      </p:sp>
      <p:pic>
        <p:nvPicPr>
          <p:cNvPr id="42" name="Picture 41" descr="lock.png"/>
          <p:cNvPicPr>
            <a:picLocks noChangeAspect="1"/>
          </p:cNvPicPr>
          <p:nvPr/>
        </p:nvPicPr>
        <p:blipFill>
          <a:blip r:embed="rId8"/>
          <a:stretch>
            <a:fillRect/>
          </a:stretch>
        </p:blipFill>
        <p:spPr>
          <a:xfrm>
            <a:off x="10677458" y="2866771"/>
            <a:ext cx="128699" cy="187198"/>
          </a:xfrm>
          <a:prstGeom prst="rect">
            <a:avLst/>
          </a:prstGeom>
        </p:spPr>
      </p:pic>
      <p:sp>
        <p:nvSpPr>
          <p:cNvPr id="43" name="TextBox 42"/>
          <p:cNvSpPr txBox="1"/>
          <p:nvPr/>
        </p:nvSpPr>
        <p:spPr>
          <a:xfrm>
            <a:off x="10844953" y="2876550"/>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44" name="TextBox 43"/>
          <p:cNvSpPr txBox="1"/>
          <p:nvPr/>
        </p:nvSpPr>
        <p:spPr>
          <a:xfrm>
            <a:off x="8071485" y="3044190"/>
            <a:ext cx="2731318" cy="186689"/>
          </a:xfrm>
          <a:prstGeom prst="rect">
            <a:avLst/>
          </a:prstGeom>
          <a:noFill/>
        </p:spPr>
        <p:txBody>
          <a:bodyPr wrap="none" lIns="0" rIns="0" tIns="0" bIns="0">
            <a:spAutoFit/>
          </a:bodyPr>
          <a:lstStyle/>
          <a:p>
            <a:r>
              <a:rPr sz="1100" b="0">
                <a:solidFill>
                  <a:srgbClr val="2E2E2E"/>
                </a:solidFill>
                <a:latin typeface="Calibri"/>
              </a:rPr>
              <a:t>2036, trailing the North America benchmark of</a:t>
            </a:r>
          </a:p>
        </p:txBody>
      </p:sp>
      <p:pic>
        <p:nvPicPr>
          <p:cNvPr id="45" name="Picture 44" descr="lock.png"/>
          <p:cNvPicPr>
            <a:picLocks noChangeAspect="1"/>
          </p:cNvPicPr>
          <p:nvPr/>
        </p:nvPicPr>
        <p:blipFill>
          <a:blip r:embed="rId8"/>
          <a:stretch>
            <a:fillRect/>
          </a:stretch>
        </p:blipFill>
        <p:spPr>
          <a:xfrm>
            <a:off x="10750855" y="3034411"/>
            <a:ext cx="128699" cy="187198"/>
          </a:xfrm>
          <a:prstGeom prst="rect">
            <a:avLst/>
          </a:prstGeom>
        </p:spPr>
      </p:pic>
      <p:sp>
        <p:nvSpPr>
          <p:cNvPr id="46" name="TextBox 45"/>
          <p:cNvSpPr txBox="1"/>
          <p:nvPr/>
        </p:nvSpPr>
        <p:spPr>
          <a:xfrm>
            <a:off x="10918350"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11079301" y="3034411"/>
            <a:ext cx="128699" cy="187198"/>
          </a:xfrm>
          <a:prstGeom prst="rect">
            <a:avLst/>
          </a:prstGeom>
        </p:spPr>
      </p:pic>
      <p:sp>
        <p:nvSpPr>
          <p:cNvPr id="48" name="TextBox 47"/>
          <p:cNvSpPr txBox="1"/>
          <p:nvPr/>
        </p:nvSpPr>
        <p:spPr>
          <a:xfrm>
            <a:off x="11246797" y="304419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561060" cy="186689"/>
          </a:xfrm>
          <a:prstGeom prst="rect">
            <a:avLst/>
          </a:prstGeom>
          <a:noFill/>
        </p:spPr>
        <p:txBody>
          <a:bodyPr wrap="none" lIns="0" rIns="0" tIns="0" bIns="0">
            <a:spAutoFit/>
          </a:bodyPr>
          <a:lstStyle/>
          <a:p>
            <a:r>
              <a:rPr sz="1100" b="0">
                <a:solidFill>
                  <a:srgbClr val="2E2E2E"/>
                </a:solidFill>
                <a:latin typeface="Calibri"/>
              </a:rPr>
              <a:t>of the North America corrugated partition market in 2026; by</a:t>
            </a:r>
          </a:p>
        </p:txBody>
      </p:sp>
      <p:sp>
        <p:nvSpPr>
          <p:cNvPr id="54" name="TextBox 53"/>
          <p:cNvSpPr txBox="1"/>
          <p:nvPr/>
        </p:nvSpPr>
        <p:spPr>
          <a:xfrm>
            <a:off x="257175" y="6134100"/>
            <a:ext cx="1610990" cy="186689"/>
          </a:xfrm>
          <a:prstGeom prst="rect">
            <a:avLst/>
          </a:prstGeom>
          <a:noFill/>
        </p:spPr>
        <p:txBody>
          <a:bodyPr wrap="none" lIns="0" rIns="0" tIns="0" bIns="0">
            <a:spAutoFit/>
          </a:bodyPr>
          <a:lstStyle/>
          <a:p>
            <a:r>
              <a:rPr sz="1100" b="0">
                <a:solidFill>
                  <a:srgbClr val="2E2E2E"/>
                </a:solidFill>
                <a:latin typeface="Calibri"/>
              </a:rPr>
              <a:t>2036 those shares move to</a:t>
            </a:r>
          </a:p>
        </p:txBody>
      </p:sp>
      <p:pic>
        <p:nvPicPr>
          <p:cNvPr id="55" name="Picture 54" descr="lock.png"/>
          <p:cNvPicPr>
            <a:picLocks noChangeAspect="1"/>
          </p:cNvPicPr>
          <p:nvPr/>
        </p:nvPicPr>
        <p:blipFill>
          <a:blip r:embed="rId8"/>
          <a:stretch>
            <a:fillRect/>
          </a:stretch>
        </p:blipFill>
        <p:spPr>
          <a:xfrm>
            <a:off x="1816216" y="6124320"/>
            <a:ext cx="128699" cy="187198"/>
          </a:xfrm>
          <a:prstGeom prst="rect">
            <a:avLst/>
          </a:prstGeom>
        </p:spPr>
      </p:pic>
      <p:sp>
        <p:nvSpPr>
          <p:cNvPr id="56" name="TextBox 55"/>
          <p:cNvSpPr txBox="1"/>
          <p:nvPr/>
        </p:nvSpPr>
        <p:spPr>
          <a:xfrm>
            <a:off x="1983712"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221606" y="6124320"/>
            <a:ext cx="128699" cy="187198"/>
          </a:xfrm>
          <a:prstGeom prst="rect">
            <a:avLst/>
          </a:prstGeom>
        </p:spPr>
      </p:pic>
      <p:sp>
        <p:nvSpPr>
          <p:cNvPr id="58" name="TextBox 57"/>
          <p:cNvSpPr txBox="1"/>
          <p:nvPr/>
        </p:nvSpPr>
        <p:spPr>
          <a:xfrm>
            <a:off x="2389102"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882640"/>
            <a:ext cx="3103215" cy="186689"/>
          </a:xfrm>
          <a:prstGeom prst="rect">
            <a:avLst/>
          </a:prstGeom>
          <a:noFill/>
        </p:spPr>
        <p:txBody>
          <a:bodyPr wrap="none" lIns="0" rIns="0" tIns="0" bIns="0">
            <a:spAutoFit/>
          </a:bodyPr>
          <a:lstStyle/>
          <a:p>
            <a:r>
              <a:rPr sz="1100" b="0">
                <a:solidFill>
                  <a:srgbClr val="2E2E2E"/>
                </a:solidFill>
                <a:latin typeface="Calibri"/>
              </a:rPr>
              <a:t>The market in the U.S. is expected to account for US$</a:t>
            </a:r>
          </a:p>
        </p:txBody>
      </p:sp>
      <p:pic>
        <p:nvPicPr>
          <p:cNvPr id="60" name="Picture 59" descr="lock.png"/>
          <p:cNvPicPr>
            <a:picLocks noChangeAspect="1"/>
          </p:cNvPicPr>
          <p:nvPr/>
        </p:nvPicPr>
        <p:blipFill>
          <a:blip r:embed="rId8"/>
          <a:stretch>
            <a:fillRect/>
          </a:stretch>
        </p:blipFill>
        <p:spPr>
          <a:xfrm>
            <a:off x="9337766" y="5872860"/>
            <a:ext cx="128699" cy="187198"/>
          </a:xfrm>
          <a:prstGeom prst="rect">
            <a:avLst/>
          </a:prstGeom>
        </p:spPr>
      </p:pic>
      <p:sp>
        <p:nvSpPr>
          <p:cNvPr id="61" name="TextBox 60"/>
          <p:cNvSpPr txBox="1"/>
          <p:nvPr/>
        </p:nvSpPr>
        <p:spPr>
          <a:xfrm>
            <a:off x="9505262" y="58826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62" name="Picture 61" descr="lock.png"/>
          <p:cNvPicPr>
            <a:picLocks noChangeAspect="1"/>
          </p:cNvPicPr>
          <p:nvPr/>
        </p:nvPicPr>
        <p:blipFill>
          <a:blip r:embed="rId8"/>
          <a:stretch>
            <a:fillRect/>
          </a:stretch>
        </p:blipFill>
        <p:spPr>
          <a:xfrm>
            <a:off x="10948871" y="5872860"/>
            <a:ext cx="128699" cy="187198"/>
          </a:xfrm>
          <a:prstGeom prst="rect">
            <a:avLst/>
          </a:prstGeom>
        </p:spPr>
      </p:pic>
      <p:sp>
        <p:nvSpPr>
          <p:cNvPr id="63" name="TextBox 62"/>
          <p:cNvSpPr txBox="1"/>
          <p:nvPr/>
        </p:nvSpPr>
        <p:spPr>
          <a:xfrm>
            <a:off x="11116366" y="5882640"/>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4" name="TextBox 63"/>
          <p:cNvSpPr txBox="1"/>
          <p:nvPr/>
        </p:nvSpPr>
        <p:spPr>
          <a:xfrm>
            <a:off x="6286500" y="6050280"/>
            <a:ext cx="4694758" cy="186689"/>
          </a:xfrm>
          <a:prstGeom prst="rect">
            <a:avLst/>
          </a:prstGeom>
          <a:noFill/>
        </p:spPr>
        <p:txBody>
          <a:bodyPr wrap="none" lIns="0" rIns="0" tIns="0" bIns="0">
            <a:spAutoFit/>
          </a:bodyPr>
          <a:lstStyle/>
          <a:p>
            <a:r>
              <a:rPr sz="1100" b="0">
                <a:solidFill>
                  <a:srgbClr val="2E2E2E"/>
                </a:solidFill>
                <a:latin typeface="Calibri"/>
              </a:rPr>
              <a:t>forecast period. The U.S. is expected to create an incremental opportunity of US$</a:t>
            </a:r>
          </a:p>
        </p:txBody>
      </p:sp>
      <p:pic>
        <p:nvPicPr>
          <p:cNvPr id="65" name="Picture 64" descr="lock.png"/>
          <p:cNvPicPr>
            <a:picLocks noChangeAspect="1"/>
          </p:cNvPicPr>
          <p:nvPr/>
        </p:nvPicPr>
        <p:blipFill>
          <a:blip r:embed="rId8"/>
          <a:stretch>
            <a:fillRect/>
          </a:stretch>
        </p:blipFill>
        <p:spPr>
          <a:xfrm>
            <a:off x="10929309" y="6040501"/>
            <a:ext cx="128699" cy="187198"/>
          </a:xfrm>
          <a:prstGeom prst="rect">
            <a:avLst/>
          </a:prstGeom>
        </p:spPr>
      </p:pic>
      <p:sp>
        <p:nvSpPr>
          <p:cNvPr id="66" name="TextBox 65"/>
          <p:cNvSpPr txBox="1"/>
          <p:nvPr/>
        </p:nvSpPr>
        <p:spPr>
          <a:xfrm>
            <a:off x="11096805" y="6050280"/>
            <a:ext cx="687387" cy="186689"/>
          </a:xfrm>
          <a:prstGeom prst="rect">
            <a:avLst/>
          </a:prstGeom>
          <a:noFill/>
        </p:spPr>
        <p:txBody>
          <a:bodyPr wrap="none" lIns="0" rIns="0" tIns="0" bIns="0">
            <a:spAutoFit/>
          </a:bodyPr>
          <a:lstStyle/>
          <a:p>
            <a:r>
              <a:rPr sz="1100" b="0">
                <a:solidFill>
                  <a:srgbClr val="2E2E2E"/>
                </a:solidFill>
                <a:latin typeface="Calibri"/>
              </a:rPr>
              <a:t>Mn for the</a:t>
            </a:r>
          </a:p>
        </p:txBody>
      </p:sp>
      <p:sp>
        <p:nvSpPr>
          <p:cNvPr id="67" name="TextBox 66"/>
          <p:cNvSpPr txBox="1"/>
          <p:nvPr/>
        </p:nvSpPr>
        <p:spPr>
          <a:xfrm>
            <a:off x="6286500" y="6217920"/>
            <a:ext cx="3212355" cy="186689"/>
          </a:xfrm>
          <a:prstGeom prst="rect">
            <a:avLst/>
          </a:prstGeom>
          <a:noFill/>
        </p:spPr>
        <p:txBody>
          <a:bodyPr wrap="none" lIns="0" rIns="0" tIns="0" bIns="0">
            <a:spAutoFit/>
          </a:bodyPr>
          <a:lstStyle/>
          <a:p>
            <a:r>
              <a:rPr sz="1100" b="0">
                <a:solidFill>
                  <a:srgbClr val="2E2E2E"/>
                </a:solidFill>
                <a:latin typeface="Calibri"/>
              </a:rPr>
              <a:t>overall corrugated partition market from 2025 to 2036.</a:t>
            </a:r>
          </a:p>
        </p:txBody>
      </p:sp>
      <p:sp>
        <p:nvSpPr>
          <p:cNvPr id="68"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Partition Type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Board Construction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Source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Cell Configuration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Customization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r:id="rId7"/>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286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r:id="rId8"/>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6334125" y="3219450"/>
            <a:ext cx="27051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Channel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r:id="rId9"/>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11"/>
          <a:stretch>
            <a:fillRect/>
          </a:stretch>
        </p:blipFill>
        <p:spPr>
          <a:xfrm>
            <a:off x="1811655" y="1900237"/>
            <a:ext cx="183356" cy="266700"/>
          </a:xfrm>
          <a:prstGeom prst="rect">
            <a:avLst/>
          </a:prstGeom>
        </p:spPr>
      </p:pic>
      <p:pic>
        <p:nvPicPr>
          <p:cNvPr id="38" name="Picture 37" descr="lock.png"/>
          <p:cNvPicPr>
            <a:picLocks noChangeAspect="1"/>
          </p:cNvPicPr>
          <p:nvPr/>
        </p:nvPicPr>
        <p:blipFill>
          <a:blip r:embed="rId11"/>
          <a:stretch>
            <a:fillRect/>
          </a:stretch>
        </p:blipFill>
        <p:spPr>
          <a:xfrm>
            <a:off x="4821555" y="1900237"/>
            <a:ext cx="183356" cy="266700"/>
          </a:xfrm>
          <a:prstGeom prst="rect">
            <a:avLst/>
          </a:prstGeom>
        </p:spPr>
      </p:pic>
      <p:pic>
        <p:nvPicPr>
          <p:cNvPr id="39" name="Picture 38" descr="lock.png"/>
          <p:cNvPicPr>
            <a:picLocks noChangeAspect="1"/>
          </p:cNvPicPr>
          <p:nvPr/>
        </p:nvPicPr>
        <p:blipFill>
          <a:blip r:embed="rId11"/>
          <a:stretch>
            <a:fillRect/>
          </a:stretch>
        </p:blipFill>
        <p:spPr>
          <a:xfrm>
            <a:off x="7831455" y="1900237"/>
            <a:ext cx="183356" cy="266700"/>
          </a:xfrm>
          <a:prstGeom prst="rect">
            <a:avLst/>
          </a:prstGeom>
        </p:spPr>
      </p:pic>
      <p:pic>
        <p:nvPicPr>
          <p:cNvPr id="40" name="Picture 39" descr="lock.png"/>
          <p:cNvPicPr>
            <a:picLocks noChangeAspect="1"/>
          </p:cNvPicPr>
          <p:nvPr/>
        </p:nvPicPr>
        <p:blipFill>
          <a:blip r:embed="rId11"/>
          <a:stretch>
            <a:fillRect/>
          </a:stretch>
        </p:blipFill>
        <p:spPr>
          <a:xfrm>
            <a:off x="10841355" y="1900237"/>
            <a:ext cx="183356" cy="266700"/>
          </a:xfrm>
          <a:prstGeom prst="rect">
            <a:avLst/>
          </a:prstGeom>
        </p:spPr>
      </p:pic>
      <p:pic>
        <p:nvPicPr>
          <p:cNvPr id="41" name="Picture 40" descr="lock.png"/>
          <p:cNvPicPr>
            <a:picLocks noChangeAspect="1"/>
          </p:cNvPicPr>
          <p:nvPr/>
        </p:nvPicPr>
        <p:blipFill>
          <a:blip r:embed="rId11"/>
          <a:stretch>
            <a:fillRect/>
          </a:stretch>
        </p:blipFill>
        <p:spPr>
          <a:xfrm>
            <a:off x="1830705" y="4081462"/>
            <a:ext cx="183356" cy="266700"/>
          </a:xfrm>
          <a:prstGeom prst="rect">
            <a:avLst/>
          </a:prstGeom>
        </p:spPr>
      </p:pic>
      <p:pic>
        <p:nvPicPr>
          <p:cNvPr id="42" name="Picture 41" descr="lock.png"/>
          <p:cNvPicPr>
            <a:picLocks noChangeAspect="1"/>
          </p:cNvPicPr>
          <p:nvPr/>
        </p:nvPicPr>
        <p:blipFill>
          <a:blip r:embed="rId11"/>
          <a:stretch>
            <a:fillRect/>
          </a:stretch>
        </p:blipFill>
        <p:spPr>
          <a:xfrm>
            <a:off x="4878705" y="4081462"/>
            <a:ext cx="183356" cy="266700"/>
          </a:xfrm>
          <a:prstGeom prst="rect">
            <a:avLst/>
          </a:prstGeom>
        </p:spPr>
      </p:pic>
      <p:pic>
        <p:nvPicPr>
          <p:cNvPr id="43" name="Picture 42" descr="lock.png"/>
          <p:cNvPicPr>
            <a:picLocks noChangeAspect="1"/>
          </p:cNvPicPr>
          <p:nvPr/>
        </p:nvPicPr>
        <p:blipFill>
          <a:blip r:embed="rId11"/>
          <a:stretch>
            <a:fillRect/>
          </a:stretch>
        </p:blipFill>
        <p:spPr>
          <a:xfrm>
            <a:off x="7926705" y="4081462"/>
            <a:ext cx="183356" cy="266700"/>
          </a:xfrm>
          <a:prstGeom prst="rect">
            <a:avLst/>
          </a:prstGeom>
        </p:spPr>
      </p:pic>
      <p:sp>
        <p:nvSpPr>
          <p:cNvPr id="44" name="TextBox 43"/>
          <p:cNvSpPr txBox="1"/>
          <p:nvPr/>
        </p:nvSpPr>
        <p:spPr>
          <a:xfrm>
            <a:off x="276225" y="543877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45" name="Picture 44" descr="lock.png"/>
          <p:cNvPicPr>
            <a:picLocks noChangeAspect="1"/>
          </p:cNvPicPr>
          <p:nvPr/>
        </p:nvPicPr>
        <p:blipFill>
          <a:blip r:embed="rId11"/>
          <a:stretch>
            <a:fillRect/>
          </a:stretch>
        </p:blipFill>
        <p:spPr>
          <a:xfrm>
            <a:off x="1688698" y="5430453"/>
            <a:ext cx="109510" cy="159288"/>
          </a:xfrm>
          <a:prstGeom prst="rect">
            <a:avLst/>
          </a:prstGeom>
        </p:spPr>
      </p:pic>
      <p:sp>
        <p:nvSpPr>
          <p:cNvPr id="46" name="TextBox 45"/>
          <p:cNvSpPr txBox="1"/>
          <p:nvPr/>
        </p:nvSpPr>
        <p:spPr>
          <a:xfrm>
            <a:off x="1831222" y="543877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47" name="TextBox 46"/>
          <p:cNvSpPr txBox="1"/>
          <p:nvPr/>
        </p:nvSpPr>
        <p:spPr>
          <a:xfrm>
            <a:off x="276225" y="5762625"/>
            <a:ext cx="3337485" cy="194310"/>
          </a:xfrm>
          <a:prstGeom prst="rect">
            <a:avLst/>
          </a:prstGeom>
          <a:noFill/>
        </p:spPr>
        <p:txBody>
          <a:bodyPr wrap="none" lIns="0" rIns="0" tIns="0" bIns="0">
            <a:spAutoFit/>
          </a:bodyPr>
          <a:lstStyle/>
          <a:p>
            <a:r>
              <a:rPr sz="1150" b="0">
                <a:solidFill>
                  <a:srgbClr val="2E2E2E"/>
                </a:solidFill>
                <a:latin typeface="Calibri"/>
              </a:rPr>
              <a:t>▪ By Partition Type, 'Flat Dividers &amp; Layer Pads' leads at</a:t>
            </a:r>
          </a:p>
        </p:txBody>
      </p:sp>
      <p:pic>
        <p:nvPicPr>
          <p:cNvPr id="48" name="Picture 47" descr="lock.png"/>
          <p:cNvPicPr>
            <a:picLocks noChangeAspect="1"/>
          </p:cNvPicPr>
          <p:nvPr/>
        </p:nvPicPr>
        <p:blipFill>
          <a:blip r:embed="rId11"/>
          <a:stretch>
            <a:fillRect/>
          </a:stretch>
        </p:blipFill>
        <p:spPr>
          <a:xfrm>
            <a:off x="3562864" y="5752401"/>
            <a:ext cx="134549" cy="195707"/>
          </a:xfrm>
          <a:prstGeom prst="rect">
            <a:avLst/>
          </a:prstGeom>
        </p:spPr>
      </p:pic>
      <p:sp>
        <p:nvSpPr>
          <p:cNvPr id="49" name="TextBox 48"/>
          <p:cNvSpPr txBox="1"/>
          <p:nvPr/>
        </p:nvSpPr>
        <p:spPr>
          <a:xfrm>
            <a:off x="3737973" y="576262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50" name="Picture 49" descr="lock.png"/>
          <p:cNvPicPr>
            <a:picLocks noChangeAspect="1"/>
          </p:cNvPicPr>
          <p:nvPr/>
        </p:nvPicPr>
        <p:blipFill>
          <a:blip r:embed="rId11"/>
          <a:stretch>
            <a:fillRect/>
          </a:stretch>
        </p:blipFill>
        <p:spPr>
          <a:xfrm>
            <a:off x="4310444" y="5752401"/>
            <a:ext cx="134549" cy="195707"/>
          </a:xfrm>
          <a:prstGeom prst="rect">
            <a:avLst/>
          </a:prstGeom>
        </p:spPr>
      </p:pic>
      <p:sp>
        <p:nvSpPr>
          <p:cNvPr id="51" name="TextBox 50"/>
          <p:cNvSpPr txBox="1"/>
          <p:nvPr/>
        </p:nvSpPr>
        <p:spPr>
          <a:xfrm>
            <a:off x="4485554" y="5762625"/>
            <a:ext cx="4591738" cy="194310"/>
          </a:xfrm>
          <a:prstGeom prst="rect">
            <a:avLst/>
          </a:prstGeom>
          <a:noFill/>
        </p:spPr>
        <p:txBody>
          <a:bodyPr wrap="none" lIns="0" rIns="0" tIns="0" bIns="0">
            <a:spAutoFit/>
          </a:bodyPr>
          <a:lstStyle/>
          <a:p>
            <a:r>
              <a:rPr sz="1150" b="0">
                <a:solidFill>
                  <a:srgbClr val="2E2E2E"/>
                </a:solidFill>
                <a:latin typeface="Calibri"/>
              </a:rPr>
              <a:t>share), ahead of 'Die-Cut &amp; Folded Partitions (H-dividers, tube/cell inserts)' (</a:t>
            </a:r>
          </a:p>
        </p:txBody>
      </p:sp>
      <p:pic>
        <p:nvPicPr>
          <p:cNvPr id="52" name="Picture 51" descr="lock.png"/>
          <p:cNvPicPr>
            <a:picLocks noChangeAspect="1"/>
          </p:cNvPicPr>
          <p:nvPr/>
        </p:nvPicPr>
        <p:blipFill>
          <a:blip r:embed="rId11"/>
          <a:stretch>
            <a:fillRect/>
          </a:stretch>
        </p:blipFill>
        <p:spPr>
          <a:xfrm>
            <a:off x="9026446" y="5752401"/>
            <a:ext cx="134549" cy="195707"/>
          </a:xfrm>
          <a:prstGeom prst="rect">
            <a:avLst/>
          </a:prstGeom>
        </p:spPr>
      </p:pic>
      <p:sp>
        <p:nvSpPr>
          <p:cNvPr id="53" name="TextBox 52"/>
          <p:cNvSpPr txBox="1"/>
          <p:nvPr/>
        </p:nvSpPr>
        <p:spPr>
          <a:xfrm>
            <a:off x="9201555" y="57626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54" name="TextBox 53"/>
          <p:cNvSpPr txBox="1"/>
          <p:nvPr/>
        </p:nvSpPr>
        <p:spPr>
          <a:xfrm>
            <a:off x="276225" y="5990463"/>
            <a:ext cx="2847419" cy="194310"/>
          </a:xfrm>
          <a:prstGeom prst="rect">
            <a:avLst/>
          </a:prstGeom>
          <a:noFill/>
        </p:spPr>
        <p:txBody>
          <a:bodyPr wrap="none" lIns="0" rIns="0" tIns="0" bIns="0">
            <a:spAutoFit/>
          </a:bodyPr>
          <a:lstStyle/>
          <a:p>
            <a:r>
              <a:rPr sz="1150" b="0">
                <a:solidFill>
                  <a:srgbClr val="2E2E2E"/>
                </a:solidFill>
                <a:latin typeface="Calibri"/>
              </a:rPr>
              <a:t>▪ By Board Construction, 'Double Wall' leads at</a:t>
            </a:r>
          </a:p>
        </p:txBody>
      </p:sp>
      <p:pic>
        <p:nvPicPr>
          <p:cNvPr id="55" name="Picture 54" descr="lock.png"/>
          <p:cNvPicPr>
            <a:picLocks noChangeAspect="1"/>
          </p:cNvPicPr>
          <p:nvPr/>
        </p:nvPicPr>
        <p:blipFill>
          <a:blip r:embed="rId11"/>
          <a:stretch>
            <a:fillRect/>
          </a:stretch>
        </p:blipFill>
        <p:spPr>
          <a:xfrm>
            <a:off x="3072798" y="5980239"/>
            <a:ext cx="134549" cy="195707"/>
          </a:xfrm>
          <a:prstGeom prst="rect">
            <a:avLst/>
          </a:prstGeom>
        </p:spPr>
      </p:pic>
      <p:sp>
        <p:nvSpPr>
          <p:cNvPr id="56" name="TextBox 55"/>
          <p:cNvSpPr txBox="1"/>
          <p:nvPr/>
        </p:nvSpPr>
        <p:spPr>
          <a:xfrm>
            <a:off x="3247907" y="599046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57" name="Picture 56" descr="lock.png"/>
          <p:cNvPicPr>
            <a:picLocks noChangeAspect="1"/>
          </p:cNvPicPr>
          <p:nvPr/>
        </p:nvPicPr>
        <p:blipFill>
          <a:blip r:embed="rId11"/>
          <a:stretch>
            <a:fillRect/>
          </a:stretch>
        </p:blipFill>
        <p:spPr>
          <a:xfrm>
            <a:off x="3820378" y="5980239"/>
            <a:ext cx="134549" cy="195707"/>
          </a:xfrm>
          <a:prstGeom prst="rect">
            <a:avLst/>
          </a:prstGeom>
        </p:spPr>
      </p:pic>
      <p:sp>
        <p:nvSpPr>
          <p:cNvPr id="58" name="TextBox 57"/>
          <p:cNvSpPr txBox="1"/>
          <p:nvPr/>
        </p:nvSpPr>
        <p:spPr>
          <a:xfrm>
            <a:off x="3995487" y="5990463"/>
            <a:ext cx="1852476" cy="194310"/>
          </a:xfrm>
          <a:prstGeom prst="rect">
            <a:avLst/>
          </a:prstGeom>
          <a:noFill/>
        </p:spPr>
        <p:txBody>
          <a:bodyPr wrap="none" lIns="0" rIns="0" tIns="0" bIns="0">
            <a:spAutoFit/>
          </a:bodyPr>
          <a:lstStyle/>
          <a:p>
            <a:r>
              <a:rPr sz="1150" b="0">
                <a:solidFill>
                  <a:srgbClr val="2E2E2E"/>
                </a:solidFill>
                <a:latin typeface="Calibri"/>
              </a:rPr>
              <a:t>share), ahead of 'Triple Wall' (</a:t>
            </a:r>
          </a:p>
        </p:txBody>
      </p:sp>
      <p:pic>
        <p:nvPicPr>
          <p:cNvPr id="59" name="Picture 58" descr="lock.png"/>
          <p:cNvPicPr>
            <a:picLocks noChangeAspect="1"/>
          </p:cNvPicPr>
          <p:nvPr/>
        </p:nvPicPr>
        <p:blipFill>
          <a:blip r:embed="rId11"/>
          <a:stretch>
            <a:fillRect/>
          </a:stretch>
        </p:blipFill>
        <p:spPr>
          <a:xfrm>
            <a:off x="5797117" y="5980239"/>
            <a:ext cx="134549" cy="195707"/>
          </a:xfrm>
          <a:prstGeom prst="rect">
            <a:avLst/>
          </a:prstGeom>
        </p:spPr>
      </p:pic>
      <p:sp>
        <p:nvSpPr>
          <p:cNvPr id="60" name="TextBox 59"/>
          <p:cNvSpPr txBox="1"/>
          <p:nvPr/>
        </p:nvSpPr>
        <p:spPr>
          <a:xfrm>
            <a:off x="5972227" y="5990463"/>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61" name="TextBox 60"/>
          <p:cNvSpPr txBox="1"/>
          <p:nvPr/>
        </p:nvSpPr>
        <p:spPr>
          <a:xfrm>
            <a:off x="276225" y="6218300"/>
            <a:ext cx="3316055" cy="194310"/>
          </a:xfrm>
          <a:prstGeom prst="rect">
            <a:avLst/>
          </a:prstGeom>
          <a:noFill/>
        </p:spPr>
        <p:txBody>
          <a:bodyPr wrap="none" lIns="0" rIns="0" tIns="0" bIns="0">
            <a:spAutoFit/>
          </a:bodyPr>
          <a:lstStyle/>
          <a:p>
            <a:r>
              <a:rPr sz="1150" b="0">
                <a:solidFill>
                  <a:srgbClr val="2E2E2E"/>
                </a:solidFill>
                <a:latin typeface="Calibri"/>
              </a:rPr>
              <a:t>▪ By Material Source, 'Virgin Kraft Fibre-based' leads at</a:t>
            </a:r>
          </a:p>
        </p:txBody>
      </p:sp>
      <p:pic>
        <p:nvPicPr>
          <p:cNvPr id="62" name="Picture 61" descr="lock.png"/>
          <p:cNvPicPr>
            <a:picLocks noChangeAspect="1"/>
          </p:cNvPicPr>
          <p:nvPr/>
        </p:nvPicPr>
        <p:blipFill>
          <a:blip r:embed="rId11"/>
          <a:stretch>
            <a:fillRect/>
          </a:stretch>
        </p:blipFill>
        <p:spPr>
          <a:xfrm>
            <a:off x="3541434" y="6208077"/>
            <a:ext cx="134549" cy="195707"/>
          </a:xfrm>
          <a:prstGeom prst="rect">
            <a:avLst/>
          </a:prstGeom>
        </p:spPr>
      </p:pic>
      <p:sp>
        <p:nvSpPr>
          <p:cNvPr id="63" name="TextBox 62"/>
          <p:cNvSpPr txBox="1"/>
          <p:nvPr/>
        </p:nvSpPr>
        <p:spPr>
          <a:xfrm>
            <a:off x="3716544" y="6218300"/>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64" name="Picture 63" descr="lock.png"/>
          <p:cNvPicPr>
            <a:picLocks noChangeAspect="1"/>
          </p:cNvPicPr>
          <p:nvPr/>
        </p:nvPicPr>
        <p:blipFill>
          <a:blip r:embed="rId11"/>
          <a:stretch>
            <a:fillRect/>
          </a:stretch>
        </p:blipFill>
        <p:spPr>
          <a:xfrm>
            <a:off x="4289015" y="6208077"/>
            <a:ext cx="134549" cy="195707"/>
          </a:xfrm>
          <a:prstGeom prst="rect">
            <a:avLst/>
          </a:prstGeom>
        </p:spPr>
      </p:pic>
      <p:sp>
        <p:nvSpPr>
          <p:cNvPr id="65" name="TextBox 64"/>
          <p:cNvSpPr txBox="1"/>
          <p:nvPr/>
        </p:nvSpPr>
        <p:spPr>
          <a:xfrm>
            <a:off x="4464124" y="6218300"/>
            <a:ext cx="4167311" cy="194310"/>
          </a:xfrm>
          <a:prstGeom prst="rect">
            <a:avLst/>
          </a:prstGeom>
          <a:noFill/>
        </p:spPr>
        <p:txBody>
          <a:bodyPr wrap="none" lIns="0" rIns="0" tIns="0" bIns="0">
            <a:spAutoFit/>
          </a:bodyPr>
          <a:lstStyle/>
          <a:p>
            <a:r>
              <a:rPr sz="1150" b="0">
                <a:solidFill>
                  <a:srgbClr val="2E2E2E"/>
                </a:solidFill>
                <a:latin typeface="Calibri"/>
              </a:rPr>
              <a:t>share), ahead of 'Recycled Fibre-based (testliner/recycled medium)' (</a:t>
            </a:r>
          </a:p>
        </p:txBody>
      </p:sp>
      <p:pic>
        <p:nvPicPr>
          <p:cNvPr id="66" name="Picture 65" descr="lock.png"/>
          <p:cNvPicPr>
            <a:picLocks noChangeAspect="1"/>
          </p:cNvPicPr>
          <p:nvPr/>
        </p:nvPicPr>
        <p:blipFill>
          <a:blip r:embed="rId11"/>
          <a:stretch>
            <a:fillRect/>
          </a:stretch>
        </p:blipFill>
        <p:spPr>
          <a:xfrm>
            <a:off x="8580589" y="6208077"/>
            <a:ext cx="134549" cy="195707"/>
          </a:xfrm>
          <a:prstGeom prst="rect">
            <a:avLst/>
          </a:prstGeom>
        </p:spPr>
      </p:pic>
      <p:sp>
        <p:nvSpPr>
          <p:cNvPr id="67" name="TextBox 66"/>
          <p:cNvSpPr txBox="1"/>
          <p:nvPr/>
        </p:nvSpPr>
        <p:spPr>
          <a:xfrm>
            <a:off x="8755699" y="62183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68" name="lockshield_13"/>
          <p:cNvSpPr/>
          <p:nvPr/>
        </p:nvSpPr>
        <p:spPr>
          <a:xfrm>
            <a:off x="2381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lockshield_16"/>
          <p:cNvSpPr/>
          <p:nvPr/>
        </p:nvSpPr>
        <p:spPr>
          <a:xfrm>
            <a:off x="32480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lockshield_19"/>
          <p:cNvSpPr/>
          <p:nvPr/>
        </p:nvSpPr>
        <p:spPr>
          <a:xfrm>
            <a:off x="62579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lockshield_22"/>
          <p:cNvSpPr/>
          <p:nvPr/>
        </p:nvSpPr>
        <p:spPr>
          <a:xfrm>
            <a:off x="92678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lockshield_25"/>
          <p:cNvSpPr/>
          <p:nvPr/>
        </p:nvSpPr>
        <p:spPr>
          <a:xfrm>
            <a:off x="238125" y="3448050"/>
            <a:ext cx="27051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lockshield_28"/>
          <p:cNvSpPr/>
          <p:nvPr/>
        </p:nvSpPr>
        <p:spPr>
          <a:xfrm>
            <a:off x="3286125" y="3448050"/>
            <a:ext cx="27051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lockshield_31"/>
          <p:cNvSpPr/>
          <p:nvPr/>
        </p:nvSpPr>
        <p:spPr>
          <a:xfrm>
            <a:off x="6334125" y="3448050"/>
            <a:ext cx="27051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5" name="TextBox 14"/>
          <p:cNvSpPr txBox="1"/>
          <p:nvPr/>
        </p:nvSpPr>
        <p:spPr>
          <a:xfrm>
            <a:off x="276225" y="107632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16" name="Picture 15" descr="lock.png"/>
          <p:cNvPicPr>
            <a:picLocks noChangeAspect="1"/>
          </p:cNvPicPr>
          <p:nvPr/>
        </p:nvPicPr>
        <p:blipFill>
          <a:blip r:embed="rId4"/>
          <a:stretch>
            <a:fillRect/>
          </a:stretch>
        </p:blipFill>
        <p:spPr>
          <a:xfrm>
            <a:off x="1688698" y="1068003"/>
            <a:ext cx="109510" cy="159288"/>
          </a:xfrm>
          <a:prstGeom prst="rect">
            <a:avLst/>
          </a:prstGeom>
        </p:spPr>
      </p:pic>
      <p:sp>
        <p:nvSpPr>
          <p:cNvPr id="17" name="TextBox 16"/>
          <p:cNvSpPr txBox="1"/>
          <p:nvPr/>
        </p:nvSpPr>
        <p:spPr>
          <a:xfrm>
            <a:off x="1831222" y="107632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18" name="TextBox 17"/>
          <p:cNvSpPr txBox="1"/>
          <p:nvPr/>
        </p:nvSpPr>
        <p:spPr>
          <a:xfrm>
            <a:off x="276225" y="1400175"/>
            <a:ext cx="2660355" cy="186689"/>
          </a:xfrm>
          <a:prstGeom prst="rect">
            <a:avLst/>
          </a:prstGeom>
          <a:noFill/>
        </p:spPr>
        <p:txBody>
          <a:bodyPr wrap="none" lIns="0" rIns="0" tIns="0" bIns="0">
            <a:spAutoFit/>
          </a:bodyPr>
          <a:lstStyle/>
          <a:p>
            <a:r>
              <a:rPr sz="1100" b="0">
                <a:solidFill>
                  <a:srgbClr val="2E2E2E"/>
                </a:solidFill>
                <a:latin typeface="Calibri"/>
              </a:rPr>
              <a:t>▪ By Cell Configuration, 'Up to 4 Cells' leads at</a:t>
            </a:r>
          </a:p>
        </p:txBody>
      </p:sp>
      <p:pic>
        <p:nvPicPr>
          <p:cNvPr id="19" name="Picture 18" descr="lock.png"/>
          <p:cNvPicPr>
            <a:picLocks noChangeAspect="1"/>
          </p:cNvPicPr>
          <p:nvPr/>
        </p:nvPicPr>
        <p:blipFill>
          <a:blip r:embed="rId4"/>
          <a:stretch>
            <a:fillRect/>
          </a:stretch>
        </p:blipFill>
        <p:spPr>
          <a:xfrm>
            <a:off x="2884632" y="1390396"/>
            <a:ext cx="128699" cy="187198"/>
          </a:xfrm>
          <a:prstGeom prst="rect">
            <a:avLst/>
          </a:prstGeom>
        </p:spPr>
      </p:pic>
      <p:sp>
        <p:nvSpPr>
          <p:cNvPr id="20" name="TextBox 19"/>
          <p:cNvSpPr txBox="1"/>
          <p:nvPr/>
        </p:nvSpPr>
        <p:spPr>
          <a:xfrm>
            <a:off x="3052128" y="1400175"/>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21" name="Picture 20" descr="lock.png"/>
          <p:cNvPicPr>
            <a:picLocks noChangeAspect="1"/>
          </p:cNvPicPr>
          <p:nvPr/>
        </p:nvPicPr>
        <p:blipFill>
          <a:blip r:embed="rId4"/>
          <a:stretch>
            <a:fillRect/>
          </a:stretch>
        </p:blipFill>
        <p:spPr>
          <a:xfrm>
            <a:off x="3599709" y="1390396"/>
            <a:ext cx="128699" cy="187198"/>
          </a:xfrm>
          <a:prstGeom prst="rect">
            <a:avLst/>
          </a:prstGeom>
        </p:spPr>
      </p:pic>
      <p:sp>
        <p:nvSpPr>
          <p:cNvPr id="22" name="TextBox 21"/>
          <p:cNvSpPr txBox="1"/>
          <p:nvPr/>
        </p:nvSpPr>
        <p:spPr>
          <a:xfrm>
            <a:off x="3767204" y="1400175"/>
            <a:ext cx="1854919" cy="186689"/>
          </a:xfrm>
          <a:prstGeom prst="rect">
            <a:avLst/>
          </a:prstGeom>
          <a:noFill/>
        </p:spPr>
        <p:txBody>
          <a:bodyPr wrap="none" lIns="0" rIns="0" tIns="0" bIns="0">
            <a:spAutoFit/>
          </a:bodyPr>
          <a:lstStyle/>
          <a:p>
            <a:r>
              <a:rPr sz="1100" b="0">
                <a:solidFill>
                  <a:srgbClr val="2E2E2E"/>
                </a:solidFill>
                <a:latin typeface="Calibri"/>
              </a:rPr>
              <a:t>share), ahead of '6 to 12 Cells' (</a:t>
            </a:r>
          </a:p>
        </p:txBody>
      </p:sp>
      <p:pic>
        <p:nvPicPr>
          <p:cNvPr id="23" name="Picture 22" descr="lock.png"/>
          <p:cNvPicPr>
            <a:picLocks noChangeAspect="1"/>
          </p:cNvPicPr>
          <p:nvPr/>
        </p:nvPicPr>
        <p:blipFill>
          <a:blip r:embed="rId4"/>
          <a:stretch>
            <a:fillRect/>
          </a:stretch>
        </p:blipFill>
        <p:spPr>
          <a:xfrm>
            <a:off x="5570175" y="1390396"/>
            <a:ext cx="128699" cy="187198"/>
          </a:xfrm>
          <a:prstGeom prst="rect">
            <a:avLst/>
          </a:prstGeom>
        </p:spPr>
      </p:pic>
      <p:sp>
        <p:nvSpPr>
          <p:cNvPr id="24" name="TextBox 23"/>
          <p:cNvSpPr txBox="1"/>
          <p:nvPr/>
        </p:nvSpPr>
        <p:spPr>
          <a:xfrm>
            <a:off x="5737671" y="1400175"/>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25" name="TextBox 24"/>
          <p:cNvSpPr txBox="1"/>
          <p:nvPr/>
        </p:nvSpPr>
        <p:spPr>
          <a:xfrm>
            <a:off x="276225" y="1618107"/>
            <a:ext cx="2866631" cy="186689"/>
          </a:xfrm>
          <a:prstGeom prst="rect">
            <a:avLst/>
          </a:prstGeom>
          <a:noFill/>
        </p:spPr>
        <p:txBody>
          <a:bodyPr wrap="none" lIns="0" rIns="0" tIns="0" bIns="0">
            <a:spAutoFit/>
          </a:bodyPr>
          <a:lstStyle/>
          <a:p>
            <a:r>
              <a:rPr sz="1100" b="0">
                <a:solidFill>
                  <a:srgbClr val="2E2E2E"/>
                </a:solidFill>
                <a:latin typeface="Calibri"/>
              </a:rPr>
              <a:t>▪ By Customization, 'Custom-Engineered' leads at</a:t>
            </a:r>
          </a:p>
        </p:txBody>
      </p:sp>
      <p:pic>
        <p:nvPicPr>
          <p:cNvPr id="26" name="Picture 25" descr="lock.png"/>
          <p:cNvPicPr>
            <a:picLocks noChangeAspect="1"/>
          </p:cNvPicPr>
          <p:nvPr/>
        </p:nvPicPr>
        <p:blipFill>
          <a:blip r:embed="rId4"/>
          <a:stretch>
            <a:fillRect/>
          </a:stretch>
        </p:blipFill>
        <p:spPr>
          <a:xfrm>
            <a:off x="3090908" y="1608328"/>
            <a:ext cx="128699" cy="187198"/>
          </a:xfrm>
          <a:prstGeom prst="rect">
            <a:avLst/>
          </a:prstGeom>
        </p:spPr>
      </p:pic>
      <p:sp>
        <p:nvSpPr>
          <p:cNvPr id="27" name="TextBox 26"/>
          <p:cNvSpPr txBox="1"/>
          <p:nvPr/>
        </p:nvSpPr>
        <p:spPr>
          <a:xfrm>
            <a:off x="3258404" y="1618107"/>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28" name="Picture 27" descr="lock.png"/>
          <p:cNvPicPr>
            <a:picLocks noChangeAspect="1"/>
          </p:cNvPicPr>
          <p:nvPr/>
        </p:nvPicPr>
        <p:blipFill>
          <a:blip r:embed="rId4"/>
          <a:stretch>
            <a:fillRect/>
          </a:stretch>
        </p:blipFill>
        <p:spPr>
          <a:xfrm>
            <a:off x="3805984" y="1608328"/>
            <a:ext cx="128699" cy="187198"/>
          </a:xfrm>
          <a:prstGeom prst="rect">
            <a:avLst/>
          </a:prstGeom>
        </p:spPr>
      </p:pic>
      <p:sp>
        <p:nvSpPr>
          <p:cNvPr id="29" name="TextBox 28"/>
          <p:cNvSpPr txBox="1"/>
          <p:nvPr/>
        </p:nvSpPr>
        <p:spPr>
          <a:xfrm>
            <a:off x="3973480" y="1618107"/>
            <a:ext cx="2409353" cy="186689"/>
          </a:xfrm>
          <a:prstGeom prst="rect">
            <a:avLst/>
          </a:prstGeom>
          <a:noFill/>
        </p:spPr>
        <p:txBody>
          <a:bodyPr wrap="none" lIns="0" rIns="0" tIns="0" bIns="0">
            <a:spAutoFit/>
          </a:bodyPr>
          <a:lstStyle/>
          <a:p>
            <a:r>
              <a:rPr sz="1100" b="0">
                <a:solidFill>
                  <a:srgbClr val="2E2E2E"/>
                </a:solidFill>
                <a:latin typeface="Calibri"/>
              </a:rPr>
              <a:t>share), ahead of 'Standard / Stock Sizes' (</a:t>
            </a:r>
          </a:p>
        </p:txBody>
      </p:sp>
      <p:pic>
        <p:nvPicPr>
          <p:cNvPr id="30" name="Picture 29" descr="lock.png"/>
          <p:cNvPicPr>
            <a:picLocks noChangeAspect="1"/>
          </p:cNvPicPr>
          <p:nvPr/>
        </p:nvPicPr>
        <p:blipFill>
          <a:blip r:embed="rId4"/>
          <a:stretch>
            <a:fillRect/>
          </a:stretch>
        </p:blipFill>
        <p:spPr>
          <a:xfrm>
            <a:off x="6330886" y="1608328"/>
            <a:ext cx="128699" cy="187198"/>
          </a:xfrm>
          <a:prstGeom prst="rect">
            <a:avLst/>
          </a:prstGeom>
        </p:spPr>
      </p:pic>
      <p:sp>
        <p:nvSpPr>
          <p:cNvPr id="31" name="TextBox 30"/>
          <p:cNvSpPr txBox="1"/>
          <p:nvPr/>
        </p:nvSpPr>
        <p:spPr>
          <a:xfrm>
            <a:off x="6498381" y="1618107"/>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2" name="TextBox 31"/>
          <p:cNvSpPr txBox="1"/>
          <p:nvPr/>
        </p:nvSpPr>
        <p:spPr>
          <a:xfrm>
            <a:off x="276225" y="1836039"/>
            <a:ext cx="3451625" cy="186689"/>
          </a:xfrm>
          <a:prstGeom prst="rect">
            <a:avLst/>
          </a:prstGeom>
          <a:noFill/>
        </p:spPr>
        <p:txBody>
          <a:bodyPr wrap="none" lIns="0" rIns="0" tIns="0" bIns="0">
            <a:spAutoFit/>
          </a:bodyPr>
          <a:lstStyle/>
          <a:p>
            <a:r>
              <a:rPr sz="1100" b="0">
                <a:solidFill>
                  <a:srgbClr val="2E2E2E"/>
                </a:solidFill>
                <a:latin typeface="Calibri"/>
              </a:rPr>
              <a:t>▪ By End Use, 'Glassware, Ceramics &amp; Home Goods' leads at</a:t>
            </a:r>
          </a:p>
        </p:txBody>
      </p:sp>
      <p:pic>
        <p:nvPicPr>
          <p:cNvPr id="33" name="Picture 32" descr="lock.png"/>
          <p:cNvPicPr>
            <a:picLocks noChangeAspect="1"/>
          </p:cNvPicPr>
          <p:nvPr/>
        </p:nvPicPr>
        <p:blipFill>
          <a:blip r:embed="rId4"/>
          <a:stretch>
            <a:fillRect/>
          </a:stretch>
        </p:blipFill>
        <p:spPr>
          <a:xfrm>
            <a:off x="3675901" y="1826260"/>
            <a:ext cx="128699" cy="187198"/>
          </a:xfrm>
          <a:prstGeom prst="rect">
            <a:avLst/>
          </a:prstGeom>
        </p:spPr>
      </p:pic>
      <p:sp>
        <p:nvSpPr>
          <p:cNvPr id="34" name="TextBox 33"/>
          <p:cNvSpPr txBox="1"/>
          <p:nvPr/>
        </p:nvSpPr>
        <p:spPr>
          <a:xfrm>
            <a:off x="3843397" y="1836039"/>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35" name="Picture 34" descr="lock.png"/>
          <p:cNvPicPr>
            <a:picLocks noChangeAspect="1"/>
          </p:cNvPicPr>
          <p:nvPr/>
        </p:nvPicPr>
        <p:blipFill>
          <a:blip r:embed="rId4"/>
          <a:stretch>
            <a:fillRect/>
          </a:stretch>
        </p:blipFill>
        <p:spPr>
          <a:xfrm>
            <a:off x="4390978" y="1826260"/>
            <a:ext cx="128699" cy="187198"/>
          </a:xfrm>
          <a:prstGeom prst="rect">
            <a:avLst/>
          </a:prstGeom>
        </p:spPr>
      </p:pic>
      <p:sp>
        <p:nvSpPr>
          <p:cNvPr id="36" name="TextBox 35"/>
          <p:cNvSpPr txBox="1"/>
          <p:nvPr/>
        </p:nvSpPr>
        <p:spPr>
          <a:xfrm>
            <a:off x="4558474" y="1836039"/>
            <a:ext cx="3287117" cy="186689"/>
          </a:xfrm>
          <a:prstGeom prst="rect">
            <a:avLst/>
          </a:prstGeom>
          <a:noFill/>
        </p:spPr>
        <p:txBody>
          <a:bodyPr wrap="none" lIns="0" rIns="0" tIns="0" bIns="0">
            <a:spAutoFit/>
          </a:bodyPr>
          <a:lstStyle/>
          <a:p>
            <a:r>
              <a:rPr sz="1100" b="0">
                <a:solidFill>
                  <a:srgbClr val="2E2E2E"/>
                </a:solidFill>
                <a:latin typeface="Calibri"/>
              </a:rPr>
              <a:t>share), ahead of 'Automotive &amp; Industrial Components' (</a:t>
            </a:r>
          </a:p>
        </p:txBody>
      </p:sp>
      <p:pic>
        <p:nvPicPr>
          <p:cNvPr id="37" name="Picture 36" descr="lock.png"/>
          <p:cNvPicPr>
            <a:picLocks noChangeAspect="1"/>
          </p:cNvPicPr>
          <p:nvPr/>
        </p:nvPicPr>
        <p:blipFill>
          <a:blip r:embed="rId4"/>
          <a:stretch>
            <a:fillRect/>
          </a:stretch>
        </p:blipFill>
        <p:spPr>
          <a:xfrm>
            <a:off x="7793643" y="1826260"/>
            <a:ext cx="128699" cy="187198"/>
          </a:xfrm>
          <a:prstGeom prst="rect">
            <a:avLst/>
          </a:prstGeom>
        </p:spPr>
      </p:pic>
      <p:sp>
        <p:nvSpPr>
          <p:cNvPr id="38" name="TextBox 37"/>
          <p:cNvSpPr txBox="1"/>
          <p:nvPr/>
        </p:nvSpPr>
        <p:spPr>
          <a:xfrm>
            <a:off x="7961139" y="1836039"/>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9" name="TextBox 38"/>
          <p:cNvSpPr txBox="1"/>
          <p:nvPr/>
        </p:nvSpPr>
        <p:spPr>
          <a:xfrm>
            <a:off x="276225" y="2053970"/>
            <a:ext cx="3499920" cy="186689"/>
          </a:xfrm>
          <a:prstGeom prst="rect">
            <a:avLst/>
          </a:prstGeom>
          <a:noFill/>
        </p:spPr>
        <p:txBody>
          <a:bodyPr wrap="none" lIns="0" rIns="0" tIns="0" bIns="0">
            <a:spAutoFit/>
          </a:bodyPr>
          <a:lstStyle/>
          <a:p>
            <a:r>
              <a:rPr sz="1100" b="0">
                <a:solidFill>
                  <a:srgbClr val="2E2E2E"/>
                </a:solidFill>
                <a:latin typeface="Calibri"/>
              </a:rPr>
              <a:t>▪ By Sales Channel, 'Direct (to brand owners/OEMs)' leads at</a:t>
            </a:r>
          </a:p>
        </p:txBody>
      </p:sp>
      <p:pic>
        <p:nvPicPr>
          <p:cNvPr id="40" name="Picture 39" descr="lock.png"/>
          <p:cNvPicPr>
            <a:picLocks noChangeAspect="1"/>
          </p:cNvPicPr>
          <p:nvPr/>
        </p:nvPicPr>
        <p:blipFill>
          <a:blip r:embed="rId4"/>
          <a:stretch>
            <a:fillRect/>
          </a:stretch>
        </p:blipFill>
        <p:spPr>
          <a:xfrm>
            <a:off x="3724196" y="2044192"/>
            <a:ext cx="128699" cy="187198"/>
          </a:xfrm>
          <a:prstGeom prst="rect">
            <a:avLst/>
          </a:prstGeom>
        </p:spPr>
      </p:pic>
      <p:sp>
        <p:nvSpPr>
          <p:cNvPr id="41" name="TextBox 40"/>
          <p:cNvSpPr txBox="1"/>
          <p:nvPr/>
        </p:nvSpPr>
        <p:spPr>
          <a:xfrm>
            <a:off x="3891692" y="2053970"/>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42" name="Picture 41" descr="lock.png"/>
          <p:cNvPicPr>
            <a:picLocks noChangeAspect="1"/>
          </p:cNvPicPr>
          <p:nvPr/>
        </p:nvPicPr>
        <p:blipFill>
          <a:blip r:embed="rId4"/>
          <a:stretch>
            <a:fillRect/>
          </a:stretch>
        </p:blipFill>
        <p:spPr>
          <a:xfrm>
            <a:off x="4439273" y="2044192"/>
            <a:ext cx="128699" cy="187198"/>
          </a:xfrm>
          <a:prstGeom prst="rect">
            <a:avLst/>
          </a:prstGeom>
        </p:spPr>
      </p:pic>
      <p:sp>
        <p:nvSpPr>
          <p:cNvPr id="43" name="TextBox 42"/>
          <p:cNvSpPr txBox="1"/>
          <p:nvPr/>
        </p:nvSpPr>
        <p:spPr>
          <a:xfrm>
            <a:off x="4606769" y="2053970"/>
            <a:ext cx="3857376" cy="186689"/>
          </a:xfrm>
          <a:prstGeom prst="rect">
            <a:avLst/>
          </a:prstGeom>
          <a:noFill/>
        </p:spPr>
        <p:txBody>
          <a:bodyPr wrap="none" lIns="0" rIns="0" tIns="0" bIns="0">
            <a:spAutoFit/>
          </a:bodyPr>
          <a:lstStyle/>
          <a:p>
            <a:r>
              <a:rPr sz="1100" b="0">
                <a:solidFill>
                  <a:srgbClr val="2E2E2E"/>
                </a:solidFill>
                <a:latin typeface="Calibri"/>
              </a:rPr>
              <a:t>share), ahead of 'Indirect (distributors and packaging merchants)' (</a:t>
            </a:r>
          </a:p>
        </p:txBody>
      </p:sp>
      <p:pic>
        <p:nvPicPr>
          <p:cNvPr id="44" name="Picture 43" descr="lock.png"/>
          <p:cNvPicPr>
            <a:picLocks noChangeAspect="1"/>
          </p:cNvPicPr>
          <p:nvPr/>
        </p:nvPicPr>
        <p:blipFill>
          <a:blip r:embed="rId4"/>
          <a:stretch>
            <a:fillRect/>
          </a:stretch>
        </p:blipFill>
        <p:spPr>
          <a:xfrm>
            <a:off x="8412197" y="2044192"/>
            <a:ext cx="128699" cy="187198"/>
          </a:xfrm>
          <a:prstGeom prst="rect">
            <a:avLst/>
          </a:prstGeom>
        </p:spPr>
      </p:pic>
      <p:sp>
        <p:nvSpPr>
          <p:cNvPr id="45" name="TextBox 44"/>
          <p:cNvSpPr txBox="1"/>
          <p:nvPr/>
        </p:nvSpPr>
        <p:spPr>
          <a:xfrm>
            <a:off x="8579693" y="2053970"/>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6" name="TextBox 45"/>
          <p:cNvSpPr txBox="1"/>
          <p:nvPr/>
        </p:nvSpPr>
        <p:spPr>
          <a:xfrm>
            <a:off x="276225" y="2271903"/>
            <a:ext cx="6677843" cy="186689"/>
          </a:xfrm>
          <a:prstGeom prst="rect">
            <a:avLst/>
          </a:prstGeom>
          <a:noFill/>
        </p:spPr>
        <p:txBody>
          <a:bodyPr wrap="none" lIns="0" rIns="0" tIns="0" bIns="0">
            <a:spAutoFit/>
          </a:bodyPr>
          <a:lstStyle/>
          <a:p>
            <a:r>
              <a:rPr sz="1100" b="0">
                <a:solidFill>
                  <a:srgbClr val="2E2E2E"/>
                </a:solidFill>
                <a:latin typeface="Calibri"/>
              </a:rPr>
              <a:t>▪ Use the Country slicer in the top band to switch country the selection stays synced across every page of the report.</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30822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2994025"/>
            <a:ext cx="8458200" cy="28511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Partition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Board Construction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Source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Cell Configuration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Customization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Sales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Partition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Segmental Analysis Partition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Partition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Partition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Partition Type</a:t>
            </a:r>
          </a:p>
        </p:txBody>
      </p:sp>
      <p:graphicFrame>
        <p:nvGraphicFramePr>
          <p:cNvPr id="16" name="Table 15"/>
          <p:cNvGraphicFramePr>
            <a:graphicFrameLocks noGrp="1"/>
          </p:cNvGraphicFramePr>
          <p:nvPr/>
        </p:nvGraphicFramePr>
        <p:xfrm>
          <a:off x="6181725" y="1238250"/>
          <a:ext cx="5857875" cy="2286000"/>
        </p:xfrm>
        <a:graphic>
          <a:graphicData uri="http://schemas.openxmlformats.org/drawingml/2006/table">
            <a:tbl>
              <a:tblPr>
                <a:tableStyleId>{5C22544A-7EE6-4342-B048-85BDC9FD1C3A}</a:tableStyleId>
              </a:tblPr>
              <a:tblGrid>
                <a:gridCol w="2488788"/>
                <a:gridCol w="846977"/>
                <a:gridCol w="846977"/>
                <a:gridCol w="1069641"/>
                <a:gridCol w="605492"/>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Partition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Partition Type</a:t>
            </a:r>
          </a:p>
        </p:txBody>
      </p:sp>
      <p:graphicFrame>
        <p:nvGraphicFramePr>
          <p:cNvPr id="23" name="Table 22"/>
          <p:cNvGraphicFramePr>
            <a:graphicFrameLocks noGrp="1"/>
          </p:cNvGraphicFramePr>
          <p:nvPr/>
        </p:nvGraphicFramePr>
        <p:xfrm>
          <a:off x="6181725" y="4124325"/>
          <a:ext cx="5857875" cy="2286000"/>
        </p:xfrm>
        <a:graphic>
          <a:graphicData uri="http://schemas.openxmlformats.org/drawingml/2006/table">
            <a:tbl>
              <a:tblPr>
                <a:tableStyleId>{5C22544A-7EE6-4342-B048-85BDC9FD1C3A}</a:tableStyleId>
              </a:tblPr>
              <a:tblGrid>
                <a:gridCol w="2488788"/>
                <a:gridCol w="846977"/>
                <a:gridCol w="846977"/>
                <a:gridCol w="1069641"/>
                <a:gridCol w="605492"/>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168366"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168366"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Tables Partition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Partition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Partition Type (MT)</a:t>
            </a:r>
          </a:p>
        </p:txBody>
      </p:sp>
      <p:graphicFrame>
        <p:nvGraphicFramePr>
          <p:cNvPr id="13" name="Table 12"/>
          <p:cNvGraphicFramePr>
            <a:graphicFrameLocks noGrp="1"/>
          </p:cNvGraphicFramePr>
          <p:nvPr/>
        </p:nvGraphicFramePr>
        <p:xfrm>
          <a:off x="152400" y="1238250"/>
          <a:ext cx="11887199" cy="1619252"/>
        </p:xfrm>
        <a:graphic>
          <a:graphicData uri="http://schemas.openxmlformats.org/drawingml/2006/table">
            <a:tbl>
              <a:tblPr>
                <a:tableStyleId>{5C22544A-7EE6-4342-B048-85BDC9FD1C3A}</a:tableStyleId>
              </a:tblPr>
              <a:tblGrid>
                <a:gridCol w="2227778"/>
                <a:gridCol w="535424"/>
                <a:gridCol w="535424"/>
                <a:gridCol w="535424"/>
                <a:gridCol w="535424"/>
                <a:gridCol w="535424"/>
                <a:gridCol w="535424"/>
                <a:gridCol w="535424"/>
                <a:gridCol w="535424"/>
                <a:gridCol w="535424"/>
                <a:gridCol w="535424"/>
                <a:gridCol w="645795"/>
                <a:gridCol w="645795"/>
                <a:gridCol w="645795"/>
                <a:gridCol w="645795"/>
                <a:gridCol w="645795"/>
                <a:gridCol w="645795"/>
                <a:gridCol w="430411"/>
              </a:tblGrid>
              <a:tr h="438912">
                <a:tc>
                  <a:txBody>
                    <a:bodyPr wrap="none"/>
                    <a:lstStyle/>
                    <a:p>
                      <a:pPr algn="l"/>
                      <a:r>
                        <a:rPr sz="1100" b="1">
                          <a:solidFill>
                            <a:srgbClr val="0B2E4A"/>
                          </a:solidFill>
                          <a:latin typeface="Calibri"/>
                        </a:rPr>
                        <a:t>Partition Type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95085">
                <a:tc>
                  <a:txBody>
                    <a:bodyPr wrap="none"/>
                    <a:lstStyle/>
                    <a:p>
                      <a:pPr algn="l"/>
                      <a:r>
                        <a:rPr sz="1100" b="1">
                          <a:solidFill>
                            <a:srgbClr val="2E2E2E"/>
                          </a:solidFill>
                          <a:latin typeface="Calibri"/>
                        </a:rPr>
                        <a:t>Slotted (Interlocking Grid) Partitions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95085">
                <a:tc>
                  <a:txBody>
                    <a:bodyPr wrap="none"/>
                    <a:lstStyle/>
                    <a:p>
                      <a:pPr algn="l"/>
                      <a:r>
                        <a:rPr sz="1100" b="1">
                          <a:solidFill>
                            <a:srgbClr val="2E2E2E"/>
                          </a:solidFill>
                          <a:latin typeface="Calibri"/>
                        </a:rPr>
                        <a:t>Die-Cut &amp; Folded Partitions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95085">
                <a:tc>
                  <a:txBody>
                    <a:bodyPr wrap="none"/>
                    <a:lstStyle/>
                    <a:p>
                      <a:pPr algn="l"/>
                      <a:r>
                        <a:rPr sz="1100" b="1">
                          <a:solidFill>
                            <a:srgbClr val="2E2E2E"/>
                          </a:solidFill>
                          <a:latin typeface="Calibri"/>
                        </a:rPr>
                        <a:t>Flat Dividers &amp; Layer Pads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95085">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57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Partition Type (US$ Mn)</a:t>
            </a:r>
          </a:p>
        </p:txBody>
      </p:sp>
      <p:graphicFrame>
        <p:nvGraphicFramePr>
          <p:cNvPr id="17" name="Table 16"/>
          <p:cNvGraphicFramePr>
            <a:graphicFrameLocks noGrp="1"/>
          </p:cNvGraphicFramePr>
          <p:nvPr/>
        </p:nvGraphicFramePr>
        <p:xfrm>
          <a:off x="152400" y="3457575"/>
          <a:ext cx="11887198" cy="1238250"/>
        </p:xfrm>
        <a:graphic>
          <a:graphicData uri="http://schemas.openxmlformats.org/drawingml/2006/table">
            <a:tbl>
              <a:tblPr>
                <a:tableStyleId>{5C22544A-7EE6-4342-B048-85BDC9FD1C3A}</a:tableStyleId>
              </a:tblPr>
              <a:tblGrid>
                <a:gridCol w="2314532"/>
                <a:gridCol w="563098"/>
                <a:gridCol w="563098"/>
                <a:gridCol w="563098"/>
                <a:gridCol w="563098"/>
                <a:gridCol w="563098"/>
                <a:gridCol w="563098"/>
                <a:gridCol w="563098"/>
                <a:gridCol w="563098"/>
                <a:gridCol w="563098"/>
                <a:gridCol w="563098"/>
                <a:gridCol w="563098"/>
                <a:gridCol w="563098"/>
                <a:gridCol w="563098"/>
                <a:gridCol w="563098"/>
                <a:gridCol w="563098"/>
                <a:gridCol w="563098"/>
                <a:gridCol w="563098"/>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705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23198" y="2000631"/>
            <a:ext cx="366712" cy="533400"/>
          </a:xfrm>
          <a:prstGeom prst="rect">
            <a:avLst/>
          </a:prstGeom>
        </p:spPr>
      </p:pic>
      <p:pic>
        <p:nvPicPr>
          <p:cNvPr id="21" name="Picture 20" descr="lock.png"/>
          <p:cNvPicPr>
            <a:picLocks noChangeAspect="1"/>
          </p:cNvPicPr>
          <p:nvPr/>
        </p:nvPicPr>
        <p:blipFill>
          <a:blip r:embed="rId4"/>
          <a:stretch>
            <a:fillRect/>
          </a:stretch>
        </p:blipFill>
        <p:spPr>
          <a:xfrm>
            <a:off x="7066574" y="3933062"/>
            <a:ext cx="366712" cy="533400"/>
          </a:xfrm>
          <a:prstGeom prst="rect">
            <a:avLst/>
          </a:prstGeom>
        </p:spPr>
      </p:pic>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Partition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Partition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gridCol w="624799"/>
                <a:gridCol w="624799"/>
                <a:gridCol w="624799"/>
                <a:gridCol w="624799"/>
                <a:gridCol w="624799"/>
                <a:gridCol w="624799"/>
                <a:gridCol w="624799"/>
                <a:gridCol w="624799"/>
                <a:gridCol w="624799"/>
                <a:gridCol w="624799"/>
                <a:gridCol w="624799"/>
                <a:gridCol w="624799"/>
                <a:gridCol w="624799"/>
                <a:gridCol w="624799"/>
                <a:gridCol w="624799"/>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206" cy="990600"/>
        </p:xfrm>
        <a:graphic>
          <a:graphicData uri="http://schemas.openxmlformats.org/drawingml/2006/table">
            <a:tbl>
              <a:tblPr>
                <a:tableStyleId>{5C22544A-7EE6-4342-B048-85BDC9FD1C3A}</a:tableStyleId>
              </a:tblPr>
              <a:tblGrid>
                <a:gridCol w="2515221"/>
                <a:gridCol w="624799"/>
                <a:gridCol w="624799"/>
                <a:gridCol w="624799"/>
                <a:gridCol w="624799"/>
                <a:gridCol w="624799"/>
                <a:gridCol w="624799"/>
                <a:gridCol w="624799"/>
                <a:gridCol w="624799"/>
                <a:gridCol w="624799"/>
                <a:gridCol w="624799"/>
                <a:gridCol w="624799"/>
                <a:gridCol w="624799"/>
                <a:gridCol w="624799"/>
                <a:gridCol w="624799"/>
                <a:gridCol w="624799"/>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66923"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7166923" y="3180587"/>
            <a:ext cx="366712" cy="533400"/>
          </a:xfrm>
          <a:prstGeom prst="rect">
            <a:avLst/>
          </a:prstGeom>
        </p:spPr>
      </p:pic>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Board Construction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Segmental Analysis Board Construction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Board Construction: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Board Construction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Board Construction</a:t>
            </a:r>
          </a:p>
        </p:txBody>
      </p:sp>
      <p:graphicFrame>
        <p:nvGraphicFramePr>
          <p:cNvPr id="16" name="Table 15"/>
          <p:cNvGraphicFramePr>
            <a:graphicFrameLocks noGrp="1"/>
          </p:cNvGraphicFramePr>
          <p:nvPr/>
        </p:nvGraphicFramePr>
        <p:xfrm>
          <a:off x="6181725" y="1238250"/>
          <a:ext cx="5857873" cy="2286000"/>
        </p:xfrm>
        <a:graphic>
          <a:graphicData uri="http://schemas.openxmlformats.org/drawingml/2006/table">
            <a:tbl>
              <a:tblPr>
                <a:tableStyleId>{5C22544A-7EE6-4342-B048-85BDC9FD1C3A}</a:tableStyleId>
              </a:tblPr>
              <a:tblGrid>
                <a:gridCol w="1435549"/>
                <a:gridCol w="1105581"/>
                <a:gridCol w="1105581"/>
                <a:gridCol w="1105581"/>
                <a:gridCol w="1105581"/>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Board Construction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Board Construction</a:t>
            </a:r>
          </a:p>
        </p:txBody>
      </p:sp>
      <p:graphicFrame>
        <p:nvGraphicFramePr>
          <p:cNvPr id="23" name="Table 22"/>
          <p:cNvGraphicFramePr>
            <a:graphicFrameLocks noGrp="1"/>
          </p:cNvGraphicFramePr>
          <p:nvPr/>
        </p:nvGraphicFramePr>
        <p:xfrm>
          <a:off x="6181725" y="4124325"/>
          <a:ext cx="5857873" cy="2286000"/>
        </p:xfrm>
        <a:graphic>
          <a:graphicData uri="http://schemas.openxmlformats.org/drawingml/2006/table">
            <a:tbl>
              <a:tblPr>
                <a:tableStyleId>{5C22544A-7EE6-4342-B048-85BDC9FD1C3A}</a:tableStyleId>
              </a:tblPr>
              <a:tblGrid>
                <a:gridCol w="1435549"/>
                <a:gridCol w="1105581"/>
                <a:gridCol w="1105581"/>
                <a:gridCol w="1105581"/>
                <a:gridCol w="1105581"/>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41745"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41745"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Tables Board Construction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Board Construction,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Board Construction (MT)</a:t>
            </a:r>
          </a:p>
        </p:txBody>
      </p:sp>
      <p:graphicFrame>
        <p:nvGraphicFramePr>
          <p:cNvPr id="13" name="Table 12"/>
          <p:cNvGraphicFramePr>
            <a:graphicFrameLocks noGrp="1"/>
          </p:cNvGraphicFramePr>
          <p:nvPr/>
        </p:nvGraphicFramePr>
        <p:xfrm>
          <a:off x="152400" y="1238250"/>
          <a:ext cx="11887195" cy="1238250"/>
        </p:xfrm>
        <a:graphic>
          <a:graphicData uri="http://schemas.openxmlformats.org/drawingml/2006/table">
            <a:tbl>
              <a:tblPr>
                <a:tableStyleId>{5C22544A-7EE6-4342-B048-85BDC9FD1C3A}</a:tableStyleId>
              </a:tblPr>
              <a:tblGrid>
                <a:gridCol w="1277627"/>
                <a:gridCol w="586642"/>
                <a:gridCol w="586642"/>
                <a:gridCol w="586642"/>
                <a:gridCol w="586642"/>
                <a:gridCol w="586642"/>
                <a:gridCol w="586642"/>
                <a:gridCol w="586642"/>
                <a:gridCol w="586642"/>
                <a:gridCol w="586642"/>
                <a:gridCol w="586642"/>
                <a:gridCol w="697693"/>
                <a:gridCol w="697693"/>
                <a:gridCol w="697693"/>
                <a:gridCol w="697693"/>
                <a:gridCol w="697693"/>
                <a:gridCol w="697693"/>
                <a:gridCol w="556990"/>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Board Construction (US$ Mn)</a:t>
            </a:r>
          </a:p>
        </p:txBody>
      </p:sp>
      <p:graphicFrame>
        <p:nvGraphicFramePr>
          <p:cNvPr id="17" name="Table 16"/>
          <p:cNvGraphicFramePr>
            <a:graphicFrameLocks noGrp="1"/>
          </p:cNvGraphicFramePr>
          <p:nvPr/>
        </p:nvGraphicFramePr>
        <p:xfrm>
          <a:off x="152400" y="3076575"/>
          <a:ext cx="11887203" cy="1238250"/>
        </p:xfrm>
        <a:graphic>
          <a:graphicData uri="http://schemas.openxmlformats.org/drawingml/2006/table">
            <a:tbl>
              <a:tblPr>
                <a:tableStyleId>{5C22544A-7EE6-4342-B048-85BDC9FD1C3A}</a:tableStyleId>
              </a:tblPr>
              <a:tblGrid>
                <a:gridCol w="1413248"/>
                <a:gridCol w="616115"/>
                <a:gridCol w="616115"/>
                <a:gridCol w="616115"/>
                <a:gridCol w="616115"/>
                <a:gridCol w="616115"/>
                <a:gridCol w="616115"/>
                <a:gridCol w="616115"/>
                <a:gridCol w="616115"/>
                <a:gridCol w="616115"/>
                <a:gridCol w="616115"/>
                <a:gridCol w="616115"/>
                <a:gridCol w="616115"/>
                <a:gridCol w="616115"/>
                <a:gridCol w="616115"/>
                <a:gridCol w="616115"/>
                <a:gridCol w="616115"/>
                <a:gridCol w="616115"/>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48121"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615935" y="3552062"/>
            <a:ext cx="366712" cy="533400"/>
          </a:xfrm>
          <a:prstGeom prst="rect">
            <a:avLst/>
          </a:prstGeom>
        </p:spPr>
      </p:pic>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Board Construction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Board Construction,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gridCol w="689251"/>
                <a:gridCol w="689251"/>
                <a:gridCol w="689251"/>
                <a:gridCol w="689251"/>
                <a:gridCol w="689251"/>
                <a:gridCol w="689251"/>
                <a:gridCol w="689251"/>
                <a:gridCol w="689251"/>
                <a:gridCol w="689251"/>
                <a:gridCol w="689251"/>
                <a:gridCol w="689251"/>
                <a:gridCol w="689251"/>
                <a:gridCol w="689251"/>
                <a:gridCol w="689251"/>
                <a:gridCol w="689251"/>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194" cy="990600"/>
        </p:xfrm>
        <a:graphic>
          <a:graphicData uri="http://schemas.openxmlformats.org/drawingml/2006/table">
            <a:tbl>
              <a:tblPr>
                <a:tableStyleId>{5C22544A-7EE6-4342-B048-85BDC9FD1C3A}</a:tableStyleId>
              </a:tblPr>
              <a:tblGrid>
                <a:gridCol w="1548429"/>
                <a:gridCol w="689251"/>
                <a:gridCol w="689251"/>
                <a:gridCol w="689251"/>
                <a:gridCol w="689251"/>
                <a:gridCol w="689251"/>
                <a:gridCol w="689251"/>
                <a:gridCol w="689251"/>
                <a:gridCol w="689251"/>
                <a:gridCol w="689251"/>
                <a:gridCol w="689251"/>
                <a:gridCol w="689251"/>
                <a:gridCol w="689251"/>
                <a:gridCol w="689251"/>
                <a:gridCol w="689251"/>
                <a:gridCol w="689251"/>
              </a:tblGrid>
              <a:tr h="246126">
                <a:tc>
                  <a:txBody>
                    <a:bodyPr wrap="none"/>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83521"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683521" y="3180587"/>
            <a:ext cx="366712" cy="533400"/>
          </a:xfrm>
          <a:prstGeom prst="rect">
            <a:avLst/>
          </a:prstGeom>
        </p:spPr>
      </p:pic>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Source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Segmental Analysis Material Source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Material Source: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Source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Source</a:t>
            </a:r>
          </a:p>
        </p:txBody>
      </p:sp>
      <p:graphicFrame>
        <p:nvGraphicFramePr>
          <p:cNvPr id="16" name="Table 15"/>
          <p:cNvGraphicFramePr>
            <a:graphicFrameLocks noGrp="1"/>
          </p:cNvGraphicFramePr>
          <p:nvPr/>
        </p:nvGraphicFramePr>
        <p:xfrm>
          <a:off x="6181725" y="1238250"/>
          <a:ext cx="5857875" cy="2286000"/>
        </p:xfrm>
        <a:graphic>
          <a:graphicData uri="http://schemas.openxmlformats.org/drawingml/2006/table">
            <a:tbl>
              <a:tblPr>
                <a:tableStyleId>{5C22544A-7EE6-4342-B048-85BDC9FD1C3A}</a:tableStyleId>
              </a:tblPr>
              <a:tblGrid>
                <a:gridCol w="1644911"/>
                <a:gridCol w="1053241"/>
                <a:gridCol w="1053241"/>
                <a:gridCol w="1053241"/>
                <a:gridCol w="1053241"/>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Source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Source</a:t>
            </a:r>
          </a:p>
        </p:txBody>
      </p:sp>
      <p:graphicFrame>
        <p:nvGraphicFramePr>
          <p:cNvPr id="23" name="Table 22"/>
          <p:cNvGraphicFramePr>
            <a:graphicFrameLocks noGrp="1"/>
          </p:cNvGraphicFramePr>
          <p:nvPr/>
        </p:nvGraphicFramePr>
        <p:xfrm>
          <a:off x="6181725" y="4124325"/>
          <a:ext cx="5857875" cy="2286000"/>
        </p:xfrm>
        <a:graphic>
          <a:graphicData uri="http://schemas.openxmlformats.org/drawingml/2006/table">
            <a:tbl>
              <a:tblPr>
                <a:tableStyleId>{5C22544A-7EE6-4342-B048-85BDC9FD1C3A}</a:tableStyleId>
              </a:tblPr>
              <a:tblGrid>
                <a:gridCol w="1644911"/>
                <a:gridCol w="1053241"/>
                <a:gridCol w="1053241"/>
                <a:gridCol w="1053241"/>
                <a:gridCol w="1053241"/>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46428"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46428"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Tables Material Source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Source,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Material Source (MT)</a:t>
            </a:r>
          </a:p>
        </p:txBody>
      </p:sp>
      <p:graphicFrame>
        <p:nvGraphicFramePr>
          <p:cNvPr id="13" name="Table 12"/>
          <p:cNvGraphicFramePr>
            <a:graphicFrameLocks noGrp="1"/>
          </p:cNvGraphicFramePr>
          <p:nvPr/>
        </p:nvGraphicFramePr>
        <p:xfrm>
          <a:off x="152400" y="1238250"/>
          <a:ext cx="11887202" cy="1371597"/>
        </p:xfrm>
        <a:graphic>
          <a:graphicData uri="http://schemas.openxmlformats.org/drawingml/2006/table">
            <a:tbl>
              <a:tblPr>
                <a:tableStyleId>{5C22544A-7EE6-4342-B048-85BDC9FD1C3A}</a:tableStyleId>
              </a:tblPr>
              <a:tblGrid>
                <a:gridCol w="1528591"/>
                <a:gridCol w="571607"/>
                <a:gridCol w="571607"/>
                <a:gridCol w="571607"/>
                <a:gridCol w="571607"/>
                <a:gridCol w="571607"/>
                <a:gridCol w="571607"/>
                <a:gridCol w="571607"/>
                <a:gridCol w="571607"/>
                <a:gridCol w="571607"/>
                <a:gridCol w="571607"/>
                <a:gridCol w="683467"/>
                <a:gridCol w="683467"/>
                <a:gridCol w="683467"/>
                <a:gridCol w="683467"/>
                <a:gridCol w="683467"/>
                <a:gridCol w="683467"/>
                <a:gridCol w="541739"/>
              </a:tblGrid>
              <a:tr h="246126">
                <a:tc>
                  <a:txBody>
                    <a:bodyPr wrap="none"/>
                    <a:lstStyle/>
                    <a:p>
                      <a:pPr algn="l"/>
                      <a:r>
                        <a:rPr sz="1100" b="1">
                          <a:solidFill>
                            <a:srgbClr val="0B2E4A"/>
                          </a:solidFill>
                          <a:latin typeface="Calibri"/>
                        </a:rPr>
                        <a:t>Material Source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F-CAGR</a:t>
                      </a:r>
                      <a:endParaRPr sz="1100"/>
                    </a:p>
                  </a:txBody>
                  <a:tcPr marL="38100" marR="28575" marT="19050" marB="19050" anchor="ctr">
                    <a:solidFill>
                      <a:srgbClr val="E0E8EF"/>
                    </a:solidFill>
                  </a:tcPr>
                </a:tc>
              </a:tr>
              <a:tr h="375157">
                <a:tc>
                  <a:txBody>
                    <a:bodyPr wrap="none"/>
                    <a:lstStyle/>
                    <a:p>
                      <a:pPr algn="l"/>
                      <a:r>
                        <a:rPr sz="1100" b="1">
                          <a:solidFill>
                            <a:srgbClr val="2E2E2E"/>
                          </a:solidFill>
                          <a:latin typeface="Calibri"/>
                        </a:rPr>
                        <a:t>Virgin Kraft Fibre-based</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375157">
                <a:tc>
                  <a:txBody>
                    <a:bodyPr wrap="none"/>
                    <a:lstStyle/>
                    <a:p>
                      <a:pPr algn="l"/>
                      <a:r>
                        <a:rPr sz="1100" b="1">
                          <a:solidFill>
                            <a:srgbClr val="2E2E2E"/>
                          </a:solidFill>
                          <a:latin typeface="Calibri"/>
                        </a:rPr>
                        <a:t>Recycled Fibre-based</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375157">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619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009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Material Source (US$ Mn)</a:t>
            </a:r>
          </a:p>
        </p:txBody>
      </p:sp>
      <p:graphicFrame>
        <p:nvGraphicFramePr>
          <p:cNvPr id="17" name="Table 16"/>
          <p:cNvGraphicFramePr>
            <a:graphicFrameLocks noGrp="1"/>
          </p:cNvGraphicFramePr>
          <p:nvPr/>
        </p:nvGraphicFramePr>
        <p:xfrm>
          <a:off x="152400" y="3209925"/>
          <a:ext cx="11887201" cy="990600"/>
        </p:xfrm>
        <a:graphic>
          <a:graphicData uri="http://schemas.openxmlformats.org/drawingml/2006/table">
            <a:tbl>
              <a:tblPr>
                <a:tableStyleId>{5C22544A-7EE6-4342-B048-85BDC9FD1C3A}</a:tableStyleId>
              </a:tblPr>
              <a:tblGrid>
                <a:gridCol w="1659814"/>
                <a:gridCol w="601611"/>
                <a:gridCol w="601611"/>
                <a:gridCol w="601611"/>
                <a:gridCol w="601611"/>
                <a:gridCol w="601611"/>
                <a:gridCol w="601611"/>
                <a:gridCol w="601611"/>
                <a:gridCol w="601611"/>
                <a:gridCol w="601611"/>
                <a:gridCol w="601611"/>
                <a:gridCol w="601611"/>
                <a:gridCol w="601611"/>
                <a:gridCol w="601611"/>
                <a:gridCol w="601611"/>
                <a:gridCol w="601611"/>
                <a:gridCol w="601611"/>
                <a:gridCol w="601611"/>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73606" y="1780413"/>
            <a:ext cx="366712" cy="533400"/>
          </a:xfrm>
          <a:prstGeom prst="rect">
            <a:avLst/>
          </a:prstGeom>
        </p:spPr>
      </p:pic>
      <p:pic>
        <p:nvPicPr>
          <p:cNvPr id="21" name="Picture 20" descr="lock.png"/>
          <p:cNvPicPr>
            <a:picLocks noChangeAspect="1"/>
          </p:cNvPicPr>
          <p:nvPr/>
        </p:nvPicPr>
        <p:blipFill>
          <a:blip r:embed="rId4"/>
          <a:stretch>
            <a:fillRect/>
          </a:stretch>
        </p:blipFill>
        <p:spPr>
          <a:xfrm>
            <a:off x="6739217" y="3561587"/>
            <a:ext cx="366712" cy="533400"/>
          </a:xfrm>
          <a:prstGeom prst="rect">
            <a:avLst/>
          </a:prstGeom>
        </p:spPr>
      </p:pic>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Source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Source,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gridCol w="671514"/>
                <a:gridCol w="671514"/>
                <a:gridCol w="671514"/>
                <a:gridCol w="671514"/>
                <a:gridCol w="671514"/>
                <a:gridCol w="671514"/>
                <a:gridCol w="671514"/>
                <a:gridCol w="671514"/>
                <a:gridCol w="671514"/>
                <a:gridCol w="671514"/>
                <a:gridCol w="671514"/>
                <a:gridCol w="671514"/>
                <a:gridCol w="671514"/>
                <a:gridCol w="671514"/>
                <a:gridCol w="671514"/>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4" cy="742948"/>
        </p:xfrm>
        <a:graphic>
          <a:graphicData uri="http://schemas.openxmlformats.org/drawingml/2006/table">
            <a:tbl>
              <a:tblPr>
                <a:tableStyleId>{5C22544A-7EE6-4342-B048-85BDC9FD1C3A}</a:tableStyleId>
              </a:tblPr>
              <a:tblGrid>
                <a:gridCol w="1814494"/>
                <a:gridCol w="671514"/>
                <a:gridCol w="671514"/>
                <a:gridCol w="671514"/>
                <a:gridCol w="671514"/>
                <a:gridCol w="671514"/>
                <a:gridCol w="671514"/>
                <a:gridCol w="671514"/>
                <a:gridCol w="671514"/>
                <a:gridCol w="671514"/>
                <a:gridCol w="671514"/>
                <a:gridCol w="671514"/>
                <a:gridCol w="671514"/>
                <a:gridCol w="671514"/>
                <a:gridCol w="671514"/>
                <a:gridCol w="671514"/>
              </a:tblGrid>
              <a:tr h="246126">
                <a:tc>
                  <a:txBody>
                    <a:bodyPr wrap="none"/>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35228"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835228" y="2825115"/>
            <a:ext cx="330041" cy="480060"/>
          </a:xfrm>
          <a:prstGeom prst="rect">
            <a:avLst/>
          </a:prstGeom>
        </p:spPr>
      </p:pic>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Cell Configuration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Segmental Analysis Cell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Cell Configuration: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Cell Configuration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Cell Configuration</a:t>
            </a:r>
          </a:p>
        </p:txBody>
      </p:sp>
      <p:graphicFrame>
        <p:nvGraphicFramePr>
          <p:cNvPr id="16" name="Table 15"/>
          <p:cNvGraphicFramePr>
            <a:graphicFrameLocks noGrp="1"/>
          </p:cNvGraphicFramePr>
          <p:nvPr/>
        </p:nvGraphicFramePr>
        <p:xfrm>
          <a:off x="6181725" y="1238250"/>
          <a:ext cx="5857876" cy="2285998"/>
        </p:xfrm>
        <a:graphic>
          <a:graphicData uri="http://schemas.openxmlformats.org/drawingml/2006/table">
            <a:tbl>
              <a:tblPr>
                <a:tableStyleId>{5C22544A-7EE6-4342-B048-85BDC9FD1C3A}</a:tableStyleId>
              </a:tblPr>
              <a:tblGrid>
                <a:gridCol w="1356716"/>
                <a:gridCol w="1125290"/>
                <a:gridCol w="1125290"/>
                <a:gridCol w="1125290"/>
                <a:gridCol w="1125290"/>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Cell Configuration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Cell Configuration</a:t>
            </a:r>
          </a:p>
        </p:txBody>
      </p:sp>
      <p:graphicFrame>
        <p:nvGraphicFramePr>
          <p:cNvPr id="23" name="Table 22"/>
          <p:cNvGraphicFramePr>
            <a:graphicFrameLocks noGrp="1"/>
          </p:cNvGraphicFramePr>
          <p:nvPr/>
        </p:nvGraphicFramePr>
        <p:xfrm>
          <a:off x="6181725" y="4124325"/>
          <a:ext cx="5857876" cy="2285998"/>
        </p:xfrm>
        <a:graphic>
          <a:graphicData uri="http://schemas.openxmlformats.org/drawingml/2006/table">
            <a:tbl>
              <a:tblPr>
                <a:tableStyleId>{5C22544A-7EE6-4342-B048-85BDC9FD1C3A}</a:tableStyleId>
              </a:tblPr>
              <a:tblGrid>
                <a:gridCol w="1356716"/>
                <a:gridCol w="1125290"/>
                <a:gridCol w="1125290"/>
                <a:gridCol w="1125290"/>
                <a:gridCol w="1125290"/>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02330"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02330"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Tables Cell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Cell Configuration,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Cell Configuration (MT)</a:t>
            </a:r>
          </a:p>
        </p:txBody>
      </p:sp>
      <p:graphicFrame>
        <p:nvGraphicFramePr>
          <p:cNvPr id="13" name="Table 12"/>
          <p:cNvGraphicFramePr>
            <a:graphicFrameLocks noGrp="1"/>
          </p:cNvGraphicFramePr>
          <p:nvPr/>
        </p:nvGraphicFramePr>
        <p:xfrm>
          <a:off x="152400" y="1238250"/>
          <a:ext cx="11887197" cy="1485896"/>
        </p:xfrm>
        <a:graphic>
          <a:graphicData uri="http://schemas.openxmlformats.org/drawingml/2006/table">
            <a:tbl>
              <a:tblPr>
                <a:tableStyleId>{5C22544A-7EE6-4342-B048-85BDC9FD1C3A}</a:tableStyleId>
              </a:tblPr>
              <a:tblGrid>
                <a:gridCol w="1195501"/>
                <a:gridCol w="591183"/>
                <a:gridCol w="591183"/>
                <a:gridCol w="591183"/>
                <a:gridCol w="591183"/>
                <a:gridCol w="591183"/>
                <a:gridCol w="591183"/>
                <a:gridCol w="591183"/>
                <a:gridCol w="591183"/>
                <a:gridCol w="591183"/>
                <a:gridCol w="591183"/>
                <a:gridCol w="703094"/>
                <a:gridCol w="703094"/>
                <a:gridCol w="703094"/>
                <a:gridCol w="703094"/>
                <a:gridCol w="703094"/>
                <a:gridCol w="703094"/>
                <a:gridCol w="561302"/>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Cell Configuration (US$ Mn)</a:t>
            </a:r>
          </a:p>
        </p:txBody>
      </p:sp>
      <p:graphicFrame>
        <p:nvGraphicFramePr>
          <p:cNvPr id="17" name="Table 16"/>
          <p:cNvGraphicFramePr>
            <a:graphicFrameLocks noGrp="1"/>
          </p:cNvGraphicFramePr>
          <p:nvPr/>
        </p:nvGraphicFramePr>
        <p:xfrm>
          <a:off x="152400" y="3324225"/>
          <a:ext cx="11887207" cy="1485896"/>
        </p:xfrm>
        <a:graphic>
          <a:graphicData uri="http://schemas.openxmlformats.org/drawingml/2006/table">
            <a:tbl>
              <a:tblPr>
                <a:tableStyleId>{5C22544A-7EE6-4342-B048-85BDC9FD1C3A}</a:tableStyleId>
              </a:tblPr>
              <a:tblGrid>
                <a:gridCol w="1323492"/>
                <a:gridCol w="621395"/>
                <a:gridCol w="621395"/>
                <a:gridCol w="621395"/>
                <a:gridCol w="621395"/>
                <a:gridCol w="621395"/>
                <a:gridCol w="621395"/>
                <a:gridCol w="621395"/>
                <a:gridCol w="621395"/>
                <a:gridCol w="621395"/>
                <a:gridCol w="621395"/>
                <a:gridCol w="621395"/>
                <a:gridCol w="621395"/>
                <a:gridCol w="621395"/>
                <a:gridCol w="621395"/>
                <a:gridCol w="621395"/>
                <a:gridCol w="621395"/>
                <a:gridCol w="621395"/>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07058"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6571059" y="3923538"/>
            <a:ext cx="366712" cy="533400"/>
          </a:xfrm>
          <a:prstGeom prst="rect">
            <a:avLst/>
          </a:prstGeom>
        </p:spPr>
      </p:pic>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Cell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Cell Configuration,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gridCol w="695728"/>
                <a:gridCol w="695728"/>
                <a:gridCol w="695728"/>
                <a:gridCol w="695728"/>
                <a:gridCol w="695728"/>
                <a:gridCol w="695728"/>
                <a:gridCol w="695728"/>
                <a:gridCol w="695728"/>
                <a:gridCol w="695728"/>
                <a:gridCol w="695728"/>
                <a:gridCol w="695728"/>
                <a:gridCol w="695728"/>
                <a:gridCol w="695728"/>
                <a:gridCol w="695728"/>
                <a:gridCol w="695728"/>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197" cy="1238250"/>
        </p:xfrm>
        <a:graphic>
          <a:graphicData uri="http://schemas.openxmlformats.org/drawingml/2006/table">
            <a:tbl>
              <a:tblPr>
                <a:tableStyleId>{5C22544A-7EE6-4342-B048-85BDC9FD1C3A}</a:tableStyleId>
              </a:tblPr>
              <a:tblGrid>
                <a:gridCol w="1451277"/>
                <a:gridCol w="695728"/>
                <a:gridCol w="695728"/>
                <a:gridCol w="695728"/>
                <a:gridCol w="695728"/>
                <a:gridCol w="695728"/>
                <a:gridCol w="695728"/>
                <a:gridCol w="695728"/>
                <a:gridCol w="695728"/>
                <a:gridCol w="695728"/>
                <a:gridCol w="695728"/>
                <a:gridCol w="695728"/>
                <a:gridCol w="695728"/>
                <a:gridCol w="695728"/>
                <a:gridCol w="695728"/>
                <a:gridCol w="695728"/>
              </a:tblGrid>
              <a:tr h="246126">
                <a:tc>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34947"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634947" y="3552062"/>
            <a:ext cx="366712" cy="533399"/>
          </a:xfrm>
          <a:prstGeom prst="rect">
            <a:avLst/>
          </a:prstGeom>
        </p:spPr>
      </p:pic>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Customization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Segmental Analysis Customization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Customization: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Customization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Customization</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1565582"/>
                <a:gridCol w="1073073"/>
                <a:gridCol w="1073073"/>
                <a:gridCol w="1073073"/>
                <a:gridCol w="1073073"/>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Customization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Customization</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1565582"/>
                <a:gridCol w="1073073"/>
                <a:gridCol w="1073073"/>
                <a:gridCol w="1073073"/>
                <a:gridCol w="1073073"/>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06763"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06763"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Tables Customization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Customization,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Customization (MT)</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426774"/>
                <a:gridCol w="583049"/>
                <a:gridCol w="583049"/>
                <a:gridCol w="583049"/>
                <a:gridCol w="583049"/>
                <a:gridCol w="583049"/>
                <a:gridCol w="583049"/>
                <a:gridCol w="583049"/>
                <a:gridCol w="583049"/>
                <a:gridCol w="583049"/>
                <a:gridCol w="583049"/>
                <a:gridCol w="693420"/>
                <a:gridCol w="693420"/>
                <a:gridCol w="693420"/>
                <a:gridCol w="693420"/>
                <a:gridCol w="693420"/>
                <a:gridCol w="693420"/>
                <a:gridCol w="469416"/>
              </a:tblGrid>
              <a:tr h="438912">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7396">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396">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194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Customization (US$ Mn)</a:t>
            </a:r>
          </a:p>
        </p:txBody>
      </p:sp>
      <p:graphicFrame>
        <p:nvGraphicFramePr>
          <p:cNvPr id="17" name="Table 16"/>
          <p:cNvGraphicFramePr>
            <a:graphicFrameLocks noGrp="1"/>
          </p:cNvGraphicFramePr>
          <p:nvPr/>
        </p:nvGraphicFramePr>
        <p:xfrm>
          <a:off x="152400" y="3019425"/>
          <a:ext cx="11887200" cy="990600"/>
        </p:xfrm>
        <a:graphic>
          <a:graphicData uri="http://schemas.openxmlformats.org/drawingml/2006/table">
            <a:tbl>
              <a:tblPr>
                <a:tableStyleId>{5C22544A-7EE6-4342-B048-85BDC9FD1C3A}</a:tableStyleId>
              </a:tblPr>
              <a:tblGrid>
                <a:gridCol w="1564953"/>
                <a:gridCol w="607191"/>
                <a:gridCol w="607191"/>
                <a:gridCol w="607191"/>
                <a:gridCol w="607191"/>
                <a:gridCol w="607191"/>
                <a:gridCol w="607191"/>
                <a:gridCol w="607191"/>
                <a:gridCol w="607191"/>
                <a:gridCol w="607191"/>
                <a:gridCol w="607191"/>
                <a:gridCol w="607191"/>
                <a:gridCol w="607191"/>
                <a:gridCol w="607191"/>
                <a:gridCol w="607191"/>
                <a:gridCol w="607191"/>
                <a:gridCol w="607191"/>
                <a:gridCol w="607191"/>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019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22696" y="1781556"/>
            <a:ext cx="366712" cy="533400"/>
          </a:xfrm>
          <a:prstGeom prst="rect">
            <a:avLst/>
          </a:prstGeom>
        </p:spPr>
      </p:pic>
      <p:pic>
        <p:nvPicPr>
          <p:cNvPr id="21" name="Picture 20" descr="lock.png"/>
          <p:cNvPicPr>
            <a:picLocks noChangeAspect="1"/>
          </p:cNvPicPr>
          <p:nvPr/>
        </p:nvPicPr>
        <p:blipFill>
          <a:blip r:embed="rId4"/>
          <a:stretch>
            <a:fillRect/>
          </a:stretch>
        </p:blipFill>
        <p:spPr>
          <a:xfrm>
            <a:off x="6691786" y="3371087"/>
            <a:ext cx="366712" cy="533400"/>
          </a:xfrm>
          <a:prstGeom prst="rect">
            <a:avLst/>
          </a:prstGeom>
        </p:spPr>
      </p:pic>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Customization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Customization,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gridCol w="678329"/>
                <a:gridCol w="678329"/>
                <a:gridCol w="678329"/>
                <a:gridCol w="678329"/>
                <a:gridCol w="678329"/>
                <a:gridCol w="678329"/>
                <a:gridCol w="678329"/>
                <a:gridCol w="678329"/>
                <a:gridCol w="678329"/>
                <a:gridCol w="678329"/>
                <a:gridCol w="678329"/>
                <a:gridCol w="678329"/>
                <a:gridCol w="678329"/>
                <a:gridCol w="678329"/>
                <a:gridCol w="678329"/>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7" cy="742948"/>
        </p:xfrm>
        <a:graphic>
          <a:graphicData uri="http://schemas.openxmlformats.org/drawingml/2006/table">
            <a:tbl>
              <a:tblPr>
                <a:tableStyleId>{5C22544A-7EE6-4342-B048-85BDC9FD1C3A}</a:tableStyleId>
              </a:tblPr>
              <a:tblGrid>
                <a:gridCol w="1712272"/>
                <a:gridCol w="678329"/>
                <a:gridCol w="678329"/>
                <a:gridCol w="678329"/>
                <a:gridCol w="678329"/>
                <a:gridCol w="678329"/>
                <a:gridCol w="678329"/>
                <a:gridCol w="678329"/>
                <a:gridCol w="678329"/>
                <a:gridCol w="678329"/>
                <a:gridCol w="678329"/>
                <a:gridCol w="678329"/>
                <a:gridCol w="678329"/>
                <a:gridCol w="678329"/>
                <a:gridCol w="678329"/>
                <a:gridCol w="678329"/>
              </a:tblGrid>
              <a:tr h="246126">
                <a:tc>
                  <a:txBody>
                    <a:bodyPr wrap="none"/>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84118"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784118" y="2825115"/>
            <a:ext cx="330041" cy="480060"/>
          </a:xfrm>
          <a:prstGeom prst="rect">
            <a:avLst/>
          </a:prstGeom>
        </p:spPr>
      </p:pic>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Segmental Analysis End Use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End Use: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End Use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End Use</a:t>
            </a:r>
          </a:p>
        </p:txBody>
      </p:sp>
      <p:graphicFrame>
        <p:nvGraphicFramePr>
          <p:cNvPr id="16" name="Table 15"/>
          <p:cNvGraphicFramePr>
            <a:graphicFrameLocks noGrp="1"/>
          </p:cNvGraphicFramePr>
          <p:nvPr/>
        </p:nvGraphicFramePr>
        <p:xfrm>
          <a:off x="6181725" y="1238250"/>
          <a:ext cx="5857874" cy="2286003"/>
        </p:xfrm>
        <a:graphic>
          <a:graphicData uri="http://schemas.openxmlformats.org/drawingml/2006/table">
            <a:tbl>
              <a:tblPr>
                <a:tableStyleId>{5C22544A-7EE6-4342-B048-85BDC9FD1C3A}</a:tableStyleId>
              </a:tblPr>
              <a:tblGrid>
                <a:gridCol w="2541938"/>
                <a:gridCol w="833615"/>
                <a:gridCol w="833615"/>
                <a:gridCol w="1052766"/>
                <a:gridCol w="595940"/>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91411">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End Use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End Use</a:t>
            </a:r>
          </a:p>
        </p:txBody>
      </p:sp>
      <p:graphicFrame>
        <p:nvGraphicFramePr>
          <p:cNvPr id="23" name="Table 22"/>
          <p:cNvGraphicFramePr>
            <a:graphicFrameLocks noGrp="1"/>
          </p:cNvGraphicFramePr>
          <p:nvPr/>
        </p:nvGraphicFramePr>
        <p:xfrm>
          <a:off x="6181725" y="4124325"/>
          <a:ext cx="5857874" cy="2286003"/>
        </p:xfrm>
        <a:graphic>
          <a:graphicData uri="http://schemas.openxmlformats.org/drawingml/2006/table">
            <a:tbl>
              <a:tblPr>
                <a:tableStyleId>{5C22544A-7EE6-4342-B048-85BDC9FD1C3A}</a:tableStyleId>
              </a:tblPr>
              <a:tblGrid>
                <a:gridCol w="2541938"/>
                <a:gridCol w="833615"/>
                <a:gridCol w="833615"/>
                <a:gridCol w="1052766"/>
                <a:gridCol w="595940"/>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91411">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194941" y="2237614"/>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194941" y="5123689"/>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Tables End Use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End Use,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End Use (MT)</a:t>
            </a:r>
          </a:p>
        </p:txBody>
      </p:sp>
      <p:graphicFrame>
        <p:nvGraphicFramePr>
          <p:cNvPr id="13" name="Table 12"/>
          <p:cNvGraphicFramePr>
            <a:graphicFrameLocks noGrp="1"/>
          </p:cNvGraphicFramePr>
          <p:nvPr/>
        </p:nvGraphicFramePr>
        <p:xfrm>
          <a:off x="152400" y="1238250"/>
          <a:ext cx="11887207" cy="2409824"/>
        </p:xfrm>
        <a:graphic>
          <a:graphicData uri="http://schemas.openxmlformats.org/drawingml/2006/table">
            <a:tbl>
              <a:tblPr>
                <a:tableStyleId>{5C22544A-7EE6-4342-B048-85BDC9FD1C3A}</a:tableStyleId>
              </a:tblPr>
              <a:tblGrid>
                <a:gridCol w="2308860"/>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425529"/>
              </a:tblGrid>
              <a:tr h="438912">
                <a:tc>
                  <a:txBody>
                    <a:bodyPr wrap="none"/>
                    <a:lstStyle/>
                    <a:p>
                      <a:pPr algn="l"/>
                      <a:r>
                        <a:rPr sz="1100" b="1">
                          <a:solidFill>
                            <a:srgbClr val="0B2E4A"/>
                          </a:solidFill>
                          <a:latin typeface="Calibri"/>
                        </a:rPr>
                        <a:t>End Use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364">
                <a:tc>
                  <a:txBody>
                    <a:bodyPr wrap="none"/>
                    <a:lstStyle/>
                    <a:p>
                      <a:pPr algn="l"/>
                      <a:r>
                        <a:rPr sz="1100" b="1">
                          <a:solidFill>
                            <a:srgbClr val="2E2E2E"/>
                          </a:solidFill>
                          <a:latin typeface="Calibri"/>
                        </a:rPr>
                        <a:t>Food &amp; Beverage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64">
                <a:tc>
                  <a:txBody>
                    <a:bodyPr wrap="none"/>
                    <a:lstStyle/>
                    <a:p>
                      <a:pPr algn="l"/>
                      <a:r>
                        <a:rPr sz="1100" b="1">
                          <a:solidFill>
                            <a:srgbClr val="2E2E2E"/>
                          </a:solidFill>
                          <a:latin typeface="Calibri"/>
                        </a:rPr>
                        <a:t>Pharmaceuticals &amp; Healthcare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364">
                <a:tc>
                  <a:txBody>
                    <a:bodyPr wrap="none"/>
                    <a:lstStyle/>
                    <a:p>
                      <a:pPr algn="l"/>
                      <a:r>
                        <a:rPr sz="1100" b="1">
                          <a:solidFill>
                            <a:srgbClr val="2E2E2E"/>
                          </a:solidFill>
                          <a:latin typeface="Calibri"/>
                        </a:rPr>
                        <a:t>Personal Care &amp; Cosmetics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64">
                <a:tc>
                  <a:txBody>
                    <a:bodyPr wrap="none"/>
                    <a:lstStyle/>
                    <a:p>
                      <a:pPr algn="l"/>
                      <a:r>
                        <a:rPr sz="1100" b="1">
                          <a:solidFill>
                            <a:srgbClr val="2E2E2E"/>
                          </a:solidFill>
                          <a:latin typeface="Calibri"/>
                        </a:rPr>
                        <a:t>Electronics &amp; Electrical</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364">
                <a:tc>
                  <a:txBody>
                    <a:bodyPr wrap="none"/>
                    <a:lstStyle/>
                    <a:p>
                      <a:pPr algn="l"/>
                      <a:r>
                        <a:rPr sz="1100" b="1">
                          <a:solidFill>
                            <a:srgbClr val="2E2E2E"/>
                          </a:solidFill>
                          <a:latin typeface="Calibri"/>
                        </a:rPr>
                        <a:t>Automotive &amp; Industrial Components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64">
                <a:tc>
                  <a:txBody>
                    <a:bodyPr wrap="none"/>
                    <a:lstStyle/>
                    <a:p>
                      <a:pPr algn="l"/>
                      <a:r>
                        <a:rPr sz="1100" b="1">
                          <a:solidFill>
                            <a:srgbClr val="2E2E2E"/>
                          </a:solidFill>
                          <a:latin typeface="Calibri"/>
                        </a:rPr>
                        <a:t>Glassware, Ceramics &amp; Home Goods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364">
                <a:tc>
                  <a:txBody>
                    <a:bodyPr wrap="none"/>
                    <a:lstStyle/>
                    <a:p>
                      <a:pPr algn="l"/>
                      <a:r>
                        <a:rPr sz="1100" b="1">
                          <a:solidFill>
                            <a:srgbClr val="2E2E2E"/>
                          </a:solidFill>
                          <a:latin typeface="Calibri"/>
                        </a:rPr>
                        <a:t>Others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6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657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063743" y="2395917"/>
            <a:ext cx="366712" cy="533399"/>
          </a:xfrm>
          <a:prstGeom prst="rect">
            <a:avLst/>
          </a:prstGeom>
        </p:spPr>
      </p:pic>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Tables End Use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End Use, 2021–2036</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End Use (US$ Mn)</a:t>
            </a:r>
          </a:p>
        </p:txBody>
      </p:sp>
      <p:graphicFrame>
        <p:nvGraphicFramePr>
          <p:cNvPr id="12" name="Table 11"/>
          <p:cNvGraphicFramePr>
            <a:graphicFrameLocks noGrp="1"/>
          </p:cNvGraphicFramePr>
          <p:nvPr/>
        </p:nvGraphicFramePr>
        <p:xfrm>
          <a:off x="152400" y="1238250"/>
          <a:ext cx="11887202" cy="2219326"/>
        </p:xfrm>
        <a:graphic>
          <a:graphicData uri="http://schemas.openxmlformats.org/drawingml/2006/table">
            <a:tbl>
              <a:tblPr>
                <a:tableStyleId>{5C22544A-7EE6-4342-B048-85BDC9FD1C3A}</a:tableStyleId>
              </a:tblPr>
              <a:tblGrid>
                <a:gridCol w="2384338"/>
                <a:gridCol w="558992"/>
                <a:gridCol w="558992"/>
                <a:gridCol w="558992"/>
                <a:gridCol w="558992"/>
                <a:gridCol w="558992"/>
                <a:gridCol w="558992"/>
                <a:gridCol w="558992"/>
                <a:gridCol w="558992"/>
                <a:gridCol w="558992"/>
                <a:gridCol w="558992"/>
                <a:gridCol w="558992"/>
                <a:gridCol w="558992"/>
                <a:gridCol w="558992"/>
                <a:gridCol w="558992"/>
                <a:gridCol w="558992"/>
                <a:gridCol w="558992"/>
                <a:gridCol w="558992"/>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101480" y="2204276"/>
            <a:ext cx="366712" cy="533400"/>
          </a:xfrm>
          <a:prstGeom prst="rect">
            <a:avLst/>
          </a:prstGeom>
        </p:spPr>
      </p:pic>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End Use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End Use,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1971675"/>
        </p:xfrm>
        <a:graphic>
          <a:graphicData uri="http://schemas.openxmlformats.org/drawingml/2006/table">
            <a:tbl>
              <a:tblPr>
                <a:tableStyleId>{5C22544A-7EE6-4342-B048-85BDC9FD1C3A}</a:tableStyleId>
              </a:tblPr>
              <a:tblGrid>
                <a:gridCol w="2440354"/>
                <a:gridCol w="629790"/>
                <a:gridCol w="629790"/>
                <a:gridCol w="629790"/>
                <a:gridCol w="629790"/>
                <a:gridCol w="629790"/>
                <a:gridCol w="629790"/>
                <a:gridCol w="629790"/>
                <a:gridCol w="629790"/>
                <a:gridCol w="629790"/>
                <a:gridCol w="629790"/>
                <a:gridCol w="629790"/>
                <a:gridCol w="629790"/>
                <a:gridCol w="629790"/>
                <a:gridCol w="629790"/>
                <a:gridCol w="629790"/>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810000"/>
          <a:ext cx="11887207" cy="1971675"/>
        </p:xfrm>
        <a:graphic>
          <a:graphicData uri="http://schemas.openxmlformats.org/drawingml/2006/table">
            <a:tbl>
              <a:tblPr>
                <a:tableStyleId>{5C22544A-7EE6-4342-B048-85BDC9FD1C3A}</a:tableStyleId>
              </a:tblPr>
              <a:tblGrid>
                <a:gridCol w="2589442"/>
                <a:gridCol w="619851"/>
                <a:gridCol w="619851"/>
                <a:gridCol w="619851"/>
                <a:gridCol w="619851"/>
                <a:gridCol w="619851"/>
                <a:gridCol w="619851"/>
                <a:gridCol w="619851"/>
                <a:gridCol w="619851"/>
                <a:gridCol w="619851"/>
                <a:gridCol w="619851"/>
                <a:gridCol w="619851"/>
                <a:gridCol w="619851"/>
                <a:gridCol w="619851"/>
                <a:gridCol w="619851"/>
                <a:gridCol w="619851"/>
              </a:tblGrid>
              <a:tr h="246126">
                <a:tc>
                  <a:txBody>
                    <a:bodyPr wrap="none"/>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5791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29488" y="2080450"/>
            <a:ext cx="366712" cy="533400"/>
          </a:xfrm>
          <a:prstGeom prst="rect">
            <a:avLst/>
          </a:prstGeom>
        </p:spPr>
      </p:pic>
      <p:pic>
        <p:nvPicPr>
          <p:cNvPr id="21" name="Picture 20" descr="lock.png"/>
          <p:cNvPicPr>
            <a:picLocks noChangeAspect="1"/>
          </p:cNvPicPr>
          <p:nvPr/>
        </p:nvPicPr>
        <p:blipFill>
          <a:blip r:embed="rId4"/>
          <a:stretch>
            <a:fillRect/>
          </a:stretch>
        </p:blipFill>
        <p:spPr>
          <a:xfrm>
            <a:off x="7204034" y="4652200"/>
            <a:ext cx="366712" cy="533399"/>
          </a:xfrm>
          <a:prstGeom prst="rect">
            <a:avLst/>
          </a:prstGeom>
        </p:spPr>
      </p:pic>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Sales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Segmental Analysis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Sales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Sales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Sales Channel</a:t>
            </a:r>
          </a:p>
        </p:txBody>
      </p:sp>
      <p:graphicFrame>
        <p:nvGraphicFramePr>
          <p:cNvPr id="16" name="Table 15"/>
          <p:cNvGraphicFramePr>
            <a:graphicFrameLocks noGrp="1"/>
          </p:cNvGraphicFramePr>
          <p:nvPr/>
        </p:nvGraphicFramePr>
        <p:xfrm>
          <a:off x="6181725" y="1238250"/>
          <a:ext cx="5857873" cy="2286000"/>
        </p:xfrm>
        <a:graphic>
          <a:graphicData uri="http://schemas.openxmlformats.org/drawingml/2006/table">
            <a:tbl>
              <a:tblPr>
                <a:tableStyleId>{5C22544A-7EE6-4342-B048-85BDC9FD1C3A}</a:tableStyleId>
              </a:tblPr>
              <a:tblGrid>
                <a:gridCol w="1128877"/>
                <a:gridCol w="1182249"/>
                <a:gridCol w="1182249"/>
                <a:gridCol w="1182249"/>
                <a:gridCol w="1182249"/>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Sales Channel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Sales Channel</a:t>
            </a:r>
          </a:p>
        </p:txBody>
      </p:sp>
      <p:graphicFrame>
        <p:nvGraphicFramePr>
          <p:cNvPr id="23" name="Table 22"/>
          <p:cNvGraphicFramePr>
            <a:graphicFrameLocks noGrp="1"/>
          </p:cNvGraphicFramePr>
          <p:nvPr/>
        </p:nvGraphicFramePr>
        <p:xfrm>
          <a:off x="6181725" y="4124325"/>
          <a:ext cx="5857873" cy="2286000"/>
        </p:xfrm>
        <a:graphic>
          <a:graphicData uri="http://schemas.openxmlformats.org/drawingml/2006/table">
            <a:tbl>
              <a:tblPr>
                <a:tableStyleId>{5C22544A-7EE6-4342-B048-85BDC9FD1C3A}</a:tableStyleId>
              </a:tblPr>
              <a:tblGrid>
                <a:gridCol w="1128877"/>
                <a:gridCol w="1182249"/>
                <a:gridCol w="1182249"/>
                <a:gridCol w="1182249"/>
                <a:gridCol w="1182249"/>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488410"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488410"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Corrugated Partition Market Tables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Sales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Sales Channel (MT)</a:t>
            </a:r>
          </a:p>
        </p:txBody>
      </p:sp>
      <p:graphicFrame>
        <p:nvGraphicFramePr>
          <p:cNvPr id="13" name="Table 12"/>
          <p:cNvGraphicFramePr>
            <a:graphicFrameLocks noGrp="1"/>
          </p:cNvGraphicFramePr>
          <p:nvPr/>
        </p:nvGraphicFramePr>
        <p:xfrm>
          <a:off x="152400" y="1238250"/>
          <a:ext cx="11887205" cy="1371597"/>
        </p:xfrm>
        <a:graphic>
          <a:graphicData uri="http://schemas.openxmlformats.org/drawingml/2006/table">
            <a:tbl>
              <a:tblPr>
                <a:tableStyleId>{5C22544A-7EE6-4342-B048-85BDC9FD1C3A}</a:tableStyleId>
              </a:tblPr>
              <a:tblGrid>
                <a:gridCol w="967042"/>
                <a:gridCol w="603816"/>
                <a:gridCol w="603816"/>
                <a:gridCol w="603816"/>
                <a:gridCol w="603816"/>
                <a:gridCol w="603816"/>
                <a:gridCol w="603816"/>
                <a:gridCol w="603816"/>
                <a:gridCol w="603816"/>
                <a:gridCol w="603816"/>
                <a:gridCol w="603816"/>
                <a:gridCol w="718118"/>
                <a:gridCol w="718118"/>
                <a:gridCol w="718118"/>
                <a:gridCol w="718118"/>
                <a:gridCol w="718118"/>
                <a:gridCol w="718118"/>
                <a:gridCol w="573295"/>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375157">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5157">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515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19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009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Sales Channel (US$ Mn)</a:t>
            </a:r>
          </a:p>
        </p:txBody>
      </p:sp>
      <p:graphicFrame>
        <p:nvGraphicFramePr>
          <p:cNvPr id="17" name="Table 16"/>
          <p:cNvGraphicFramePr>
            <a:graphicFrameLocks noGrp="1"/>
          </p:cNvGraphicFramePr>
          <p:nvPr/>
        </p:nvGraphicFramePr>
        <p:xfrm>
          <a:off x="152400" y="3209925"/>
          <a:ext cx="11887205" cy="990600"/>
        </p:xfrm>
        <a:graphic>
          <a:graphicData uri="http://schemas.openxmlformats.org/drawingml/2006/table">
            <a:tbl>
              <a:tblPr>
                <a:tableStyleId>{5C22544A-7EE6-4342-B048-85BDC9FD1C3A}</a:tableStyleId>
              </a:tblPr>
              <a:tblGrid>
                <a:gridCol w="1073029"/>
                <a:gridCol w="636128"/>
                <a:gridCol w="636128"/>
                <a:gridCol w="636128"/>
                <a:gridCol w="636128"/>
                <a:gridCol w="636128"/>
                <a:gridCol w="636128"/>
                <a:gridCol w="636128"/>
                <a:gridCol w="636128"/>
                <a:gridCol w="636128"/>
                <a:gridCol w="636128"/>
                <a:gridCol w="636128"/>
                <a:gridCol w="636128"/>
                <a:gridCol w="636128"/>
                <a:gridCol w="636128"/>
                <a:gridCol w="636128"/>
                <a:gridCol w="636128"/>
                <a:gridCol w="63612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2833" y="1780413"/>
            <a:ext cx="366712" cy="533400"/>
          </a:xfrm>
          <a:prstGeom prst="rect">
            <a:avLst/>
          </a:prstGeom>
        </p:spPr>
      </p:pic>
      <p:pic>
        <p:nvPicPr>
          <p:cNvPr id="21" name="Picture 20" descr="lock.png"/>
          <p:cNvPicPr>
            <a:picLocks noChangeAspect="1"/>
          </p:cNvPicPr>
          <p:nvPr/>
        </p:nvPicPr>
        <p:blipFill>
          <a:blip r:embed="rId4"/>
          <a:stretch>
            <a:fillRect/>
          </a:stretch>
        </p:blipFill>
        <p:spPr>
          <a:xfrm>
            <a:off x="6445826" y="3561587"/>
            <a:ext cx="366712" cy="533400"/>
          </a:xfrm>
          <a:prstGeom prst="rect">
            <a:avLst/>
          </a:prstGeom>
        </p:spPr>
      </p:pic>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Sales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gridCol w="713858"/>
                <a:gridCol w="713858"/>
                <a:gridCol w="713858"/>
                <a:gridCol w="713858"/>
                <a:gridCol w="713858"/>
                <a:gridCol w="713858"/>
                <a:gridCol w="713858"/>
                <a:gridCol w="713858"/>
                <a:gridCol w="713858"/>
                <a:gridCol w="713858"/>
                <a:gridCol w="713858"/>
                <a:gridCol w="713858"/>
                <a:gridCol w="713858"/>
                <a:gridCol w="713858"/>
                <a:gridCol w="71385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1" cy="742948"/>
        </p:xfrm>
        <a:graphic>
          <a:graphicData uri="http://schemas.openxmlformats.org/drawingml/2006/table">
            <a:tbl>
              <a:tblPr>
                <a:tableStyleId>{5C22544A-7EE6-4342-B048-85BDC9FD1C3A}</a:tableStyleId>
              </a:tblPr>
              <a:tblGrid>
                <a:gridCol w="1179331"/>
                <a:gridCol w="713858"/>
                <a:gridCol w="713858"/>
                <a:gridCol w="713858"/>
                <a:gridCol w="713858"/>
                <a:gridCol w="713858"/>
                <a:gridCol w="713858"/>
                <a:gridCol w="713858"/>
                <a:gridCol w="713858"/>
                <a:gridCol w="713858"/>
                <a:gridCol w="713858"/>
                <a:gridCol w="713858"/>
                <a:gridCol w="713858"/>
                <a:gridCol w="713858"/>
                <a:gridCol w="713858"/>
                <a:gridCol w="713858"/>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17645"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517645" y="2825115"/>
            <a:ext cx="330041" cy="480060"/>
          </a:xfrm>
          <a:prstGeom prst="rect">
            <a:avLst/>
          </a:prstGeom>
        </p:spPr>
      </p:pic>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Partition Type × 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Board Construction × End Use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Cell Configuration × End Use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Partition Type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Partition Type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partition type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Partition Type × End Use, 2026E and 2036F (US$ Mn)</a:t>
            </a:r>
          </a:p>
        </p:txBody>
      </p:sp>
      <p:graphicFrame>
        <p:nvGraphicFramePr>
          <p:cNvPr id="13" name="Table 12"/>
          <p:cNvGraphicFramePr>
            <a:graphicFrameLocks noGrp="1"/>
          </p:cNvGraphicFramePr>
          <p:nvPr/>
        </p:nvGraphicFramePr>
        <p:xfrm>
          <a:off x="152400" y="1238250"/>
          <a:ext cx="11887193" cy="1866897"/>
        </p:xfrm>
        <a:graphic>
          <a:graphicData uri="http://schemas.openxmlformats.org/drawingml/2006/table">
            <a:tbl>
              <a:tblPr>
                <a:tableStyleId>{5C22544A-7EE6-4342-B048-85BDC9FD1C3A}</a:tableStyleId>
              </a:tblPr>
              <a:tblGrid>
                <a:gridCol w="2760297"/>
                <a:gridCol w="570431"/>
                <a:gridCol w="570431"/>
                <a:gridCol w="570431"/>
                <a:gridCol w="570431"/>
                <a:gridCol w="570431"/>
                <a:gridCol w="570431"/>
                <a:gridCol w="570431"/>
                <a:gridCol w="570431"/>
                <a:gridCol w="570431"/>
                <a:gridCol w="570431"/>
                <a:gridCol w="570431"/>
                <a:gridCol w="570431"/>
                <a:gridCol w="570431"/>
                <a:gridCol w="570431"/>
                <a:gridCol w="570431"/>
                <a:gridCol w="570431"/>
              </a:tblGrid>
              <a:tr h="631697">
                <a:tc rowSpan="2">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a:t>
                      </a:r>
                      <a:endParaRPr sz="1100"/>
                    </a:p>
                    <a:p>
                      <a:pPr algn="ctr"/>
                      <a:r>
                        <a:rPr sz="1100" b="1">
                          <a:solidFill>
                            <a:srgbClr val="0B2E4A"/>
                          </a:solidFill>
                          <a:latin typeface="Calibri"/>
                        </a:rPr>
                        <a:t>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9454" y="2344368"/>
            <a:ext cx="366712" cy="533400"/>
          </a:xfrm>
          <a:prstGeom prst="rect">
            <a:avLst/>
          </a:prstGeom>
        </p:spPr>
      </p:pic>
      <p:sp>
        <p:nvSpPr>
          <p:cNvPr id="21" name="TextBox 20"/>
          <p:cNvSpPr txBox="1"/>
          <p:nvPr/>
        </p:nvSpPr>
        <p:spPr>
          <a:xfrm>
            <a:off x="276225" y="3867150"/>
            <a:ext cx="10054952" cy="194310"/>
          </a:xfrm>
          <a:prstGeom prst="rect">
            <a:avLst/>
          </a:prstGeom>
          <a:noFill/>
        </p:spPr>
        <p:txBody>
          <a:bodyPr wrap="none" lIns="0" rIns="0" tIns="0" bIns="0">
            <a:spAutoFit/>
          </a:bodyPr>
          <a:lstStyle/>
          <a:p>
            <a:r>
              <a:rPr sz="1150" b="0">
                <a:solidFill>
                  <a:srgbClr val="2E2E2E"/>
                </a:solidFill>
                <a:latin typeface="Calibri"/>
              </a:rPr>
              <a:t>Flat dividers &amp; layer pads segment is projected to account for the largest share of the U.S.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280331" y="3856926"/>
            <a:ext cx="134549" cy="195707"/>
          </a:xfrm>
          <a:prstGeom prst="rect">
            <a:avLst/>
          </a:prstGeom>
        </p:spPr>
      </p:pic>
      <p:sp>
        <p:nvSpPr>
          <p:cNvPr id="23" name="TextBox 22"/>
          <p:cNvSpPr txBox="1"/>
          <p:nvPr/>
        </p:nvSpPr>
        <p:spPr>
          <a:xfrm>
            <a:off x="10455440" y="3867150"/>
            <a:ext cx="1072877" cy="194310"/>
          </a:xfrm>
          <a:prstGeom prst="rect">
            <a:avLst/>
          </a:prstGeom>
          <a:noFill/>
        </p:spPr>
        <p:txBody>
          <a:bodyPr wrap="none" lIns="0" rIns="0" tIns="0" bIns="0">
            <a:spAutoFit/>
          </a:bodyPr>
          <a:lstStyle/>
          <a:p>
            <a:r>
              <a:rPr sz="1150" b="0">
                <a:solidFill>
                  <a:srgbClr val="2E2E2E"/>
                </a:solidFill>
                <a:latin typeface="Calibri"/>
              </a:rPr>
              <a:t>Mn in 2036. 'Flat</a:t>
            </a:r>
          </a:p>
        </p:txBody>
      </p:sp>
      <p:sp>
        <p:nvSpPr>
          <p:cNvPr id="24" name="TextBox 23"/>
          <p:cNvSpPr txBox="1"/>
          <p:nvPr/>
        </p:nvSpPr>
        <p:spPr>
          <a:xfrm>
            <a:off x="276225" y="4042410"/>
            <a:ext cx="6074233" cy="194310"/>
          </a:xfrm>
          <a:prstGeom prst="rect">
            <a:avLst/>
          </a:prstGeom>
          <a:noFill/>
        </p:spPr>
        <p:txBody>
          <a:bodyPr wrap="none" lIns="0" rIns="0" tIns="0" bIns="0">
            <a:spAutoFit/>
          </a:bodyPr>
          <a:lstStyle/>
          <a:p>
            <a:r>
              <a:rPr sz="1150" b="0">
                <a:solidFill>
                  <a:srgbClr val="2E2E2E"/>
                </a:solidFill>
                <a:latin typeface="Calibri"/>
              </a:rPr>
              <a:t>Dividers &amp; Layer Pads × 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6299612" y="4032186"/>
            <a:ext cx="134549" cy="195707"/>
          </a:xfrm>
          <a:prstGeom prst="rect">
            <a:avLst/>
          </a:prstGeom>
        </p:spPr>
      </p:pic>
      <p:sp>
        <p:nvSpPr>
          <p:cNvPr id="26" name="TextBox 25"/>
          <p:cNvSpPr txBox="1"/>
          <p:nvPr/>
        </p:nvSpPr>
        <p:spPr>
          <a:xfrm>
            <a:off x="6474722" y="4042410"/>
            <a:ext cx="5250705" cy="194310"/>
          </a:xfrm>
          <a:prstGeom prst="rect">
            <a:avLst/>
          </a:prstGeom>
          <a:noFill/>
        </p:spPr>
        <p:txBody>
          <a:bodyPr wrap="none" lIns="0" rIns="0" tIns="0" bIns="0">
            <a:spAutoFit/>
          </a:bodyPr>
          <a:lstStyle/>
          <a:p>
            <a:r>
              <a:rPr sz="1150" b="0">
                <a:solidFill>
                  <a:srgbClr val="2E2E2E"/>
                </a:solidFill>
                <a:latin typeface="Calibri"/>
              </a:rPr>
              <a:t>US$ Mn, 2026E), while 'Flat Dividers &amp; Layer Pads × Electronics &amp; Electrical' records the</a:t>
            </a:r>
          </a:p>
        </p:txBody>
      </p:sp>
      <p:sp>
        <p:nvSpPr>
          <p:cNvPr id="27" name="TextBox 26"/>
          <p:cNvSpPr txBox="1"/>
          <p:nvPr/>
        </p:nvSpPr>
        <p:spPr>
          <a:xfrm>
            <a:off x="276225" y="4217670"/>
            <a:ext cx="1712113" cy="194310"/>
          </a:xfrm>
          <a:prstGeom prst="rect">
            <a:avLst/>
          </a:prstGeom>
          <a:noFill/>
        </p:spPr>
        <p:txBody>
          <a:bodyPr wrap="none" lIns="0" rIns="0" tIns="0" bIns="0">
            <a:spAutoFit/>
          </a:bodyPr>
          <a:lstStyle/>
          <a:p>
            <a:r>
              <a:rPr sz="1150" b="0">
                <a:solidFill>
                  <a:srgbClr val="2E2E2E"/>
                </a:solidFill>
                <a:latin typeface="Calibri"/>
              </a:rPr>
              <a:t>fastest growth at a CAGR of</a:t>
            </a:r>
          </a:p>
        </p:txBody>
      </p:sp>
      <p:pic>
        <p:nvPicPr>
          <p:cNvPr id="28" name="Picture 27" descr="lock.png"/>
          <p:cNvPicPr>
            <a:picLocks noChangeAspect="1"/>
          </p:cNvPicPr>
          <p:nvPr/>
        </p:nvPicPr>
        <p:blipFill>
          <a:blip r:embed="rId4"/>
          <a:stretch>
            <a:fillRect/>
          </a:stretch>
        </p:blipFill>
        <p:spPr>
          <a:xfrm>
            <a:off x="1937492" y="4207446"/>
            <a:ext cx="134549" cy="195707"/>
          </a:xfrm>
          <a:prstGeom prst="rect">
            <a:avLst/>
          </a:prstGeom>
        </p:spPr>
      </p:pic>
      <p:sp>
        <p:nvSpPr>
          <p:cNvPr id="29" name="TextBox 28"/>
          <p:cNvSpPr txBox="1"/>
          <p:nvPr/>
        </p:nvSpPr>
        <p:spPr>
          <a:xfrm>
            <a:off x="2112601" y="421767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445507"/>
            <a:ext cx="5585879" cy="194310"/>
          </a:xfrm>
          <a:prstGeom prst="rect">
            <a:avLst/>
          </a:prstGeom>
          <a:noFill/>
        </p:spPr>
        <p:txBody>
          <a:bodyPr wrap="none" lIns="0" rIns="0" tIns="0" bIns="0">
            <a:spAutoFit/>
          </a:bodyPr>
          <a:lstStyle/>
          <a:p>
            <a:r>
              <a:rPr sz="1150" b="0">
                <a:solidFill>
                  <a:srgbClr val="2E2E2E"/>
                </a:solidFill>
                <a:latin typeface="Calibri"/>
              </a:rPr>
              <a:t>Combined, the top three partition type × end use cells generate an absolute $ opportunity of</a:t>
            </a:r>
          </a:p>
        </p:txBody>
      </p:sp>
      <p:pic>
        <p:nvPicPr>
          <p:cNvPr id="31" name="Picture 30" descr="lock.png"/>
          <p:cNvPicPr>
            <a:picLocks noChangeAspect="1"/>
          </p:cNvPicPr>
          <p:nvPr/>
        </p:nvPicPr>
        <p:blipFill>
          <a:blip r:embed="rId4"/>
          <a:stretch>
            <a:fillRect/>
          </a:stretch>
        </p:blipFill>
        <p:spPr>
          <a:xfrm>
            <a:off x="5811258" y="4435284"/>
            <a:ext cx="134549" cy="195707"/>
          </a:xfrm>
          <a:prstGeom prst="rect">
            <a:avLst/>
          </a:prstGeom>
        </p:spPr>
      </p:pic>
      <p:sp>
        <p:nvSpPr>
          <p:cNvPr id="32" name="TextBox 31"/>
          <p:cNvSpPr txBox="1"/>
          <p:nvPr/>
        </p:nvSpPr>
        <p:spPr>
          <a:xfrm>
            <a:off x="5986367" y="444550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Partition Type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Partition Type × End Use, 2026E (% of each row)</a:t>
            </a:r>
          </a:p>
        </p:txBody>
      </p:sp>
      <p:graphicFrame>
        <p:nvGraphicFramePr>
          <p:cNvPr id="13" name="Table 12"/>
          <p:cNvGraphicFramePr>
            <a:graphicFrameLocks noGrp="1"/>
          </p:cNvGraphicFramePr>
          <p:nvPr/>
        </p:nvGraphicFramePr>
        <p:xfrm>
          <a:off x="152400" y="1238250"/>
          <a:ext cx="11887200" cy="1619249"/>
        </p:xfrm>
        <a:graphic>
          <a:graphicData uri="http://schemas.openxmlformats.org/drawingml/2006/table">
            <a:tbl>
              <a:tblPr>
                <a:tableStyleId>{5C22544A-7EE6-4342-B048-85BDC9FD1C3A}</a:tableStyleId>
              </a:tblPr>
              <a:tblGrid>
                <a:gridCol w="2275403"/>
                <a:gridCol w="954259"/>
                <a:gridCol w="1598062"/>
                <a:gridCol w="1323387"/>
                <a:gridCol w="1192720"/>
                <a:gridCol w="1787231"/>
                <a:gridCol w="1697958"/>
                <a:gridCol w="514374"/>
                <a:gridCol w="543806"/>
              </a:tblGrid>
              <a:tr h="631697">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888">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88">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7286625"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575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Partition Type, 2026E (% share)</a:t>
            </a:r>
          </a:p>
        </p:txBody>
      </p:sp>
      <p:graphicFrame>
        <p:nvGraphicFramePr>
          <p:cNvPr id="17" name="Chart 16"/>
          <p:cNvGraphicFramePr>
            <a:graphicFrameLocks noGrp="1"/>
          </p:cNvGraphicFramePr>
          <p:nvPr/>
        </p:nvGraphicFramePr>
        <p:xfrm>
          <a:off x="238125" y="3486150"/>
          <a:ext cx="7096125" cy="30861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00400"/>
            <a:ext cx="445770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2861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24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09975"/>
            <a:ext cx="41910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047011" y="209702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4116149"/>
            <a:ext cx="440818" cy="641190"/>
          </a:xfrm>
          <a:prstGeom prst="rect">
            <a:avLst/>
          </a:prstGeom>
        </p:spPr>
      </p:pic>
      <p:sp>
        <p:nvSpPr>
          <p:cNvPr id="25" name="TextBox 24"/>
          <p:cNvSpPr txBox="1"/>
          <p:nvPr/>
        </p:nvSpPr>
        <p:spPr>
          <a:xfrm>
            <a:off x="7715250" y="3619500"/>
            <a:ext cx="3948807" cy="194310"/>
          </a:xfrm>
          <a:prstGeom prst="rect">
            <a:avLst/>
          </a:prstGeom>
          <a:noFill/>
        </p:spPr>
        <p:txBody>
          <a:bodyPr wrap="none" lIns="0" rIns="0" tIns="0" bIns="0">
            <a:spAutoFit/>
          </a:bodyPr>
          <a:lstStyle/>
          <a:p>
            <a:r>
              <a:rPr sz="1150" b="0">
                <a:solidFill>
                  <a:srgbClr val="2E2E2E"/>
                </a:solidFill>
                <a:latin typeface="Calibri"/>
              </a:rPr>
              <a:t>▪ 'Glassware, Ceramics &amp; Home Goods' holds the highest share of</a:t>
            </a:r>
          </a:p>
        </p:txBody>
      </p:sp>
      <p:sp>
        <p:nvSpPr>
          <p:cNvPr id="26" name="TextBox 25"/>
          <p:cNvSpPr txBox="1"/>
          <p:nvPr/>
        </p:nvSpPr>
        <p:spPr>
          <a:xfrm>
            <a:off x="7715250" y="3794760"/>
            <a:ext cx="2436676" cy="194310"/>
          </a:xfrm>
          <a:prstGeom prst="rect">
            <a:avLst/>
          </a:prstGeom>
          <a:noFill/>
        </p:spPr>
        <p:txBody>
          <a:bodyPr wrap="none" lIns="0" rIns="0" tIns="0" bIns="0">
            <a:spAutoFit/>
          </a:bodyPr>
          <a:lstStyle/>
          <a:p>
            <a:r>
              <a:rPr sz="1150" b="0">
                <a:solidFill>
                  <a:srgbClr val="2E2E2E"/>
                </a:solidFill>
                <a:latin typeface="Calibri"/>
              </a:rPr>
              <a:t>'Slotted (Interlocking Grid) Partitions' at</a:t>
            </a:r>
          </a:p>
        </p:txBody>
      </p:sp>
      <p:pic>
        <p:nvPicPr>
          <p:cNvPr id="27" name="Picture 26" descr="lock.png"/>
          <p:cNvPicPr>
            <a:picLocks noChangeAspect="1"/>
          </p:cNvPicPr>
          <p:nvPr/>
        </p:nvPicPr>
        <p:blipFill>
          <a:blip r:embed="rId5"/>
          <a:stretch>
            <a:fillRect/>
          </a:stretch>
        </p:blipFill>
        <p:spPr>
          <a:xfrm>
            <a:off x="10101080" y="3784536"/>
            <a:ext cx="134549" cy="195707"/>
          </a:xfrm>
          <a:prstGeom prst="rect">
            <a:avLst/>
          </a:prstGeom>
        </p:spPr>
      </p:pic>
      <p:sp>
        <p:nvSpPr>
          <p:cNvPr id="28" name="TextBox 27"/>
          <p:cNvSpPr txBox="1"/>
          <p:nvPr/>
        </p:nvSpPr>
        <p:spPr>
          <a:xfrm>
            <a:off x="10276189" y="37947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022597"/>
            <a:ext cx="3886336" cy="194310"/>
          </a:xfrm>
          <a:prstGeom prst="rect">
            <a:avLst/>
          </a:prstGeom>
          <a:noFill/>
        </p:spPr>
        <p:txBody>
          <a:bodyPr wrap="none" lIns="0" rIns="0" tIns="0" bIns="0">
            <a:spAutoFit/>
          </a:bodyPr>
          <a:lstStyle/>
          <a:p>
            <a:r>
              <a:rPr sz="1150" b="0">
                <a:solidFill>
                  <a:srgbClr val="2E2E2E"/>
                </a:solidFill>
                <a:latin typeface="Calibri"/>
              </a:rPr>
              <a:t>▪ 'Slotted (Interlocking Grid) Partitions' is the most concentrated</a:t>
            </a:r>
          </a:p>
        </p:txBody>
      </p:sp>
      <p:sp>
        <p:nvSpPr>
          <p:cNvPr id="30" name="TextBox 29"/>
          <p:cNvSpPr txBox="1"/>
          <p:nvPr/>
        </p:nvSpPr>
        <p:spPr>
          <a:xfrm>
            <a:off x="7715250" y="4197857"/>
            <a:ext cx="2026480" cy="194310"/>
          </a:xfrm>
          <a:prstGeom prst="rect">
            <a:avLst/>
          </a:prstGeom>
          <a:noFill/>
        </p:spPr>
        <p:txBody>
          <a:bodyPr wrap="none" lIns="0" rIns="0" tIns="0" bIns="0">
            <a:spAutoFit/>
          </a:bodyPr>
          <a:lstStyle/>
          <a:p>
            <a:r>
              <a:rPr sz="1150" b="0">
                <a:solidFill>
                  <a:srgbClr val="2E2E2E"/>
                </a:solidFill>
                <a:latin typeface="Calibri"/>
              </a:rPr>
              <a:t>partition type sub-segment, with</a:t>
            </a:r>
          </a:p>
        </p:txBody>
      </p:sp>
      <p:pic>
        <p:nvPicPr>
          <p:cNvPr id="31" name="Picture 30" descr="lock.png"/>
          <p:cNvPicPr>
            <a:picLocks noChangeAspect="1"/>
          </p:cNvPicPr>
          <p:nvPr/>
        </p:nvPicPr>
        <p:blipFill>
          <a:blip r:embed="rId5"/>
          <a:stretch>
            <a:fillRect/>
          </a:stretch>
        </p:blipFill>
        <p:spPr>
          <a:xfrm>
            <a:off x="9690884" y="4187634"/>
            <a:ext cx="134549" cy="195707"/>
          </a:xfrm>
          <a:prstGeom prst="rect">
            <a:avLst/>
          </a:prstGeom>
        </p:spPr>
      </p:pic>
      <p:sp>
        <p:nvSpPr>
          <p:cNvPr id="32" name="TextBox 31"/>
          <p:cNvSpPr txBox="1"/>
          <p:nvPr/>
        </p:nvSpPr>
        <p:spPr>
          <a:xfrm>
            <a:off x="9865994" y="4197857"/>
            <a:ext cx="1634827" cy="194310"/>
          </a:xfrm>
          <a:prstGeom prst="rect">
            <a:avLst/>
          </a:prstGeom>
          <a:noFill/>
        </p:spPr>
        <p:txBody>
          <a:bodyPr wrap="none" lIns="0" rIns="0" tIns="0" bIns="0">
            <a:spAutoFit/>
          </a:bodyPr>
          <a:lstStyle/>
          <a:p>
            <a:r>
              <a:rPr sz="1150" b="0">
                <a:solidFill>
                  <a:srgbClr val="2E2E2E"/>
                </a:solidFill>
                <a:latin typeface="Calibri"/>
              </a:rPr>
              <a:t>of its value via 'Glassware,</a:t>
            </a:r>
          </a:p>
        </p:txBody>
      </p:sp>
      <p:sp>
        <p:nvSpPr>
          <p:cNvPr id="33" name="TextBox 32"/>
          <p:cNvSpPr txBox="1"/>
          <p:nvPr/>
        </p:nvSpPr>
        <p:spPr>
          <a:xfrm>
            <a:off x="7715250" y="4373117"/>
            <a:ext cx="1622276" cy="194310"/>
          </a:xfrm>
          <a:prstGeom prst="rect">
            <a:avLst/>
          </a:prstGeom>
          <a:noFill/>
        </p:spPr>
        <p:txBody>
          <a:bodyPr wrap="none" lIns="0" rIns="0" tIns="0" bIns="0">
            <a:spAutoFit/>
          </a:bodyPr>
          <a:lstStyle/>
          <a:p>
            <a:r>
              <a:rPr sz="1150" b="0">
                <a:solidFill>
                  <a:srgbClr val="2E2E2E"/>
                </a:solidFill>
                <a:latin typeface="Calibri"/>
              </a:rPr>
              <a:t>Ceramics &amp; Home Goods'.</a:t>
            </a:r>
          </a:p>
        </p:txBody>
      </p:sp>
      <p:sp>
        <p:nvSpPr>
          <p:cNvPr id="34" name="TextBox 33"/>
          <p:cNvSpPr txBox="1"/>
          <p:nvPr/>
        </p:nvSpPr>
        <p:spPr>
          <a:xfrm>
            <a:off x="7715250" y="460095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590732"/>
            <a:ext cx="134549" cy="195707"/>
          </a:xfrm>
          <a:prstGeom prst="rect">
            <a:avLst/>
          </a:prstGeom>
        </p:spPr>
      </p:pic>
      <p:sp>
        <p:nvSpPr>
          <p:cNvPr id="36" name="TextBox 35"/>
          <p:cNvSpPr txBox="1"/>
          <p:nvPr/>
        </p:nvSpPr>
        <p:spPr>
          <a:xfrm>
            <a:off x="9860574" y="4600955"/>
            <a:ext cx="1467383" cy="194310"/>
          </a:xfrm>
          <a:prstGeom prst="rect">
            <a:avLst/>
          </a:prstGeom>
          <a:noFill/>
        </p:spPr>
        <p:txBody>
          <a:bodyPr wrap="none" lIns="0" rIns="0" tIns="0" bIns="0">
            <a:spAutoFit/>
          </a:bodyPr>
          <a:lstStyle/>
          <a:p>
            <a:r>
              <a:rPr sz="1150" b="0">
                <a:solidFill>
                  <a:srgbClr val="2E2E2E"/>
                </a:solidFill>
                <a:latin typeface="Calibri"/>
              </a:rPr>
              <a:t>BPS of share of the U.S.</a:t>
            </a:r>
          </a:p>
        </p:txBody>
      </p:sp>
      <p:sp>
        <p:nvSpPr>
          <p:cNvPr id="37" name="TextBox 36"/>
          <p:cNvSpPr txBox="1"/>
          <p:nvPr/>
        </p:nvSpPr>
        <p:spPr>
          <a:xfrm>
            <a:off x="7715250" y="477621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8" name="lockshield_17"/>
          <p:cNvSpPr/>
          <p:nvPr/>
        </p:nvSpPr>
        <p:spPr>
          <a:xfrm>
            <a:off x="238125" y="3486150"/>
            <a:ext cx="7096125" cy="3086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Partition Type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Partition Type × End Use, 2026E–2036F</a:t>
            </a:r>
          </a:p>
        </p:txBody>
      </p:sp>
      <p:graphicFrame>
        <p:nvGraphicFramePr>
          <p:cNvPr id="13" name="Table 12"/>
          <p:cNvGraphicFramePr>
            <a:graphicFrameLocks noGrp="1"/>
          </p:cNvGraphicFramePr>
          <p:nvPr/>
        </p:nvGraphicFramePr>
        <p:xfrm>
          <a:off x="152400" y="1238250"/>
          <a:ext cx="11887207" cy="1866897"/>
        </p:xfrm>
        <a:graphic>
          <a:graphicData uri="http://schemas.openxmlformats.org/drawingml/2006/table">
            <a:tbl>
              <a:tblPr>
                <a:tableStyleId>{5C22544A-7EE6-4342-B048-85BDC9FD1C3A}</a:tableStyleId>
              </a:tblPr>
              <a:tblGrid>
                <a:gridCol w="2338807"/>
                <a:gridCol w="596775"/>
                <a:gridCol w="596775"/>
                <a:gridCol w="596775"/>
                <a:gridCol w="596775"/>
                <a:gridCol w="596775"/>
                <a:gridCol w="596775"/>
                <a:gridCol w="596775"/>
                <a:gridCol w="596775"/>
                <a:gridCol w="596775"/>
                <a:gridCol w="596775"/>
                <a:gridCol w="596775"/>
                <a:gridCol w="596775"/>
                <a:gridCol w="596775"/>
                <a:gridCol w="596775"/>
                <a:gridCol w="596775"/>
                <a:gridCol w="596775"/>
              </a:tblGrid>
              <a:tr h="631697">
                <a:tc rowSpan="2">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53340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'Flat Dividers &amp; Layer Pads × Food &amp; Beverage' ranks highest (5/5); 'Slotted Partitions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078717" y="2344368"/>
            <a:ext cx="366712" cy="533400"/>
          </a:xfrm>
          <a:prstGeom prst="rect">
            <a:avLst/>
          </a:prstGeom>
        </p:spPr>
      </p:pic>
      <p:sp>
        <p:nvSpPr>
          <p:cNvPr id="33" name="TextBox 32"/>
          <p:cNvSpPr txBox="1"/>
          <p:nvPr/>
        </p:nvSpPr>
        <p:spPr>
          <a:xfrm>
            <a:off x="276225" y="3867150"/>
            <a:ext cx="3433067" cy="194310"/>
          </a:xfrm>
          <a:prstGeom prst="rect">
            <a:avLst/>
          </a:prstGeom>
          <a:noFill/>
        </p:spPr>
        <p:txBody>
          <a:bodyPr wrap="none" lIns="0" rIns="0" tIns="0" bIns="0">
            <a:spAutoFit/>
          </a:bodyPr>
          <a:lstStyle/>
          <a:p>
            <a:r>
              <a:rPr sz="1150" b="0">
                <a:solidFill>
                  <a:srgbClr val="2E2E2E"/>
                </a:solidFill>
                <a:latin typeface="Calibri"/>
              </a:rPr>
              <a:t>▪ 1. Flat Dividers &amp; Layer Pads × Electronics &amp; Electrical –</a:t>
            </a:r>
          </a:p>
        </p:txBody>
      </p:sp>
      <p:pic>
        <p:nvPicPr>
          <p:cNvPr id="34" name="Picture 33" descr="lock.png"/>
          <p:cNvPicPr>
            <a:picLocks noChangeAspect="1"/>
          </p:cNvPicPr>
          <p:nvPr/>
        </p:nvPicPr>
        <p:blipFill>
          <a:blip r:embed="rId4"/>
          <a:stretch>
            <a:fillRect/>
          </a:stretch>
        </p:blipFill>
        <p:spPr>
          <a:xfrm>
            <a:off x="3658446" y="3856926"/>
            <a:ext cx="134549" cy="195707"/>
          </a:xfrm>
          <a:prstGeom prst="rect">
            <a:avLst/>
          </a:prstGeom>
        </p:spPr>
      </p:pic>
      <p:sp>
        <p:nvSpPr>
          <p:cNvPr id="35" name="TextBox 34"/>
          <p:cNvSpPr txBox="1"/>
          <p:nvPr/>
        </p:nvSpPr>
        <p:spPr>
          <a:xfrm>
            <a:off x="3833556" y="38671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95707" y="3856926"/>
            <a:ext cx="134549" cy="195707"/>
          </a:xfrm>
          <a:prstGeom prst="rect">
            <a:avLst/>
          </a:prstGeom>
        </p:spPr>
      </p:pic>
      <p:sp>
        <p:nvSpPr>
          <p:cNvPr id="37" name="TextBox 36"/>
          <p:cNvSpPr txBox="1"/>
          <p:nvPr/>
        </p:nvSpPr>
        <p:spPr>
          <a:xfrm>
            <a:off x="4070817" y="38671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094987"/>
            <a:ext cx="3099289" cy="194310"/>
          </a:xfrm>
          <a:prstGeom prst="rect">
            <a:avLst/>
          </a:prstGeom>
          <a:noFill/>
        </p:spPr>
        <p:txBody>
          <a:bodyPr wrap="none" lIns="0" rIns="0" tIns="0" bIns="0">
            <a:spAutoFit/>
          </a:bodyPr>
          <a:lstStyle/>
          <a:p>
            <a:r>
              <a:rPr sz="1150" b="0">
                <a:solidFill>
                  <a:srgbClr val="2E2E2E"/>
                </a:solidFill>
                <a:latin typeface="Calibri"/>
              </a:rPr>
              <a:t>▪ 2. Flat Dividers &amp; Layer Pads × Food &amp; Beverage –</a:t>
            </a:r>
          </a:p>
        </p:txBody>
      </p:sp>
      <p:pic>
        <p:nvPicPr>
          <p:cNvPr id="39" name="Picture 38" descr="lock.png"/>
          <p:cNvPicPr>
            <a:picLocks noChangeAspect="1"/>
          </p:cNvPicPr>
          <p:nvPr/>
        </p:nvPicPr>
        <p:blipFill>
          <a:blip r:embed="rId4"/>
          <a:stretch>
            <a:fillRect/>
          </a:stretch>
        </p:blipFill>
        <p:spPr>
          <a:xfrm>
            <a:off x="3324668" y="4084764"/>
            <a:ext cx="134549" cy="195707"/>
          </a:xfrm>
          <a:prstGeom prst="rect">
            <a:avLst/>
          </a:prstGeom>
        </p:spPr>
      </p:pic>
      <p:sp>
        <p:nvSpPr>
          <p:cNvPr id="40" name="TextBox 39"/>
          <p:cNvSpPr txBox="1"/>
          <p:nvPr/>
        </p:nvSpPr>
        <p:spPr>
          <a:xfrm>
            <a:off x="3499777" y="409498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561929" y="4084764"/>
            <a:ext cx="134549" cy="195707"/>
          </a:xfrm>
          <a:prstGeom prst="rect">
            <a:avLst/>
          </a:prstGeom>
        </p:spPr>
      </p:pic>
      <p:sp>
        <p:nvSpPr>
          <p:cNvPr id="42" name="TextBox 41"/>
          <p:cNvSpPr txBox="1"/>
          <p:nvPr/>
        </p:nvSpPr>
        <p:spPr>
          <a:xfrm>
            <a:off x="3737038" y="409498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22825"/>
            <a:ext cx="4236913" cy="194310"/>
          </a:xfrm>
          <a:prstGeom prst="rect">
            <a:avLst/>
          </a:prstGeom>
          <a:noFill/>
        </p:spPr>
        <p:txBody>
          <a:bodyPr wrap="none" lIns="0" rIns="0" tIns="0" bIns="0">
            <a:spAutoFit/>
          </a:bodyPr>
          <a:lstStyle/>
          <a:p>
            <a:r>
              <a:rPr sz="1150" b="0">
                <a:solidFill>
                  <a:srgbClr val="2E2E2E"/>
                </a:solidFill>
                <a:latin typeface="Calibri"/>
              </a:rPr>
              <a:t>▪ 3. Flat Dividers &amp; Layer Pads × Glassware, Ceramics &amp; Home Goods –</a:t>
            </a:r>
          </a:p>
        </p:txBody>
      </p:sp>
      <p:pic>
        <p:nvPicPr>
          <p:cNvPr id="44" name="Picture 43" descr="lock.png"/>
          <p:cNvPicPr>
            <a:picLocks noChangeAspect="1"/>
          </p:cNvPicPr>
          <p:nvPr/>
        </p:nvPicPr>
        <p:blipFill>
          <a:blip r:embed="rId4"/>
          <a:stretch>
            <a:fillRect/>
          </a:stretch>
        </p:blipFill>
        <p:spPr>
          <a:xfrm>
            <a:off x="4462292" y="4312602"/>
            <a:ext cx="134549" cy="195707"/>
          </a:xfrm>
          <a:prstGeom prst="rect">
            <a:avLst/>
          </a:prstGeom>
        </p:spPr>
      </p:pic>
      <p:sp>
        <p:nvSpPr>
          <p:cNvPr id="45" name="TextBox 44"/>
          <p:cNvSpPr txBox="1"/>
          <p:nvPr/>
        </p:nvSpPr>
        <p:spPr>
          <a:xfrm>
            <a:off x="4637401" y="43228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699553" y="4312602"/>
            <a:ext cx="134549" cy="195707"/>
          </a:xfrm>
          <a:prstGeom prst="rect">
            <a:avLst/>
          </a:prstGeom>
        </p:spPr>
      </p:pic>
      <p:sp>
        <p:nvSpPr>
          <p:cNvPr id="47" name="TextBox 46"/>
          <p:cNvSpPr txBox="1"/>
          <p:nvPr/>
        </p:nvSpPr>
        <p:spPr>
          <a:xfrm>
            <a:off x="4874662" y="4322825"/>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8" name="TextBox 47"/>
          <p:cNvSpPr txBox="1"/>
          <p:nvPr/>
        </p:nvSpPr>
        <p:spPr>
          <a:xfrm>
            <a:off x="276225" y="4550663"/>
            <a:ext cx="4302521" cy="194310"/>
          </a:xfrm>
          <a:prstGeom prst="rect">
            <a:avLst/>
          </a:prstGeom>
          <a:noFill/>
        </p:spPr>
        <p:txBody>
          <a:bodyPr wrap="none" lIns="0" rIns="0" tIns="0" bIns="0">
            <a:spAutoFit/>
          </a:bodyPr>
          <a:lstStyle/>
          <a:p>
            <a:r>
              <a:rPr sz="1150" b="0">
                <a:solidFill>
                  <a:srgbClr val="2E2E2E"/>
                </a:solidFill>
                <a:latin typeface="Calibri"/>
              </a:rPr>
              <a:t>▪ 4. Flat Dividers &amp; Layer Pads × Automotive &amp; Industrial Components –</a:t>
            </a:r>
          </a:p>
        </p:txBody>
      </p:sp>
      <p:pic>
        <p:nvPicPr>
          <p:cNvPr id="49" name="Picture 48" descr="lock.png"/>
          <p:cNvPicPr>
            <a:picLocks noChangeAspect="1"/>
          </p:cNvPicPr>
          <p:nvPr/>
        </p:nvPicPr>
        <p:blipFill>
          <a:blip r:embed="rId4"/>
          <a:stretch>
            <a:fillRect/>
          </a:stretch>
        </p:blipFill>
        <p:spPr>
          <a:xfrm>
            <a:off x="4527900" y="4540440"/>
            <a:ext cx="134549" cy="195707"/>
          </a:xfrm>
          <a:prstGeom prst="rect">
            <a:avLst/>
          </a:prstGeom>
        </p:spPr>
      </p:pic>
      <p:sp>
        <p:nvSpPr>
          <p:cNvPr id="50" name="TextBox 49"/>
          <p:cNvSpPr txBox="1"/>
          <p:nvPr/>
        </p:nvSpPr>
        <p:spPr>
          <a:xfrm>
            <a:off x="4703010" y="45506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765161" y="4540440"/>
            <a:ext cx="134549" cy="195707"/>
          </a:xfrm>
          <a:prstGeom prst="rect">
            <a:avLst/>
          </a:prstGeom>
        </p:spPr>
      </p:pic>
      <p:sp>
        <p:nvSpPr>
          <p:cNvPr id="52" name="TextBox 51"/>
          <p:cNvSpPr txBox="1"/>
          <p:nvPr/>
        </p:nvSpPr>
        <p:spPr>
          <a:xfrm>
            <a:off x="4940271" y="455066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778501"/>
            <a:ext cx="3520609" cy="194310"/>
          </a:xfrm>
          <a:prstGeom prst="rect">
            <a:avLst/>
          </a:prstGeom>
          <a:noFill/>
        </p:spPr>
        <p:txBody>
          <a:bodyPr wrap="none" lIns="0" rIns="0" tIns="0" bIns="0">
            <a:spAutoFit/>
          </a:bodyPr>
          <a:lstStyle/>
          <a:p>
            <a:r>
              <a:rPr sz="1150" b="0">
                <a:solidFill>
                  <a:srgbClr val="2E2E2E"/>
                </a:solidFill>
                <a:latin typeface="Calibri"/>
              </a:rPr>
              <a:t>▪ 5. Die-Cut &amp; Folded Partitions × Electronics &amp; Electrical –</a:t>
            </a:r>
          </a:p>
        </p:txBody>
      </p:sp>
      <p:pic>
        <p:nvPicPr>
          <p:cNvPr id="54" name="Picture 53" descr="lock.png"/>
          <p:cNvPicPr>
            <a:picLocks noChangeAspect="1"/>
          </p:cNvPicPr>
          <p:nvPr/>
        </p:nvPicPr>
        <p:blipFill>
          <a:blip r:embed="rId4"/>
          <a:stretch>
            <a:fillRect/>
          </a:stretch>
        </p:blipFill>
        <p:spPr>
          <a:xfrm>
            <a:off x="3745988" y="4768278"/>
            <a:ext cx="134549" cy="195707"/>
          </a:xfrm>
          <a:prstGeom prst="rect">
            <a:avLst/>
          </a:prstGeom>
        </p:spPr>
      </p:pic>
      <p:sp>
        <p:nvSpPr>
          <p:cNvPr id="55" name="TextBox 54"/>
          <p:cNvSpPr txBox="1"/>
          <p:nvPr/>
        </p:nvSpPr>
        <p:spPr>
          <a:xfrm>
            <a:off x="3921097" y="47785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983249" y="4768278"/>
            <a:ext cx="134549" cy="195707"/>
          </a:xfrm>
          <a:prstGeom prst="rect">
            <a:avLst/>
          </a:prstGeom>
        </p:spPr>
      </p:pic>
      <p:sp>
        <p:nvSpPr>
          <p:cNvPr id="57" name="TextBox 56"/>
          <p:cNvSpPr txBox="1"/>
          <p:nvPr/>
        </p:nvSpPr>
        <p:spPr>
          <a:xfrm>
            <a:off x="4158358" y="477850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867150"/>
            <a:ext cx="1657350" cy="194310"/>
          </a:xfrm>
          <a:prstGeom prst="rect">
            <a:avLst/>
          </a:prstGeom>
          <a:noFill/>
        </p:spPr>
        <p:txBody>
          <a:bodyPr wrap="none" lIns="0" rIns="0" tIns="0" bIns="0">
            <a:spAutoFit/>
          </a:bodyPr>
          <a:lstStyle/>
          <a:p>
            <a:r>
              <a:rPr sz="1150" b="0">
                <a:solidFill>
                  <a:srgbClr val="2E2E2E"/>
                </a:solidFill>
                <a:latin typeface="Calibri"/>
              </a:rPr>
              <a:t>▪ 'Flat Dividers &amp; Layer Pads</a:t>
            </a:r>
          </a:p>
        </p:txBody>
      </p:sp>
      <p:sp>
        <p:nvSpPr>
          <p:cNvPr id="59" name="TextBox 58"/>
          <p:cNvSpPr txBox="1"/>
          <p:nvPr/>
        </p:nvSpPr>
        <p:spPr>
          <a:xfrm>
            <a:off x="6029325" y="4042410"/>
            <a:ext cx="1564940" cy="194310"/>
          </a:xfrm>
          <a:prstGeom prst="rect">
            <a:avLst/>
          </a:prstGeom>
          <a:noFill/>
        </p:spPr>
        <p:txBody>
          <a:bodyPr wrap="none" lIns="0" rIns="0" tIns="0" bIns="0">
            <a:spAutoFit/>
          </a:bodyPr>
          <a:lstStyle/>
          <a:p>
            <a:r>
              <a:rPr sz="1150" b="0">
                <a:solidFill>
                  <a:srgbClr val="2E2E2E"/>
                </a:solidFill>
                <a:latin typeface="Calibri"/>
              </a:rPr>
              <a:t>× Electronics &amp; Electrical'</a:t>
            </a:r>
          </a:p>
        </p:txBody>
      </p:sp>
      <p:sp>
        <p:nvSpPr>
          <p:cNvPr id="60" name="TextBox 59"/>
          <p:cNvSpPr txBox="1"/>
          <p:nvPr/>
        </p:nvSpPr>
        <p:spPr>
          <a:xfrm>
            <a:off x="6029325" y="421767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07446"/>
            <a:ext cx="134549" cy="195707"/>
          </a:xfrm>
          <a:prstGeom prst="rect">
            <a:avLst/>
          </a:prstGeom>
        </p:spPr>
      </p:pic>
      <p:sp>
        <p:nvSpPr>
          <p:cNvPr id="62" name="TextBox 61"/>
          <p:cNvSpPr txBox="1"/>
          <p:nvPr/>
        </p:nvSpPr>
        <p:spPr>
          <a:xfrm>
            <a:off x="6510192" y="421767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439292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382706"/>
            <a:ext cx="134549" cy="195707"/>
          </a:xfrm>
          <a:prstGeom prst="rect">
            <a:avLst/>
          </a:prstGeom>
        </p:spPr>
      </p:pic>
      <p:sp>
        <p:nvSpPr>
          <p:cNvPr id="65" name="TextBox 64"/>
          <p:cNvSpPr txBox="1"/>
          <p:nvPr/>
        </p:nvSpPr>
        <p:spPr>
          <a:xfrm>
            <a:off x="6302527" y="439292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456818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3867150"/>
            <a:ext cx="1657350" cy="194310"/>
          </a:xfrm>
          <a:prstGeom prst="rect">
            <a:avLst/>
          </a:prstGeom>
          <a:noFill/>
        </p:spPr>
        <p:txBody>
          <a:bodyPr wrap="none" lIns="0" rIns="0" tIns="0" bIns="0">
            <a:spAutoFit/>
          </a:bodyPr>
          <a:lstStyle/>
          <a:p>
            <a:r>
              <a:rPr sz="1150" b="0">
                <a:solidFill>
                  <a:srgbClr val="2E2E2E"/>
                </a:solidFill>
                <a:latin typeface="Calibri"/>
              </a:rPr>
              <a:t>▪ 'Flat Dividers &amp; Layer Pads</a:t>
            </a:r>
          </a:p>
        </p:txBody>
      </p:sp>
      <p:sp>
        <p:nvSpPr>
          <p:cNvPr id="68" name="TextBox 67"/>
          <p:cNvSpPr txBox="1"/>
          <p:nvPr/>
        </p:nvSpPr>
        <p:spPr>
          <a:xfrm>
            <a:off x="8124825" y="4042410"/>
            <a:ext cx="1564940" cy="194310"/>
          </a:xfrm>
          <a:prstGeom prst="rect">
            <a:avLst/>
          </a:prstGeom>
          <a:noFill/>
        </p:spPr>
        <p:txBody>
          <a:bodyPr wrap="none" lIns="0" rIns="0" tIns="0" bIns="0">
            <a:spAutoFit/>
          </a:bodyPr>
          <a:lstStyle/>
          <a:p>
            <a:r>
              <a:rPr sz="1150" b="0">
                <a:solidFill>
                  <a:srgbClr val="2E2E2E"/>
                </a:solidFill>
                <a:latin typeface="Calibri"/>
              </a:rPr>
              <a:t>× Electronics &amp; Electrical'</a:t>
            </a:r>
          </a:p>
        </p:txBody>
      </p:sp>
      <p:sp>
        <p:nvSpPr>
          <p:cNvPr id="69" name="TextBox 68"/>
          <p:cNvSpPr txBox="1"/>
          <p:nvPr/>
        </p:nvSpPr>
        <p:spPr>
          <a:xfrm>
            <a:off x="8124825" y="421767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07446"/>
            <a:ext cx="134549" cy="195707"/>
          </a:xfrm>
          <a:prstGeom prst="rect">
            <a:avLst/>
          </a:prstGeom>
        </p:spPr>
      </p:pic>
      <p:sp>
        <p:nvSpPr>
          <p:cNvPr id="71" name="TextBox 70"/>
          <p:cNvSpPr txBox="1"/>
          <p:nvPr/>
        </p:nvSpPr>
        <p:spPr>
          <a:xfrm>
            <a:off x="8938584" y="42176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07446"/>
            <a:ext cx="134549" cy="195707"/>
          </a:xfrm>
          <a:prstGeom prst="rect">
            <a:avLst/>
          </a:prstGeom>
        </p:spPr>
      </p:pic>
      <p:sp>
        <p:nvSpPr>
          <p:cNvPr id="73" name="TextBox 72"/>
          <p:cNvSpPr txBox="1"/>
          <p:nvPr/>
        </p:nvSpPr>
        <p:spPr>
          <a:xfrm>
            <a:off x="8124825" y="439292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56818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Board Construction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Board Construction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board construction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Board Construction × End Use, 2026E and 2036F (US$ Mn)</a:t>
            </a:r>
          </a:p>
        </p:txBody>
      </p:sp>
      <p:graphicFrame>
        <p:nvGraphicFramePr>
          <p:cNvPr id="13" name="Table 12"/>
          <p:cNvGraphicFramePr>
            <a:graphicFrameLocks noGrp="1"/>
          </p:cNvGraphicFramePr>
          <p:nvPr/>
        </p:nvGraphicFramePr>
        <p:xfrm>
          <a:off x="152400" y="1238250"/>
          <a:ext cx="11887196" cy="1866897"/>
        </p:xfrm>
        <a:graphic>
          <a:graphicData uri="http://schemas.openxmlformats.org/drawingml/2006/table">
            <a:tbl>
              <a:tblPr>
                <a:tableStyleId>{5C22544A-7EE6-4342-B048-85BDC9FD1C3A}</a:tableStyleId>
              </a:tblPr>
              <a:tblGrid>
                <a:gridCol w="1194636"/>
                <a:gridCol w="668285"/>
                <a:gridCol w="668285"/>
                <a:gridCol w="668285"/>
                <a:gridCol w="668285"/>
                <a:gridCol w="668285"/>
                <a:gridCol w="668285"/>
                <a:gridCol w="668285"/>
                <a:gridCol w="668285"/>
                <a:gridCol w="668285"/>
                <a:gridCol w="668285"/>
                <a:gridCol w="668285"/>
                <a:gridCol w="668285"/>
                <a:gridCol w="668285"/>
                <a:gridCol w="668285"/>
                <a:gridCol w="668285"/>
                <a:gridCol w="668285"/>
              </a:tblGrid>
              <a:tr h="631697">
                <a:tc rowSpan="2">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06626" y="2344368"/>
            <a:ext cx="366712" cy="533400"/>
          </a:xfrm>
          <a:prstGeom prst="rect">
            <a:avLst/>
          </a:prstGeom>
        </p:spPr>
      </p:pic>
      <p:sp>
        <p:nvSpPr>
          <p:cNvPr id="21" name="TextBox 20"/>
          <p:cNvSpPr txBox="1"/>
          <p:nvPr/>
        </p:nvSpPr>
        <p:spPr>
          <a:xfrm>
            <a:off x="276225" y="3867150"/>
            <a:ext cx="9263372" cy="194310"/>
          </a:xfrm>
          <a:prstGeom prst="rect">
            <a:avLst/>
          </a:prstGeom>
          <a:noFill/>
        </p:spPr>
        <p:txBody>
          <a:bodyPr wrap="none" lIns="0" rIns="0" tIns="0" bIns="0">
            <a:spAutoFit/>
          </a:bodyPr>
          <a:lstStyle/>
          <a:p>
            <a:r>
              <a:rPr sz="1150" b="0">
                <a:solidFill>
                  <a:srgbClr val="2E2E2E"/>
                </a:solidFill>
                <a:latin typeface="Calibri"/>
              </a:rPr>
              <a:t>Double wall segment is projected to account for the largest share of the U.S.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9488751" y="3856926"/>
            <a:ext cx="134549" cy="195707"/>
          </a:xfrm>
          <a:prstGeom prst="rect">
            <a:avLst/>
          </a:prstGeom>
        </p:spPr>
      </p:pic>
      <p:sp>
        <p:nvSpPr>
          <p:cNvPr id="23" name="TextBox 22"/>
          <p:cNvSpPr txBox="1"/>
          <p:nvPr/>
        </p:nvSpPr>
        <p:spPr>
          <a:xfrm>
            <a:off x="9663860" y="3867150"/>
            <a:ext cx="1598600" cy="194310"/>
          </a:xfrm>
          <a:prstGeom prst="rect">
            <a:avLst/>
          </a:prstGeom>
          <a:noFill/>
        </p:spPr>
        <p:txBody>
          <a:bodyPr wrap="none" lIns="0" rIns="0" tIns="0" bIns="0">
            <a:spAutoFit/>
          </a:bodyPr>
          <a:lstStyle/>
          <a:p>
            <a:r>
              <a:rPr sz="1150" b="0">
                <a:solidFill>
                  <a:srgbClr val="2E2E2E"/>
                </a:solidFill>
                <a:latin typeface="Calibri"/>
              </a:rPr>
              <a:t>Mn in 2036. 'Triple Wall ×</a:t>
            </a:r>
          </a:p>
        </p:txBody>
      </p:sp>
      <p:sp>
        <p:nvSpPr>
          <p:cNvPr id="24" name="TextBox 23"/>
          <p:cNvSpPr txBox="1"/>
          <p:nvPr/>
        </p:nvSpPr>
        <p:spPr>
          <a:xfrm>
            <a:off x="276225" y="4042410"/>
            <a:ext cx="4655380" cy="194310"/>
          </a:xfrm>
          <a:prstGeom prst="rect">
            <a:avLst/>
          </a:prstGeom>
          <a:noFill/>
        </p:spPr>
        <p:txBody>
          <a:bodyPr wrap="none" lIns="0" rIns="0" tIns="0" bIns="0">
            <a:spAutoFit/>
          </a:bodyPr>
          <a:lstStyle/>
          <a:p>
            <a:r>
              <a:rPr sz="1150" b="0">
                <a:solidFill>
                  <a:srgbClr val="2E2E2E"/>
                </a:solidFill>
                <a:latin typeface="Calibri"/>
              </a:rPr>
              <a:t>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4880759" y="4032186"/>
            <a:ext cx="134549" cy="195707"/>
          </a:xfrm>
          <a:prstGeom prst="rect">
            <a:avLst/>
          </a:prstGeom>
        </p:spPr>
      </p:pic>
      <p:sp>
        <p:nvSpPr>
          <p:cNvPr id="26" name="TextBox 25"/>
          <p:cNvSpPr txBox="1"/>
          <p:nvPr/>
        </p:nvSpPr>
        <p:spPr>
          <a:xfrm>
            <a:off x="5055869" y="4042410"/>
            <a:ext cx="6026578" cy="194310"/>
          </a:xfrm>
          <a:prstGeom prst="rect">
            <a:avLst/>
          </a:prstGeom>
          <a:noFill/>
        </p:spPr>
        <p:txBody>
          <a:bodyPr wrap="none" lIns="0" rIns="0" tIns="0" bIns="0">
            <a:spAutoFit/>
          </a:bodyPr>
          <a:lstStyle/>
          <a:p>
            <a:r>
              <a:rPr sz="1150" b="0">
                <a:solidFill>
                  <a:srgbClr val="2E2E2E"/>
                </a:solidFill>
                <a:latin typeface="Calibri"/>
              </a:rPr>
              <a:t>US$ Mn, 2026E), while 'Triple Wall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031601" y="4032186"/>
            <a:ext cx="134549" cy="195707"/>
          </a:xfrm>
          <a:prstGeom prst="rect">
            <a:avLst/>
          </a:prstGeom>
        </p:spPr>
      </p:pic>
      <p:sp>
        <p:nvSpPr>
          <p:cNvPr id="28" name="TextBox 27"/>
          <p:cNvSpPr txBox="1"/>
          <p:nvPr/>
        </p:nvSpPr>
        <p:spPr>
          <a:xfrm>
            <a:off x="11206711" y="4042410"/>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29" name="TextBox 28"/>
          <p:cNvSpPr txBox="1"/>
          <p:nvPr/>
        </p:nvSpPr>
        <p:spPr>
          <a:xfrm>
            <a:off x="276225" y="4217670"/>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30" name="TextBox 29"/>
          <p:cNvSpPr txBox="1"/>
          <p:nvPr/>
        </p:nvSpPr>
        <p:spPr>
          <a:xfrm>
            <a:off x="276225" y="4445507"/>
            <a:ext cx="5903652" cy="194310"/>
          </a:xfrm>
          <a:prstGeom prst="rect">
            <a:avLst/>
          </a:prstGeom>
          <a:noFill/>
        </p:spPr>
        <p:txBody>
          <a:bodyPr wrap="none" lIns="0" rIns="0" tIns="0" bIns="0">
            <a:spAutoFit/>
          </a:bodyPr>
          <a:lstStyle/>
          <a:p>
            <a:r>
              <a:rPr sz="1150" b="0">
                <a:solidFill>
                  <a:srgbClr val="2E2E2E"/>
                </a:solidFill>
                <a:latin typeface="Calibri"/>
              </a:rPr>
              <a:t>Combined, the top three board construction × end use cells generate an absolute $ opportunity of</a:t>
            </a:r>
          </a:p>
        </p:txBody>
      </p:sp>
      <p:pic>
        <p:nvPicPr>
          <p:cNvPr id="31" name="Picture 30" descr="lock.png"/>
          <p:cNvPicPr>
            <a:picLocks noChangeAspect="1"/>
          </p:cNvPicPr>
          <p:nvPr/>
        </p:nvPicPr>
        <p:blipFill>
          <a:blip r:embed="rId4"/>
          <a:stretch>
            <a:fillRect/>
          </a:stretch>
        </p:blipFill>
        <p:spPr>
          <a:xfrm>
            <a:off x="6129030" y="4435284"/>
            <a:ext cx="134549" cy="195707"/>
          </a:xfrm>
          <a:prstGeom prst="rect">
            <a:avLst/>
          </a:prstGeom>
        </p:spPr>
      </p:pic>
      <p:sp>
        <p:nvSpPr>
          <p:cNvPr id="32" name="TextBox 31"/>
          <p:cNvSpPr txBox="1"/>
          <p:nvPr/>
        </p:nvSpPr>
        <p:spPr>
          <a:xfrm>
            <a:off x="6304140" y="444550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Board Construction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Board Construction × End Use, 2026E (% of each row)</a:t>
            </a:r>
          </a:p>
        </p:txBody>
      </p:sp>
      <p:graphicFrame>
        <p:nvGraphicFramePr>
          <p:cNvPr id="13" name="Table 12"/>
          <p:cNvGraphicFramePr>
            <a:graphicFrameLocks noGrp="1"/>
          </p:cNvGraphicFramePr>
          <p:nvPr/>
        </p:nvGraphicFramePr>
        <p:xfrm>
          <a:off x="152400" y="1238250"/>
          <a:ext cx="11887199" cy="1428752"/>
        </p:xfrm>
        <a:graphic>
          <a:graphicData uri="http://schemas.openxmlformats.org/drawingml/2006/table">
            <a:tbl>
              <a:tblPr>
                <a:tableStyleId>{5C22544A-7EE6-4342-B048-85BDC9FD1C3A}</a:tableStyleId>
              </a:tblPr>
              <a:tblGrid>
                <a:gridCol w="1189472"/>
                <a:gridCol w="1038980"/>
                <a:gridCol w="1746668"/>
                <a:gridCol w="1503046"/>
                <a:gridCol w="1320921"/>
                <a:gridCol w="2056497"/>
                <a:gridCol w="1973435"/>
                <a:gridCol w="514374"/>
                <a:gridCol w="543806"/>
              </a:tblGrid>
              <a:tr h="438912">
                <a:tc>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7286625"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0670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Board Construction, 2026E (% share)</a:t>
            </a:r>
          </a:p>
        </p:txBody>
      </p:sp>
      <p:graphicFrame>
        <p:nvGraphicFramePr>
          <p:cNvPr id="17" name="Chart 16"/>
          <p:cNvGraphicFramePr>
            <a:graphicFrameLocks noGrp="1"/>
          </p:cNvGraphicFramePr>
          <p:nvPr/>
        </p:nvGraphicFramePr>
        <p:xfrm>
          <a:off x="238125" y="3295650"/>
          <a:ext cx="7096125" cy="32766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009900"/>
            <a:ext cx="4457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0956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3337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419475"/>
            <a:ext cx="41910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504045" y="1905381"/>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990419"/>
            <a:ext cx="440818" cy="641190"/>
          </a:xfrm>
          <a:prstGeom prst="rect">
            <a:avLst/>
          </a:prstGeom>
        </p:spPr>
      </p:pic>
      <p:sp>
        <p:nvSpPr>
          <p:cNvPr id="25" name="TextBox 24"/>
          <p:cNvSpPr txBox="1"/>
          <p:nvPr/>
        </p:nvSpPr>
        <p:spPr>
          <a:xfrm>
            <a:off x="7715250" y="3429000"/>
            <a:ext cx="3948807" cy="194310"/>
          </a:xfrm>
          <a:prstGeom prst="rect">
            <a:avLst/>
          </a:prstGeom>
          <a:noFill/>
        </p:spPr>
        <p:txBody>
          <a:bodyPr wrap="none" lIns="0" rIns="0" tIns="0" bIns="0">
            <a:spAutoFit/>
          </a:bodyPr>
          <a:lstStyle/>
          <a:p>
            <a:r>
              <a:rPr sz="1150" b="0">
                <a:solidFill>
                  <a:srgbClr val="2E2E2E"/>
                </a:solidFill>
                <a:latin typeface="Calibri"/>
              </a:rPr>
              <a:t>▪ 'Glassware, Ceramics &amp; Home Goods' holds the highest share of</a:t>
            </a:r>
          </a:p>
        </p:txBody>
      </p:sp>
      <p:sp>
        <p:nvSpPr>
          <p:cNvPr id="26" name="TextBox 25"/>
          <p:cNvSpPr txBox="1"/>
          <p:nvPr/>
        </p:nvSpPr>
        <p:spPr>
          <a:xfrm>
            <a:off x="7715250" y="3604260"/>
            <a:ext cx="932246" cy="194310"/>
          </a:xfrm>
          <a:prstGeom prst="rect">
            <a:avLst/>
          </a:prstGeom>
          <a:noFill/>
        </p:spPr>
        <p:txBody>
          <a:bodyPr wrap="none" lIns="0" rIns="0" tIns="0" bIns="0">
            <a:spAutoFit/>
          </a:bodyPr>
          <a:lstStyle/>
          <a:p>
            <a:r>
              <a:rPr sz="1150" b="0">
                <a:solidFill>
                  <a:srgbClr val="2E2E2E"/>
                </a:solidFill>
                <a:latin typeface="Calibri"/>
              </a:rPr>
              <a:t>'Triple Wall' at</a:t>
            </a:r>
          </a:p>
        </p:txBody>
      </p:sp>
      <p:pic>
        <p:nvPicPr>
          <p:cNvPr id="27" name="Picture 26" descr="lock.png"/>
          <p:cNvPicPr>
            <a:picLocks noChangeAspect="1"/>
          </p:cNvPicPr>
          <p:nvPr/>
        </p:nvPicPr>
        <p:blipFill>
          <a:blip r:embed="rId5"/>
          <a:stretch>
            <a:fillRect/>
          </a:stretch>
        </p:blipFill>
        <p:spPr>
          <a:xfrm>
            <a:off x="8596650" y="3594036"/>
            <a:ext cx="134549" cy="195707"/>
          </a:xfrm>
          <a:prstGeom prst="rect">
            <a:avLst/>
          </a:prstGeom>
        </p:spPr>
      </p:pic>
      <p:sp>
        <p:nvSpPr>
          <p:cNvPr id="28" name="TextBox 27"/>
          <p:cNvSpPr txBox="1"/>
          <p:nvPr/>
        </p:nvSpPr>
        <p:spPr>
          <a:xfrm>
            <a:off x="8771760" y="36042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3832097"/>
            <a:ext cx="3547454" cy="194310"/>
          </a:xfrm>
          <a:prstGeom prst="rect">
            <a:avLst/>
          </a:prstGeom>
          <a:noFill/>
        </p:spPr>
        <p:txBody>
          <a:bodyPr wrap="none" lIns="0" rIns="0" tIns="0" bIns="0">
            <a:spAutoFit/>
          </a:bodyPr>
          <a:lstStyle/>
          <a:p>
            <a:r>
              <a:rPr sz="1150" b="0">
                <a:solidFill>
                  <a:srgbClr val="2E2E2E"/>
                </a:solidFill>
                <a:latin typeface="Calibri"/>
              </a:rPr>
              <a:t>▪ 'Triple Wall' is the most concentrated board construction</a:t>
            </a:r>
          </a:p>
        </p:txBody>
      </p:sp>
      <p:sp>
        <p:nvSpPr>
          <p:cNvPr id="30" name="TextBox 29"/>
          <p:cNvSpPr txBox="1"/>
          <p:nvPr/>
        </p:nvSpPr>
        <p:spPr>
          <a:xfrm>
            <a:off x="7715250" y="40073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3997134"/>
            <a:ext cx="134549" cy="195707"/>
          </a:xfrm>
          <a:prstGeom prst="rect">
            <a:avLst/>
          </a:prstGeom>
        </p:spPr>
      </p:pic>
      <p:sp>
        <p:nvSpPr>
          <p:cNvPr id="32" name="TextBox 31"/>
          <p:cNvSpPr txBox="1"/>
          <p:nvPr/>
        </p:nvSpPr>
        <p:spPr>
          <a:xfrm>
            <a:off x="9018219" y="4007357"/>
            <a:ext cx="2731913" cy="194310"/>
          </a:xfrm>
          <a:prstGeom prst="rect">
            <a:avLst/>
          </a:prstGeom>
          <a:noFill/>
        </p:spPr>
        <p:txBody>
          <a:bodyPr wrap="none" lIns="0" rIns="0" tIns="0" bIns="0">
            <a:spAutoFit/>
          </a:bodyPr>
          <a:lstStyle/>
          <a:p>
            <a:r>
              <a:rPr sz="1150" b="0">
                <a:solidFill>
                  <a:srgbClr val="2E2E2E"/>
                </a:solidFill>
                <a:latin typeface="Calibri"/>
              </a:rPr>
              <a:t>of its value via 'Glassware, Ceramics &amp; Home</a:t>
            </a:r>
          </a:p>
        </p:txBody>
      </p:sp>
      <p:sp>
        <p:nvSpPr>
          <p:cNvPr id="33" name="TextBox 32"/>
          <p:cNvSpPr txBox="1"/>
          <p:nvPr/>
        </p:nvSpPr>
        <p:spPr>
          <a:xfrm>
            <a:off x="7715250" y="4182617"/>
            <a:ext cx="525189" cy="194310"/>
          </a:xfrm>
          <a:prstGeom prst="rect">
            <a:avLst/>
          </a:prstGeom>
          <a:noFill/>
        </p:spPr>
        <p:txBody>
          <a:bodyPr wrap="none" lIns="0" rIns="0" tIns="0" bIns="0">
            <a:spAutoFit/>
          </a:bodyPr>
          <a:lstStyle/>
          <a:p>
            <a:r>
              <a:rPr sz="1150" b="0">
                <a:solidFill>
                  <a:srgbClr val="2E2E2E"/>
                </a:solidFill>
                <a:latin typeface="Calibri"/>
              </a:rPr>
              <a:t>Goods'.</a:t>
            </a:r>
          </a:p>
        </p:txBody>
      </p:sp>
      <p:sp>
        <p:nvSpPr>
          <p:cNvPr id="34" name="TextBox 33"/>
          <p:cNvSpPr txBox="1"/>
          <p:nvPr/>
        </p:nvSpPr>
        <p:spPr>
          <a:xfrm>
            <a:off x="7715250" y="441045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400232"/>
            <a:ext cx="134549" cy="195707"/>
          </a:xfrm>
          <a:prstGeom prst="rect">
            <a:avLst/>
          </a:prstGeom>
        </p:spPr>
      </p:pic>
      <p:sp>
        <p:nvSpPr>
          <p:cNvPr id="36" name="TextBox 35"/>
          <p:cNvSpPr txBox="1"/>
          <p:nvPr/>
        </p:nvSpPr>
        <p:spPr>
          <a:xfrm>
            <a:off x="9860574" y="4410455"/>
            <a:ext cx="1467383" cy="194310"/>
          </a:xfrm>
          <a:prstGeom prst="rect">
            <a:avLst/>
          </a:prstGeom>
          <a:noFill/>
        </p:spPr>
        <p:txBody>
          <a:bodyPr wrap="none" lIns="0" rIns="0" tIns="0" bIns="0">
            <a:spAutoFit/>
          </a:bodyPr>
          <a:lstStyle/>
          <a:p>
            <a:r>
              <a:rPr sz="1150" b="0">
                <a:solidFill>
                  <a:srgbClr val="2E2E2E"/>
                </a:solidFill>
                <a:latin typeface="Calibri"/>
              </a:rPr>
              <a:t>BPS of share of the U.S.</a:t>
            </a:r>
          </a:p>
        </p:txBody>
      </p:sp>
      <p:sp>
        <p:nvSpPr>
          <p:cNvPr id="37" name="TextBox 36"/>
          <p:cNvSpPr txBox="1"/>
          <p:nvPr/>
        </p:nvSpPr>
        <p:spPr>
          <a:xfrm>
            <a:off x="7715250" y="458571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8" name="lockshield_17"/>
          <p:cNvSpPr/>
          <p:nvPr/>
        </p:nvSpPr>
        <p:spPr>
          <a:xfrm>
            <a:off x="238125" y="3295650"/>
            <a:ext cx="7096125" cy="32766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Board Construction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Board Construction × End Use, 2026E–2036F</a:t>
            </a:r>
          </a:p>
        </p:txBody>
      </p:sp>
      <p:graphicFrame>
        <p:nvGraphicFramePr>
          <p:cNvPr id="13" name="Table 12"/>
          <p:cNvGraphicFramePr>
            <a:graphicFrameLocks noGrp="1"/>
          </p:cNvGraphicFramePr>
          <p:nvPr/>
        </p:nvGraphicFramePr>
        <p:xfrm>
          <a:off x="152400" y="1238250"/>
          <a:ext cx="11887197" cy="1866897"/>
        </p:xfrm>
        <a:graphic>
          <a:graphicData uri="http://schemas.openxmlformats.org/drawingml/2006/table">
            <a:tbl>
              <a:tblPr>
                <a:tableStyleId>{5C22544A-7EE6-4342-B048-85BDC9FD1C3A}</a:tableStyleId>
              </a:tblPr>
              <a:tblGrid>
                <a:gridCol w="986381"/>
                <a:gridCol w="681301"/>
                <a:gridCol w="681301"/>
                <a:gridCol w="681301"/>
                <a:gridCol w="681301"/>
                <a:gridCol w="681301"/>
                <a:gridCol w="681301"/>
                <a:gridCol w="681301"/>
                <a:gridCol w="681301"/>
                <a:gridCol w="681301"/>
                <a:gridCol w="681301"/>
                <a:gridCol w="681301"/>
                <a:gridCol w="681301"/>
                <a:gridCol w="681301"/>
                <a:gridCol w="681301"/>
                <a:gridCol w="681301"/>
                <a:gridCol w="681301"/>
              </a:tblGrid>
              <a:tr h="631697">
                <a:tc rowSpan="2">
                  <a:txBody>
                    <a:bodyPr wrap="none"/>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04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040">
                <a:tc>
                  <a:txBody>
                    <a:bodyPr wrap="none"/>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040">
                <a:tc>
                  <a:txBody>
                    <a:bodyPr wrap="none"/>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04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53340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3377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857625"/>
            <a:ext cx="167640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'Double Wall × Electronics &amp; Electrical' ranks highest (5/5); 'Single Wall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02499" y="2344368"/>
            <a:ext cx="366712" cy="533400"/>
          </a:xfrm>
          <a:prstGeom prst="rect">
            <a:avLst/>
          </a:prstGeom>
        </p:spPr>
      </p:pic>
      <p:sp>
        <p:nvSpPr>
          <p:cNvPr id="33" name="TextBox 32"/>
          <p:cNvSpPr txBox="1"/>
          <p:nvPr/>
        </p:nvSpPr>
        <p:spPr>
          <a:xfrm>
            <a:off x="276225" y="3867150"/>
            <a:ext cx="2627510" cy="194310"/>
          </a:xfrm>
          <a:prstGeom prst="rect">
            <a:avLst/>
          </a:prstGeom>
          <a:noFill/>
        </p:spPr>
        <p:txBody>
          <a:bodyPr wrap="none" lIns="0" rIns="0" tIns="0" bIns="0">
            <a:spAutoFit/>
          </a:bodyPr>
          <a:lstStyle/>
          <a:p>
            <a:r>
              <a:rPr sz="1150" b="0">
                <a:solidFill>
                  <a:srgbClr val="2E2E2E"/>
                </a:solidFill>
                <a:latin typeface="Calibri"/>
              </a:rPr>
              <a:t>▪ 1. Double Wall × Electronics &amp; Electrical –</a:t>
            </a:r>
          </a:p>
        </p:txBody>
      </p:sp>
      <p:pic>
        <p:nvPicPr>
          <p:cNvPr id="34" name="Picture 33" descr="lock.png"/>
          <p:cNvPicPr>
            <a:picLocks noChangeAspect="1"/>
          </p:cNvPicPr>
          <p:nvPr/>
        </p:nvPicPr>
        <p:blipFill>
          <a:blip r:embed="rId4"/>
          <a:stretch>
            <a:fillRect/>
          </a:stretch>
        </p:blipFill>
        <p:spPr>
          <a:xfrm>
            <a:off x="2852889" y="3856926"/>
            <a:ext cx="134549" cy="195707"/>
          </a:xfrm>
          <a:prstGeom prst="rect">
            <a:avLst/>
          </a:prstGeom>
        </p:spPr>
      </p:pic>
      <p:sp>
        <p:nvSpPr>
          <p:cNvPr id="35" name="TextBox 34"/>
          <p:cNvSpPr txBox="1"/>
          <p:nvPr/>
        </p:nvSpPr>
        <p:spPr>
          <a:xfrm>
            <a:off x="3027999" y="38671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090150" y="3856926"/>
            <a:ext cx="134549" cy="195707"/>
          </a:xfrm>
          <a:prstGeom prst="rect">
            <a:avLst/>
          </a:prstGeom>
        </p:spPr>
      </p:pic>
      <p:sp>
        <p:nvSpPr>
          <p:cNvPr id="37" name="TextBox 36"/>
          <p:cNvSpPr txBox="1"/>
          <p:nvPr/>
        </p:nvSpPr>
        <p:spPr>
          <a:xfrm>
            <a:off x="3265260" y="38671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094987"/>
            <a:ext cx="3343783" cy="194310"/>
          </a:xfrm>
          <a:prstGeom prst="rect">
            <a:avLst/>
          </a:prstGeom>
          <a:noFill/>
        </p:spPr>
        <p:txBody>
          <a:bodyPr wrap="none" lIns="0" rIns="0" tIns="0" bIns="0">
            <a:spAutoFit/>
          </a:bodyPr>
          <a:lstStyle/>
          <a:p>
            <a:r>
              <a:rPr sz="1150" b="0">
                <a:solidFill>
                  <a:srgbClr val="2E2E2E"/>
                </a:solidFill>
                <a:latin typeface="Calibri"/>
              </a:rPr>
              <a:t>▪ 2. Triple Wall × Glassware, Ceramics &amp; Home Goods –</a:t>
            </a:r>
          </a:p>
        </p:txBody>
      </p:sp>
      <p:pic>
        <p:nvPicPr>
          <p:cNvPr id="39" name="Picture 38" descr="lock.png"/>
          <p:cNvPicPr>
            <a:picLocks noChangeAspect="1"/>
          </p:cNvPicPr>
          <p:nvPr/>
        </p:nvPicPr>
        <p:blipFill>
          <a:blip r:embed="rId4"/>
          <a:stretch>
            <a:fillRect/>
          </a:stretch>
        </p:blipFill>
        <p:spPr>
          <a:xfrm>
            <a:off x="3569162" y="4084764"/>
            <a:ext cx="134549" cy="195707"/>
          </a:xfrm>
          <a:prstGeom prst="rect">
            <a:avLst/>
          </a:prstGeom>
        </p:spPr>
      </p:pic>
      <p:sp>
        <p:nvSpPr>
          <p:cNvPr id="40" name="TextBox 39"/>
          <p:cNvSpPr txBox="1"/>
          <p:nvPr/>
        </p:nvSpPr>
        <p:spPr>
          <a:xfrm>
            <a:off x="3744271" y="409498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06423" y="4084764"/>
            <a:ext cx="134549" cy="195707"/>
          </a:xfrm>
          <a:prstGeom prst="rect">
            <a:avLst/>
          </a:prstGeom>
        </p:spPr>
      </p:pic>
      <p:sp>
        <p:nvSpPr>
          <p:cNvPr id="42" name="TextBox 41"/>
          <p:cNvSpPr txBox="1"/>
          <p:nvPr/>
        </p:nvSpPr>
        <p:spPr>
          <a:xfrm>
            <a:off x="3981532" y="409498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3" name="TextBox 42"/>
          <p:cNvSpPr txBox="1"/>
          <p:nvPr/>
        </p:nvSpPr>
        <p:spPr>
          <a:xfrm>
            <a:off x="276225" y="4322825"/>
            <a:ext cx="2293732" cy="194310"/>
          </a:xfrm>
          <a:prstGeom prst="rect">
            <a:avLst/>
          </a:prstGeom>
          <a:noFill/>
        </p:spPr>
        <p:txBody>
          <a:bodyPr wrap="none" lIns="0" rIns="0" tIns="0" bIns="0">
            <a:spAutoFit/>
          </a:bodyPr>
          <a:lstStyle/>
          <a:p>
            <a:r>
              <a:rPr sz="1150" b="0">
                <a:solidFill>
                  <a:srgbClr val="2E2E2E"/>
                </a:solidFill>
                <a:latin typeface="Calibri"/>
              </a:rPr>
              <a:t>▪ 3. Double Wall × Food &amp; Beverage –</a:t>
            </a:r>
          </a:p>
        </p:txBody>
      </p:sp>
      <p:pic>
        <p:nvPicPr>
          <p:cNvPr id="44" name="Picture 43" descr="lock.png"/>
          <p:cNvPicPr>
            <a:picLocks noChangeAspect="1"/>
          </p:cNvPicPr>
          <p:nvPr/>
        </p:nvPicPr>
        <p:blipFill>
          <a:blip r:embed="rId4"/>
          <a:stretch>
            <a:fillRect/>
          </a:stretch>
        </p:blipFill>
        <p:spPr>
          <a:xfrm>
            <a:off x="2519111" y="4312602"/>
            <a:ext cx="134549" cy="195707"/>
          </a:xfrm>
          <a:prstGeom prst="rect">
            <a:avLst/>
          </a:prstGeom>
        </p:spPr>
      </p:pic>
      <p:sp>
        <p:nvSpPr>
          <p:cNvPr id="45" name="TextBox 44"/>
          <p:cNvSpPr txBox="1"/>
          <p:nvPr/>
        </p:nvSpPr>
        <p:spPr>
          <a:xfrm>
            <a:off x="2694220" y="432282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2756372" y="4312602"/>
            <a:ext cx="134549" cy="195707"/>
          </a:xfrm>
          <a:prstGeom prst="rect">
            <a:avLst/>
          </a:prstGeom>
        </p:spPr>
      </p:pic>
      <p:sp>
        <p:nvSpPr>
          <p:cNvPr id="47" name="TextBox 46"/>
          <p:cNvSpPr txBox="1"/>
          <p:nvPr/>
        </p:nvSpPr>
        <p:spPr>
          <a:xfrm>
            <a:off x="2931481" y="4322825"/>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8" name="TextBox 47"/>
          <p:cNvSpPr txBox="1"/>
          <p:nvPr/>
        </p:nvSpPr>
        <p:spPr>
          <a:xfrm>
            <a:off x="276225" y="4550663"/>
            <a:ext cx="2206159" cy="194310"/>
          </a:xfrm>
          <a:prstGeom prst="rect">
            <a:avLst/>
          </a:prstGeom>
          <a:noFill/>
        </p:spPr>
        <p:txBody>
          <a:bodyPr wrap="none" lIns="0" rIns="0" tIns="0" bIns="0">
            <a:spAutoFit/>
          </a:bodyPr>
          <a:lstStyle/>
          <a:p>
            <a:r>
              <a:rPr sz="1150" b="0">
                <a:solidFill>
                  <a:srgbClr val="2E2E2E"/>
                </a:solidFill>
                <a:latin typeface="Calibri"/>
              </a:rPr>
              <a:t>▪ 4. Triple Wall × Food &amp; Beverage –</a:t>
            </a:r>
          </a:p>
        </p:txBody>
      </p:sp>
      <p:pic>
        <p:nvPicPr>
          <p:cNvPr id="49" name="Picture 48" descr="lock.png"/>
          <p:cNvPicPr>
            <a:picLocks noChangeAspect="1"/>
          </p:cNvPicPr>
          <p:nvPr/>
        </p:nvPicPr>
        <p:blipFill>
          <a:blip r:embed="rId4"/>
          <a:stretch>
            <a:fillRect/>
          </a:stretch>
        </p:blipFill>
        <p:spPr>
          <a:xfrm>
            <a:off x="2431538" y="4540440"/>
            <a:ext cx="134549" cy="195707"/>
          </a:xfrm>
          <a:prstGeom prst="rect">
            <a:avLst/>
          </a:prstGeom>
        </p:spPr>
      </p:pic>
      <p:sp>
        <p:nvSpPr>
          <p:cNvPr id="50" name="TextBox 49"/>
          <p:cNvSpPr txBox="1"/>
          <p:nvPr/>
        </p:nvSpPr>
        <p:spPr>
          <a:xfrm>
            <a:off x="2606647" y="455066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668799" y="4540440"/>
            <a:ext cx="134549" cy="195707"/>
          </a:xfrm>
          <a:prstGeom prst="rect">
            <a:avLst/>
          </a:prstGeom>
        </p:spPr>
      </p:pic>
      <p:sp>
        <p:nvSpPr>
          <p:cNvPr id="52" name="TextBox 51"/>
          <p:cNvSpPr txBox="1"/>
          <p:nvPr/>
        </p:nvSpPr>
        <p:spPr>
          <a:xfrm>
            <a:off x="2843908" y="455066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778501"/>
            <a:ext cx="2539937" cy="194310"/>
          </a:xfrm>
          <a:prstGeom prst="rect">
            <a:avLst/>
          </a:prstGeom>
          <a:noFill/>
        </p:spPr>
        <p:txBody>
          <a:bodyPr wrap="none" lIns="0" rIns="0" tIns="0" bIns="0">
            <a:spAutoFit/>
          </a:bodyPr>
          <a:lstStyle/>
          <a:p>
            <a:r>
              <a:rPr sz="1150" b="0">
                <a:solidFill>
                  <a:srgbClr val="2E2E2E"/>
                </a:solidFill>
                <a:latin typeface="Calibri"/>
              </a:rPr>
              <a:t>▪ 5. Triple Wall × Electronics &amp; Electrical –</a:t>
            </a:r>
          </a:p>
        </p:txBody>
      </p:sp>
      <p:pic>
        <p:nvPicPr>
          <p:cNvPr id="54" name="Picture 53" descr="lock.png"/>
          <p:cNvPicPr>
            <a:picLocks noChangeAspect="1"/>
          </p:cNvPicPr>
          <p:nvPr/>
        </p:nvPicPr>
        <p:blipFill>
          <a:blip r:embed="rId4"/>
          <a:stretch>
            <a:fillRect/>
          </a:stretch>
        </p:blipFill>
        <p:spPr>
          <a:xfrm>
            <a:off x="2765316" y="4768278"/>
            <a:ext cx="134549" cy="195707"/>
          </a:xfrm>
          <a:prstGeom prst="rect">
            <a:avLst/>
          </a:prstGeom>
        </p:spPr>
      </p:pic>
      <p:sp>
        <p:nvSpPr>
          <p:cNvPr id="55" name="TextBox 54"/>
          <p:cNvSpPr txBox="1"/>
          <p:nvPr/>
        </p:nvSpPr>
        <p:spPr>
          <a:xfrm>
            <a:off x="2940426" y="477850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002577" y="4768278"/>
            <a:ext cx="134549" cy="195707"/>
          </a:xfrm>
          <a:prstGeom prst="rect">
            <a:avLst/>
          </a:prstGeom>
        </p:spPr>
      </p:pic>
      <p:sp>
        <p:nvSpPr>
          <p:cNvPr id="57" name="TextBox 56"/>
          <p:cNvSpPr txBox="1"/>
          <p:nvPr/>
        </p:nvSpPr>
        <p:spPr>
          <a:xfrm>
            <a:off x="3177687" y="477850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8" name="TextBox 57"/>
          <p:cNvSpPr txBox="1"/>
          <p:nvPr/>
        </p:nvSpPr>
        <p:spPr>
          <a:xfrm>
            <a:off x="6029325" y="3867150"/>
            <a:ext cx="1657350" cy="194310"/>
          </a:xfrm>
          <a:prstGeom prst="rect">
            <a:avLst/>
          </a:prstGeom>
          <a:noFill/>
        </p:spPr>
        <p:txBody>
          <a:bodyPr wrap="none" lIns="0" rIns="0" tIns="0" bIns="0">
            <a:spAutoFit/>
          </a:bodyPr>
          <a:lstStyle/>
          <a:p>
            <a:r>
              <a:rPr sz="1150" b="0">
                <a:solidFill>
                  <a:srgbClr val="2E2E2E"/>
                </a:solidFill>
                <a:latin typeface="Calibri"/>
              </a:rPr>
              <a:t>▪ 'Double Wall × Electronics</a:t>
            </a:r>
          </a:p>
        </p:txBody>
      </p:sp>
      <p:sp>
        <p:nvSpPr>
          <p:cNvPr id="59" name="TextBox 58"/>
          <p:cNvSpPr txBox="1"/>
          <p:nvPr/>
        </p:nvSpPr>
        <p:spPr>
          <a:xfrm>
            <a:off x="6029325" y="4042410"/>
            <a:ext cx="1093415" cy="194310"/>
          </a:xfrm>
          <a:prstGeom prst="rect">
            <a:avLst/>
          </a:prstGeom>
          <a:noFill/>
        </p:spPr>
        <p:txBody>
          <a:bodyPr wrap="none" lIns="0" rIns="0" tIns="0" bIns="0">
            <a:spAutoFit/>
          </a:bodyPr>
          <a:lstStyle/>
          <a:p>
            <a:r>
              <a:rPr sz="1150" b="0">
                <a:solidFill>
                  <a:srgbClr val="2E2E2E"/>
                </a:solidFill>
                <a:latin typeface="Calibri"/>
              </a:rPr>
              <a:t>&amp; Electrical' adds</a:t>
            </a:r>
          </a:p>
        </p:txBody>
      </p:sp>
      <p:pic>
        <p:nvPicPr>
          <p:cNvPr id="60" name="Picture 59" descr="lock.png"/>
          <p:cNvPicPr>
            <a:picLocks noChangeAspect="1"/>
          </p:cNvPicPr>
          <p:nvPr/>
        </p:nvPicPr>
        <p:blipFill>
          <a:blip r:embed="rId4"/>
          <a:stretch>
            <a:fillRect/>
          </a:stretch>
        </p:blipFill>
        <p:spPr>
          <a:xfrm>
            <a:off x="7071894" y="4032186"/>
            <a:ext cx="134549" cy="195707"/>
          </a:xfrm>
          <a:prstGeom prst="rect">
            <a:avLst/>
          </a:prstGeom>
        </p:spPr>
      </p:pic>
      <p:sp>
        <p:nvSpPr>
          <p:cNvPr id="61" name="TextBox 60"/>
          <p:cNvSpPr txBox="1"/>
          <p:nvPr/>
        </p:nvSpPr>
        <p:spPr>
          <a:xfrm>
            <a:off x="7247003" y="404241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2" name="TextBox 61"/>
          <p:cNvSpPr txBox="1"/>
          <p:nvPr/>
        </p:nvSpPr>
        <p:spPr>
          <a:xfrm>
            <a:off x="6029325" y="4217670"/>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207446"/>
            <a:ext cx="134549" cy="195707"/>
          </a:xfrm>
          <a:prstGeom prst="rect">
            <a:avLst/>
          </a:prstGeom>
        </p:spPr>
      </p:pic>
      <p:sp>
        <p:nvSpPr>
          <p:cNvPr id="64" name="TextBox 63"/>
          <p:cNvSpPr txBox="1"/>
          <p:nvPr/>
        </p:nvSpPr>
        <p:spPr>
          <a:xfrm>
            <a:off x="7110081" y="4217670"/>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5" name="TextBox 64"/>
          <p:cNvSpPr txBox="1"/>
          <p:nvPr/>
        </p:nvSpPr>
        <p:spPr>
          <a:xfrm>
            <a:off x="6029325" y="439292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6" name="TextBox 65"/>
          <p:cNvSpPr txBox="1"/>
          <p:nvPr/>
        </p:nvSpPr>
        <p:spPr>
          <a:xfrm>
            <a:off x="8124825" y="3867150"/>
            <a:ext cx="1617712" cy="194310"/>
          </a:xfrm>
          <a:prstGeom prst="rect">
            <a:avLst/>
          </a:prstGeom>
          <a:noFill/>
        </p:spPr>
        <p:txBody>
          <a:bodyPr wrap="none" lIns="0" rIns="0" tIns="0" bIns="0">
            <a:spAutoFit/>
          </a:bodyPr>
          <a:lstStyle/>
          <a:p>
            <a:r>
              <a:rPr sz="1150" b="0">
                <a:solidFill>
                  <a:srgbClr val="2E2E2E"/>
                </a:solidFill>
                <a:latin typeface="Calibri"/>
              </a:rPr>
              <a:t>▪ 'Triple Wall × Electronics</a:t>
            </a:r>
          </a:p>
        </p:txBody>
      </p:sp>
      <p:sp>
        <p:nvSpPr>
          <p:cNvPr id="67" name="TextBox 66"/>
          <p:cNvSpPr txBox="1"/>
          <p:nvPr/>
        </p:nvSpPr>
        <p:spPr>
          <a:xfrm>
            <a:off x="8124825" y="4042410"/>
            <a:ext cx="1426306" cy="194310"/>
          </a:xfrm>
          <a:prstGeom prst="rect">
            <a:avLst/>
          </a:prstGeom>
          <a:noFill/>
        </p:spPr>
        <p:txBody>
          <a:bodyPr wrap="none" lIns="0" rIns="0" t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032186"/>
            <a:ext cx="134549" cy="195707"/>
          </a:xfrm>
          <a:prstGeom prst="rect">
            <a:avLst/>
          </a:prstGeom>
        </p:spPr>
      </p:pic>
      <p:sp>
        <p:nvSpPr>
          <p:cNvPr id="69" name="TextBox 68"/>
          <p:cNvSpPr txBox="1"/>
          <p:nvPr/>
        </p:nvSpPr>
        <p:spPr>
          <a:xfrm>
            <a:off x="8124825" y="421767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207446"/>
            <a:ext cx="134549" cy="195707"/>
          </a:xfrm>
          <a:prstGeom prst="rect">
            <a:avLst/>
          </a:prstGeom>
        </p:spPr>
      </p:pic>
      <p:sp>
        <p:nvSpPr>
          <p:cNvPr id="71" name="TextBox 70"/>
          <p:cNvSpPr txBox="1"/>
          <p:nvPr/>
        </p:nvSpPr>
        <p:spPr>
          <a:xfrm>
            <a:off x="8695529" y="4217670"/>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39292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Cell Configuration × End Use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Cell Configuration × End Use,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cell configuration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Cell Configuration × End Use, 2026E and 2036F (US$ Mn)</a:t>
            </a:r>
          </a:p>
        </p:txBody>
      </p:sp>
      <p:graphicFrame>
        <p:nvGraphicFramePr>
          <p:cNvPr id="13" name="Table 12"/>
          <p:cNvGraphicFramePr>
            <a:graphicFrameLocks noGrp="1"/>
          </p:cNvGraphicFramePr>
          <p:nvPr/>
        </p:nvGraphicFramePr>
        <p:xfrm>
          <a:off x="152400" y="1238250"/>
          <a:ext cx="11887202" cy="2114549"/>
        </p:xfrm>
        <a:graphic>
          <a:graphicData uri="http://schemas.openxmlformats.org/drawingml/2006/table">
            <a:tbl>
              <a:tblPr>
                <a:tableStyleId>{5C22544A-7EE6-4342-B048-85BDC9FD1C3A}</a:tableStyleId>
              </a:tblPr>
              <a:tblGrid>
                <a:gridCol w="1370418"/>
                <a:gridCol w="657299"/>
                <a:gridCol w="657299"/>
                <a:gridCol w="657299"/>
                <a:gridCol w="657299"/>
                <a:gridCol w="657299"/>
                <a:gridCol w="657299"/>
                <a:gridCol w="657299"/>
                <a:gridCol w="657299"/>
                <a:gridCol w="657299"/>
                <a:gridCol w="657299"/>
                <a:gridCol w="657299"/>
                <a:gridCol w="657299"/>
                <a:gridCol w="657299"/>
                <a:gridCol w="657299"/>
                <a:gridCol w="657299"/>
                <a:gridCol w="657299"/>
              </a:tblGrid>
              <a:tr h="631697">
                <a:tc rowSpan="2">
                  <a:txBody>
                    <a:bodyPr wrap="none"/>
                    <a:lstStyle/>
                    <a:p>
                      <a:pPr algn="l"/>
                      <a:r>
                        <a:rPr sz="1100" b="1">
                          <a:solidFill>
                            <a:srgbClr val="0B2E4A"/>
                          </a:solidFill>
                          <a:latin typeface="Calibri"/>
                        </a:rPr>
                        <a:t>Cell Configuration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142">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814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05275"/>
            <a:ext cx="1163955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4519" y="2468245"/>
            <a:ext cx="366712" cy="533400"/>
          </a:xfrm>
          <a:prstGeom prst="rect">
            <a:avLst/>
          </a:prstGeom>
        </p:spPr>
      </p:pic>
      <p:sp>
        <p:nvSpPr>
          <p:cNvPr id="21" name="TextBox 20"/>
          <p:cNvSpPr txBox="1"/>
          <p:nvPr/>
        </p:nvSpPr>
        <p:spPr>
          <a:xfrm>
            <a:off x="276225" y="4114800"/>
            <a:ext cx="9291042" cy="194310"/>
          </a:xfrm>
          <a:prstGeom prst="rect">
            <a:avLst/>
          </a:prstGeom>
          <a:noFill/>
        </p:spPr>
        <p:txBody>
          <a:bodyPr wrap="none" lIns="0" rIns="0" tIns="0" bIns="0">
            <a:spAutoFit/>
          </a:bodyPr>
          <a:lstStyle/>
          <a:p>
            <a:r>
              <a:rPr sz="1150" b="0">
                <a:solidFill>
                  <a:srgbClr val="2E2E2E"/>
                </a:solidFill>
                <a:latin typeface="Calibri"/>
              </a:rPr>
              <a:t>Up to 4 cells segment is projected to account for the largest share of the U.S.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9516421" y="4104576"/>
            <a:ext cx="134549" cy="195707"/>
          </a:xfrm>
          <a:prstGeom prst="rect">
            <a:avLst/>
          </a:prstGeom>
        </p:spPr>
      </p:pic>
      <p:sp>
        <p:nvSpPr>
          <p:cNvPr id="23" name="TextBox 22"/>
          <p:cNvSpPr txBox="1"/>
          <p:nvPr/>
        </p:nvSpPr>
        <p:spPr>
          <a:xfrm>
            <a:off x="9691530" y="4114800"/>
            <a:ext cx="1704144" cy="194310"/>
          </a:xfrm>
          <a:prstGeom prst="rect">
            <a:avLst/>
          </a:prstGeom>
          <a:noFill/>
        </p:spPr>
        <p:txBody>
          <a:bodyPr wrap="none" lIns="0" rIns="0" tIns="0" bIns="0">
            <a:spAutoFit/>
          </a:bodyPr>
          <a:lstStyle/>
          <a:p>
            <a:r>
              <a:rPr sz="1150" b="0">
                <a:solidFill>
                  <a:srgbClr val="2E2E2E"/>
                </a:solidFill>
                <a:latin typeface="Calibri"/>
              </a:rPr>
              <a:t>Mn in 2036. 'Up to 4 Cells ×</a:t>
            </a:r>
          </a:p>
        </p:txBody>
      </p:sp>
      <p:sp>
        <p:nvSpPr>
          <p:cNvPr id="24" name="TextBox 23"/>
          <p:cNvSpPr txBox="1"/>
          <p:nvPr/>
        </p:nvSpPr>
        <p:spPr>
          <a:xfrm>
            <a:off x="276225" y="4290060"/>
            <a:ext cx="4655380" cy="194310"/>
          </a:xfrm>
          <a:prstGeom prst="rect">
            <a:avLst/>
          </a:prstGeom>
          <a:noFill/>
        </p:spPr>
        <p:txBody>
          <a:bodyPr wrap="none" lIns="0" rIns="0" tIns="0" bIns="0">
            <a:spAutoFit/>
          </a:bodyPr>
          <a:lstStyle/>
          <a:p>
            <a:r>
              <a:rPr sz="1150" b="0">
                <a:solidFill>
                  <a:srgbClr val="2E2E2E"/>
                </a:solidFill>
                <a:latin typeface="Calibri"/>
              </a:rPr>
              <a:t>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4880759" y="4279836"/>
            <a:ext cx="134549" cy="195707"/>
          </a:xfrm>
          <a:prstGeom prst="rect">
            <a:avLst/>
          </a:prstGeom>
        </p:spPr>
      </p:pic>
      <p:sp>
        <p:nvSpPr>
          <p:cNvPr id="26" name="TextBox 25"/>
          <p:cNvSpPr txBox="1"/>
          <p:nvPr/>
        </p:nvSpPr>
        <p:spPr>
          <a:xfrm>
            <a:off x="5055869" y="4290060"/>
            <a:ext cx="6109872" cy="194310"/>
          </a:xfrm>
          <a:prstGeom prst="rect">
            <a:avLst/>
          </a:prstGeom>
          <a:noFill/>
        </p:spPr>
        <p:txBody>
          <a:bodyPr wrap="none" lIns="0" rIns="0" tIns="0" bIns="0">
            <a:spAutoFit/>
          </a:bodyPr>
          <a:lstStyle/>
          <a:p>
            <a:r>
              <a:rPr sz="1150" b="0">
                <a:solidFill>
                  <a:srgbClr val="2E2E2E"/>
                </a:solidFill>
                <a:latin typeface="Calibri"/>
              </a:rPr>
              <a:t>US$ Mn, 2026E), while '6 to 12 Cells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114895" y="4279836"/>
            <a:ext cx="134549" cy="195707"/>
          </a:xfrm>
          <a:prstGeom prst="rect">
            <a:avLst/>
          </a:prstGeom>
        </p:spPr>
      </p:pic>
      <p:sp>
        <p:nvSpPr>
          <p:cNvPr id="28" name="TextBox 27"/>
          <p:cNvSpPr txBox="1"/>
          <p:nvPr/>
        </p:nvSpPr>
        <p:spPr>
          <a:xfrm>
            <a:off x="11290005" y="4290060"/>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29" name="TextBox 28"/>
          <p:cNvSpPr txBox="1"/>
          <p:nvPr/>
        </p:nvSpPr>
        <p:spPr>
          <a:xfrm>
            <a:off x="276225" y="4465320"/>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30" name="TextBox 29"/>
          <p:cNvSpPr txBox="1"/>
          <p:nvPr/>
        </p:nvSpPr>
        <p:spPr>
          <a:xfrm>
            <a:off x="276225" y="4693157"/>
            <a:ext cx="5802957" cy="194310"/>
          </a:xfrm>
          <a:prstGeom prst="rect">
            <a:avLst/>
          </a:prstGeom>
          <a:noFill/>
        </p:spPr>
        <p:txBody>
          <a:bodyPr wrap="none" lIns="0" rIns="0" tIns="0" bIns="0">
            <a:spAutoFit/>
          </a:bodyPr>
          <a:lstStyle/>
          <a:p>
            <a:r>
              <a:rPr sz="1150" b="0">
                <a:solidFill>
                  <a:srgbClr val="2E2E2E"/>
                </a:solidFill>
                <a:latin typeface="Calibri"/>
              </a:rPr>
              <a:t>Combined, the top three cell configuration × end use cells generate an absolute $ opportunity of</a:t>
            </a:r>
          </a:p>
        </p:txBody>
      </p:sp>
      <p:pic>
        <p:nvPicPr>
          <p:cNvPr id="31" name="Picture 30" descr="lock.png"/>
          <p:cNvPicPr>
            <a:picLocks noChangeAspect="1"/>
          </p:cNvPicPr>
          <p:nvPr/>
        </p:nvPicPr>
        <p:blipFill>
          <a:blip r:embed="rId4"/>
          <a:stretch>
            <a:fillRect/>
          </a:stretch>
        </p:blipFill>
        <p:spPr>
          <a:xfrm>
            <a:off x="6028336" y="4682934"/>
            <a:ext cx="134549" cy="195707"/>
          </a:xfrm>
          <a:prstGeom prst="rect">
            <a:avLst/>
          </a:prstGeom>
        </p:spPr>
      </p:pic>
      <p:sp>
        <p:nvSpPr>
          <p:cNvPr id="32" name="TextBox 31"/>
          <p:cNvSpPr txBox="1"/>
          <p:nvPr/>
        </p:nvSpPr>
        <p:spPr>
          <a:xfrm>
            <a:off x="6203445" y="46931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Cell Configuration × End Use,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Cell Configuration × End Use, 2026E (% of each row)</a:t>
            </a:r>
          </a:p>
        </p:txBody>
      </p:sp>
      <p:graphicFrame>
        <p:nvGraphicFramePr>
          <p:cNvPr id="13" name="Table 12"/>
          <p:cNvGraphicFramePr>
            <a:graphicFrameLocks noGrp="1"/>
          </p:cNvGraphicFramePr>
          <p:nvPr/>
        </p:nvGraphicFramePr>
        <p:xfrm>
          <a:off x="152400" y="1238250"/>
          <a:ext cx="11887201" cy="1676402"/>
        </p:xfrm>
        <a:graphic>
          <a:graphicData uri="http://schemas.openxmlformats.org/drawingml/2006/table">
            <a:tbl>
              <a:tblPr>
                <a:tableStyleId>{5C22544A-7EE6-4342-B048-85BDC9FD1C3A}</a:tableStyleId>
              </a:tblPr>
              <a:tblGrid>
                <a:gridCol w="1140022"/>
                <a:gridCol w="1042838"/>
                <a:gridCol w="1753436"/>
                <a:gridCol w="1511227"/>
                <a:gridCol w="1326759"/>
                <a:gridCol w="2068759"/>
                <a:gridCol w="1985980"/>
                <a:gridCol w="514374"/>
                <a:gridCol w="543806"/>
              </a:tblGrid>
              <a:tr h="438912">
                <a:tc>
                  <a:txBody>
                    <a:bodyPr wrap="none"/>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7498">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98">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98">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98">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7286625"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147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End Use Mix by Cell Configuration, 2026E (% share)</a:t>
            </a:r>
          </a:p>
        </p:txBody>
      </p:sp>
      <p:graphicFrame>
        <p:nvGraphicFramePr>
          <p:cNvPr id="17" name="Chart 16"/>
          <p:cNvGraphicFramePr>
            <a:graphicFrameLocks noGrp="1"/>
          </p:cNvGraphicFramePr>
          <p:nvPr/>
        </p:nvGraphicFramePr>
        <p:xfrm>
          <a:off x="238125" y="3543300"/>
          <a:ext cx="7096125" cy="302895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57550"/>
            <a:ext cx="445770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432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814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67125"/>
            <a:ext cx="419100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79321" y="2029206"/>
            <a:ext cx="366712" cy="533400"/>
          </a:xfrm>
          <a:prstGeom prst="rect">
            <a:avLst/>
          </a:prstGeom>
        </p:spPr>
      </p:pic>
      <p:pic>
        <p:nvPicPr>
          <p:cNvPr id="24" name="Picture 23" descr="lock.png"/>
          <p:cNvPicPr>
            <a:picLocks noChangeAspect="1"/>
          </p:cNvPicPr>
          <p:nvPr/>
        </p:nvPicPr>
        <p:blipFill>
          <a:blip r:embed="rId5"/>
          <a:stretch>
            <a:fillRect/>
          </a:stretch>
        </p:blipFill>
        <p:spPr>
          <a:xfrm>
            <a:off x="3737844" y="4194492"/>
            <a:ext cx="384961" cy="559943"/>
          </a:xfrm>
          <a:prstGeom prst="rect">
            <a:avLst/>
          </a:prstGeom>
        </p:spPr>
      </p:pic>
      <p:sp>
        <p:nvSpPr>
          <p:cNvPr id="25" name="TextBox 24"/>
          <p:cNvSpPr txBox="1"/>
          <p:nvPr/>
        </p:nvSpPr>
        <p:spPr>
          <a:xfrm>
            <a:off x="7715250" y="3676650"/>
            <a:ext cx="4171950" cy="194310"/>
          </a:xfrm>
          <a:prstGeom prst="rect">
            <a:avLst/>
          </a:prstGeom>
          <a:noFill/>
        </p:spPr>
        <p:txBody>
          <a:bodyPr wrap="none" lIns="0" rIns="0" tIns="0" bIns="0">
            <a:spAutoFit/>
          </a:bodyPr>
          <a:lstStyle/>
          <a:p>
            <a:r>
              <a:rPr sz="1150" b="0">
                <a:solidFill>
                  <a:srgbClr val="2E2E2E"/>
                </a:solidFill>
                <a:latin typeface="Calibri"/>
              </a:rPr>
              <a:t>▪ 'Glassware, Ceramics &amp; Home Goods' holds the highest share of 'Up</a:t>
            </a:r>
          </a:p>
        </p:txBody>
      </p:sp>
      <p:sp>
        <p:nvSpPr>
          <p:cNvPr id="26" name="TextBox 25"/>
          <p:cNvSpPr txBox="1"/>
          <p:nvPr/>
        </p:nvSpPr>
        <p:spPr>
          <a:xfrm>
            <a:off x="7715250" y="3851910"/>
            <a:ext cx="801885" cy="194310"/>
          </a:xfrm>
          <a:prstGeom prst="rect">
            <a:avLst/>
          </a:prstGeom>
          <a:noFill/>
        </p:spPr>
        <p:txBody>
          <a:bodyPr wrap="none" lIns="0" rIns="0" tIns="0" bIns="0">
            <a:spAutoFit/>
          </a:bodyPr>
          <a:lstStyle/>
          <a:p>
            <a:r>
              <a:rPr sz="1150" b="0">
                <a:solidFill>
                  <a:srgbClr val="2E2E2E"/>
                </a:solidFill>
                <a:latin typeface="Calibri"/>
              </a:rPr>
              <a:t>to 4 Cells' at</a:t>
            </a:r>
          </a:p>
        </p:txBody>
      </p:sp>
      <p:pic>
        <p:nvPicPr>
          <p:cNvPr id="27" name="Picture 26" descr="lock.png"/>
          <p:cNvPicPr>
            <a:picLocks noChangeAspect="1"/>
          </p:cNvPicPr>
          <p:nvPr/>
        </p:nvPicPr>
        <p:blipFill>
          <a:blip r:embed="rId5"/>
          <a:stretch>
            <a:fillRect/>
          </a:stretch>
        </p:blipFill>
        <p:spPr>
          <a:xfrm>
            <a:off x="8466289" y="3841686"/>
            <a:ext cx="134549" cy="195707"/>
          </a:xfrm>
          <a:prstGeom prst="rect">
            <a:avLst/>
          </a:prstGeom>
        </p:spPr>
      </p:pic>
      <p:sp>
        <p:nvSpPr>
          <p:cNvPr id="28" name="TextBox 27"/>
          <p:cNvSpPr txBox="1"/>
          <p:nvPr/>
        </p:nvSpPr>
        <p:spPr>
          <a:xfrm>
            <a:off x="8641399" y="385191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079747"/>
            <a:ext cx="3552304" cy="194310"/>
          </a:xfrm>
          <a:prstGeom prst="rect">
            <a:avLst/>
          </a:prstGeom>
          <a:noFill/>
        </p:spPr>
        <p:txBody>
          <a:bodyPr wrap="none" lIns="0" rIns="0" tIns="0" bIns="0">
            <a:spAutoFit/>
          </a:bodyPr>
          <a:lstStyle/>
          <a:p>
            <a:r>
              <a:rPr sz="1150" b="0">
                <a:solidFill>
                  <a:srgbClr val="2E2E2E"/>
                </a:solidFill>
                <a:latin typeface="Calibri"/>
              </a:rPr>
              <a:t>▪ 'Up to 4 Cells' is the most concentrated cell configuration</a:t>
            </a:r>
          </a:p>
        </p:txBody>
      </p:sp>
      <p:sp>
        <p:nvSpPr>
          <p:cNvPr id="30" name="TextBox 29"/>
          <p:cNvSpPr txBox="1"/>
          <p:nvPr/>
        </p:nvSpPr>
        <p:spPr>
          <a:xfrm>
            <a:off x="7715250" y="425500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244784"/>
            <a:ext cx="134549" cy="195707"/>
          </a:xfrm>
          <a:prstGeom prst="rect">
            <a:avLst/>
          </a:prstGeom>
        </p:spPr>
      </p:pic>
      <p:sp>
        <p:nvSpPr>
          <p:cNvPr id="32" name="TextBox 31"/>
          <p:cNvSpPr txBox="1"/>
          <p:nvPr/>
        </p:nvSpPr>
        <p:spPr>
          <a:xfrm>
            <a:off x="9018219" y="4255007"/>
            <a:ext cx="2731913" cy="194310"/>
          </a:xfrm>
          <a:prstGeom prst="rect">
            <a:avLst/>
          </a:prstGeom>
          <a:noFill/>
        </p:spPr>
        <p:txBody>
          <a:bodyPr wrap="none" lIns="0" rIns="0" tIns="0" bIns="0">
            <a:spAutoFit/>
          </a:bodyPr>
          <a:lstStyle/>
          <a:p>
            <a:r>
              <a:rPr sz="1150" b="0">
                <a:solidFill>
                  <a:srgbClr val="2E2E2E"/>
                </a:solidFill>
                <a:latin typeface="Calibri"/>
              </a:rPr>
              <a:t>of its value via 'Glassware, Ceramics &amp; Home</a:t>
            </a:r>
          </a:p>
        </p:txBody>
      </p:sp>
      <p:sp>
        <p:nvSpPr>
          <p:cNvPr id="33" name="TextBox 32"/>
          <p:cNvSpPr txBox="1"/>
          <p:nvPr/>
        </p:nvSpPr>
        <p:spPr>
          <a:xfrm>
            <a:off x="7715250" y="4430267"/>
            <a:ext cx="525189" cy="194310"/>
          </a:xfrm>
          <a:prstGeom prst="rect">
            <a:avLst/>
          </a:prstGeom>
          <a:noFill/>
        </p:spPr>
        <p:txBody>
          <a:bodyPr wrap="none" lIns="0" rIns="0" tIns="0" bIns="0">
            <a:spAutoFit/>
          </a:bodyPr>
          <a:lstStyle/>
          <a:p>
            <a:r>
              <a:rPr sz="1150" b="0">
                <a:solidFill>
                  <a:srgbClr val="2E2E2E"/>
                </a:solidFill>
                <a:latin typeface="Calibri"/>
              </a:rPr>
              <a:t>Goods'.</a:t>
            </a:r>
          </a:p>
        </p:txBody>
      </p:sp>
      <p:sp>
        <p:nvSpPr>
          <p:cNvPr id="34" name="TextBox 33"/>
          <p:cNvSpPr txBox="1"/>
          <p:nvPr/>
        </p:nvSpPr>
        <p:spPr>
          <a:xfrm>
            <a:off x="7715250" y="4658105"/>
            <a:ext cx="2021061" cy="194310"/>
          </a:xfrm>
          <a:prstGeom prst="rect">
            <a:avLst/>
          </a:prstGeom>
          <a:noFill/>
        </p:spPr>
        <p:txBody>
          <a:bodyPr wrap="none" lIns="0" rIns="0" t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647882"/>
            <a:ext cx="134549" cy="195707"/>
          </a:xfrm>
          <a:prstGeom prst="rect">
            <a:avLst/>
          </a:prstGeom>
        </p:spPr>
      </p:pic>
      <p:sp>
        <p:nvSpPr>
          <p:cNvPr id="36" name="TextBox 35"/>
          <p:cNvSpPr txBox="1"/>
          <p:nvPr/>
        </p:nvSpPr>
        <p:spPr>
          <a:xfrm>
            <a:off x="9860574" y="4658105"/>
            <a:ext cx="1467383" cy="194310"/>
          </a:xfrm>
          <a:prstGeom prst="rect">
            <a:avLst/>
          </a:prstGeom>
          <a:noFill/>
        </p:spPr>
        <p:txBody>
          <a:bodyPr wrap="none" lIns="0" rIns="0" tIns="0" bIns="0">
            <a:spAutoFit/>
          </a:bodyPr>
          <a:lstStyle/>
          <a:p>
            <a:r>
              <a:rPr sz="1150" b="0">
                <a:solidFill>
                  <a:srgbClr val="2E2E2E"/>
                </a:solidFill>
                <a:latin typeface="Calibri"/>
              </a:rPr>
              <a:t>BPS of share of the U.S.</a:t>
            </a:r>
          </a:p>
        </p:txBody>
      </p:sp>
      <p:sp>
        <p:nvSpPr>
          <p:cNvPr id="37" name="TextBox 36"/>
          <p:cNvSpPr txBox="1"/>
          <p:nvPr/>
        </p:nvSpPr>
        <p:spPr>
          <a:xfrm>
            <a:off x="7715250" y="483336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8" name="lockshield_17"/>
          <p:cNvSpPr/>
          <p:nvPr/>
        </p:nvSpPr>
        <p:spPr>
          <a:xfrm>
            <a:off x="238125" y="3543300"/>
            <a:ext cx="7096125" cy="30289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Cell Configuration × End Use,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Cell Configuration × End Use, 2026E–2036F</a:t>
            </a:r>
          </a:p>
        </p:txBody>
      </p:sp>
      <p:graphicFrame>
        <p:nvGraphicFramePr>
          <p:cNvPr id="13" name="Table 12"/>
          <p:cNvGraphicFramePr>
            <a:graphicFrameLocks noGrp="1"/>
          </p:cNvGraphicFramePr>
          <p:nvPr/>
        </p:nvGraphicFramePr>
        <p:xfrm>
          <a:off x="152400" y="1238250"/>
          <a:ext cx="11887204" cy="2114549"/>
        </p:xfrm>
        <a:graphic>
          <a:graphicData uri="http://schemas.openxmlformats.org/drawingml/2006/table">
            <a:tbl>
              <a:tblPr>
                <a:tableStyleId>{5C22544A-7EE6-4342-B048-85BDC9FD1C3A}</a:tableStyleId>
              </a:tblPr>
              <a:tblGrid>
                <a:gridCol w="1134772"/>
                <a:gridCol w="672027"/>
                <a:gridCol w="672027"/>
                <a:gridCol w="672027"/>
                <a:gridCol w="672027"/>
                <a:gridCol w="672027"/>
                <a:gridCol w="672027"/>
                <a:gridCol w="672027"/>
                <a:gridCol w="672027"/>
                <a:gridCol w="672027"/>
                <a:gridCol w="672027"/>
                <a:gridCol w="672027"/>
                <a:gridCol w="672027"/>
                <a:gridCol w="672027"/>
                <a:gridCol w="672027"/>
                <a:gridCol w="672027"/>
                <a:gridCol w="672027"/>
              </a:tblGrid>
              <a:tr h="631697">
                <a:tc rowSpan="2">
                  <a:txBody>
                    <a:bodyPr wrap="none"/>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142">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5600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814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40195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05275"/>
            <a:ext cx="5334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7814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4105275"/>
            <a:ext cx="16764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 to 4 Cells × Food &amp; Beverage' ranks highest (5/5); '13 to 24 Cells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76697" y="2468245"/>
            <a:ext cx="366712" cy="533400"/>
          </a:xfrm>
          <a:prstGeom prst="rect">
            <a:avLst/>
          </a:prstGeom>
        </p:spPr>
      </p:pic>
      <p:sp>
        <p:nvSpPr>
          <p:cNvPr id="33" name="TextBox 32"/>
          <p:cNvSpPr txBox="1"/>
          <p:nvPr/>
        </p:nvSpPr>
        <p:spPr>
          <a:xfrm>
            <a:off x="276225" y="4114800"/>
            <a:ext cx="2311703" cy="194310"/>
          </a:xfrm>
          <a:prstGeom prst="rect">
            <a:avLst/>
          </a:prstGeom>
          <a:noFill/>
        </p:spPr>
        <p:txBody>
          <a:bodyPr wrap="none" lIns="0" rIns="0" tIns="0" bIns="0">
            <a:spAutoFit/>
          </a:bodyPr>
          <a:lstStyle/>
          <a:p>
            <a:r>
              <a:rPr sz="1150" b="0">
                <a:solidFill>
                  <a:srgbClr val="2E2E2E"/>
                </a:solidFill>
                <a:latin typeface="Calibri"/>
              </a:rPr>
              <a:t>▪ 1. Up to 4 Cells × Food &amp; Beverage –</a:t>
            </a:r>
          </a:p>
        </p:txBody>
      </p:sp>
      <p:pic>
        <p:nvPicPr>
          <p:cNvPr id="34" name="Picture 33" descr="lock.png"/>
          <p:cNvPicPr>
            <a:picLocks noChangeAspect="1"/>
          </p:cNvPicPr>
          <p:nvPr/>
        </p:nvPicPr>
        <p:blipFill>
          <a:blip r:embed="rId4"/>
          <a:stretch>
            <a:fillRect/>
          </a:stretch>
        </p:blipFill>
        <p:spPr>
          <a:xfrm>
            <a:off x="2537082" y="4104576"/>
            <a:ext cx="134549" cy="195707"/>
          </a:xfrm>
          <a:prstGeom prst="rect">
            <a:avLst/>
          </a:prstGeom>
        </p:spPr>
      </p:pic>
      <p:sp>
        <p:nvSpPr>
          <p:cNvPr id="35" name="TextBox 34"/>
          <p:cNvSpPr txBox="1"/>
          <p:nvPr/>
        </p:nvSpPr>
        <p:spPr>
          <a:xfrm>
            <a:off x="2712191" y="41148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774343" y="4104576"/>
            <a:ext cx="134549" cy="195707"/>
          </a:xfrm>
          <a:prstGeom prst="rect">
            <a:avLst/>
          </a:prstGeom>
        </p:spPr>
      </p:pic>
      <p:sp>
        <p:nvSpPr>
          <p:cNvPr id="37" name="TextBox 36"/>
          <p:cNvSpPr txBox="1"/>
          <p:nvPr/>
        </p:nvSpPr>
        <p:spPr>
          <a:xfrm>
            <a:off x="2949452" y="41148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342638"/>
            <a:ext cx="2289453" cy="194310"/>
          </a:xfrm>
          <a:prstGeom prst="rect">
            <a:avLst/>
          </a:prstGeom>
          <a:noFill/>
        </p:spPr>
        <p:txBody>
          <a:bodyPr wrap="none" lIns="0" rIns="0" tIns="0" bIns="0">
            <a:spAutoFit/>
          </a:bodyPr>
          <a:lstStyle/>
          <a:p>
            <a:r>
              <a:rPr sz="1150" b="0">
                <a:solidFill>
                  <a:srgbClr val="2E2E2E"/>
                </a:solidFill>
                <a:latin typeface="Calibri"/>
              </a:rPr>
              <a:t>▪ 2. 6 to 12 Cells × Food &amp; Beverage –</a:t>
            </a:r>
          </a:p>
        </p:txBody>
      </p:sp>
      <p:pic>
        <p:nvPicPr>
          <p:cNvPr id="39" name="Picture 38" descr="lock.png"/>
          <p:cNvPicPr>
            <a:picLocks noChangeAspect="1"/>
          </p:cNvPicPr>
          <p:nvPr/>
        </p:nvPicPr>
        <p:blipFill>
          <a:blip r:embed="rId4"/>
          <a:stretch>
            <a:fillRect/>
          </a:stretch>
        </p:blipFill>
        <p:spPr>
          <a:xfrm>
            <a:off x="2514832" y="4332414"/>
            <a:ext cx="134549" cy="195707"/>
          </a:xfrm>
          <a:prstGeom prst="rect">
            <a:avLst/>
          </a:prstGeom>
        </p:spPr>
      </p:pic>
      <p:sp>
        <p:nvSpPr>
          <p:cNvPr id="40" name="TextBox 39"/>
          <p:cNvSpPr txBox="1"/>
          <p:nvPr/>
        </p:nvSpPr>
        <p:spPr>
          <a:xfrm>
            <a:off x="2689942" y="434263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2752093" y="4332414"/>
            <a:ext cx="134549" cy="195707"/>
          </a:xfrm>
          <a:prstGeom prst="rect">
            <a:avLst/>
          </a:prstGeom>
        </p:spPr>
      </p:pic>
      <p:sp>
        <p:nvSpPr>
          <p:cNvPr id="42" name="TextBox 41"/>
          <p:cNvSpPr txBox="1"/>
          <p:nvPr/>
        </p:nvSpPr>
        <p:spPr>
          <a:xfrm>
            <a:off x="2927203" y="4342638"/>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570475"/>
            <a:ext cx="2645481" cy="194310"/>
          </a:xfrm>
          <a:prstGeom prst="rect">
            <a:avLst/>
          </a:prstGeom>
          <a:noFill/>
        </p:spPr>
        <p:txBody>
          <a:bodyPr wrap="none" lIns="0" rIns="0" tIns="0" bIns="0">
            <a:spAutoFit/>
          </a:bodyPr>
          <a:lstStyle/>
          <a:p>
            <a:r>
              <a:rPr sz="1150" b="0">
                <a:solidFill>
                  <a:srgbClr val="2E2E2E"/>
                </a:solidFill>
                <a:latin typeface="Calibri"/>
              </a:rPr>
              <a:t>▪ 3. Up to 4 Cells × Electronics &amp; Electrical –</a:t>
            </a:r>
          </a:p>
        </p:txBody>
      </p:sp>
      <p:pic>
        <p:nvPicPr>
          <p:cNvPr id="44" name="Picture 43" descr="lock.png"/>
          <p:cNvPicPr>
            <a:picLocks noChangeAspect="1"/>
          </p:cNvPicPr>
          <p:nvPr/>
        </p:nvPicPr>
        <p:blipFill>
          <a:blip r:embed="rId4"/>
          <a:stretch>
            <a:fillRect/>
          </a:stretch>
        </p:blipFill>
        <p:spPr>
          <a:xfrm>
            <a:off x="2870860" y="4560252"/>
            <a:ext cx="134549" cy="195707"/>
          </a:xfrm>
          <a:prstGeom prst="rect">
            <a:avLst/>
          </a:prstGeom>
        </p:spPr>
      </p:pic>
      <p:sp>
        <p:nvSpPr>
          <p:cNvPr id="45" name="TextBox 44"/>
          <p:cNvSpPr txBox="1"/>
          <p:nvPr/>
        </p:nvSpPr>
        <p:spPr>
          <a:xfrm>
            <a:off x="3045970" y="45704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108121" y="4560252"/>
            <a:ext cx="134549" cy="195707"/>
          </a:xfrm>
          <a:prstGeom prst="rect">
            <a:avLst/>
          </a:prstGeom>
        </p:spPr>
      </p:pic>
      <p:sp>
        <p:nvSpPr>
          <p:cNvPr id="47" name="TextBox 46"/>
          <p:cNvSpPr txBox="1"/>
          <p:nvPr/>
        </p:nvSpPr>
        <p:spPr>
          <a:xfrm>
            <a:off x="3283231" y="45704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798313"/>
            <a:ext cx="2623232" cy="194310"/>
          </a:xfrm>
          <a:prstGeom prst="rect">
            <a:avLst/>
          </a:prstGeom>
          <a:noFill/>
        </p:spPr>
        <p:txBody>
          <a:bodyPr wrap="none" lIns="0" rIns="0" tIns="0" bIns="0">
            <a:spAutoFit/>
          </a:bodyPr>
          <a:lstStyle/>
          <a:p>
            <a:r>
              <a:rPr sz="1150" b="0">
                <a:solidFill>
                  <a:srgbClr val="2E2E2E"/>
                </a:solidFill>
                <a:latin typeface="Calibri"/>
              </a:rPr>
              <a:t>▪ 4. 6 to 12 Cells × Electronics &amp; Electrical –</a:t>
            </a:r>
          </a:p>
        </p:txBody>
      </p:sp>
      <p:pic>
        <p:nvPicPr>
          <p:cNvPr id="49" name="Picture 48" descr="lock.png"/>
          <p:cNvPicPr>
            <a:picLocks noChangeAspect="1"/>
          </p:cNvPicPr>
          <p:nvPr/>
        </p:nvPicPr>
        <p:blipFill>
          <a:blip r:embed="rId4"/>
          <a:stretch>
            <a:fillRect/>
          </a:stretch>
        </p:blipFill>
        <p:spPr>
          <a:xfrm>
            <a:off x="2848611" y="4788090"/>
            <a:ext cx="134549" cy="195707"/>
          </a:xfrm>
          <a:prstGeom prst="rect">
            <a:avLst/>
          </a:prstGeom>
        </p:spPr>
      </p:pic>
      <p:sp>
        <p:nvSpPr>
          <p:cNvPr id="50" name="TextBox 49"/>
          <p:cNvSpPr txBox="1"/>
          <p:nvPr/>
        </p:nvSpPr>
        <p:spPr>
          <a:xfrm>
            <a:off x="3023720" y="47983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085872" y="4788090"/>
            <a:ext cx="134549" cy="195707"/>
          </a:xfrm>
          <a:prstGeom prst="rect">
            <a:avLst/>
          </a:prstGeom>
        </p:spPr>
      </p:pic>
      <p:sp>
        <p:nvSpPr>
          <p:cNvPr id="52" name="TextBox 51"/>
          <p:cNvSpPr txBox="1"/>
          <p:nvPr/>
        </p:nvSpPr>
        <p:spPr>
          <a:xfrm>
            <a:off x="3260981" y="47983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3" name="TextBox 52"/>
          <p:cNvSpPr txBox="1"/>
          <p:nvPr/>
        </p:nvSpPr>
        <p:spPr>
          <a:xfrm>
            <a:off x="276225" y="5026151"/>
            <a:ext cx="3427077" cy="194310"/>
          </a:xfrm>
          <a:prstGeom prst="rect">
            <a:avLst/>
          </a:prstGeom>
          <a:noFill/>
        </p:spPr>
        <p:txBody>
          <a:bodyPr wrap="none" lIns="0" rIns="0" tIns="0" bIns="0">
            <a:spAutoFit/>
          </a:bodyPr>
          <a:lstStyle/>
          <a:p>
            <a:r>
              <a:rPr sz="1150" b="0">
                <a:solidFill>
                  <a:srgbClr val="2E2E2E"/>
                </a:solidFill>
                <a:latin typeface="Calibri"/>
              </a:rPr>
              <a:t>▪ 5. 6 to 12 Cells × Glassware, Ceramics &amp; Home Goods –</a:t>
            </a:r>
          </a:p>
        </p:txBody>
      </p:sp>
      <p:pic>
        <p:nvPicPr>
          <p:cNvPr id="54" name="Picture 53" descr="lock.png"/>
          <p:cNvPicPr>
            <a:picLocks noChangeAspect="1"/>
          </p:cNvPicPr>
          <p:nvPr/>
        </p:nvPicPr>
        <p:blipFill>
          <a:blip r:embed="rId4"/>
          <a:stretch>
            <a:fillRect/>
          </a:stretch>
        </p:blipFill>
        <p:spPr>
          <a:xfrm>
            <a:off x="3652456" y="5015928"/>
            <a:ext cx="134549" cy="195707"/>
          </a:xfrm>
          <a:prstGeom prst="rect">
            <a:avLst/>
          </a:prstGeom>
        </p:spPr>
      </p:pic>
      <p:sp>
        <p:nvSpPr>
          <p:cNvPr id="55" name="TextBox 54"/>
          <p:cNvSpPr txBox="1"/>
          <p:nvPr/>
        </p:nvSpPr>
        <p:spPr>
          <a:xfrm>
            <a:off x="3827565" y="50261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889717" y="5015928"/>
            <a:ext cx="134549" cy="195707"/>
          </a:xfrm>
          <a:prstGeom prst="rect">
            <a:avLst/>
          </a:prstGeom>
        </p:spPr>
      </p:pic>
      <p:sp>
        <p:nvSpPr>
          <p:cNvPr id="57" name="TextBox 56"/>
          <p:cNvSpPr txBox="1"/>
          <p:nvPr/>
        </p:nvSpPr>
        <p:spPr>
          <a:xfrm>
            <a:off x="4064826" y="50261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4114800"/>
            <a:ext cx="1507572" cy="194310"/>
          </a:xfrm>
          <a:prstGeom prst="rect">
            <a:avLst/>
          </a:prstGeom>
          <a:noFill/>
        </p:spPr>
        <p:txBody>
          <a:bodyPr wrap="none" lIns="0" rIns="0" tIns="0" bIns="0">
            <a:spAutoFit/>
          </a:bodyPr>
          <a:lstStyle/>
          <a:p>
            <a:r>
              <a:rPr sz="1150" b="0">
                <a:solidFill>
                  <a:srgbClr val="2E2E2E"/>
                </a:solidFill>
                <a:latin typeface="Calibri"/>
              </a:rPr>
              <a:t>▪ 'Up to 4 Cells × Food &amp;</a:t>
            </a:r>
          </a:p>
        </p:txBody>
      </p:sp>
      <p:sp>
        <p:nvSpPr>
          <p:cNvPr id="59" name="TextBox 58"/>
          <p:cNvSpPr txBox="1"/>
          <p:nvPr/>
        </p:nvSpPr>
        <p:spPr>
          <a:xfrm>
            <a:off x="6029325" y="4290060"/>
            <a:ext cx="975320" cy="194310"/>
          </a:xfrm>
          <a:prstGeom prst="rect">
            <a:avLst/>
          </a:prstGeom>
          <a:noFill/>
        </p:spPr>
        <p:txBody>
          <a:bodyPr wrap="none" lIns="0" rIns="0" tIns="0" bIns="0">
            <a:spAutoFit/>
          </a:bodyPr>
          <a:lstStyle/>
          <a:p>
            <a:r>
              <a:rPr sz="1150" b="0">
                <a:solidFill>
                  <a:srgbClr val="2E2E2E"/>
                </a:solidFill>
                <a:latin typeface="Calibri"/>
              </a:rPr>
              <a:t>Beverage' adds</a:t>
            </a:r>
          </a:p>
        </p:txBody>
      </p:sp>
      <p:pic>
        <p:nvPicPr>
          <p:cNvPr id="60" name="Picture 59" descr="lock.png"/>
          <p:cNvPicPr>
            <a:picLocks noChangeAspect="1"/>
          </p:cNvPicPr>
          <p:nvPr/>
        </p:nvPicPr>
        <p:blipFill>
          <a:blip r:embed="rId4"/>
          <a:stretch>
            <a:fillRect/>
          </a:stretch>
        </p:blipFill>
        <p:spPr>
          <a:xfrm>
            <a:off x="6953799" y="4279836"/>
            <a:ext cx="134549" cy="195707"/>
          </a:xfrm>
          <a:prstGeom prst="rect">
            <a:avLst/>
          </a:prstGeom>
        </p:spPr>
      </p:pic>
      <p:sp>
        <p:nvSpPr>
          <p:cNvPr id="61" name="TextBox 60"/>
          <p:cNvSpPr txBox="1"/>
          <p:nvPr/>
        </p:nvSpPr>
        <p:spPr>
          <a:xfrm>
            <a:off x="7128908" y="429006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2" name="TextBox 61"/>
          <p:cNvSpPr txBox="1"/>
          <p:nvPr/>
        </p:nvSpPr>
        <p:spPr>
          <a:xfrm>
            <a:off x="6029325" y="4465320"/>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455096"/>
            <a:ext cx="134549" cy="195707"/>
          </a:xfrm>
          <a:prstGeom prst="rect">
            <a:avLst/>
          </a:prstGeom>
        </p:spPr>
      </p:pic>
      <p:sp>
        <p:nvSpPr>
          <p:cNvPr id="64" name="TextBox 63"/>
          <p:cNvSpPr txBox="1"/>
          <p:nvPr/>
        </p:nvSpPr>
        <p:spPr>
          <a:xfrm>
            <a:off x="7110081" y="4465320"/>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5" name="TextBox 64"/>
          <p:cNvSpPr txBox="1"/>
          <p:nvPr/>
        </p:nvSpPr>
        <p:spPr>
          <a:xfrm>
            <a:off x="6029325" y="464057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6" name="TextBox 65"/>
          <p:cNvSpPr txBox="1"/>
          <p:nvPr/>
        </p:nvSpPr>
        <p:spPr>
          <a:xfrm>
            <a:off x="8124825" y="4114800"/>
            <a:ext cx="1657350" cy="194310"/>
          </a:xfrm>
          <a:prstGeom prst="rect">
            <a:avLst/>
          </a:prstGeom>
          <a:noFill/>
        </p:spPr>
        <p:txBody>
          <a:bodyPr wrap="none" lIns="0" rIns="0" tIns="0" bIns="0">
            <a:spAutoFit/>
          </a:bodyPr>
          <a:lstStyle/>
          <a:p>
            <a:r>
              <a:rPr sz="1150" b="0">
                <a:solidFill>
                  <a:srgbClr val="2E2E2E"/>
                </a:solidFill>
                <a:latin typeface="Calibri"/>
              </a:rPr>
              <a:t>▪ '6 to 12 Cells × Electronics</a:t>
            </a:r>
          </a:p>
        </p:txBody>
      </p:sp>
      <p:sp>
        <p:nvSpPr>
          <p:cNvPr id="67" name="TextBox 66"/>
          <p:cNvSpPr txBox="1"/>
          <p:nvPr/>
        </p:nvSpPr>
        <p:spPr>
          <a:xfrm>
            <a:off x="8124825" y="4290060"/>
            <a:ext cx="1426306" cy="194310"/>
          </a:xfrm>
          <a:prstGeom prst="rect">
            <a:avLst/>
          </a:prstGeom>
          <a:noFill/>
        </p:spPr>
        <p:txBody>
          <a:bodyPr wrap="none" lIns="0" rIns="0" t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279836"/>
            <a:ext cx="134549" cy="195707"/>
          </a:xfrm>
          <a:prstGeom prst="rect">
            <a:avLst/>
          </a:prstGeom>
        </p:spPr>
      </p:pic>
      <p:sp>
        <p:nvSpPr>
          <p:cNvPr id="69" name="TextBox 68"/>
          <p:cNvSpPr txBox="1"/>
          <p:nvPr/>
        </p:nvSpPr>
        <p:spPr>
          <a:xfrm>
            <a:off x="8124825" y="44653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455096"/>
            <a:ext cx="134549" cy="195707"/>
          </a:xfrm>
          <a:prstGeom prst="rect">
            <a:avLst/>
          </a:prstGeom>
        </p:spPr>
      </p:pic>
      <p:sp>
        <p:nvSpPr>
          <p:cNvPr id="71" name="TextBox 70"/>
          <p:cNvSpPr txBox="1"/>
          <p:nvPr/>
        </p:nvSpPr>
        <p:spPr>
          <a:xfrm>
            <a:off x="8695529" y="4465320"/>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64057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t>
            </a:r>
          </a:p>
        </p:txBody>
      </p:sp>
      <p:sp>
        <p:nvSpPr>
          <p:cNvPr id="14" name="TextBox 13"/>
          <p:cNvSpPr txBox="1"/>
          <p:nvPr/>
        </p:nvSpPr>
        <p:spPr>
          <a:xfrm>
            <a:off x="219075" y="256100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 </a:t>
            </a:r>
          </a:p>
        </p:txBody>
      </p:sp>
      <p:cxnSp>
        <p:nvCxnSpPr>
          <p:cNvPr id="16" name="Connector 15"/>
          <p:cNvCxnSpPr/>
          <p:nvPr/>
        </p:nvCxnSpPr>
        <p:spPr>
          <a:xfrm>
            <a:off x="1825625" y="2903651"/>
            <a:ext cx="0" cy="42406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606550" y="2903651"/>
            <a:ext cx="438150" cy="424063"/>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751251"/>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Slotted (Interlocking…</a:t>
            </a:r>
          </a:p>
        </p:txBody>
      </p:sp>
      <p:cxnSp>
        <p:nvCxnSpPr>
          <p:cNvPr id="20" name="Connector 19"/>
          <p:cNvCxnSpPr/>
          <p:nvPr/>
        </p:nvCxnSpPr>
        <p:spPr>
          <a:xfrm>
            <a:off x="4162425" y="1927636"/>
            <a:ext cx="0" cy="53113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943350" y="1927636"/>
            <a:ext cx="438150" cy="53113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994025" y="1775236"/>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2994025" y="3566301"/>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Die-Cut &amp; Folded Part…</a:t>
            </a:r>
          </a:p>
        </p:txBody>
      </p:sp>
      <p:cxnSp>
        <p:nvCxnSpPr>
          <p:cNvPr id="24" name="Connector 23"/>
          <p:cNvCxnSpPr/>
          <p:nvPr/>
        </p:nvCxnSpPr>
        <p:spPr>
          <a:xfrm>
            <a:off x="6499225" y="2413064"/>
            <a:ext cx="0" cy="47760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6280150" y="2413064"/>
            <a:ext cx="438150" cy="47760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5330825" y="2260664"/>
            <a:ext cx="23368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7" name="TextBox 26"/>
          <p:cNvSpPr txBox="1"/>
          <p:nvPr/>
        </p:nvSpPr>
        <p:spPr>
          <a:xfrm>
            <a:off x="5330825" y="3566301"/>
            <a:ext cx="2336800" cy="285750"/>
          </a:xfrm>
          <a:prstGeom prst="rect">
            <a:avLst/>
          </a:prstGeom>
          <a:noFill/>
        </p:spPr>
        <p:txBody>
          <a:bodyPr wrap="square" lIns="28575" rIns="28575" tIns="9525" bIns="9525">
            <a:spAutoFit/>
          </a:bodyPr>
          <a:lstStyle/>
          <a:p>
            <a:pPr algn="ctr"/>
            <a:r>
              <a:rPr sz="1100" b="0">
                <a:solidFill>
                  <a:srgbClr val="2E2E2E"/>
                </a:solidFill>
                <a:latin typeface="Calibri"/>
              </a:rPr>
              <a:t>Flat Dividers &amp; Layer…</a:t>
            </a:r>
          </a:p>
        </p:txBody>
      </p:sp>
      <p:sp>
        <p:nvSpPr>
          <p:cNvPr id="28" name="Rounded Rectangle 27"/>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a:t>
            </a:r>
          </a:p>
        </p:txBody>
      </p:sp>
      <p:cxnSp>
        <p:nvCxnSpPr>
          <p:cNvPr id="30" name="Connector 29"/>
          <p:cNvCxnSpPr/>
          <p:nvPr/>
        </p:nvCxnSpPr>
        <p:spPr>
          <a:xfrm>
            <a:off x="619125" y="451706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619125" y="488318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619125" y="561541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619125" y="598152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517069"/>
            <a:ext cx="0" cy="1464458"/>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590550" y="451706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90550" y="488318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590550" y="561541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598152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1" name="FMI Scale tick"/>
          <p:cNvSpPr txBox="1"/>
          <p:nvPr/>
        </p:nvSpPr>
        <p:spPr>
          <a:xfrm>
            <a:off x="138112" y="4450394"/>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+9.3%</a:t>
            </a:r>
          </a:p>
        </p:txBody>
      </p:sp>
      <p:sp>
        <p:nvSpPr>
          <p:cNvPr id="42" name="FMI Scale tick"/>
          <p:cNvSpPr txBox="1"/>
          <p:nvPr/>
        </p:nvSpPr>
        <p:spPr>
          <a:xfrm>
            <a:off x="138112" y="4816508"/>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+4.7%</a:t>
            </a:r>
          </a:p>
        </p:txBody>
      </p:sp>
      <p:sp>
        <p:nvSpPr>
          <p:cNvPr id="43"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4" name="FMI Scale tick"/>
          <p:cNvSpPr txBox="1"/>
          <p:nvPr/>
        </p:nvSpPr>
        <p:spPr>
          <a:xfrm>
            <a:off x="164306" y="5548738"/>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-4.7%</a:t>
            </a:r>
          </a:p>
        </p:txBody>
      </p:sp>
      <p:sp>
        <p:nvSpPr>
          <p:cNvPr id="45" name="FMI Scale tick"/>
          <p:cNvSpPr txBox="1"/>
          <p:nvPr/>
        </p:nvSpPr>
        <p:spPr>
          <a:xfrm>
            <a:off x="164306" y="5914852"/>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-9.3%</a:t>
            </a:r>
          </a:p>
        </p:txBody>
      </p:sp>
      <p:cxnSp>
        <p:nvCxnSpPr>
          <p:cNvPr id="46" name="Connector 45"/>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977900" y="4659031"/>
            <a:ext cx="457200" cy="59026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MI Data Label"/>
          <p:cNvSpPr txBox="1"/>
          <p:nvPr/>
        </p:nvSpPr>
        <p:spPr>
          <a:xfrm>
            <a:off x="619125" y="4516156"/>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9" name="Rectangle 48"/>
          <p:cNvSpPr/>
          <p:nvPr/>
        </p:nvSpPr>
        <p:spPr>
          <a:xfrm>
            <a:off x="2152650" y="4645075"/>
            <a:ext cx="457200" cy="60422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MI Data Label"/>
          <p:cNvSpPr txBox="1"/>
          <p:nvPr/>
        </p:nvSpPr>
        <p:spPr>
          <a:xfrm>
            <a:off x="1793875" y="450220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1" name="Rectangle 50"/>
          <p:cNvSpPr/>
          <p:nvPr/>
        </p:nvSpPr>
        <p:spPr>
          <a:xfrm>
            <a:off x="3327400" y="4663115"/>
            <a:ext cx="457200" cy="58618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2968625" y="452024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3" name="Rectangle 52"/>
          <p:cNvSpPr/>
          <p:nvPr/>
        </p:nvSpPr>
        <p:spPr>
          <a:xfrm>
            <a:off x="4502150" y="4686396"/>
            <a:ext cx="457200" cy="5629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4143375" y="454352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5" name="Rectangle 54"/>
          <p:cNvSpPr/>
          <p:nvPr/>
        </p:nvSpPr>
        <p:spPr>
          <a:xfrm>
            <a:off x="5676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5318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7" name="Rectangle 56"/>
          <p:cNvSpPr/>
          <p:nvPr/>
        </p:nvSpPr>
        <p:spPr>
          <a:xfrm>
            <a:off x="6851650" y="4667910"/>
            <a:ext cx="457200" cy="58138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6492875" y="452503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9" name="TextBox 58"/>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60" name="TextBox 59"/>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61" name="TextBox 60"/>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62" name="TextBox 61"/>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63" name="TextBox 62"/>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4" name="TextBox 63"/>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5" name="Rounded Rectangle 6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7" name="Rectangle 6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69" name="TextBox 6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0" name="Picture 69" descr="lock.png"/>
          <p:cNvPicPr>
            <a:picLocks noChangeAspect="1"/>
          </p:cNvPicPr>
          <p:nvPr/>
        </p:nvPicPr>
        <p:blipFill>
          <a:blip r:embed="rId4"/>
          <a:stretch>
            <a:fillRect/>
          </a:stretch>
        </p:blipFill>
        <p:spPr>
          <a:xfrm>
            <a:off x="345225" y="3444127"/>
            <a:ext cx="128699" cy="187198"/>
          </a:xfrm>
          <a:prstGeom prst="rect">
            <a:avLst/>
          </a:prstGeom>
        </p:spPr>
      </p:pic>
      <p:pic>
        <p:nvPicPr>
          <p:cNvPr id="71" name="Picture 70" descr="lock.png"/>
          <p:cNvPicPr>
            <a:picLocks noChangeAspect="1"/>
          </p:cNvPicPr>
          <p:nvPr/>
        </p:nvPicPr>
        <p:blipFill>
          <a:blip r:embed="rId4"/>
          <a:stretch>
            <a:fillRect/>
          </a:stretch>
        </p:blipFill>
        <p:spPr>
          <a:xfrm>
            <a:off x="345225" y="2534076"/>
            <a:ext cx="128699" cy="187198"/>
          </a:xfrm>
          <a:prstGeom prst="rect">
            <a:avLst/>
          </a:prstGeom>
        </p:spPr>
      </p:pic>
      <p:pic>
        <p:nvPicPr>
          <p:cNvPr id="72" name="Picture 71" descr="lock.png"/>
          <p:cNvPicPr>
            <a:picLocks noChangeAspect="1"/>
          </p:cNvPicPr>
          <p:nvPr/>
        </p:nvPicPr>
        <p:blipFill>
          <a:blip r:embed="rId4"/>
          <a:stretch>
            <a:fillRect/>
          </a:stretch>
        </p:blipFill>
        <p:spPr>
          <a:xfrm>
            <a:off x="291647" y="1624025"/>
            <a:ext cx="128699" cy="187198"/>
          </a:xfrm>
          <a:prstGeom prst="rect">
            <a:avLst/>
          </a:prstGeom>
        </p:spPr>
      </p:pic>
      <p:pic>
        <p:nvPicPr>
          <p:cNvPr id="73" name="Picture 72" descr="lock.png"/>
          <p:cNvPicPr>
            <a:picLocks noChangeAspect="1"/>
          </p:cNvPicPr>
          <p:nvPr/>
        </p:nvPicPr>
        <p:blipFill>
          <a:blip r:embed="rId4"/>
          <a:stretch>
            <a:fillRect/>
          </a:stretch>
        </p:blipFill>
        <p:spPr>
          <a:xfrm>
            <a:off x="1761275" y="2724327"/>
            <a:ext cx="128699" cy="187198"/>
          </a:xfrm>
          <a:prstGeom prst="rect">
            <a:avLst/>
          </a:prstGeom>
        </p:spPr>
      </p:pic>
      <p:pic>
        <p:nvPicPr>
          <p:cNvPr id="74" name="Picture 73" descr="lock.png"/>
          <p:cNvPicPr>
            <a:picLocks noChangeAspect="1"/>
          </p:cNvPicPr>
          <p:nvPr/>
        </p:nvPicPr>
        <p:blipFill>
          <a:blip r:embed="rId4"/>
          <a:stretch>
            <a:fillRect/>
          </a:stretch>
        </p:blipFill>
        <p:spPr>
          <a:xfrm>
            <a:off x="4098075" y="1748312"/>
            <a:ext cx="128699" cy="187198"/>
          </a:xfrm>
          <a:prstGeom prst="rect">
            <a:avLst/>
          </a:prstGeom>
        </p:spPr>
      </p:pic>
      <p:pic>
        <p:nvPicPr>
          <p:cNvPr id="75" name="Picture 74" descr="lock.png"/>
          <p:cNvPicPr>
            <a:picLocks noChangeAspect="1"/>
          </p:cNvPicPr>
          <p:nvPr/>
        </p:nvPicPr>
        <p:blipFill>
          <a:blip r:embed="rId4"/>
          <a:stretch>
            <a:fillRect/>
          </a:stretch>
        </p:blipFill>
        <p:spPr>
          <a:xfrm>
            <a:off x="6434875" y="2233740"/>
            <a:ext cx="128699" cy="187198"/>
          </a:xfrm>
          <a:prstGeom prst="rect">
            <a:avLst/>
          </a:prstGeom>
        </p:spPr>
      </p:pic>
      <p:pic>
        <p:nvPicPr>
          <p:cNvPr id="76" name="Picture 75" descr="lock.png"/>
          <p:cNvPicPr>
            <a:picLocks noChangeAspect="1"/>
          </p:cNvPicPr>
          <p:nvPr/>
        </p:nvPicPr>
        <p:blipFill>
          <a:blip r:embed="rId4"/>
          <a:stretch>
            <a:fillRect/>
          </a:stretch>
        </p:blipFill>
        <p:spPr>
          <a:xfrm>
            <a:off x="1142150" y="4489232"/>
            <a:ext cx="128699" cy="187198"/>
          </a:xfrm>
          <a:prstGeom prst="rect">
            <a:avLst/>
          </a:prstGeom>
        </p:spPr>
      </p:pic>
      <p:pic>
        <p:nvPicPr>
          <p:cNvPr id="77" name="Picture 76" descr="lock.png"/>
          <p:cNvPicPr>
            <a:picLocks noChangeAspect="1"/>
          </p:cNvPicPr>
          <p:nvPr/>
        </p:nvPicPr>
        <p:blipFill>
          <a:blip r:embed="rId4"/>
          <a:stretch>
            <a:fillRect/>
          </a:stretch>
        </p:blipFill>
        <p:spPr>
          <a:xfrm>
            <a:off x="2316900" y="4475276"/>
            <a:ext cx="128699" cy="187198"/>
          </a:xfrm>
          <a:prstGeom prst="rect">
            <a:avLst/>
          </a:prstGeom>
        </p:spPr>
      </p:pic>
      <p:pic>
        <p:nvPicPr>
          <p:cNvPr id="78" name="Picture 77" descr="lock.png"/>
          <p:cNvPicPr>
            <a:picLocks noChangeAspect="1"/>
          </p:cNvPicPr>
          <p:nvPr/>
        </p:nvPicPr>
        <p:blipFill>
          <a:blip r:embed="rId4"/>
          <a:stretch>
            <a:fillRect/>
          </a:stretch>
        </p:blipFill>
        <p:spPr>
          <a:xfrm>
            <a:off x="3491650" y="4493316"/>
            <a:ext cx="128699" cy="187198"/>
          </a:xfrm>
          <a:prstGeom prst="rect">
            <a:avLst/>
          </a:prstGeom>
        </p:spPr>
      </p:pic>
      <p:pic>
        <p:nvPicPr>
          <p:cNvPr id="79" name="Picture 78" descr="lock.png"/>
          <p:cNvPicPr>
            <a:picLocks noChangeAspect="1"/>
          </p:cNvPicPr>
          <p:nvPr/>
        </p:nvPicPr>
        <p:blipFill>
          <a:blip r:embed="rId4"/>
          <a:stretch>
            <a:fillRect/>
          </a:stretch>
        </p:blipFill>
        <p:spPr>
          <a:xfrm>
            <a:off x="4666400" y="4516597"/>
            <a:ext cx="128699" cy="187198"/>
          </a:xfrm>
          <a:prstGeom prst="rect">
            <a:avLst/>
          </a:prstGeom>
        </p:spPr>
      </p:pic>
      <p:pic>
        <p:nvPicPr>
          <p:cNvPr id="80" name="Picture 79" descr="lock.png"/>
          <p:cNvPicPr>
            <a:picLocks noChangeAspect="1"/>
          </p:cNvPicPr>
          <p:nvPr/>
        </p:nvPicPr>
        <p:blipFill>
          <a:blip r:embed="rId4"/>
          <a:stretch>
            <a:fillRect/>
          </a:stretch>
        </p:blipFill>
        <p:spPr>
          <a:xfrm>
            <a:off x="5841150" y="4444308"/>
            <a:ext cx="128699" cy="187198"/>
          </a:xfrm>
          <a:prstGeom prst="rect">
            <a:avLst/>
          </a:prstGeom>
        </p:spPr>
      </p:pic>
      <p:pic>
        <p:nvPicPr>
          <p:cNvPr id="81" name="Picture 80" descr="lock.png"/>
          <p:cNvPicPr>
            <a:picLocks noChangeAspect="1"/>
          </p:cNvPicPr>
          <p:nvPr/>
        </p:nvPicPr>
        <p:blipFill>
          <a:blip r:embed="rId4"/>
          <a:stretch>
            <a:fillRect/>
          </a:stretch>
        </p:blipFill>
        <p:spPr>
          <a:xfrm>
            <a:off x="7015900" y="4498111"/>
            <a:ext cx="128699" cy="187198"/>
          </a:xfrm>
          <a:prstGeom prst="rect">
            <a:avLst/>
          </a:prstGeom>
        </p:spPr>
      </p:pic>
      <p:sp>
        <p:nvSpPr>
          <p:cNvPr id="82" name="TextBox 81"/>
          <p:cNvSpPr txBox="1"/>
          <p:nvPr/>
        </p:nvSpPr>
        <p:spPr>
          <a:xfrm>
            <a:off x="8048625" y="1736673"/>
            <a:ext cx="3702062" cy="194310"/>
          </a:xfrm>
          <a:prstGeom prst="rect">
            <a:avLst/>
          </a:prstGeom>
          <a:noFill/>
        </p:spPr>
        <p:txBody>
          <a:bodyPr wrap="none" lIns="0" rIns="0" tIns="0" bIns="0">
            <a:spAutoFit/>
          </a:bodyPr>
          <a:lstStyle/>
          <a:p>
            <a:r>
              <a:rPr sz="1150" b="0">
                <a:solidFill>
                  <a:srgbClr val="2E2E2E"/>
                </a:solidFill>
                <a:latin typeface="Calibri"/>
              </a:rPr>
              <a:t>▪ The chart shows global average pricing of key partition type</a:t>
            </a:r>
          </a:p>
        </p:txBody>
      </p:sp>
      <p:sp>
        <p:nvSpPr>
          <p:cNvPr id="83" name="TextBox 82"/>
          <p:cNvSpPr txBox="1"/>
          <p:nvPr/>
        </p:nvSpPr>
        <p:spPr>
          <a:xfrm>
            <a:off x="8048625" y="1911934"/>
            <a:ext cx="3848100" cy="194310"/>
          </a:xfrm>
          <a:prstGeom prst="rect">
            <a:avLst/>
          </a:prstGeom>
          <a:noFill/>
        </p:spPr>
        <p:txBody>
          <a:bodyPr wrap="none" lIns="0" rIns="0" tIns="0" bIns="0">
            <a:spAutoFit/>
          </a:bodyPr>
          <a:lstStyle/>
          <a:p>
            <a:r>
              <a:rPr sz="1150" b="0">
                <a:solidFill>
                  <a:srgbClr val="2E2E2E"/>
                </a:solidFill>
                <a:latin typeface="Calibri"/>
              </a:rPr>
              <a:t>types in USD, harmonised across regions. Each candlestick spans</a:t>
            </a:r>
          </a:p>
        </p:txBody>
      </p:sp>
      <p:sp>
        <p:nvSpPr>
          <p:cNvPr id="84" name="TextBox 83"/>
          <p:cNvSpPr txBox="1"/>
          <p:nvPr/>
        </p:nvSpPr>
        <p:spPr>
          <a:xfrm>
            <a:off x="8048625" y="2087194"/>
            <a:ext cx="3848100" cy="194310"/>
          </a:xfrm>
          <a:prstGeom prst="rect">
            <a:avLst/>
          </a:prstGeom>
          <a:noFill/>
        </p:spPr>
        <p:txBody>
          <a:bodyPr wrap="none" lIns="0" rIns="0" tIns="0" bIns="0">
            <a:spAutoFit/>
          </a:bodyPr>
          <a:lstStyle/>
          <a:p>
            <a:r>
              <a:rPr sz="1150" b="0">
                <a:solidFill>
                  <a:srgbClr val="2E2E2E"/>
                </a:solidFill>
                <a:latin typeface="Calibri"/>
              </a:rPr>
              <a:t>the minimum-to-maximum observed price within the base year,</a:t>
            </a:r>
          </a:p>
        </p:txBody>
      </p:sp>
      <p:sp>
        <p:nvSpPr>
          <p:cNvPr id="85" name="TextBox 84"/>
          <p:cNvSpPr txBox="1"/>
          <p:nvPr/>
        </p:nvSpPr>
        <p:spPr>
          <a:xfrm>
            <a:off x="8048625" y="2262454"/>
            <a:ext cx="3406254" cy="194310"/>
          </a:xfrm>
          <a:prstGeom prst="rect">
            <a:avLst/>
          </a:prstGeom>
          <a:noFill/>
        </p:spPr>
        <p:txBody>
          <a:bodyPr wrap="none" lIns="0" rIns="0" tIns="0" bIns="0">
            <a:spAutoFit/>
          </a:bodyPr>
          <a:lstStyle/>
          <a:p>
            <a:r>
              <a:rPr sz="1150" b="0">
                <a:solidFill>
                  <a:srgbClr val="2E2E2E"/>
                </a:solidFill>
                <a:latin typeface="Calibri"/>
              </a:rPr>
              <a:t>giving a clear read of price range and market dispersion.</a:t>
            </a:r>
          </a:p>
        </p:txBody>
      </p:sp>
      <p:sp>
        <p:nvSpPr>
          <p:cNvPr id="86" name="TextBox 85"/>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87" name="TextBox 86"/>
          <p:cNvSpPr txBox="1"/>
          <p:nvPr/>
        </p:nvSpPr>
        <p:spPr>
          <a:xfrm>
            <a:off x="8048625" y="2665551"/>
            <a:ext cx="3619624" cy="194310"/>
          </a:xfrm>
          <a:prstGeom prst="rect">
            <a:avLst/>
          </a:prstGeom>
          <a:noFill/>
        </p:spPr>
        <p:txBody>
          <a:bodyPr wrap="none" lIns="0" rIns="0" tIns="0" bIns="0">
            <a:spAutoFit/>
          </a:bodyPr>
          <a:lstStyle/>
          <a:p>
            <a:r>
              <a:rPr sz="1150" b="0">
                <a:solidFill>
                  <a:srgbClr val="2E2E2E"/>
                </a:solidFill>
                <a:latin typeface="Calibri"/>
              </a:rPr>
              <a:t>price levels 'Slotted (Interlocking Grid) Partitions' shows the</a:t>
            </a:r>
          </a:p>
        </p:txBody>
      </p:sp>
      <p:sp>
        <p:nvSpPr>
          <p:cNvPr id="88" name="TextBox 87"/>
          <p:cNvSpPr txBox="1"/>
          <p:nvPr/>
        </p:nvSpPr>
        <p:spPr>
          <a:xfrm>
            <a:off x="8048625" y="2840811"/>
            <a:ext cx="1206661" cy="194310"/>
          </a:xfrm>
          <a:prstGeom prst="rect">
            <a:avLst/>
          </a:prstGeom>
          <a:noFill/>
        </p:spPr>
        <p:txBody>
          <a:bodyPr wrap="none" lIns="0" rIns="0" tIns="0" bIns="0">
            <a:spAutoFit/>
          </a:bodyPr>
          <a:lstStyle/>
          <a:p>
            <a:r>
              <a:rPr sz="1150" b="0">
                <a:solidFill>
                  <a:srgbClr val="2E2E2E"/>
                </a:solidFill>
                <a:latin typeface="Calibri"/>
              </a:rPr>
              <a:t>most movement (+</a:t>
            </a:r>
          </a:p>
        </p:txBody>
      </p:sp>
      <p:pic>
        <p:nvPicPr>
          <p:cNvPr id="89" name="Picture 88" descr="lock.png"/>
          <p:cNvPicPr>
            <a:picLocks noChangeAspect="1"/>
          </p:cNvPicPr>
          <p:nvPr/>
        </p:nvPicPr>
        <p:blipFill>
          <a:blip r:embed="rId4"/>
          <a:stretch>
            <a:fillRect/>
          </a:stretch>
        </p:blipFill>
        <p:spPr>
          <a:xfrm>
            <a:off x="9204440" y="2830588"/>
            <a:ext cx="134549" cy="195707"/>
          </a:xfrm>
          <a:prstGeom prst="rect">
            <a:avLst/>
          </a:prstGeom>
        </p:spPr>
      </p:pic>
      <p:sp>
        <p:nvSpPr>
          <p:cNvPr id="90" name="TextBox 89"/>
          <p:cNvSpPr txBox="1"/>
          <p:nvPr/>
        </p:nvSpPr>
        <p:spPr>
          <a:xfrm>
            <a:off x="9379549" y="2840811"/>
            <a:ext cx="2062391" cy="194310"/>
          </a:xfrm>
          <a:prstGeom prst="rect">
            <a:avLst/>
          </a:prstGeom>
          <a:noFill/>
        </p:spPr>
        <p:txBody>
          <a:bodyPr wrap="none" lIns="0" rIns="0" tIns="0" bIns="0">
            <a:spAutoFit/>
          </a:bodyPr>
          <a:lstStyle/>
          <a:p>
            <a:r>
              <a:rPr sz="1150" b="0">
                <a:solidFill>
                  <a:srgbClr val="2E2E2E"/>
                </a:solidFill>
                <a:latin typeface="Calibri"/>
              </a:rPr>
              <a:t>) and 'Die-Cut &amp; Folded Partitions</a:t>
            </a:r>
          </a:p>
        </p:txBody>
      </p:sp>
      <p:sp>
        <p:nvSpPr>
          <p:cNvPr id="91" name="TextBox 90"/>
          <p:cNvSpPr txBox="1"/>
          <p:nvPr/>
        </p:nvSpPr>
        <p:spPr>
          <a:xfrm>
            <a:off x="8048625" y="3016071"/>
            <a:ext cx="2531095" cy="194310"/>
          </a:xfrm>
          <a:prstGeom prst="rect">
            <a:avLst/>
          </a:prstGeom>
          <a:noFill/>
        </p:spPr>
        <p:txBody>
          <a:bodyPr wrap="none" lIns="0" rIns="0" tIns="0" bIns="0">
            <a:spAutoFit/>
          </a:bodyPr>
          <a:lstStyle/>
          <a:p>
            <a:r>
              <a:rPr sz="1150" b="0">
                <a:solidFill>
                  <a:srgbClr val="2E2E2E"/>
                </a:solidFill>
                <a:latin typeface="Calibri"/>
              </a:rPr>
              <a:t>(H-dividers, tube/cell inserts)' the least (+</a:t>
            </a:r>
          </a:p>
        </p:txBody>
      </p:sp>
      <p:pic>
        <p:nvPicPr>
          <p:cNvPr id="92" name="Picture 91" descr="lock.png"/>
          <p:cNvPicPr>
            <a:picLocks noChangeAspect="1"/>
          </p:cNvPicPr>
          <p:nvPr/>
        </p:nvPicPr>
        <p:blipFill>
          <a:blip r:embed="rId4"/>
          <a:stretch>
            <a:fillRect/>
          </a:stretch>
        </p:blipFill>
        <p:spPr>
          <a:xfrm>
            <a:off x="10528874" y="3005848"/>
            <a:ext cx="134549" cy="195707"/>
          </a:xfrm>
          <a:prstGeom prst="rect">
            <a:avLst/>
          </a:prstGeom>
        </p:spPr>
      </p:pic>
      <p:sp>
        <p:nvSpPr>
          <p:cNvPr id="93" name="TextBox 92"/>
          <p:cNvSpPr txBox="1"/>
          <p:nvPr/>
        </p:nvSpPr>
        <p:spPr>
          <a:xfrm>
            <a:off x="10703983" y="3016071"/>
            <a:ext cx="736848" cy="194310"/>
          </a:xfrm>
          <a:prstGeom prst="rect">
            <a:avLst/>
          </a:prstGeom>
          <a:noFill/>
        </p:spPr>
        <p:txBody>
          <a:bodyPr wrap="none" lIns="0" rIns="0" tIns="0" bIns="0">
            <a:spAutoFit/>
          </a:bodyPr>
          <a:lstStyle/>
          <a:p>
            <a:r>
              <a:rPr sz="1150" b="0">
                <a:solidFill>
                  <a:srgbClr val="2E2E2E"/>
                </a:solidFill>
                <a:latin typeface="Calibri"/>
              </a:rPr>
              <a:t>) variability</a:t>
            </a:r>
          </a:p>
        </p:txBody>
      </p:sp>
      <p:sp>
        <p:nvSpPr>
          <p:cNvPr id="94" name="TextBox 93"/>
          <p:cNvSpPr txBox="1"/>
          <p:nvPr/>
        </p:nvSpPr>
        <p:spPr>
          <a:xfrm>
            <a:off x="8048625" y="3191331"/>
            <a:ext cx="3668117" cy="194310"/>
          </a:xfrm>
          <a:prstGeom prst="rect">
            <a:avLst/>
          </a:prstGeom>
          <a:noFill/>
        </p:spPr>
        <p:txBody>
          <a:bodyPr wrap="none" lIns="0" rIns="0" tIns="0" bIns="0">
            <a:spAutoFit/>
          </a:bodyPr>
          <a:lstStyle/>
          <a:p>
            <a:r>
              <a:rPr sz="1150" b="0">
                <a:solidFill>
                  <a:srgbClr val="2E2E2E"/>
                </a:solidFill>
                <a:latin typeface="Calibri"/>
              </a:rPr>
              <a:t>stakeholders should monitor when planning procurement or</a:t>
            </a:r>
          </a:p>
        </p:txBody>
      </p:sp>
      <p:sp>
        <p:nvSpPr>
          <p:cNvPr id="95" name="TextBox 94"/>
          <p:cNvSpPr txBox="1"/>
          <p:nvPr/>
        </p:nvSpPr>
        <p:spPr>
          <a:xfrm>
            <a:off x="8048625" y="3366591"/>
            <a:ext cx="515491" cy="194310"/>
          </a:xfrm>
          <a:prstGeom prst="rect">
            <a:avLst/>
          </a:prstGeom>
          <a:noFill/>
        </p:spPr>
        <p:txBody>
          <a:bodyPr wrap="none" lIns="0" rIns="0" tIns="0" bIns="0">
            <a:spAutoFit/>
          </a:bodyPr>
          <a:lstStyle/>
          <a:p>
            <a:r>
              <a:rPr sz="1150" b="0">
                <a:solidFill>
                  <a:srgbClr val="2E2E2E"/>
                </a:solidFill>
                <a:latin typeface="Calibri"/>
              </a:rPr>
              <a:t>pricing.</a:t>
            </a:r>
          </a:p>
        </p:txBody>
      </p:sp>
      <p:sp>
        <p:nvSpPr>
          <p:cNvPr id="96" name="TextBox 95"/>
          <p:cNvSpPr txBox="1"/>
          <p:nvPr/>
        </p:nvSpPr>
        <p:spPr>
          <a:xfrm>
            <a:off x="8048625" y="3594429"/>
            <a:ext cx="3718607" cy="194310"/>
          </a:xfrm>
          <a:prstGeom prst="rect">
            <a:avLst/>
          </a:prstGeom>
          <a:noFill/>
        </p:spPr>
        <p:txBody>
          <a:bodyPr wrap="none" lIns="0" rIns="0" tIns="0" bIns="0">
            <a:spAutoFit/>
          </a:bodyPr>
          <a:lstStyle/>
          <a:p>
            <a:r>
              <a:rPr sz="1150" b="0">
                <a:solidFill>
                  <a:srgbClr val="2E2E2E"/>
                </a:solidFill>
                <a:latin typeface="Calibri"/>
              </a:rPr>
              <a:t>▪ The lower chart indexes region-level price movement to the</a:t>
            </a:r>
          </a:p>
        </p:txBody>
      </p:sp>
      <p:sp>
        <p:nvSpPr>
          <p:cNvPr id="97" name="TextBox 96"/>
          <p:cNvSpPr txBox="1"/>
          <p:nvPr/>
        </p:nvSpPr>
        <p:spPr>
          <a:xfrm>
            <a:off x="8048625" y="376968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98" name="TextBox 97"/>
          <p:cNvSpPr txBox="1"/>
          <p:nvPr/>
        </p:nvSpPr>
        <p:spPr>
          <a:xfrm>
            <a:off x="8048625" y="394494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99" name="TextBox 98"/>
          <p:cNvSpPr txBox="1"/>
          <p:nvPr/>
        </p:nvSpPr>
        <p:spPr>
          <a:xfrm>
            <a:off x="8048625" y="412020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100" name="TextBox 99"/>
          <p:cNvSpPr txBox="1"/>
          <p:nvPr/>
        </p:nvSpPr>
        <p:spPr>
          <a:xfrm>
            <a:off x="8048625" y="4348047"/>
            <a:ext cx="2340260" cy="194310"/>
          </a:xfrm>
          <a:prstGeom prst="rect">
            <a:avLst/>
          </a:prstGeom>
          <a:noFill/>
        </p:spPr>
        <p:txBody>
          <a:bodyPr wrap="none" lIns="0" rIns="0" tIns="0" bIns="0">
            <a:spAutoFit/>
          </a:bodyPr>
          <a:lstStyle/>
          <a:p>
            <a:r>
              <a:rPr sz="1150" b="0">
                <a:solidFill>
                  <a:srgbClr val="2E2E2E"/>
                </a:solidFill>
                <a:latin typeface="Calibri"/>
              </a:rPr>
              <a:t>▪ Region price indices diverge by up to</a:t>
            </a:r>
          </a:p>
        </p:txBody>
      </p:sp>
      <p:pic>
        <p:nvPicPr>
          <p:cNvPr id="101" name="Picture 100" descr="lock.png"/>
          <p:cNvPicPr>
            <a:picLocks noChangeAspect="1"/>
          </p:cNvPicPr>
          <p:nvPr/>
        </p:nvPicPr>
        <p:blipFill>
          <a:blip r:embed="rId4"/>
          <a:stretch>
            <a:fillRect/>
          </a:stretch>
        </p:blipFill>
        <p:spPr>
          <a:xfrm>
            <a:off x="10338039" y="4337824"/>
            <a:ext cx="134549" cy="195707"/>
          </a:xfrm>
          <a:prstGeom prst="rect">
            <a:avLst/>
          </a:prstGeom>
        </p:spPr>
      </p:pic>
      <p:sp>
        <p:nvSpPr>
          <p:cNvPr id="102" name="TextBox 101"/>
          <p:cNvSpPr txBox="1"/>
          <p:nvPr/>
        </p:nvSpPr>
        <p:spPr>
          <a:xfrm>
            <a:off x="10513148" y="434804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103" name="TextBox 102"/>
          <p:cNvSpPr txBox="1"/>
          <p:nvPr/>
        </p:nvSpPr>
        <p:spPr>
          <a:xfrm>
            <a:off x="8048625" y="4523307"/>
            <a:ext cx="3848100" cy="194310"/>
          </a:xfrm>
          <a:prstGeom prst="rect">
            <a:avLst/>
          </a:prstGeom>
          <a:noFill/>
        </p:spPr>
        <p:txBody>
          <a:bodyPr wrap="none" lIns="0" rIns="0" tIns="0" bIns="0">
            <a:spAutoFit/>
          </a:bodyPr>
          <a:lstStyle/>
          <a:p>
            <a:r>
              <a:rPr sz="1150" b="0">
                <a:solidFill>
                  <a:srgbClr val="2E2E2E"/>
                </a:solidFill>
                <a:latin typeface="Calibri"/>
              </a:rPr>
              <a:t>2036: higher-priced regions start higher and grow steadily, while</a:t>
            </a:r>
          </a:p>
        </p:txBody>
      </p:sp>
      <p:sp>
        <p:nvSpPr>
          <p:cNvPr id="104" name="TextBox 103"/>
          <p:cNvSpPr txBox="1"/>
          <p:nvPr/>
        </p:nvSpPr>
        <p:spPr>
          <a:xfrm>
            <a:off x="8048625" y="4698567"/>
            <a:ext cx="3454747" cy="194310"/>
          </a:xfrm>
          <a:prstGeom prst="rect">
            <a:avLst/>
          </a:prstGeom>
          <a:noFill/>
        </p:spPr>
        <p:txBody>
          <a:bodyPr wrap="none" lIns="0" rIns="0" tIns="0" bIns="0">
            <a:spAutoFit/>
          </a:bodyPr>
          <a:lstStyle/>
          <a:p>
            <a:r>
              <a:rPr sz="1150" b="0">
                <a:solidFill>
                  <a:srgbClr val="2E2E2E"/>
                </a:solidFill>
                <a:latin typeface="Calibri"/>
              </a:rPr>
              <a:t>lower-priced regions start lower and converge, reflecting</a:t>
            </a:r>
          </a:p>
        </p:txBody>
      </p:sp>
      <p:sp>
        <p:nvSpPr>
          <p:cNvPr id="105" name="TextBox 104"/>
          <p:cNvSpPr txBox="1"/>
          <p:nvPr/>
        </p:nvSpPr>
        <p:spPr>
          <a:xfrm>
            <a:off x="8048625" y="4873827"/>
            <a:ext cx="1090848" cy="194310"/>
          </a:xfrm>
          <a:prstGeom prst="rect">
            <a:avLst/>
          </a:prstGeom>
          <a:noFill/>
        </p:spPr>
        <p:txBody>
          <a:bodyPr wrap="none" lIns="0" rIns="0" tIns="0" bIns="0">
            <a:spAutoFit/>
          </a:bodyPr>
          <a:lstStyle/>
          <a:p>
            <a:r>
              <a:rPr sz="1150" b="0">
                <a:solidFill>
                  <a:srgbClr val="2E2E2E"/>
                </a:solidFill>
                <a:latin typeface="Calibri"/>
              </a:rPr>
              <a:t>catch-up growth.</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Pricing Assessment: By Partition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partition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Partition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90"/>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69418">
                <a:tc>
                  <a:txBody>
                    <a:bodyPr wrap="square"/>
                    <a:lstStyle/>
                    <a:p>
                      <a:pPr algn="l"/>
                      <a:r>
                        <a:rPr sz="850" b="1">
                          <a:solidFill>
                            <a:srgbClr val="FFFFFF"/>
                          </a:solidFill>
                          <a:latin typeface="Calibri"/>
                        </a:rPr>
                        <a:t>Partition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69418">
                <a:tc>
                  <a:txBody>
                    <a:bodyPr wrap="square"/>
                    <a:lstStyle/>
                    <a:p>
                      <a:pPr algn="l"/>
                      <a:r>
                        <a:rPr sz="850" b="1">
                          <a:solidFill>
                            <a:srgbClr val="1F1F1F"/>
                          </a:solidFill>
                          <a:latin typeface="Calibri"/>
                        </a:rPr>
                        <a:t>Die-Cut &amp; Folded Partitions (H-dividers, tube/cell inserts)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4B183"/>
                    </a:solidFill>
                  </a:tcPr>
                </a:tc>
              </a:tr>
              <a:tr h="369418">
                <a:tc>
                  <a:txBody>
                    <a:bodyPr wrap="square"/>
                    <a:lstStyle/>
                    <a:p>
                      <a:pPr algn="l"/>
                      <a:r>
                        <a:rPr sz="850" b="1">
                          <a:solidFill>
                            <a:srgbClr val="1F1F1F"/>
                          </a:solidFill>
                          <a:latin typeface="Calibri"/>
                        </a:rPr>
                        <a:t>Flat Dividers &amp; Layer Pads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D9E6F2"/>
                    </a:solidFill>
                  </a:tcPr>
                </a:tc>
              </a:tr>
              <a:tr h="369418">
                <a:tc>
                  <a:txBody>
                    <a:bodyPr wrap="square"/>
                    <a:lstStyle/>
                    <a:p>
                      <a:pPr algn="l"/>
                      <a:r>
                        <a:rPr sz="850" b="1">
                          <a:solidFill>
                            <a:srgbClr val="1F1F1F"/>
                          </a:solidFill>
                          <a:latin typeface="Calibri"/>
                        </a:rPr>
                        <a:t>Slotted (Interlocking Grid) Partitions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9DC0E0"/>
                    </a:solidFill>
                  </a:tcPr>
                </a:tc>
              </a:tr>
              <a:tr h="369418">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10283571" y="4071291"/>
            <a:ext cx="330041" cy="480060"/>
          </a:xfrm>
          <a:prstGeom prst="rect">
            <a:avLst/>
          </a:prstGeom>
        </p:spPr>
      </p:pic>
      <p:sp>
        <p:nvSpPr>
          <p:cNvPr id="34" name="TextBox 33"/>
          <p:cNvSpPr txBox="1"/>
          <p:nvPr/>
        </p:nvSpPr>
        <p:spPr>
          <a:xfrm>
            <a:off x="411480" y="1114577"/>
            <a:ext cx="6934528" cy="209245"/>
          </a:xfrm>
          <a:prstGeom prst="rect">
            <a:avLst/>
          </a:prstGeom>
          <a:noFill/>
        </p:spPr>
        <p:txBody>
          <a:bodyPr wrap="none" lIns="0" rIns="0" tIns="0" bIns="0">
            <a:spAutoFit/>
          </a:bodyPr>
          <a:lstStyle/>
          <a:p>
            <a:r>
              <a:rPr sz="1248" b="1">
                <a:solidFill>
                  <a:srgbClr val="FFFFFF"/>
                </a:solidFill>
                <a:latin typeface="Calibri"/>
              </a:rPr>
              <a:t>Die-Cut &amp; Folded Partitions (H-dividers, tube/cell inserts) commands the highest 2026 price point at US$</a:t>
            </a:r>
          </a:p>
        </p:txBody>
      </p:sp>
      <p:pic>
        <p:nvPicPr>
          <p:cNvPr id="35" name="Picture 34" descr="lock.png"/>
          <p:cNvPicPr>
            <a:picLocks noChangeAspect="1"/>
          </p:cNvPicPr>
          <p:nvPr/>
        </p:nvPicPr>
        <p:blipFill>
          <a:blip r:embed="rId6"/>
          <a:stretch>
            <a:fillRect/>
          </a:stretch>
        </p:blipFill>
        <p:spPr>
          <a:xfrm>
            <a:off x="7297322" y="1103482"/>
            <a:ext cx="146014" cy="212384"/>
          </a:xfrm>
          <a:prstGeom prst="rect">
            <a:avLst/>
          </a:prstGeom>
        </p:spPr>
      </p:pic>
      <p:sp>
        <p:nvSpPr>
          <p:cNvPr id="36" name="TextBox 35"/>
          <p:cNvSpPr txBox="1"/>
          <p:nvPr/>
        </p:nvSpPr>
        <p:spPr>
          <a:xfrm>
            <a:off x="7487354" y="1114577"/>
            <a:ext cx="516707" cy="209245"/>
          </a:xfrm>
          <a:prstGeom prst="rect">
            <a:avLst/>
          </a:prstGeom>
          <a:noFill/>
        </p:spPr>
        <p:txBody>
          <a:bodyPr wrap="none" lIns="0" rIns="0" tIns="0" bIns="0">
            <a:spAutoFit/>
          </a:bodyPr>
          <a:lstStyle/>
          <a:p>
            <a:r>
              <a:rPr sz="1248" b="1">
                <a:solidFill>
                  <a:srgbClr val="FFFFFF"/>
                </a:solidFill>
                <a:latin typeface="Calibri"/>
              </a:rPr>
              <a:t>/MT, a</a:t>
            </a:r>
          </a:p>
        </p:txBody>
      </p:sp>
      <p:pic>
        <p:nvPicPr>
          <p:cNvPr id="37" name="Picture 36" descr="lock.png"/>
          <p:cNvPicPr>
            <a:picLocks noChangeAspect="1"/>
          </p:cNvPicPr>
          <p:nvPr/>
        </p:nvPicPr>
        <p:blipFill>
          <a:blip r:embed="rId6"/>
          <a:stretch>
            <a:fillRect/>
          </a:stretch>
        </p:blipFill>
        <p:spPr>
          <a:xfrm>
            <a:off x="7955376" y="1103482"/>
            <a:ext cx="146014" cy="212384"/>
          </a:xfrm>
          <a:prstGeom prst="rect">
            <a:avLst/>
          </a:prstGeom>
        </p:spPr>
      </p:pic>
      <p:sp>
        <p:nvSpPr>
          <p:cNvPr id="38" name="TextBox 37"/>
          <p:cNvSpPr txBox="1"/>
          <p:nvPr/>
        </p:nvSpPr>
        <p:spPr>
          <a:xfrm>
            <a:off x="8145407" y="1114577"/>
            <a:ext cx="3478291" cy="209245"/>
          </a:xfrm>
          <a:prstGeom prst="rect">
            <a:avLst/>
          </a:prstGeom>
          <a:noFill/>
        </p:spPr>
        <p:txBody>
          <a:bodyPr wrap="none" lIns="0" rIns="0" tIns="0" bIns="0">
            <a:spAutoFit/>
          </a:bodyPr>
          <a:lstStyle/>
          <a:p>
            <a:r>
              <a:rPr sz="1248" b="1">
                <a:solidFill>
                  <a:srgbClr val="FFFFFF"/>
                </a:solidFill>
                <a:latin typeface="Calibri"/>
              </a:rPr>
              <a:t>premium over Slotted (Interlocking Grid) Partitions.</a:t>
            </a:r>
          </a:p>
        </p:txBody>
      </p:sp>
      <p:sp>
        <p:nvSpPr>
          <p:cNvPr id="39" name="TextBox 38"/>
          <p:cNvSpPr txBox="1"/>
          <p:nvPr/>
        </p:nvSpPr>
        <p:spPr>
          <a:xfrm>
            <a:off x="6995160" y="1602867"/>
            <a:ext cx="2164334" cy="180289"/>
          </a:xfrm>
          <a:prstGeom prst="rect">
            <a:avLst/>
          </a:prstGeom>
          <a:noFill/>
        </p:spPr>
        <p:txBody>
          <a:bodyPr wrap="none" lIns="0" rIns="0" tIns="0" bIns="0">
            <a:spAutoFit/>
          </a:bodyPr>
          <a:lstStyle/>
          <a:p>
            <a:r>
              <a:rPr sz="1057" b="1">
                <a:solidFill>
                  <a:srgbClr val="0B2E4A"/>
                </a:solidFill>
                <a:latin typeface="Calibri"/>
              </a:rPr>
              <a:t>2026 Price Index vs Global Average (=</a:t>
            </a:r>
          </a:p>
        </p:txBody>
      </p:sp>
      <p:pic>
        <p:nvPicPr>
          <p:cNvPr id="40" name="Picture 39" descr="lock.png"/>
          <p:cNvPicPr>
            <a:picLocks noChangeAspect="1"/>
          </p:cNvPicPr>
          <p:nvPr/>
        </p:nvPicPr>
        <p:blipFill>
          <a:blip r:embed="rId6"/>
          <a:stretch>
            <a:fillRect/>
          </a:stretch>
        </p:blipFill>
        <p:spPr>
          <a:xfrm>
            <a:off x="9106620" y="1593461"/>
            <a:ext cx="123784" cy="180050"/>
          </a:xfrm>
          <a:prstGeom prst="rect">
            <a:avLst/>
          </a:prstGeom>
        </p:spPr>
      </p:pic>
      <p:sp>
        <p:nvSpPr>
          <p:cNvPr id="41" name="TextBox 40"/>
          <p:cNvSpPr txBox="1"/>
          <p:nvPr/>
        </p:nvSpPr>
        <p:spPr>
          <a:xfrm>
            <a:off x="9267721" y="1602867"/>
            <a:ext cx="118189" cy="180289"/>
          </a:xfrm>
          <a:prstGeom prst="rect">
            <a:avLst/>
          </a:prstGeom>
          <a:noFill/>
        </p:spPr>
        <p:txBody>
          <a:bodyPr wrap="none" lIns="0" rIns="0" tIns="0" bIns="0">
            <a:spAutoFit/>
          </a:bodyPr>
          <a:lstStyle/>
          <a:p>
            <a:r>
              <a:rPr sz="1057" b="1">
                <a:solidFill>
                  <a:srgbClr val="0B2E4A"/>
                </a:solidFill>
                <a:latin typeface="Calibri"/>
              </a:rPr>
              <a:t>)</a:t>
            </a:r>
          </a:p>
        </p:txBody>
      </p:sp>
      <p:sp>
        <p:nvSpPr>
          <p:cNvPr id="42" name="TextBox 41"/>
          <p:cNvSpPr txBox="1"/>
          <p:nvPr/>
        </p:nvSpPr>
        <p:spPr>
          <a:xfrm>
            <a:off x="806576" y="5530976"/>
            <a:ext cx="3143250" cy="179069"/>
          </a:xfrm>
          <a:prstGeom prst="rect">
            <a:avLst/>
          </a:prstGeom>
          <a:noFill/>
        </p:spPr>
        <p:txBody>
          <a:bodyPr wrap="none" lIns="0" rIns="0" tIns="0" bIns="0">
            <a:spAutoFit/>
          </a:bodyPr>
          <a:lstStyle/>
          <a:p>
            <a:r>
              <a:rPr sz="1050" b="0">
                <a:solidFill>
                  <a:srgbClr val="1F1F1F"/>
                </a:solidFill>
                <a:latin typeface="Calibri"/>
              </a:rPr>
              <a:t>Die-Cut &amp; Folded Partitions (H-dividers, tube/cell inserts)</a:t>
            </a:r>
          </a:p>
        </p:txBody>
      </p:sp>
      <p:sp>
        <p:nvSpPr>
          <p:cNvPr id="43" name="TextBox 42"/>
          <p:cNvSpPr txBox="1"/>
          <p:nvPr/>
        </p:nvSpPr>
        <p:spPr>
          <a:xfrm>
            <a:off x="806576" y="5690996"/>
            <a:ext cx="2923170" cy="179069"/>
          </a:xfrm>
          <a:prstGeom prst="rect">
            <a:avLst/>
          </a:prstGeom>
          <a:noFill/>
        </p:spPr>
        <p:txBody>
          <a:bodyPr wrap="none" lIns="0" rIns="0" tIns="0" bIns="0">
            <a:spAutoFit/>
          </a:bodyPr>
          <a:lstStyle/>
          <a:p>
            <a:r>
              <a:rPr sz="1050" b="0">
                <a:solidFill>
                  <a:srgbClr val="1F1F1F"/>
                </a:solidFill>
                <a:latin typeface="Calibri"/>
              </a:rPr>
              <a:t>sits at the top of the 2026 price ladder at an index of</a:t>
            </a:r>
          </a:p>
        </p:txBody>
      </p:sp>
      <p:pic>
        <p:nvPicPr>
          <p:cNvPr id="44" name="Picture 43" descr="lock.png"/>
          <p:cNvPicPr>
            <a:picLocks noChangeAspect="1"/>
          </p:cNvPicPr>
          <p:nvPr/>
        </p:nvPicPr>
        <p:blipFill>
          <a:blip r:embed="rId6"/>
          <a:stretch>
            <a:fillRect/>
          </a:stretch>
        </p:blipFill>
        <p:spPr>
          <a:xfrm>
            <a:off x="3676696" y="5681662"/>
            <a:ext cx="122849" cy="178689"/>
          </a:xfrm>
          <a:prstGeom prst="rect">
            <a:avLst/>
          </a:prstGeom>
        </p:spPr>
      </p:pic>
      <p:sp>
        <p:nvSpPr>
          <p:cNvPr id="45" name="TextBox 44"/>
          <p:cNvSpPr txBox="1"/>
          <p:nvPr/>
        </p:nvSpPr>
        <p:spPr>
          <a:xfrm>
            <a:off x="3836579" y="5690996"/>
            <a:ext cx="109537" cy="179069"/>
          </a:xfrm>
          <a:prstGeom prst="rect">
            <a:avLst/>
          </a:prstGeom>
          <a:noFill/>
        </p:spPr>
        <p:txBody>
          <a:bodyPr wrap="none" lIns="0" rIns="0" tIns="0" bIns="0">
            <a:spAutoFit/>
          </a:bodyPr>
          <a:lstStyle/>
          <a:p>
            <a:r>
              <a:rPr sz="1050" b="0">
                <a:solidFill>
                  <a:srgbClr val="1F1F1F"/>
                </a:solidFill>
                <a:latin typeface="Calibri"/>
              </a:rPr>
              <a:t>,</a:t>
            </a:r>
          </a:p>
        </p:txBody>
      </p:sp>
      <p:sp>
        <p:nvSpPr>
          <p:cNvPr id="46" name="TextBox 45"/>
          <p:cNvSpPr txBox="1"/>
          <p:nvPr/>
        </p:nvSpPr>
        <p:spPr>
          <a:xfrm>
            <a:off x="806576" y="5851016"/>
            <a:ext cx="2817948" cy="179069"/>
          </a:xfrm>
          <a:prstGeom prst="rect">
            <a:avLst/>
          </a:prstGeom>
          <a:noFill/>
        </p:spPr>
        <p:txBody>
          <a:bodyPr wrap="none" lIns="0" rIns="0" tIns="0" bIns="0">
            <a:spAutoFit/>
          </a:bodyPr>
          <a:lstStyle/>
          <a:p>
            <a:r>
              <a:rPr sz="1050" b="0">
                <a:solidFill>
                  <a:srgbClr val="1F1F1F"/>
                </a:solidFill>
                <a:latin typeface="Calibri"/>
              </a:rPr>
              <a:t>while Slotted (Interlocking Grid) Partitions trade at</a:t>
            </a:r>
          </a:p>
        </p:txBody>
      </p:sp>
      <p:pic>
        <p:nvPicPr>
          <p:cNvPr id="47" name="Picture 46" descr="lock.png"/>
          <p:cNvPicPr>
            <a:picLocks noChangeAspect="1"/>
          </p:cNvPicPr>
          <p:nvPr/>
        </p:nvPicPr>
        <p:blipFill>
          <a:blip r:embed="rId6"/>
          <a:stretch>
            <a:fillRect/>
          </a:stretch>
        </p:blipFill>
        <p:spPr>
          <a:xfrm>
            <a:off x="3571475" y="5841682"/>
            <a:ext cx="122849" cy="178689"/>
          </a:xfrm>
          <a:prstGeom prst="rect">
            <a:avLst/>
          </a:prstGeom>
        </p:spPr>
      </p:pic>
      <p:sp>
        <p:nvSpPr>
          <p:cNvPr id="48" name="TextBox 47"/>
          <p:cNvSpPr txBox="1"/>
          <p:nvPr/>
        </p:nvSpPr>
        <p:spPr>
          <a:xfrm>
            <a:off x="3731357" y="5851016"/>
            <a:ext cx="109537" cy="179069"/>
          </a:xfrm>
          <a:prstGeom prst="rect">
            <a:avLst/>
          </a:prstGeom>
          <a:noFill/>
        </p:spPr>
        <p:txBody>
          <a:bodyPr wrap="none" lIns="0" rIns="0" tIns="0" bIns="0">
            <a:spAutoFit/>
          </a:bodyPr>
          <a:lstStyle/>
          <a:p>
            <a:r>
              <a:rPr sz="1050" b="0">
                <a:solidFill>
                  <a:srgbClr val="1F1F1F"/>
                </a:solidFill>
                <a:latin typeface="Calibri"/>
              </a:rPr>
              <a:t>,</a:t>
            </a:r>
          </a:p>
        </p:txBody>
      </p:sp>
      <p:sp>
        <p:nvSpPr>
          <p:cNvPr id="49" name="TextBox 48"/>
          <p:cNvSpPr txBox="1"/>
          <p:nvPr/>
        </p:nvSpPr>
        <p:spPr>
          <a:xfrm>
            <a:off x="806576" y="6011036"/>
            <a:ext cx="2703872" cy="179069"/>
          </a:xfrm>
          <a:prstGeom prst="rect">
            <a:avLst/>
          </a:prstGeom>
          <a:noFill/>
        </p:spPr>
        <p:txBody>
          <a:bodyPr wrap="none" lIns="0" rIns="0" tIns="0" bIns="0">
            <a:spAutoFit/>
          </a:bodyPr>
          <a:lstStyle/>
          <a:p>
            <a:r>
              <a:rPr sz="1050" b="0">
                <a:solidFill>
                  <a:srgbClr val="1F1F1F"/>
                </a:solidFill>
                <a:latin typeface="Calibri"/>
              </a:rPr>
              <a:t>which keeps the full partition type spread within</a:t>
            </a:r>
          </a:p>
        </p:txBody>
      </p:sp>
      <p:pic>
        <p:nvPicPr>
          <p:cNvPr id="50" name="Picture 49" descr="lock.png"/>
          <p:cNvPicPr>
            <a:picLocks noChangeAspect="1"/>
          </p:cNvPicPr>
          <p:nvPr/>
        </p:nvPicPr>
        <p:blipFill>
          <a:blip r:embed="rId6"/>
          <a:stretch>
            <a:fillRect/>
          </a:stretch>
        </p:blipFill>
        <p:spPr>
          <a:xfrm>
            <a:off x="3457398" y="6001702"/>
            <a:ext cx="122849" cy="178689"/>
          </a:xfrm>
          <a:prstGeom prst="rect">
            <a:avLst/>
          </a:prstGeom>
        </p:spPr>
      </p:pic>
      <p:sp>
        <p:nvSpPr>
          <p:cNvPr id="51" name="TextBox 50"/>
          <p:cNvSpPr txBox="1"/>
          <p:nvPr/>
        </p:nvSpPr>
        <p:spPr>
          <a:xfrm>
            <a:off x="3617280" y="6011036"/>
            <a:ext cx="109797" cy="179069"/>
          </a:xfrm>
          <a:prstGeom prst="rect">
            <a:avLst/>
          </a:prstGeom>
          <a:noFill/>
        </p:spPr>
        <p:txBody>
          <a:bodyPr wrap="none" lIns="0" rIns="0" tIns="0" bIns="0">
            <a:spAutoFit/>
          </a:bodyPr>
          <a:lstStyle/>
          <a:p>
            <a:r>
              <a:rPr sz="1050" b="0">
                <a:solidFill>
                  <a:srgbClr val="1F1F1F"/>
                </a:solidFill>
                <a:latin typeface="Calibri"/>
              </a:rPr>
              <a:t>.</a:t>
            </a:r>
          </a:p>
        </p:txBody>
      </p:sp>
      <p:sp>
        <p:nvSpPr>
          <p:cNvPr id="52" name="TextBox 51"/>
          <p:cNvSpPr txBox="1"/>
          <p:nvPr/>
        </p:nvSpPr>
        <p:spPr>
          <a:xfrm>
            <a:off x="4732401" y="5530976"/>
            <a:ext cx="2959633" cy="179069"/>
          </a:xfrm>
          <a:prstGeom prst="rect">
            <a:avLst/>
          </a:prstGeom>
          <a:noFill/>
        </p:spPr>
        <p:txBody>
          <a:bodyPr wrap="none" lIns="0" rIns="0" tIns="0" bIns="0">
            <a:spAutoFit/>
          </a:bodyPr>
          <a:lstStyle/>
          <a:p>
            <a:r>
              <a:rPr sz="1050" b="0">
                <a:solidFill>
                  <a:srgbClr val="1F1F1F"/>
                </a:solidFill>
                <a:latin typeface="Calibri"/>
              </a:rPr>
              <a:t>Slotted (Interlocking Grid) Partitions posts the fastest</a:t>
            </a:r>
          </a:p>
        </p:txBody>
      </p:sp>
      <p:sp>
        <p:nvSpPr>
          <p:cNvPr id="53" name="TextBox 52"/>
          <p:cNvSpPr txBox="1"/>
          <p:nvPr/>
        </p:nvSpPr>
        <p:spPr>
          <a:xfrm>
            <a:off x="4732401" y="5690996"/>
            <a:ext cx="999492" cy="179069"/>
          </a:xfrm>
          <a:prstGeom prst="rect">
            <a:avLst/>
          </a:prstGeom>
          <a:noFill/>
        </p:spPr>
        <p:txBody>
          <a:bodyPr wrap="none" lIns="0" rIns="0" tIns="0" bIns="0">
            <a:spAutoFit/>
          </a:bodyPr>
          <a:lstStyle/>
          <a:p>
            <a:r>
              <a:rPr sz="1050" b="0">
                <a:solidFill>
                  <a:srgbClr val="1F1F1F"/>
                </a:solidFill>
                <a:latin typeface="Calibri"/>
              </a:rPr>
              <a:t>price growth at a</a:t>
            </a:r>
          </a:p>
        </p:txBody>
      </p:sp>
      <p:pic>
        <p:nvPicPr>
          <p:cNvPr id="54" name="Picture 53" descr="lock.png"/>
          <p:cNvPicPr>
            <a:picLocks noChangeAspect="1"/>
          </p:cNvPicPr>
          <p:nvPr/>
        </p:nvPicPr>
        <p:blipFill>
          <a:blip r:embed="rId6"/>
          <a:stretch>
            <a:fillRect/>
          </a:stretch>
        </p:blipFill>
        <p:spPr>
          <a:xfrm>
            <a:off x="5678842" y="5681662"/>
            <a:ext cx="122849" cy="178689"/>
          </a:xfrm>
          <a:prstGeom prst="rect">
            <a:avLst/>
          </a:prstGeom>
        </p:spPr>
      </p:pic>
      <p:sp>
        <p:nvSpPr>
          <p:cNvPr id="55" name="TextBox 54"/>
          <p:cNvSpPr txBox="1"/>
          <p:nvPr/>
        </p:nvSpPr>
        <p:spPr>
          <a:xfrm>
            <a:off x="5838725" y="5690996"/>
            <a:ext cx="1760248" cy="179069"/>
          </a:xfrm>
          <a:prstGeom prst="rect">
            <a:avLst/>
          </a:prstGeom>
          <a:noFill/>
        </p:spPr>
        <p:txBody>
          <a:bodyPr wrap="none" lIns="0" rIns="0" tIns="0" bIns="0">
            <a:spAutoFit/>
          </a:bodyPr>
          <a:lstStyle/>
          <a:p>
            <a:r>
              <a:rPr sz="1050" b="0">
                <a:solidFill>
                  <a:srgbClr val="1F1F1F"/>
                </a:solidFill>
                <a:latin typeface="Calibri"/>
              </a:rPr>
              <a:t>CAGR between 2026 and 2036,</a:t>
            </a:r>
          </a:p>
        </p:txBody>
      </p:sp>
      <p:sp>
        <p:nvSpPr>
          <p:cNvPr id="56" name="TextBox 55"/>
          <p:cNvSpPr txBox="1"/>
          <p:nvPr/>
        </p:nvSpPr>
        <p:spPr>
          <a:xfrm>
            <a:off x="4732401" y="5851016"/>
            <a:ext cx="897656" cy="179069"/>
          </a:xfrm>
          <a:prstGeom prst="rect">
            <a:avLst/>
          </a:prstGeom>
          <a:noFill/>
        </p:spPr>
        <p:txBody>
          <a:bodyPr wrap="none" lIns="0" rIns="0" tIns="0" bIns="0">
            <a:spAutoFit/>
          </a:bodyPr>
          <a:lstStyle/>
          <a:p>
            <a:r>
              <a:rPr sz="1050" b="0">
                <a:solidFill>
                  <a:srgbClr val="1F1F1F"/>
                </a:solidFill>
                <a:latin typeface="Calibri"/>
              </a:rPr>
              <a:t>compared with</a:t>
            </a:r>
          </a:p>
        </p:txBody>
      </p:sp>
      <p:pic>
        <p:nvPicPr>
          <p:cNvPr id="57" name="Picture 56" descr="lock.png"/>
          <p:cNvPicPr>
            <a:picLocks noChangeAspect="1"/>
          </p:cNvPicPr>
          <p:nvPr/>
        </p:nvPicPr>
        <p:blipFill>
          <a:blip r:embed="rId6"/>
          <a:stretch>
            <a:fillRect/>
          </a:stretch>
        </p:blipFill>
        <p:spPr>
          <a:xfrm>
            <a:off x="5577007" y="5841682"/>
            <a:ext cx="122849" cy="178689"/>
          </a:xfrm>
          <a:prstGeom prst="rect">
            <a:avLst/>
          </a:prstGeom>
        </p:spPr>
      </p:pic>
      <p:sp>
        <p:nvSpPr>
          <p:cNvPr id="58" name="TextBox 57"/>
          <p:cNvSpPr txBox="1"/>
          <p:nvPr/>
        </p:nvSpPr>
        <p:spPr>
          <a:xfrm>
            <a:off x="5736889" y="5851016"/>
            <a:ext cx="1743306" cy="179069"/>
          </a:xfrm>
          <a:prstGeom prst="rect">
            <a:avLst/>
          </a:prstGeom>
          <a:noFill/>
        </p:spPr>
        <p:txBody>
          <a:bodyPr wrap="none" lIns="0" rIns="0" tIns="0" bIns="0">
            <a:spAutoFit/>
          </a:bodyPr>
          <a:lstStyle/>
          <a:p>
            <a:r>
              <a:rPr sz="1050" b="0">
                <a:solidFill>
                  <a:srgbClr val="1F1F1F"/>
                </a:solidFill>
                <a:latin typeface="Calibri"/>
              </a:rPr>
              <a:t>for Die-Cut &amp; Folded Partitions</a:t>
            </a:r>
          </a:p>
        </p:txBody>
      </p:sp>
      <p:sp>
        <p:nvSpPr>
          <p:cNvPr id="59" name="TextBox 58"/>
          <p:cNvSpPr txBox="1"/>
          <p:nvPr/>
        </p:nvSpPr>
        <p:spPr>
          <a:xfrm>
            <a:off x="4732401" y="6011036"/>
            <a:ext cx="1685255" cy="179069"/>
          </a:xfrm>
          <a:prstGeom prst="rect">
            <a:avLst/>
          </a:prstGeom>
          <a:noFill/>
        </p:spPr>
        <p:txBody>
          <a:bodyPr wrap="none" lIns="0" rIns="0" tIns="0" bIns="0">
            <a:spAutoFit/>
          </a:bodyPr>
          <a:lstStyle/>
          <a:p>
            <a:r>
              <a:rPr sz="1050" b="0">
                <a:solidFill>
                  <a:srgbClr val="1F1F1F"/>
                </a:solidFill>
                <a:latin typeface="Calibri"/>
              </a:rPr>
              <a:t>(H-dividers, tube/cell inserts).</a:t>
            </a:r>
          </a:p>
        </p:txBody>
      </p:sp>
      <p:sp>
        <p:nvSpPr>
          <p:cNvPr id="60" name="TextBox 59"/>
          <p:cNvSpPr txBox="1"/>
          <p:nvPr/>
        </p:nvSpPr>
        <p:spPr>
          <a:xfrm>
            <a:off x="8658225" y="5530976"/>
            <a:ext cx="2235844" cy="179069"/>
          </a:xfrm>
          <a:prstGeom prst="rect">
            <a:avLst/>
          </a:prstGeom>
          <a:noFill/>
        </p:spPr>
        <p:txBody>
          <a:bodyPr wrap="none" lIns="0" rIns="0" tIns="0" bIns="0">
            <a:spAutoFit/>
          </a:bodyPr>
          <a:lstStyle/>
          <a:p>
            <a:r>
              <a:rPr sz="1050" b="0">
                <a:solidFill>
                  <a:srgbClr val="1F1F1F"/>
                </a:solidFill>
                <a:latin typeface="Calibri"/>
              </a:rPr>
              <a:t>The Global average price rises from US$</a:t>
            </a:r>
          </a:p>
        </p:txBody>
      </p:sp>
      <p:pic>
        <p:nvPicPr>
          <p:cNvPr id="61" name="Picture 60" descr="lock.png"/>
          <p:cNvPicPr>
            <a:picLocks noChangeAspect="1"/>
          </p:cNvPicPr>
          <p:nvPr/>
        </p:nvPicPr>
        <p:blipFill>
          <a:blip r:embed="rId6"/>
          <a:stretch>
            <a:fillRect/>
          </a:stretch>
        </p:blipFill>
        <p:spPr>
          <a:xfrm>
            <a:off x="10841019" y="5521642"/>
            <a:ext cx="122849" cy="178689"/>
          </a:xfrm>
          <a:prstGeom prst="rect">
            <a:avLst/>
          </a:prstGeom>
        </p:spPr>
      </p:pic>
      <p:sp>
        <p:nvSpPr>
          <p:cNvPr id="62" name="TextBox 61"/>
          <p:cNvSpPr txBox="1"/>
          <p:nvPr/>
        </p:nvSpPr>
        <p:spPr>
          <a:xfrm>
            <a:off x="11000901" y="5530976"/>
            <a:ext cx="739043" cy="179069"/>
          </a:xfrm>
          <a:prstGeom prst="rect">
            <a:avLst/>
          </a:prstGeom>
          <a:noFill/>
        </p:spPr>
        <p:txBody>
          <a:bodyPr wrap="none" lIns="0" rIns="0" tIns="0" bIns="0">
            <a:spAutoFit/>
          </a:bodyPr>
          <a:lstStyle/>
          <a:p>
            <a:r>
              <a:rPr sz="1050" b="0">
                <a:solidFill>
                  <a:srgbClr val="1F1F1F"/>
                </a:solidFill>
                <a:latin typeface="Calibri"/>
              </a:rPr>
              <a:t>/MT in 2026</a:t>
            </a:r>
          </a:p>
        </p:txBody>
      </p:sp>
      <p:sp>
        <p:nvSpPr>
          <p:cNvPr id="63" name="TextBox 62"/>
          <p:cNvSpPr txBox="1"/>
          <p:nvPr/>
        </p:nvSpPr>
        <p:spPr>
          <a:xfrm>
            <a:off x="8658225" y="5690996"/>
            <a:ext cx="436140" cy="179069"/>
          </a:xfrm>
          <a:prstGeom prst="rect">
            <a:avLst/>
          </a:prstGeom>
          <a:noFill/>
        </p:spPr>
        <p:txBody>
          <a:bodyPr wrap="none" lIns="0" rIns="0" tIns="0" bIns="0">
            <a:spAutoFit/>
          </a:bodyPr>
          <a:lstStyle/>
          <a:p>
            <a:r>
              <a:rPr sz="1050" b="0">
                <a:solidFill>
                  <a:srgbClr val="1F1F1F"/>
                </a:solidFill>
                <a:latin typeface="Calibri"/>
              </a:rPr>
              <a:t>to US$</a:t>
            </a:r>
          </a:p>
        </p:txBody>
      </p:sp>
      <p:pic>
        <p:nvPicPr>
          <p:cNvPr id="64" name="Picture 63" descr="lock.png"/>
          <p:cNvPicPr>
            <a:picLocks noChangeAspect="1"/>
          </p:cNvPicPr>
          <p:nvPr/>
        </p:nvPicPr>
        <p:blipFill>
          <a:blip r:embed="rId6"/>
          <a:stretch>
            <a:fillRect/>
          </a:stretch>
        </p:blipFill>
        <p:spPr>
          <a:xfrm>
            <a:off x="9041315" y="5681662"/>
            <a:ext cx="122849" cy="178689"/>
          </a:xfrm>
          <a:prstGeom prst="rect">
            <a:avLst/>
          </a:prstGeom>
        </p:spPr>
      </p:pic>
      <p:sp>
        <p:nvSpPr>
          <p:cNvPr id="65" name="TextBox 64"/>
          <p:cNvSpPr txBox="1"/>
          <p:nvPr/>
        </p:nvSpPr>
        <p:spPr>
          <a:xfrm>
            <a:off x="9201197" y="5690996"/>
            <a:ext cx="2593181" cy="179069"/>
          </a:xfrm>
          <a:prstGeom prst="rect">
            <a:avLst/>
          </a:prstGeom>
          <a:noFill/>
        </p:spPr>
        <p:txBody>
          <a:bodyPr wrap="none" lIns="0" rIns="0" tIns="0" bIns="0">
            <a:spAutoFit/>
          </a:bodyPr>
          <a:lstStyle/>
          <a:p>
            <a:r>
              <a:rPr sz="1050" b="0">
                <a:solidFill>
                  <a:srgbClr val="1F1F1F"/>
                </a:solidFill>
                <a:latin typeface="Calibri"/>
              </a:rPr>
              <a:t>/MT in 2036, and the gap between the highest</a:t>
            </a:r>
          </a:p>
        </p:txBody>
      </p:sp>
      <p:sp>
        <p:nvSpPr>
          <p:cNvPr id="66" name="TextBox 65"/>
          <p:cNvSpPr txBox="1"/>
          <p:nvPr/>
        </p:nvSpPr>
        <p:spPr>
          <a:xfrm>
            <a:off x="8658225" y="5851016"/>
            <a:ext cx="2494731" cy="179069"/>
          </a:xfrm>
          <a:prstGeom prst="rect">
            <a:avLst/>
          </a:prstGeom>
          <a:noFill/>
        </p:spPr>
        <p:txBody>
          <a:bodyPr wrap="none" lIns="0" rIns="0" tIns="0" bIns="0">
            <a:spAutoFit/>
          </a:bodyPr>
          <a:lstStyle/>
          <a:p>
            <a:r>
              <a:rPr sz="1050" b="0">
                <a:solidFill>
                  <a:srgbClr val="1F1F1F"/>
                </a:solidFill>
                <a:latin typeface="Calibri"/>
              </a:rPr>
              <a:t>and lowest priced partition type moves from</a:t>
            </a:r>
          </a:p>
        </p:txBody>
      </p:sp>
      <p:pic>
        <p:nvPicPr>
          <p:cNvPr id="67" name="Picture 66" descr="lock.png"/>
          <p:cNvPicPr>
            <a:picLocks noChangeAspect="1"/>
          </p:cNvPicPr>
          <p:nvPr/>
        </p:nvPicPr>
        <p:blipFill>
          <a:blip r:embed="rId6"/>
          <a:stretch>
            <a:fillRect/>
          </a:stretch>
        </p:blipFill>
        <p:spPr>
          <a:xfrm>
            <a:off x="11099905" y="5841682"/>
            <a:ext cx="122849" cy="178689"/>
          </a:xfrm>
          <a:prstGeom prst="rect">
            <a:avLst/>
          </a:prstGeom>
        </p:spPr>
      </p:pic>
      <p:sp>
        <p:nvSpPr>
          <p:cNvPr id="68" name="TextBox 67"/>
          <p:cNvSpPr txBox="1"/>
          <p:nvPr/>
        </p:nvSpPr>
        <p:spPr>
          <a:xfrm>
            <a:off x="11259788" y="5851016"/>
            <a:ext cx="478073" cy="179069"/>
          </a:xfrm>
          <a:prstGeom prst="rect">
            <a:avLst/>
          </a:prstGeom>
          <a:noFill/>
        </p:spPr>
        <p:txBody>
          <a:bodyPr wrap="none" lIns="0" rIns="0" tIns="0" bIns="0">
            <a:spAutoFit/>
          </a:bodyPr>
          <a:lstStyle/>
          <a:p>
            <a:r>
              <a:rPr sz="1050" b="0">
                <a:solidFill>
                  <a:srgbClr val="1F1F1F"/>
                </a:solidFill>
                <a:latin typeface="Calibri"/>
              </a:rPr>
              <a:t>in 2021</a:t>
            </a:r>
          </a:p>
        </p:txBody>
      </p:sp>
      <p:sp>
        <p:nvSpPr>
          <p:cNvPr id="69" name="TextBox 68"/>
          <p:cNvSpPr txBox="1"/>
          <p:nvPr/>
        </p:nvSpPr>
        <p:spPr>
          <a:xfrm>
            <a:off x="8658225" y="6011036"/>
            <a:ext cx="191318" cy="179069"/>
          </a:xfrm>
          <a:prstGeom prst="rect">
            <a:avLst/>
          </a:prstGeom>
          <a:noFill/>
        </p:spPr>
        <p:txBody>
          <a:bodyPr wrap="none" lIns="0" rIns="0" tIns="0" bIns="0">
            <a:spAutoFit/>
          </a:bodyPr>
          <a:lstStyle/>
          <a:p>
            <a:r>
              <a:rPr sz="1050" b="0">
                <a:solidFill>
                  <a:srgbClr val="1F1F1F"/>
                </a:solidFill>
                <a:latin typeface="Calibri"/>
              </a:rPr>
              <a:t>to</a:t>
            </a:r>
          </a:p>
        </p:txBody>
      </p:sp>
      <p:pic>
        <p:nvPicPr>
          <p:cNvPr id="70" name="Picture 69" descr="lock.png"/>
          <p:cNvPicPr>
            <a:picLocks noChangeAspect="1"/>
          </p:cNvPicPr>
          <p:nvPr/>
        </p:nvPicPr>
        <p:blipFill>
          <a:blip r:embed="rId6"/>
          <a:stretch>
            <a:fillRect/>
          </a:stretch>
        </p:blipFill>
        <p:spPr>
          <a:xfrm>
            <a:off x="8796492" y="6001702"/>
            <a:ext cx="122849" cy="178689"/>
          </a:xfrm>
          <a:prstGeom prst="rect">
            <a:avLst/>
          </a:prstGeom>
        </p:spPr>
      </p:pic>
      <p:sp>
        <p:nvSpPr>
          <p:cNvPr id="71" name="TextBox 70"/>
          <p:cNvSpPr txBox="1"/>
          <p:nvPr/>
        </p:nvSpPr>
        <p:spPr>
          <a:xfrm>
            <a:off x="8956375" y="6011036"/>
            <a:ext cx="511671" cy="179069"/>
          </a:xfrm>
          <a:prstGeom prst="rect">
            <a:avLst/>
          </a:prstGeom>
          <a:noFill/>
        </p:spPr>
        <p:txBody>
          <a:bodyPr wrap="none" lIns="0" rIns="0" tIns="0" bIns="0">
            <a:spAutoFit/>
          </a:bodyPr>
          <a:lstStyle/>
          <a:p>
            <a:r>
              <a:rPr sz="1050" b="0">
                <a:solidFill>
                  <a:srgbClr val="1F1F1F"/>
                </a:solidFill>
                <a:latin typeface="Calibri"/>
              </a:rPr>
              <a:t>in 2036.</a:t>
            </a:r>
          </a:p>
        </p:txBody>
      </p:sp>
      <p:pic>
        <p:nvPicPr>
          <p:cNvPr id="72" name="Picture 71" descr="lock.png"/>
          <p:cNvPicPr>
            <a:picLocks noChangeAspect="1"/>
          </p:cNvPicPr>
          <p:nvPr/>
        </p:nvPicPr>
        <p:blipFill>
          <a:blip r:embed="rId6"/>
          <a:stretch>
            <a:fillRect/>
          </a:stretch>
        </p:blipFill>
        <p:spPr>
          <a:xfrm>
            <a:off x="3418190" y="3048804"/>
            <a:ext cx="454926" cy="661711"/>
          </a:xfrm>
          <a:prstGeom prst="rect">
            <a:avLst/>
          </a:prstGeom>
        </p:spPr>
      </p:pic>
      <p:pic>
        <p:nvPicPr>
          <p:cNvPr id="73" name="Picture 72" descr="lock.png"/>
          <p:cNvPicPr>
            <a:picLocks noChangeAspect="1"/>
          </p:cNvPicPr>
          <p:nvPr/>
        </p:nvPicPr>
        <p:blipFill>
          <a:blip r:embed="rId6"/>
          <a:stretch>
            <a:fillRect/>
          </a:stretch>
        </p:blipFill>
        <p:spPr>
          <a:xfrm>
            <a:off x="9403270" y="2219134"/>
            <a:ext cx="256698" cy="373379"/>
          </a:xfrm>
          <a:prstGeom prst="rect">
            <a:avLst/>
          </a:prstGeom>
        </p:spPr>
      </p:pic>
      <p:sp>
        <p:nvSpPr>
          <p:cNvPr id="74"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Price Matrix: Partition Type × End Use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for every partition type and end use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(US$/MT), Shaded by Index vs Global Average</a:t>
            </a:r>
          </a:p>
        </p:txBody>
      </p:sp>
      <p:graphicFrame>
        <p:nvGraphicFramePr>
          <p:cNvPr id="13" name="Table 12"/>
          <p:cNvGraphicFramePr>
            <a:graphicFrameLocks noGrp="1"/>
          </p:cNvGraphicFramePr>
          <p:nvPr/>
        </p:nvGraphicFramePr>
        <p:xfrm>
          <a:off x="365760" y="1868043"/>
          <a:ext cx="7360923" cy="2834640"/>
        </p:xfrm>
        <a:graphic>
          <a:graphicData uri="http://schemas.openxmlformats.org/drawingml/2006/table">
            <a:tbl>
              <a:tblPr firstRow="1" bandRow="1">
                <a:tableStyleId>{5C22544A-7EE6-4342-B048-85BDC9FD1C3A}</a:tableStyleId>
              </a:tblPr>
              <a:tblGrid>
                <a:gridCol w="1554480"/>
                <a:gridCol w="743277"/>
                <a:gridCol w="743277"/>
                <a:gridCol w="743277"/>
                <a:gridCol w="743277"/>
                <a:gridCol w="743277"/>
                <a:gridCol w="743277"/>
                <a:gridCol w="743277"/>
                <a:gridCol w="603504"/>
              </a:tblGrid>
              <a:tr h="566928">
                <a:tc>
                  <a:txBody>
                    <a:bodyPr wrap="square"/>
                    <a:lstStyle/>
                    <a:p>
                      <a:pPr algn="l"/>
                      <a:r>
                        <a:rPr sz="800" b="1">
                          <a:solidFill>
                            <a:srgbClr val="FFFFFF"/>
                          </a:solidFill>
                          <a:latin typeface="Calibri"/>
                        </a:rPr>
                        <a:t>Partition Type</a:t>
                      </a:r>
                    </a:p>
                  </a:txBody>
                  <a:tcPr marL="36576" marR="36576" marT="9144" marB="9144" anchor="ctr">
                    <a:solidFill>
                      <a:srgbClr val="0B2E4A"/>
                    </a:solidFill>
                  </a:tcPr>
                </a:tc>
                <a:tc>
                  <a:txBody>
                    <a:bodyPr wrap="square"/>
                    <a:lstStyle/>
                    <a:p>
                      <a:pPr algn="ctr"/>
                      <a:r>
                        <a:rPr sz="800" b="1">
                          <a:solidFill>
                            <a:srgbClr val="FFFFFF"/>
                          </a:solidFill>
                          <a:latin typeface="Calibri"/>
                        </a:rPr>
                        <a:t>Food &amp; Beverage</a:t>
                      </a:r>
                    </a:p>
                  </a:txBody>
                  <a:tcPr marL="36576" marR="36576" marT="9144" marB="9144" anchor="ctr">
                    <a:solidFill>
                      <a:srgbClr val="0B2E4A"/>
                    </a:solidFill>
                  </a:tcPr>
                </a:tc>
                <a:tc>
                  <a:txBody>
                    <a:bodyPr wrap="square"/>
                    <a:lstStyle/>
                    <a:p>
                      <a:pPr algn="ctr"/>
                      <a:r>
                        <a:rPr sz="800" b="1">
                          <a:solidFill>
                            <a:srgbClr val="FFFFFF"/>
                          </a:solidFill>
                          <a:latin typeface="Calibri"/>
                        </a:rPr>
                        <a:t>Pharmaceuticals &amp; Healthcare</a:t>
                      </a:r>
                    </a:p>
                  </a:txBody>
                  <a:tcPr marL="36576" marR="36576" marT="9144" marB="9144" anchor="ctr">
                    <a:solidFill>
                      <a:srgbClr val="0B2E4A"/>
                    </a:solidFill>
                  </a:tcPr>
                </a:tc>
                <a:tc>
                  <a:txBody>
                    <a:bodyPr wrap="square"/>
                    <a:lstStyle/>
                    <a:p>
                      <a:pPr algn="ctr"/>
                      <a:r>
                        <a:rPr sz="800" b="1">
                          <a:solidFill>
                            <a:srgbClr val="FFFFFF"/>
                          </a:solidFill>
                          <a:latin typeface="Calibri"/>
                        </a:rPr>
                        <a:t>Personal Care &amp; Cosmetics</a:t>
                      </a:r>
                    </a:p>
                  </a:txBody>
                  <a:tcPr marL="36576" marR="36576" marT="9144" marB="9144" anchor="ctr">
                    <a:solidFill>
                      <a:srgbClr val="0B2E4A"/>
                    </a:solidFill>
                  </a:tcPr>
                </a:tc>
                <a:tc>
                  <a:txBody>
                    <a:bodyPr wrap="square"/>
                    <a:lstStyle/>
                    <a:p>
                      <a:pPr algn="ctr"/>
                      <a:r>
                        <a:rPr sz="800" b="1">
                          <a:solidFill>
                            <a:srgbClr val="FFFFFF"/>
                          </a:solidFill>
                          <a:latin typeface="Calibri"/>
                        </a:rPr>
                        <a:t>Electronics &amp; Electrical</a:t>
                      </a:r>
                    </a:p>
                  </a:txBody>
                  <a:tcPr marL="36576" marR="36576" marT="9144" marB="9144" anchor="ctr">
                    <a:solidFill>
                      <a:srgbClr val="0B2E4A"/>
                    </a:solidFill>
                  </a:tcPr>
                </a:tc>
                <a:tc>
                  <a:txBody>
                    <a:bodyPr wrap="square"/>
                    <a:lstStyle/>
                    <a:p>
                      <a:pPr algn="ctr"/>
                      <a:r>
                        <a:rPr sz="800" b="1">
                          <a:solidFill>
                            <a:srgbClr val="FFFFFF"/>
                          </a:solidFill>
                          <a:latin typeface="Calibri"/>
                        </a:rPr>
                        <a:t>Automotive &amp; Industrial Components</a:t>
                      </a:r>
                    </a:p>
                  </a:txBody>
                  <a:tcPr marL="36576" marR="36576" marT="9144" marB="9144" anchor="ctr">
                    <a:solidFill>
                      <a:srgbClr val="0B2E4A"/>
                    </a:solidFill>
                  </a:tcPr>
                </a:tc>
                <a:tc>
                  <a:txBody>
                    <a:bodyPr wrap="square"/>
                    <a:lstStyle/>
                    <a:p>
                      <a:pPr algn="ctr"/>
                      <a:r>
                        <a:rPr sz="800" b="1">
                          <a:solidFill>
                            <a:srgbClr val="FFFFFF"/>
                          </a:solidFill>
                          <a:latin typeface="Calibri"/>
                        </a:rPr>
                        <a:t>Glassware, Ceramics &amp; Home Goods</a:t>
                      </a:r>
                    </a:p>
                  </a:txBody>
                  <a:tcPr marL="36576" marR="36576" marT="9144" marB="9144" anchor="ctr">
                    <a:solidFill>
                      <a:srgbClr val="0B2E4A"/>
                    </a:solidFill>
                  </a:tcPr>
                </a:tc>
                <a:tc>
                  <a:txBody>
                    <a:bodyPr wrap="square"/>
                    <a:lstStyle/>
                    <a:p>
                      <a:pPr algn="ctr"/>
                      <a:r>
                        <a:rPr sz="800" b="1">
                          <a:solidFill>
                            <a:srgbClr val="FFFFFF"/>
                          </a:solidFill>
                          <a:latin typeface="Calibri"/>
                        </a:rPr>
                        <a:t>Others</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566928">
                <a:tc>
                  <a:txBody>
                    <a:bodyPr wrap="square"/>
                    <a:lstStyle/>
                    <a:p>
                      <a:pPr algn="l"/>
                      <a:r>
                        <a:rPr sz="900" b="1">
                          <a:solidFill>
                            <a:srgbClr val="1F1F1F"/>
                          </a:solidFill>
                          <a:latin typeface="Calibri"/>
                        </a:rPr>
                        <a:t>Die-Cut &amp; Folded Partitions (H-dividers, tube/cell inserts)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566928">
                <a:tc>
                  <a:txBody>
                    <a:bodyPr wrap="square"/>
                    <a:lstStyle/>
                    <a:p>
                      <a:pPr algn="l"/>
                      <a:r>
                        <a:rPr sz="900" b="1">
                          <a:solidFill>
                            <a:srgbClr val="1F1F1F"/>
                          </a:solidFill>
                          <a:latin typeface="Calibri"/>
                        </a:rPr>
                        <a:t>Flat Dividers &amp; Layer Pads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566928">
                <a:tc>
                  <a:txBody>
                    <a:bodyPr wrap="square"/>
                    <a:lstStyle/>
                    <a:p>
                      <a:pPr algn="l"/>
                      <a:r>
                        <a:rPr sz="900" b="1">
                          <a:solidFill>
                            <a:srgbClr val="1F1F1F"/>
                          </a:solidFill>
                          <a:latin typeface="Calibri"/>
                        </a:rPr>
                        <a:t>Slotted (Interlocking Grid) Partitions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566928">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End Use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(US$/MT)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71" y="3302127"/>
            <a:ext cx="366712" cy="533400"/>
          </a:xfrm>
          <a:prstGeom prst="rect">
            <a:avLst/>
          </a:prstGeom>
        </p:spPr>
      </p:pic>
      <p:sp>
        <p:nvSpPr>
          <p:cNvPr id="43" name="TextBox 42"/>
          <p:cNvSpPr txBox="1"/>
          <p:nvPr/>
        </p:nvSpPr>
        <p:spPr>
          <a:xfrm>
            <a:off x="411480" y="1126464"/>
            <a:ext cx="8563797" cy="185470"/>
          </a:xfrm>
          <a:prstGeom prst="rect">
            <a:avLst/>
          </a:prstGeom>
          <a:noFill/>
        </p:spPr>
        <p:txBody>
          <a:bodyPr wrap="none" lIns="0" rIns="0" tIns="0" bIns="0">
            <a:spAutoFit/>
          </a:bodyPr>
          <a:lstStyle/>
          <a:p>
            <a:r>
              <a:rPr sz="1091" b="1">
                <a:solidFill>
                  <a:srgbClr val="FFFFFF"/>
                </a:solidFill>
                <a:latin typeface="Calibri"/>
              </a:rPr>
              <a:t>Die-Cut &amp; Folded Partitions (H-dividers, tube/cell inserts) for Automotive &amp; Industrial Components is the highest priced combination in 2026 at US$</a:t>
            </a:r>
          </a:p>
        </p:txBody>
      </p:sp>
      <p:pic>
        <p:nvPicPr>
          <p:cNvPr id="44" name="Picture 43" descr="lock.png"/>
          <p:cNvPicPr>
            <a:picLocks noChangeAspect="1"/>
          </p:cNvPicPr>
          <p:nvPr/>
        </p:nvPicPr>
        <p:blipFill>
          <a:blip r:embed="rId5"/>
          <a:stretch>
            <a:fillRect/>
          </a:stretch>
        </p:blipFill>
        <p:spPr>
          <a:xfrm>
            <a:off x="8923153" y="1116756"/>
            <a:ext cx="127762" cy="185836"/>
          </a:xfrm>
          <a:prstGeom prst="rect">
            <a:avLst/>
          </a:prstGeom>
        </p:spPr>
      </p:pic>
      <p:sp>
        <p:nvSpPr>
          <p:cNvPr id="45" name="TextBox 44"/>
          <p:cNvSpPr txBox="1"/>
          <p:nvPr/>
        </p:nvSpPr>
        <p:spPr>
          <a:xfrm>
            <a:off x="9089430" y="1126464"/>
            <a:ext cx="462185" cy="185470"/>
          </a:xfrm>
          <a:prstGeom prst="rect">
            <a:avLst/>
          </a:prstGeom>
          <a:noFill/>
        </p:spPr>
        <p:txBody>
          <a:bodyPr wrap="none" lIns="0" rIns="0" tIns="0" bIns="0">
            <a:spAutoFit/>
          </a:bodyPr>
          <a:lstStyle/>
          <a:p>
            <a:r>
              <a:rPr sz="1091" b="1">
                <a:solidFill>
                  <a:srgbClr val="FFFFFF"/>
                </a:solidFill>
                <a:latin typeface="Calibri"/>
              </a:rPr>
              <a:t>/MT, +</a:t>
            </a:r>
          </a:p>
        </p:txBody>
      </p:sp>
      <p:pic>
        <p:nvPicPr>
          <p:cNvPr id="46" name="Picture 45" descr="lock.png"/>
          <p:cNvPicPr>
            <a:picLocks noChangeAspect="1"/>
          </p:cNvPicPr>
          <p:nvPr/>
        </p:nvPicPr>
        <p:blipFill>
          <a:blip r:embed="rId5"/>
          <a:stretch>
            <a:fillRect/>
          </a:stretch>
        </p:blipFill>
        <p:spPr>
          <a:xfrm>
            <a:off x="9499491" y="1116756"/>
            <a:ext cx="127762" cy="185836"/>
          </a:xfrm>
          <a:prstGeom prst="rect">
            <a:avLst/>
          </a:prstGeom>
        </p:spPr>
      </p:pic>
      <p:sp>
        <p:nvSpPr>
          <p:cNvPr id="47" name="TextBox 46"/>
          <p:cNvSpPr txBox="1"/>
          <p:nvPr/>
        </p:nvSpPr>
        <p:spPr>
          <a:xfrm>
            <a:off x="9665769" y="1126464"/>
            <a:ext cx="1584659" cy="185470"/>
          </a:xfrm>
          <a:prstGeom prst="rect">
            <a:avLst/>
          </a:prstGeom>
          <a:noFill/>
        </p:spPr>
        <p:txBody>
          <a:bodyPr wrap="none" lIns="0" rIns="0" tIns="0" bIns="0">
            <a:spAutoFit/>
          </a:bodyPr>
          <a:lstStyle/>
          <a:p>
            <a:r>
              <a:rPr sz="1091" b="1">
                <a:solidFill>
                  <a:srgbClr val="FFFFFF"/>
                </a:solidFill>
                <a:latin typeface="Calibri"/>
              </a:rPr>
              <a:t>above the Global average.</a:t>
            </a:r>
          </a:p>
        </p:txBody>
      </p:sp>
      <p:sp>
        <p:nvSpPr>
          <p:cNvPr id="48" name="TextBox 47"/>
          <p:cNvSpPr txBox="1"/>
          <p:nvPr/>
        </p:nvSpPr>
        <p:spPr>
          <a:xfrm>
            <a:off x="806576" y="5530976"/>
            <a:ext cx="3143250" cy="179069"/>
          </a:xfrm>
          <a:prstGeom prst="rect">
            <a:avLst/>
          </a:prstGeom>
          <a:noFill/>
        </p:spPr>
        <p:txBody>
          <a:bodyPr wrap="none" lIns="0" rIns="0" tIns="0" bIns="0">
            <a:spAutoFit/>
          </a:bodyPr>
          <a:lstStyle/>
          <a:p>
            <a:r>
              <a:rPr sz="1050" b="0">
                <a:solidFill>
                  <a:srgbClr val="1F1F1F"/>
                </a:solidFill>
                <a:latin typeface="Calibri"/>
              </a:rPr>
              <a:t>Die-Cut &amp; Folded Partitions (H-dividers, tube/cell inserts)</a:t>
            </a:r>
          </a:p>
        </p:txBody>
      </p:sp>
      <p:sp>
        <p:nvSpPr>
          <p:cNvPr id="49" name="TextBox 48"/>
          <p:cNvSpPr txBox="1"/>
          <p:nvPr/>
        </p:nvSpPr>
        <p:spPr>
          <a:xfrm>
            <a:off x="806576" y="5690996"/>
            <a:ext cx="3143250" cy="179069"/>
          </a:xfrm>
          <a:prstGeom prst="rect">
            <a:avLst/>
          </a:prstGeom>
          <a:noFill/>
        </p:spPr>
        <p:txBody>
          <a:bodyPr wrap="none" lIns="0" rIns="0" tIns="0" bIns="0">
            <a:spAutoFit/>
          </a:bodyPr>
          <a:lstStyle/>
          <a:p>
            <a:r>
              <a:rPr sz="1050" b="0">
                <a:solidFill>
                  <a:srgbClr val="1F1F1F"/>
                </a:solidFill>
                <a:latin typeface="Calibri"/>
              </a:rPr>
              <a:t>positioned on Automotive &amp; Industrial Components carry</a:t>
            </a:r>
          </a:p>
        </p:txBody>
      </p:sp>
      <p:sp>
        <p:nvSpPr>
          <p:cNvPr id="50" name="TextBox 49"/>
          <p:cNvSpPr txBox="1"/>
          <p:nvPr/>
        </p:nvSpPr>
        <p:spPr>
          <a:xfrm>
            <a:off x="806576" y="5851016"/>
            <a:ext cx="2094160" cy="179069"/>
          </a:xfrm>
          <a:prstGeom prst="rect">
            <a:avLst/>
          </a:prstGeom>
          <a:noFill/>
        </p:spPr>
        <p:txBody>
          <a:bodyPr wrap="none" lIns="0" rIns="0" tIns="0" bIns="0">
            <a:spAutoFit/>
          </a:bodyPr>
          <a:lstStyle/>
          <a:p>
            <a:r>
              <a:rPr sz="1050" b="0">
                <a:solidFill>
                  <a:srgbClr val="1F1F1F"/>
                </a:solidFill>
                <a:latin typeface="Calibri"/>
              </a:rPr>
              <a:t>the strongest premium at an index of</a:t>
            </a:r>
          </a:p>
        </p:txBody>
      </p:sp>
      <p:pic>
        <p:nvPicPr>
          <p:cNvPr id="51" name="Picture 50" descr="lock.png"/>
          <p:cNvPicPr>
            <a:picLocks noChangeAspect="1"/>
          </p:cNvPicPr>
          <p:nvPr/>
        </p:nvPicPr>
        <p:blipFill>
          <a:blip r:embed="rId5"/>
          <a:stretch>
            <a:fillRect/>
          </a:stretch>
        </p:blipFill>
        <p:spPr>
          <a:xfrm>
            <a:off x="2847686" y="5841682"/>
            <a:ext cx="122849" cy="178689"/>
          </a:xfrm>
          <a:prstGeom prst="rect">
            <a:avLst/>
          </a:prstGeom>
        </p:spPr>
      </p:pic>
      <p:sp>
        <p:nvSpPr>
          <p:cNvPr id="52" name="TextBox 51"/>
          <p:cNvSpPr txBox="1"/>
          <p:nvPr/>
        </p:nvSpPr>
        <p:spPr>
          <a:xfrm>
            <a:off x="3007569" y="5851016"/>
            <a:ext cx="854943" cy="179069"/>
          </a:xfrm>
          <a:prstGeom prst="rect">
            <a:avLst/>
          </a:prstGeom>
          <a:noFill/>
        </p:spPr>
        <p:txBody>
          <a:bodyPr wrap="none" lIns="0" rIns="0" tIns="0" bIns="0">
            <a:spAutoFit/>
          </a:bodyPr>
          <a:lstStyle/>
          <a:p>
            <a:r>
              <a:rPr sz="1050" b="0">
                <a:solidFill>
                  <a:srgbClr val="1F1F1F"/>
                </a:solidFill>
                <a:latin typeface="Calibri"/>
              </a:rPr>
              <a:t>, which signals</a:t>
            </a:r>
          </a:p>
        </p:txBody>
      </p:sp>
      <p:sp>
        <p:nvSpPr>
          <p:cNvPr id="53" name="TextBox 52"/>
          <p:cNvSpPr txBox="1"/>
          <p:nvPr/>
        </p:nvSpPr>
        <p:spPr>
          <a:xfrm>
            <a:off x="806576" y="6011036"/>
            <a:ext cx="2737730" cy="179069"/>
          </a:xfrm>
          <a:prstGeom prst="rect">
            <a:avLst/>
          </a:prstGeom>
          <a:noFill/>
        </p:spPr>
        <p:txBody>
          <a:bodyPr wrap="none" lIns="0" rIns="0" tIns="0" bIns="0">
            <a:spAutoFit/>
          </a:bodyPr>
          <a:lstStyle/>
          <a:p>
            <a:r>
              <a:rPr sz="1050" b="0">
                <a:solidFill>
                  <a:srgbClr val="1F1F1F"/>
                </a:solidFill>
                <a:latin typeface="Calibri"/>
              </a:rPr>
              <a:t>room for value-added claims in this combination.</a:t>
            </a:r>
          </a:p>
        </p:txBody>
      </p:sp>
      <p:sp>
        <p:nvSpPr>
          <p:cNvPr id="54" name="TextBox 53"/>
          <p:cNvSpPr txBox="1"/>
          <p:nvPr/>
        </p:nvSpPr>
        <p:spPr>
          <a:xfrm>
            <a:off x="4732401" y="5530976"/>
            <a:ext cx="3120070" cy="179069"/>
          </a:xfrm>
          <a:prstGeom prst="rect">
            <a:avLst/>
          </a:prstGeom>
          <a:noFill/>
        </p:spPr>
        <p:txBody>
          <a:bodyPr wrap="none" lIns="0" rIns="0" tIns="0" bIns="0">
            <a:spAutoFit/>
          </a:bodyPr>
          <a:lstStyle/>
          <a:p>
            <a:r>
              <a:rPr sz="1050" b="0">
                <a:solidFill>
                  <a:srgbClr val="1F1F1F"/>
                </a:solidFill>
                <a:latin typeface="Calibri"/>
              </a:rPr>
              <a:t>Slotted (Interlocking Grid) Partitions for Personal Care &amp;</a:t>
            </a:r>
          </a:p>
        </p:txBody>
      </p:sp>
      <p:sp>
        <p:nvSpPr>
          <p:cNvPr id="55" name="TextBox 54"/>
          <p:cNvSpPr txBox="1"/>
          <p:nvPr/>
        </p:nvSpPr>
        <p:spPr>
          <a:xfrm>
            <a:off x="4732401" y="5690996"/>
            <a:ext cx="3143249" cy="179069"/>
          </a:xfrm>
          <a:prstGeom prst="rect">
            <a:avLst/>
          </a:prstGeom>
          <a:noFill/>
        </p:spPr>
        <p:txBody>
          <a:bodyPr wrap="none" lIns="0" rIns="0" tIns="0" bIns="0">
            <a:spAutoFit/>
          </a:bodyPr>
          <a:lstStyle/>
          <a:p>
            <a:r>
              <a:rPr sz="1050" b="0">
                <a:solidFill>
                  <a:srgbClr val="1F1F1F"/>
                </a:solidFill>
                <a:latin typeface="Calibri"/>
              </a:rPr>
              <a:t>Cosmetics is the lowest priced combination at an index of</a:t>
            </a:r>
          </a:p>
        </p:txBody>
      </p:sp>
      <p:pic>
        <p:nvPicPr>
          <p:cNvPr id="56" name="Picture 55" descr="lock.png"/>
          <p:cNvPicPr>
            <a:picLocks noChangeAspect="1"/>
          </p:cNvPicPr>
          <p:nvPr/>
        </p:nvPicPr>
        <p:blipFill>
          <a:blip r:embed="rId5"/>
          <a:stretch>
            <a:fillRect/>
          </a:stretch>
        </p:blipFill>
        <p:spPr>
          <a:xfrm>
            <a:off x="4719545" y="5841682"/>
            <a:ext cx="122849" cy="178689"/>
          </a:xfrm>
          <a:prstGeom prst="rect">
            <a:avLst/>
          </a:prstGeom>
        </p:spPr>
      </p:pic>
      <p:sp>
        <p:nvSpPr>
          <p:cNvPr id="57" name="TextBox 56"/>
          <p:cNvSpPr txBox="1"/>
          <p:nvPr/>
        </p:nvSpPr>
        <p:spPr>
          <a:xfrm>
            <a:off x="4879428" y="5851016"/>
            <a:ext cx="475729" cy="179069"/>
          </a:xfrm>
          <a:prstGeom prst="rect">
            <a:avLst/>
          </a:prstGeom>
          <a:noFill/>
        </p:spPr>
        <p:txBody>
          <a:bodyPr wrap="none" lIns="0" rIns="0" tIns="0" bIns="0">
            <a:spAutoFit/>
          </a:bodyPr>
          <a:lstStyle/>
          <a:p>
            <a:r>
              <a:rPr sz="1050" b="0">
                <a:solidFill>
                  <a:srgbClr val="1F1F1F"/>
                </a:solidFill>
                <a:latin typeface="Calibri"/>
              </a:rPr>
              <a:t>, sitting</a:t>
            </a:r>
          </a:p>
        </p:txBody>
      </p:sp>
      <p:pic>
        <p:nvPicPr>
          <p:cNvPr id="58" name="Picture 57" descr="lock.png"/>
          <p:cNvPicPr>
            <a:picLocks noChangeAspect="1"/>
          </p:cNvPicPr>
          <p:nvPr/>
        </p:nvPicPr>
        <p:blipFill>
          <a:blip r:embed="rId5"/>
          <a:stretch>
            <a:fillRect/>
          </a:stretch>
        </p:blipFill>
        <p:spPr>
          <a:xfrm>
            <a:off x="5302106" y="5841682"/>
            <a:ext cx="122849" cy="178689"/>
          </a:xfrm>
          <a:prstGeom prst="rect">
            <a:avLst/>
          </a:prstGeom>
        </p:spPr>
      </p:pic>
      <p:sp>
        <p:nvSpPr>
          <p:cNvPr id="59" name="TextBox 58"/>
          <p:cNvSpPr txBox="1"/>
          <p:nvPr/>
        </p:nvSpPr>
        <p:spPr>
          <a:xfrm>
            <a:off x="5461988" y="5851016"/>
            <a:ext cx="1846733" cy="179069"/>
          </a:xfrm>
          <a:prstGeom prst="rect">
            <a:avLst/>
          </a:prstGeom>
          <a:noFill/>
        </p:spPr>
        <p:txBody>
          <a:bodyPr wrap="none" lIns="0" rIns="0" tIns="0" bIns="0">
            <a:spAutoFit/>
          </a:bodyPr>
          <a:lstStyle/>
          <a:p>
            <a:r>
              <a:rPr sz="1050" b="0">
                <a:solidFill>
                  <a:srgbClr val="1F1F1F"/>
                </a:solidFill>
                <a:latin typeface="Calibri"/>
              </a:rPr>
              <a:t>below the Global average of US$</a:t>
            </a:r>
          </a:p>
        </p:txBody>
      </p:sp>
      <p:pic>
        <p:nvPicPr>
          <p:cNvPr id="60" name="Picture 59" descr="lock.png"/>
          <p:cNvPicPr>
            <a:picLocks noChangeAspect="1"/>
          </p:cNvPicPr>
          <p:nvPr/>
        </p:nvPicPr>
        <p:blipFill>
          <a:blip r:embed="rId5"/>
          <a:stretch>
            <a:fillRect/>
          </a:stretch>
        </p:blipFill>
        <p:spPr>
          <a:xfrm>
            <a:off x="4719545" y="6001702"/>
            <a:ext cx="122849" cy="178689"/>
          </a:xfrm>
          <a:prstGeom prst="rect">
            <a:avLst/>
          </a:prstGeom>
        </p:spPr>
      </p:pic>
      <p:sp>
        <p:nvSpPr>
          <p:cNvPr id="61" name="TextBox 60"/>
          <p:cNvSpPr txBox="1"/>
          <p:nvPr/>
        </p:nvSpPr>
        <p:spPr>
          <a:xfrm>
            <a:off x="4879428" y="6011036"/>
            <a:ext cx="340555" cy="179069"/>
          </a:xfrm>
          <a:prstGeom prst="rect">
            <a:avLst/>
          </a:prstGeom>
          <a:noFill/>
        </p:spPr>
        <p:txBody>
          <a:bodyPr wrap="none" lIns="0" rIns="0" tIns="0" bIns="0">
            <a:spAutoFit/>
          </a:bodyPr>
          <a:lstStyle/>
          <a:p>
            <a:r>
              <a:rPr sz="1050" b="0">
                <a:solidFill>
                  <a:srgbClr val="1F1F1F"/>
                </a:solidFill>
                <a:latin typeface="Calibri"/>
              </a:rPr>
              <a:t>/MT.</a:t>
            </a:r>
          </a:p>
        </p:txBody>
      </p:sp>
      <p:sp>
        <p:nvSpPr>
          <p:cNvPr id="62" name="TextBox 61"/>
          <p:cNvSpPr txBox="1"/>
          <p:nvPr/>
        </p:nvSpPr>
        <p:spPr>
          <a:xfrm>
            <a:off x="8658225" y="5530976"/>
            <a:ext cx="3143250" cy="179069"/>
          </a:xfrm>
          <a:prstGeom prst="rect">
            <a:avLst/>
          </a:prstGeom>
          <a:noFill/>
        </p:spPr>
        <p:txBody>
          <a:bodyPr wrap="none" lIns="0" rIns="0" tIns="0" bIns="0">
            <a:spAutoFit/>
          </a:bodyPr>
          <a:lstStyle/>
          <a:p>
            <a:r>
              <a:rPr sz="1050" b="0">
                <a:solidFill>
                  <a:srgbClr val="1F1F1F"/>
                </a:solidFill>
                <a:latin typeface="Calibri"/>
              </a:rPr>
              <a:t>Die-Cut &amp; Folded Partitions (H-dividers, tube/cell inserts)</a:t>
            </a:r>
          </a:p>
        </p:txBody>
      </p:sp>
      <p:sp>
        <p:nvSpPr>
          <p:cNvPr id="63" name="TextBox 62"/>
          <p:cNvSpPr txBox="1"/>
          <p:nvPr/>
        </p:nvSpPr>
        <p:spPr>
          <a:xfrm>
            <a:off x="8658225" y="5690996"/>
            <a:ext cx="2257201" cy="179069"/>
          </a:xfrm>
          <a:prstGeom prst="rect">
            <a:avLst/>
          </a:prstGeom>
          <a:noFill/>
        </p:spPr>
        <p:txBody>
          <a:bodyPr wrap="none" lIns="0" rIns="0" tIns="0" bIns="0">
            <a:spAutoFit/>
          </a:bodyPr>
          <a:lstStyle/>
          <a:p>
            <a:r>
              <a:rPr sz="1050" b="0">
                <a:solidFill>
                  <a:srgbClr val="1F1F1F"/>
                </a:solidFill>
                <a:latin typeface="Calibri"/>
              </a:rPr>
              <a:t>show the widest internal price spread at</a:t>
            </a:r>
          </a:p>
        </p:txBody>
      </p:sp>
      <p:pic>
        <p:nvPicPr>
          <p:cNvPr id="64" name="Picture 63" descr="lock.png"/>
          <p:cNvPicPr>
            <a:picLocks noChangeAspect="1"/>
          </p:cNvPicPr>
          <p:nvPr/>
        </p:nvPicPr>
        <p:blipFill>
          <a:blip r:embed="rId5"/>
          <a:stretch>
            <a:fillRect/>
          </a:stretch>
        </p:blipFill>
        <p:spPr>
          <a:xfrm>
            <a:off x="10862376" y="5681662"/>
            <a:ext cx="122849" cy="178689"/>
          </a:xfrm>
          <a:prstGeom prst="rect">
            <a:avLst/>
          </a:prstGeom>
        </p:spPr>
      </p:pic>
      <p:sp>
        <p:nvSpPr>
          <p:cNvPr id="65" name="TextBox 64"/>
          <p:cNvSpPr txBox="1"/>
          <p:nvPr/>
        </p:nvSpPr>
        <p:spPr>
          <a:xfrm>
            <a:off x="11022258" y="5690996"/>
            <a:ext cx="546571" cy="179069"/>
          </a:xfrm>
          <a:prstGeom prst="rect">
            <a:avLst/>
          </a:prstGeom>
          <a:noFill/>
        </p:spPr>
        <p:txBody>
          <a:bodyPr wrap="none" lIns="0" rIns="0" tIns="0" bIns="0">
            <a:spAutoFit/>
          </a:bodyPr>
          <a:lstStyle/>
          <a:p>
            <a:r>
              <a:rPr sz="1050" b="0">
                <a:solidFill>
                  <a:srgbClr val="1F1F1F"/>
                </a:solidFill>
                <a:latin typeface="Calibri"/>
              </a:rPr>
              <a:t>, ranging</a:t>
            </a:r>
          </a:p>
        </p:txBody>
      </p:sp>
      <p:sp>
        <p:nvSpPr>
          <p:cNvPr id="66" name="TextBox 65"/>
          <p:cNvSpPr txBox="1"/>
          <p:nvPr/>
        </p:nvSpPr>
        <p:spPr>
          <a:xfrm>
            <a:off x="8658225" y="5851016"/>
            <a:ext cx="585117" cy="179069"/>
          </a:xfrm>
          <a:prstGeom prst="rect">
            <a:avLst/>
          </a:prstGeom>
          <a:noFill/>
        </p:spPr>
        <p:txBody>
          <a:bodyPr wrap="none" lIns="0" rIns="0" tIns="0" bIns="0">
            <a:spAutoFit/>
          </a:bodyPr>
          <a:lstStyle/>
          <a:p>
            <a:r>
              <a:rPr sz="1050" b="0">
                <a:solidFill>
                  <a:srgbClr val="1F1F1F"/>
                </a:solidFill>
                <a:latin typeface="Calibri"/>
              </a:rPr>
              <a:t>from US$</a:t>
            </a:r>
          </a:p>
        </p:txBody>
      </p:sp>
      <p:pic>
        <p:nvPicPr>
          <p:cNvPr id="67" name="Picture 66" descr="lock.png"/>
          <p:cNvPicPr>
            <a:picLocks noChangeAspect="1"/>
          </p:cNvPicPr>
          <p:nvPr/>
        </p:nvPicPr>
        <p:blipFill>
          <a:blip r:embed="rId5"/>
          <a:stretch>
            <a:fillRect/>
          </a:stretch>
        </p:blipFill>
        <p:spPr>
          <a:xfrm>
            <a:off x="9190292" y="5841682"/>
            <a:ext cx="122849" cy="178689"/>
          </a:xfrm>
          <a:prstGeom prst="rect">
            <a:avLst/>
          </a:prstGeom>
        </p:spPr>
      </p:pic>
      <p:sp>
        <p:nvSpPr>
          <p:cNvPr id="68" name="TextBox 67"/>
          <p:cNvSpPr txBox="1"/>
          <p:nvPr/>
        </p:nvSpPr>
        <p:spPr>
          <a:xfrm>
            <a:off x="9350174" y="5851016"/>
            <a:ext cx="697110" cy="179069"/>
          </a:xfrm>
          <a:prstGeom prst="rect">
            <a:avLst/>
          </a:prstGeom>
          <a:noFill/>
        </p:spPr>
        <p:txBody>
          <a:bodyPr wrap="none" lIns="0" rIns="0" tIns="0" bIns="0">
            <a:spAutoFit/>
          </a:bodyPr>
          <a:lstStyle/>
          <a:p>
            <a:r>
              <a:rPr sz="1050" b="0">
                <a:solidFill>
                  <a:srgbClr val="1F1F1F"/>
                </a:solidFill>
                <a:latin typeface="Calibri"/>
              </a:rPr>
              <a:t>/MT to US$</a:t>
            </a:r>
          </a:p>
        </p:txBody>
      </p:sp>
      <p:pic>
        <p:nvPicPr>
          <p:cNvPr id="69" name="Picture 68" descr="lock.png"/>
          <p:cNvPicPr>
            <a:picLocks noChangeAspect="1"/>
          </p:cNvPicPr>
          <p:nvPr/>
        </p:nvPicPr>
        <p:blipFill>
          <a:blip r:embed="rId5"/>
          <a:stretch>
            <a:fillRect/>
          </a:stretch>
        </p:blipFill>
        <p:spPr>
          <a:xfrm>
            <a:off x="9994234" y="5841682"/>
            <a:ext cx="122849" cy="178689"/>
          </a:xfrm>
          <a:prstGeom prst="rect">
            <a:avLst/>
          </a:prstGeom>
        </p:spPr>
      </p:pic>
      <p:sp>
        <p:nvSpPr>
          <p:cNvPr id="70" name="TextBox 69"/>
          <p:cNvSpPr txBox="1"/>
          <p:nvPr/>
        </p:nvSpPr>
        <p:spPr>
          <a:xfrm>
            <a:off x="10154116" y="5851016"/>
            <a:ext cx="1269317" cy="179069"/>
          </a:xfrm>
          <a:prstGeom prst="rect">
            <a:avLst/>
          </a:prstGeom>
          <a:noFill/>
        </p:spPr>
        <p:txBody>
          <a:bodyPr wrap="none" lIns="0" rIns="0" tIns="0" bIns="0">
            <a:spAutoFit/>
          </a:bodyPr>
          <a:lstStyle/>
          <a:p>
            <a:r>
              <a:rPr sz="1050" b="0">
                <a:solidFill>
                  <a:srgbClr val="1F1F1F"/>
                </a:solidFill>
                <a:latin typeface="Calibri"/>
              </a:rPr>
              <a:t>/MT across sub-types.</a:t>
            </a:r>
          </a:p>
        </p:txBody>
      </p:sp>
      <p:sp>
        <p:nvSpPr>
          <p:cNvPr id="71" name="TextBox 70"/>
          <p:cNvSpPr txBox="1"/>
          <p:nvPr/>
        </p:nvSpPr>
        <p:spPr>
          <a:xfrm>
            <a:off x="301752" y="6391275"/>
            <a:ext cx="5770697" cy="143408"/>
          </a:xfrm>
          <a:prstGeom prst="rect">
            <a:avLst/>
          </a:prstGeom>
          <a:noFill/>
        </p:spPr>
        <p:txBody>
          <a:bodyPr wrap="none" lIns="0" rIns="0" tIns="0" bIns="0">
            <a:spAutoFit/>
          </a:bodyPr>
          <a:lstStyle/>
          <a:p>
            <a:r>
              <a:rPr sz="816" b="0">
                <a:solidFill>
                  <a:srgbClr val="59636E"/>
                </a:solidFill>
                <a:latin typeface="Calibri"/>
              </a:rPr>
              <a:t>Source: FMI analysis. Cell price = combined value (US$) / combined volume (MT); shading shows the index vs the Global average of US$</a:t>
            </a:r>
          </a:p>
        </p:txBody>
      </p:sp>
      <p:pic>
        <p:nvPicPr>
          <p:cNvPr id="72" name="Picture 71" descr="lock.png"/>
          <p:cNvPicPr>
            <a:picLocks noChangeAspect="1"/>
          </p:cNvPicPr>
          <p:nvPr/>
        </p:nvPicPr>
        <p:blipFill>
          <a:blip r:embed="rId5"/>
          <a:stretch>
            <a:fillRect/>
          </a:stretch>
        </p:blipFill>
        <p:spPr>
          <a:xfrm>
            <a:off x="6014239" y="6384020"/>
            <a:ext cx="95470" cy="138866"/>
          </a:xfrm>
          <a:prstGeom prst="rect">
            <a:avLst/>
          </a:prstGeom>
        </p:spPr>
      </p:pic>
      <p:sp>
        <p:nvSpPr>
          <p:cNvPr id="73" name="TextBox 72"/>
          <p:cNvSpPr txBox="1"/>
          <p:nvPr/>
        </p:nvSpPr>
        <p:spPr>
          <a:xfrm>
            <a:off x="6138491" y="6391275"/>
            <a:ext cx="281642" cy="143408"/>
          </a:xfrm>
          <a:prstGeom prst="rect">
            <a:avLst/>
          </a:prstGeom>
          <a:noFill/>
        </p:spPr>
        <p:txBody>
          <a:bodyPr wrap="none" lIns="0" rIns="0" tIns="0" bIns="0">
            <a:spAutoFit/>
          </a:bodyPr>
          <a:lstStyle/>
          <a:p>
            <a:r>
              <a:rPr sz="816" b="0">
                <a:solidFill>
                  <a:srgbClr val="59636E"/>
                </a:solidFill>
                <a:latin typeface="Calibri"/>
              </a:rPr>
              <a:t>/MT.</a:t>
            </a:r>
          </a:p>
        </p:txBody>
      </p:sp>
      <p:pic>
        <p:nvPicPr>
          <p:cNvPr id="74" name="Picture 73" descr="lock.png"/>
          <p:cNvPicPr>
            <a:picLocks noChangeAspect="1"/>
          </p:cNvPicPr>
          <p:nvPr/>
        </p:nvPicPr>
        <p:blipFill>
          <a:blip r:embed="rId5"/>
          <a:stretch>
            <a:fillRect/>
          </a:stretch>
        </p:blipFill>
        <p:spPr>
          <a:xfrm>
            <a:off x="9913437" y="3234020"/>
            <a:ext cx="332271" cy="483303"/>
          </a:xfrm>
          <a:prstGeom prst="rect">
            <a:avLst/>
          </a:prstGeom>
        </p:spPr>
      </p:pic>
      <p:sp>
        <p:nvSpPr>
          <p:cNvPr id="75"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partition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Partition Types by Region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BE3D3"/>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7F7F7"/>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partition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10462494" y="3375398"/>
            <a:ext cx="355774" cy="517489"/>
          </a:xfrm>
          <a:prstGeom prst="rect">
            <a:avLst/>
          </a:prstGeom>
        </p:spPr>
      </p:pic>
      <p:sp>
        <p:nvSpPr>
          <p:cNvPr id="33" name="TextBox 32"/>
          <p:cNvSpPr txBox="1"/>
          <p:nvPr/>
        </p:nvSpPr>
        <p:spPr>
          <a:xfrm>
            <a:off x="411480" y="1110615"/>
            <a:ext cx="3466876" cy="217169"/>
          </a:xfrm>
          <a:prstGeom prst="rect">
            <a:avLst/>
          </a:prstGeom>
          <a:noFill/>
        </p:spPr>
        <p:txBody>
          <a:bodyPr wrap="none" lIns="0" rIns="0" tIns="0" bIns="0">
            <a:spAutoFit/>
          </a:bodyPr>
          <a:lstStyle/>
          <a:p>
            <a:r>
              <a:rPr sz="1300" b="1">
                <a:solidFill>
                  <a:srgbClr val="FFFFFF"/>
                </a:solidFill>
                <a:latin typeface="Calibri"/>
              </a:rPr>
              <a:t>Europe is the most premium Global region at US$</a:t>
            </a:r>
          </a:p>
        </p:txBody>
      </p:sp>
      <p:pic>
        <p:nvPicPr>
          <p:cNvPr id="34" name="Picture 33" descr="lock.png"/>
          <p:cNvPicPr>
            <a:picLocks noChangeAspect="1"/>
          </p:cNvPicPr>
          <p:nvPr/>
        </p:nvPicPr>
        <p:blipFill>
          <a:blip r:embed="rId5"/>
          <a:stretch>
            <a:fillRect/>
          </a:stretch>
        </p:blipFill>
        <p:spPr>
          <a:xfrm>
            <a:off x="3830817" y="1099058"/>
            <a:ext cx="152098" cy="221234"/>
          </a:xfrm>
          <a:prstGeom prst="rect">
            <a:avLst/>
          </a:prstGeom>
        </p:spPr>
      </p:pic>
      <p:sp>
        <p:nvSpPr>
          <p:cNvPr id="35" name="TextBox 34"/>
          <p:cNvSpPr txBox="1"/>
          <p:nvPr/>
        </p:nvSpPr>
        <p:spPr>
          <a:xfrm>
            <a:off x="4028767" y="1110615"/>
            <a:ext cx="1075183" cy="217169"/>
          </a:xfrm>
          <a:prstGeom prst="rect">
            <a:avLst/>
          </a:prstGeom>
          <a:noFill/>
        </p:spPr>
        <p:txBody>
          <a:bodyPr wrap="none" lIns="0" rIns="0" tIns="0" bIns="0">
            <a:spAutoFit/>
          </a:bodyPr>
          <a:lstStyle/>
          <a:p>
            <a:r>
              <a:rPr sz="1300" b="1">
                <a:solidFill>
                  <a:srgbClr val="FFFFFF"/>
                </a:solidFill>
                <a:latin typeface="Calibri"/>
              </a:rPr>
              <a:t>/MT in 2026, +</a:t>
            </a:r>
          </a:p>
        </p:txBody>
      </p:sp>
      <p:pic>
        <p:nvPicPr>
          <p:cNvPr id="36" name="Picture 35" descr="lock.png"/>
          <p:cNvPicPr>
            <a:picLocks noChangeAspect="1"/>
          </p:cNvPicPr>
          <p:nvPr/>
        </p:nvPicPr>
        <p:blipFill>
          <a:blip r:embed="rId5"/>
          <a:stretch>
            <a:fillRect/>
          </a:stretch>
        </p:blipFill>
        <p:spPr>
          <a:xfrm>
            <a:off x="5056412" y="1099058"/>
            <a:ext cx="152098" cy="221234"/>
          </a:xfrm>
          <a:prstGeom prst="rect">
            <a:avLst/>
          </a:prstGeom>
        </p:spPr>
      </p:pic>
      <p:sp>
        <p:nvSpPr>
          <p:cNvPr id="37" name="TextBox 36"/>
          <p:cNvSpPr txBox="1"/>
          <p:nvPr/>
        </p:nvSpPr>
        <p:spPr>
          <a:xfrm>
            <a:off x="5254361" y="1110615"/>
            <a:ext cx="4718992" cy="217169"/>
          </a:xfrm>
          <a:prstGeom prst="rect">
            <a:avLst/>
          </a:prstGeom>
          <a:noFill/>
        </p:spPr>
        <p:txBody>
          <a:bodyPr wrap="none" lIns="0" rIns="0" tIns="0" bIns="0">
            <a:spAutoFit/>
          </a:bodyPr>
          <a:lstStyle/>
          <a:p>
            <a:r>
              <a:rPr sz="1300" b="1">
                <a:solidFill>
                  <a:srgbClr val="FFFFFF"/>
                </a:solidFill>
                <a:latin typeface="Calibri"/>
              </a:rPr>
              <a:t>above the global average, while North America is the lowest priced.</a:t>
            </a:r>
          </a:p>
        </p:txBody>
      </p:sp>
      <p:sp>
        <p:nvSpPr>
          <p:cNvPr id="38" name="TextBox 37"/>
          <p:cNvSpPr txBox="1"/>
          <p:nvPr/>
        </p:nvSpPr>
        <p:spPr>
          <a:xfrm>
            <a:off x="411480" y="1831467"/>
            <a:ext cx="5010484" cy="148589"/>
          </a:xfrm>
          <a:prstGeom prst="rect">
            <a:avLst/>
          </a:prstGeom>
          <a:noFill/>
        </p:spPr>
        <p:txBody>
          <a:bodyPr wrap="none" lIns="0" rIns="0" tIns="0" bIns="0">
            <a:spAutoFit/>
          </a:bodyPr>
          <a:lstStyle/>
          <a:p>
            <a:r>
              <a:rPr sz="850" b="0">
                <a:solidFill>
                  <a:srgbClr val="59636E"/>
                </a:solidFill>
                <a:latin typeface="Calibri"/>
              </a:rPr>
              <a:t>Bar spans the lowest to highest partition type price in each region, read on the price index axis (Global average =</a:t>
            </a:r>
          </a:p>
        </p:txBody>
      </p:sp>
      <p:pic>
        <p:nvPicPr>
          <p:cNvPr id="39" name="Picture 38" descr="lock.png"/>
          <p:cNvPicPr>
            <a:picLocks noChangeAspect="1"/>
          </p:cNvPicPr>
          <p:nvPr/>
        </p:nvPicPr>
        <p:blipFill>
          <a:blip r:embed="rId5"/>
          <a:stretch>
            <a:fillRect/>
          </a:stretch>
        </p:blipFill>
        <p:spPr>
          <a:xfrm>
            <a:off x="5364504" y="1823910"/>
            <a:ext cx="99449" cy="144653"/>
          </a:xfrm>
          <a:prstGeom prst="rect">
            <a:avLst/>
          </a:prstGeom>
        </p:spPr>
      </p:pic>
      <p:sp>
        <p:nvSpPr>
          <p:cNvPr id="40" name="TextBox 39"/>
          <p:cNvSpPr txBox="1"/>
          <p:nvPr/>
        </p:nvSpPr>
        <p:spPr>
          <a:xfrm>
            <a:off x="5493933" y="1831467"/>
            <a:ext cx="2037010" cy="148589"/>
          </a:xfrm>
          <a:prstGeom prst="rect">
            <a:avLst/>
          </a:prstGeom>
          <a:noFill/>
        </p:spPr>
        <p:txBody>
          <a:bodyPr wrap="none" lIns="0" rIns="0" tIns="0" bIns="0">
            <a:spAutoFit/>
          </a:bodyPr>
          <a:lstStyle/>
          <a:p>
            <a:r>
              <a:rPr sz="850" b="0">
                <a:solidFill>
                  <a:srgbClr val="59636E"/>
                </a:solidFill>
                <a:latin typeface="Calibri"/>
              </a:rPr>
              <a:t>). Teal = above Global average, blue = below.</a:t>
            </a:r>
          </a:p>
        </p:txBody>
      </p:sp>
      <p:sp>
        <p:nvSpPr>
          <p:cNvPr id="41" name="TextBox 40"/>
          <p:cNvSpPr txBox="1"/>
          <p:nvPr/>
        </p:nvSpPr>
        <p:spPr>
          <a:xfrm>
            <a:off x="806576" y="5530976"/>
            <a:ext cx="2778324" cy="179069"/>
          </a:xfrm>
          <a:prstGeom prst="rect">
            <a:avLst/>
          </a:prstGeom>
          <a:noFill/>
        </p:spPr>
        <p:txBody>
          <a:bodyPr wrap="none" lIns="0" rIns="0" tIns="0" bIns="0">
            <a:spAutoFit/>
          </a:bodyPr>
          <a:lstStyle/>
          <a:p>
            <a:r>
              <a:rPr sz="1050" b="0">
                <a:solidFill>
                  <a:srgbClr val="1F1F1F"/>
                </a:solidFill>
                <a:latin typeface="Calibri"/>
              </a:rPr>
              <a:t>Average prices across the ranked regions differ by</a:t>
            </a:r>
          </a:p>
        </p:txBody>
      </p:sp>
      <p:pic>
        <p:nvPicPr>
          <p:cNvPr id="42" name="Picture 41" descr="lock.png"/>
          <p:cNvPicPr>
            <a:picLocks noChangeAspect="1"/>
          </p:cNvPicPr>
          <p:nvPr/>
        </p:nvPicPr>
        <p:blipFill>
          <a:blip r:embed="rId5"/>
          <a:stretch>
            <a:fillRect/>
          </a:stretch>
        </p:blipFill>
        <p:spPr>
          <a:xfrm>
            <a:off x="3531850" y="5521642"/>
            <a:ext cx="122849" cy="178689"/>
          </a:xfrm>
          <a:prstGeom prst="rect">
            <a:avLst/>
          </a:prstGeom>
        </p:spPr>
      </p:pic>
      <p:sp>
        <p:nvSpPr>
          <p:cNvPr id="43" name="TextBox 42"/>
          <p:cNvSpPr txBox="1"/>
          <p:nvPr/>
        </p:nvSpPr>
        <p:spPr>
          <a:xfrm>
            <a:off x="3691732" y="5530976"/>
            <a:ext cx="176993" cy="179069"/>
          </a:xfrm>
          <a:prstGeom prst="rect">
            <a:avLst/>
          </a:prstGeom>
          <a:noFill/>
        </p:spPr>
        <p:txBody>
          <a:bodyPr wrap="none" lIns="0" rIns="0" tIns="0" bIns="0">
            <a:spAutoFit/>
          </a:bodyPr>
          <a:lstStyle/>
          <a:p>
            <a:r>
              <a:rPr sz="1050" b="0">
                <a:solidFill>
                  <a:srgbClr val="1F1F1F"/>
                </a:solidFill>
                <a:latin typeface="Calibri"/>
              </a:rPr>
              <a:t>in</a:t>
            </a:r>
          </a:p>
        </p:txBody>
      </p:sp>
      <p:sp>
        <p:nvSpPr>
          <p:cNvPr id="44" name="TextBox 43"/>
          <p:cNvSpPr txBox="1"/>
          <p:nvPr/>
        </p:nvSpPr>
        <p:spPr>
          <a:xfrm>
            <a:off x="806576" y="5690996"/>
            <a:ext cx="919534" cy="179069"/>
          </a:xfrm>
          <a:prstGeom prst="rect">
            <a:avLst/>
          </a:prstGeom>
          <a:noFill/>
        </p:spPr>
        <p:txBody>
          <a:bodyPr wrap="none" lIns="0" rIns="0" tIns="0" bIns="0">
            <a:spAutoFit/>
          </a:bodyPr>
          <a:lstStyle/>
          <a:p>
            <a:r>
              <a:rPr sz="1050" b="0">
                <a:solidFill>
                  <a:srgbClr val="1F1F1F"/>
                </a:solidFill>
                <a:latin typeface="Calibri"/>
              </a:rPr>
              <a:t>2026, from US$</a:t>
            </a:r>
          </a:p>
        </p:txBody>
      </p:sp>
      <p:pic>
        <p:nvPicPr>
          <p:cNvPr id="45" name="Picture 44" descr="lock.png"/>
          <p:cNvPicPr>
            <a:picLocks noChangeAspect="1"/>
          </p:cNvPicPr>
          <p:nvPr/>
        </p:nvPicPr>
        <p:blipFill>
          <a:blip r:embed="rId5"/>
          <a:stretch>
            <a:fillRect/>
          </a:stretch>
        </p:blipFill>
        <p:spPr>
          <a:xfrm>
            <a:off x="1673060" y="5681662"/>
            <a:ext cx="122849" cy="178689"/>
          </a:xfrm>
          <a:prstGeom prst="rect">
            <a:avLst/>
          </a:prstGeom>
        </p:spPr>
      </p:pic>
      <p:sp>
        <p:nvSpPr>
          <p:cNvPr id="46" name="TextBox 45"/>
          <p:cNvSpPr txBox="1"/>
          <p:nvPr/>
        </p:nvSpPr>
        <p:spPr>
          <a:xfrm>
            <a:off x="1832943" y="5690996"/>
            <a:ext cx="1654261" cy="179069"/>
          </a:xfrm>
          <a:prstGeom prst="rect">
            <a:avLst/>
          </a:prstGeom>
          <a:noFill/>
        </p:spPr>
        <p:txBody>
          <a:bodyPr wrap="none" lIns="0" rIns="0" tIns="0" bIns="0">
            <a:spAutoFit/>
          </a:bodyPr>
          <a:lstStyle/>
          <a:p>
            <a:r>
              <a:rPr sz="1050" b="0">
                <a:solidFill>
                  <a:srgbClr val="1F1F1F"/>
                </a:solidFill>
                <a:latin typeface="Calibri"/>
              </a:rPr>
              <a:t>/MT in North America to US$</a:t>
            </a:r>
          </a:p>
        </p:txBody>
      </p:sp>
      <p:pic>
        <p:nvPicPr>
          <p:cNvPr id="47" name="Picture 46" descr="lock.png"/>
          <p:cNvPicPr>
            <a:picLocks noChangeAspect="1"/>
          </p:cNvPicPr>
          <p:nvPr/>
        </p:nvPicPr>
        <p:blipFill>
          <a:blip r:embed="rId5"/>
          <a:stretch>
            <a:fillRect/>
          </a:stretch>
        </p:blipFill>
        <p:spPr>
          <a:xfrm>
            <a:off x="793721" y="5841682"/>
            <a:ext cx="122849" cy="178689"/>
          </a:xfrm>
          <a:prstGeom prst="rect">
            <a:avLst/>
          </a:prstGeom>
        </p:spPr>
      </p:pic>
      <p:sp>
        <p:nvSpPr>
          <p:cNvPr id="48" name="TextBox 47"/>
          <p:cNvSpPr txBox="1"/>
          <p:nvPr/>
        </p:nvSpPr>
        <p:spPr>
          <a:xfrm>
            <a:off x="953604" y="5851016"/>
            <a:ext cx="890364" cy="179069"/>
          </a:xfrm>
          <a:prstGeom prst="rect">
            <a:avLst/>
          </a:prstGeom>
          <a:noFill/>
        </p:spPr>
        <p:txBody>
          <a:bodyPr wrap="none" lIns="0" rIns="0" tIns="0" bIns="0">
            <a:spAutoFit/>
          </a:bodyPr>
          <a:lstStyle/>
          <a:p>
            <a:r>
              <a:rPr sz="1050" b="0">
                <a:solidFill>
                  <a:srgbClr val="1F1F1F"/>
                </a:solidFill>
                <a:latin typeface="Calibri"/>
              </a:rPr>
              <a:t>/MT in Europe.</a:t>
            </a:r>
          </a:p>
        </p:txBody>
      </p:sp>
      <p:sp>
        <p:nvSpPr>
          <p:cNvPr id="49" name="TextBox 48"/>
          <p:cNvSpPr txBox="1"/>
          <p:nvPr/>
        </p:nvSpPr>
        <p:spPr>
          <a:xfrm>
            <a:off x="4732401" y="5530976"/>
            <a:ext cx="2951819" cy="179069"/>
          </a:xfrm>
          <a:prstGeom prst="rect">
            <a:avLst/>
          </a:prstGeom>
          <a:noFill/>
        </p:spPr>
        <p:txBody>
          <a:bodyPr wrap="none" lIns="0" rIns="0" tIns="0" bIns="0">
            <a:spAutoFit/>
          </a:bodyPr>
          <a:lstStyle/>
          <a:p>
            <a:r>
              <a:rPr sz="1050" b="0">
                <a:solidFill>
                  <a:srgbClr val="1F1F1F"/>
                </a:solidFill>
                <a:latin typeface="Calibri"/>
              </a:rPr>
              <a:t>South Asia &amp; Pacific records the fastest average price</a:t>
            </a:r>
          </a:p>
        </p:txBody>
      </p:sp>
      <p:sp>
        <p:nvSpPr>
          <p:cNvPr id="50" name="TextBox 49"/>
          <p:cNvSpPr txBox="1"/>
          <p:nvPr/>
        </p:nvSpPr>
        <p:spPr>
          <a:xfrm>
            <a:off x="4732401" y="5690996"/>
            <a:ext cx="698934" cy="179069"/>
          </a:xfrm>
          <a:prstGeom prst="rect">
            <a:avLst/>
          </a:prstGeom>
          <a:noFill/>
        </p:spPr>
        <p:txBody>
          <a:bodyPr wrap="none" lIns="0" rIns="0" tIns="0" bIns="0">
            <a:spAutoFit/>
          </a:bodyPr>
          <a:lstStyle/>
          <a:p>
            <a:r>
              <a:rPr sz="1050" b="0">
                <a:solidFill>
                  <a:srgbClr val="1F1F1F"/>
                </a:solidFill>
                <a:latin typeface="Calibri"/>
              </a:rPr>
              <a:t>growth at a</a:t>
            </a:r>
          </a:p>
        </p:txBody>
      </p:sp>
      <p:pic>
        <p:nvPicPr>
          <p:cNvPr id="51" name="Picture 50" descr="lock.png"/>
          <p:cNvPicPr>
            <a:picLocks noChangeAspect="1"/>
          </p:cNvPicPr>
          <p:nvPr/>
        </p:nvPicPr>
        <p:blipFill>
          <a:blip r:embed="rId5"/>
          <a:stretch>
            <a:fillRect/>
          </a:stretch>
        </p:blipFill>
        <p:spPr>
          <a:xfrm>
            <a:off x="5378284" y="5681662"/>
            <a:ext cx="122849" cy="178689"/>
          </a:xfrm>
          <a:prstGeom prst="rect">
            <a:avLst/>
          </a:prstGeom>
        </p:spPr>
      </p:pic>
      <p:sp>
        <p:nvSpPr>
          <p:cNvPr id="52" name="TextBox 51"/>
          <p:cNvSpPr txBox="1"/>
          <p:nvPr/>
        </p:nvSpPr>
        <p:spPr>
          <a:xfrm>
            <a:off x="5538166" y="5690996"/>
            <a:ext cx="2178529" cy="179069"/>
          </a:xfrm>
          <a:prstGeom prst="rect">
            <a:avLst/>
          </a:prstGeom>
          <a:noFill/>
        </p:spPr>
        <p:txBody>
          <a:bodyPr wrap="none" lIns="0" rIns="0" tIns="0" bIns="0">
            <a:spAutoFit/>
          </a:bodyPr>
          <a:lstStyle/>
          <a:p>
            <a:r>
              <a:rPr sz="1050" b="0">
                <a:solidFill>
                  <a:srgbClr val="1F1F1F"/>
                </a:solidFill>
                <a:latin typeface="Calibri"/>
              </a:rPr>
              <a:t>CAGR between 2026 and 2036, against</a:t>
            </a:r>
          </a:p>
        </p:txBody>
      </p:sp>
      <p:pic>
        <p:nvPicPr>
          <p:cNvPr id="53" name="Picture 52" descr="lock.png"/>
          <p:cNvPicPr>
            <a:picLocks noChangeAspect="1"/>
          </p:cNvPicPr>
          <p:nvPr/>
        </p:nvPicPr>
        <p:blipFill>
          <a:blip r:embed="rId5"/>
          <a:stretch>
            <a:fillRect/>
          </a:stretch>
        </p:blipFill>
        <p:spPr>
          <a:xfrm>
            <a:off x="4719545" y="5841682"/>
            <a:ext cx="122849" cy="178689"/>
          </a:xfrm>
          <a:prstGeom prst="rect">
            <a:avLst/>
          </a:prstGeom>
        </p:spPr>
      </p:pic>
      <p:sp>
        <p:nvSpPr>
          <p:cNvPr id="54" name="TextBox 53"/>
          <p:cNvSpPr txBox="1"/>
          <p:nvPr/>
        </p:nvSpPr>
        <p:spPr>
          <a:xfrm>
            <a:off x="4879428" y="5851016"/>
            <a:ext cx="1250565" cy="179069"/>
          </a:xfrm>
          <a:prstGeom prst="rect">
            <a:avLst/>
          </a:prstGeom>
          <a:noFill/>
        </p:spPr>
        <p:txBody>
          <a:bodyPr wrap="none" lIns="0" rIns="0" tIns="0" bIns="0">
            <a:spAutoFit/>
          </a:bodyPr>
          <a:lstStyle/>
          <a:p>
            <a:r>
              <a:rPr sz="1050" b="0">
                <a:solidFill>
                  <a:srgbClr val="1F1F1F"/>
                </a:solidFill>
                <a:latin typeface="Calibri"/>
              </a:rPr>
              <a:t>for Global as a whole.</a:t>
            </a:r>
          </a:p>
        </p:txBody>
      </p:sp>
      <p:sp>
        <p:nvSpPr>
          <p:cNvPr id="55" name="TextBox 54"/>
          <p:cNvSpPr txBox="1"/>
          <p:nvPr/>
        </p:nvSpPr>
        <p:spPr>
          <a:xfrm>
            <a:off x="8658225" y="5530976"/>
            <a:ext cx="3011462" cy="179069"/>
          </a:xfrm>
          <a:prstGeom prst="rect">
            <a:avLst/>
          </a:prstGeom>
          <a:noFill/>
        </p:spPr>
        <p:txBody>
          <a:bodyPr wrap="none" lIns="0" rIns="0" tIns="0" bIns="0">
            <a:spAutoFit/>
          </a:bodyPr>
          <a:lstStyle/>
          <a:p>
            <a:r>
              <a:rPr sz="1050" b="0">
                <a:solidFill>
                  <a:srgbClr val="1F1F1F"/>
                </a:solidFill>
                <a:latin typeface="Calibri"/>
              </a:rPr>
              <a:t>South Asia &amp; Pacific shows the widest gap between its</a:t>
            </a:r>
          </a:p>
        </p:txBody>
      </p:sp>
      <p:sp>
        <p:nvSpPr>
          <p:cNvPr id="56" name="TextBox 55"/>
          <p:cNvSpPr txBox="1"/>
          <p:nvPr/>
        </p:nvSpPr>
        <p:spPr>
          <a:xfrm>
            <a:off x="8658225" y="5690996"/>
            <a:ext cx="2587711" cy="179069"/>
          </a:xfrm>
          <a:prstGeom prst="rect">
            <a:avLst/>
          </a:prstGeom>
          <a:noFill/>
        </p:spPr>
        <p:txBody>
          <a:bodyPr wrap="none" lIns="0" rIns="0" tIns="0" bIns="0">
            <a:spAutoFit/>
          </a:bodyPr>
          <a:lstStyle/>
          <a:p>
            <a:r>
              <a:rPr sz="1050" b="0">
                <a:solidFill>
                  <a:srgbClr val="1F1F1F"/>
                </a:solidFill>
                <a:latin typeface="Calibri"/>
              </a:rPr>
              <a:t>cheapest and most expensive partition type at</a:t>
            </a:r>
          </a:p>
        </p:txBody>
      </p:sp>
      <p:pic>
        <p:nvPicPr>
          <p:cNvPr id="57" name="Picture 56" descr="lock.png"/>
          <p:cNvPicPr>
            <a:picLocks noChangeAspect="1"/>
          </p:cNvPicPr>
          <p:nvPr/>
        </p:nvPicPr>
        <p:blipFill>
          <a:blip r:embed="rId5"/>
          <a:stretch>
            <a:fillRect/>
          </a:stretch>
        </p:blipFill>
        <p:spPr>
          <a:xfrm>
            <a:off x="11192886" y="5681662"/>
            <a:ext cx="122849" cy="178689"/>
          </a:xfrm>
          <a:prstGeom prst="rect">
            <a:avLst/>
          </a:prstGeom>
        </p:spPr>
      </p:pic>
      <p:sp>
        <p:nvSpPr>
          <p:cNvPr id="58" name="TextBox 57"/>
          <p:cNvSpPr txBox="1"/>
          <p:nvPr/>
        </p:nvSpPr>
        <p:spPr>
          <a:xfrm>
            <a:off x="11352768" y="5690996"/>
            <a:ext cx="262160" cy="179069"/>
          </a:xfrm>
          <a:prstGeom prst="rect">
            <a:avLst/>
          </a:prstGeom>
          <a:noFill/>
        </p:spPr>
        <p:txBody>
          <a:bodyPr wrap="none" lIns="0" rIns="0" tIns="0" bIns="0">
            <a:spAutoFit/>
          </a:bodyPr>
          <a:lstStyle/>
          <a:p>
            <a:r>
              <a:rPr sz="1050" b="0">
                <a:solidFill>
                  <a:srgbClr val="1F1F1F"/>
                </a:solidFill>
                <a:latin typeface="Calibri"/>
              </a:rPr>
              <a:t>, so</a:t>
            </a:r>
          </a:p>
        </p:txBody>
      </p:sp>
      <p:sp>
        <p:nvSpPr>
          <p:cNvPr id="59" name="TextBox 58"/>
          <p:cNvSpPr txBox="1"/>
          <p:nvPr/>
        </p:nvSpPr>
        <p:spPr>
          <a:xfrm>
            <a:off x="8658225" y="5851016"/>
            <a:ext cx="2851807" cy="179069"/>
          </a:xfrm>
          <a:prstGeom prst="rect">
            <a:avLst/>
          </a:prstGeom>
          <a:noFill/>
        </p:spPr>
        <p:txBody>
          <a:bodyPr wrap="none" lIns="0" rIns="0" tIns="0" bIns="0">
            <a:spAutoFit/>
          </a:bodyPr>
          <a:lstStyle/>
          <a:p>
            <a:r>
              <a:rPr sz="1050" b="0">
                <a:solidFill>
                  <a:srgbClr val="1F1F1F"/>
                </a:solidFill>
                <a:latin typeface="Calibri"/>
              </a:rPr>
              <a:t>product mix shifts move its average price the most.</a:t>
            </a:r>
          </a:p>
        </p:txBody>
      </p:sp>
      <p:pic>
        <p:nvPicPr>
          <p:cNvPr id="60" name="Picture 59" descr="lock.png"/>
          <p:cNvPicPr>
            <a:picLocks noChangeAspect="1"/>
          </p:cNvPicPr>
          <p:nvPr/>
        </p:nvPicPr>
        <p:blipFill>
          <a:blip r:embed="rId5"/>
          <a:stretch>
            <a:fillRect/>
          </a:stretch>
        </p:blipFill>
        <p:spPr>
          <a:xfrm>
            <a:off x="3952821" y="3129375"/>
            <a:ext cx="482444" cy="701737"/>
          </a:xfrm>
          <a:prstGeom prst="rect">
            <a:avLst/>
          </a:prstGeom>
        </p:spPr>
      </p:pic>
      <p:sp>
        <p:nvSpPr>
          <p:cNvPr id="61"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rIns="0" tIns="0" bIns="0">
            <a:spAutoFit/>
          </a:bodyPr>
          <a:lstStyle/>
          <a:p>
            <a:pPr algn="ctr"/>
            <a:r>
              <a:rPr sz="1100" b="0">
                <a:solidFill>
                  <a:srgbClr val="6C7A89"/>
                </a:solidFill>
                <a:latin typeface="Calibri"/>
              </a:rPr>
              <a:t>717</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rIns="0" tIns="0" bIns="0">
            <a:spAutoFit/>
          </a:bodyPr>
          <a:lstStyle/>
          <a:p>
            <a:pPr algn="ctr"/>
            <a:r>
              <a:rPr sz="1100" b="0">
                <a:solidFill>
                  <a:srgbClr val="6C7A89"/>
                </a:solidFill>
                <a:latin typeface="Calibri"/>
              </a:rPr>
              <a:t>812</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none" lIns="0" rIns="0" tIns="0" bIns="0">
            <a:spAutoFit/>
          </a:bodyPr>
          <a:lstStyle/>
          <a:p>
            <a:pPr algn="ctr"/>
            <a:r>
              <a:rPr sz="1100" b="0">
                <a:solidFill>
                  <a:srgbClr val="6C7A89"/>
                </a:solidFill>
                <a:latin typeface="Calibri"/>
              </a:rPr>
              <a:t>906</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1,000</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1,095</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1,189</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2045494" y="2100912"/>
            <a:ext cx="2775775"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382690"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3080926" y="2824823"/>
            <a:ext cx="2745145"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418913"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3819025" y="3548733"/>
            <a:ext cx="3108031"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5311682"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936842" y="4272643"/>
            <a:ext cx="2886635"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4317090"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3078553" y="4996553"/>
            <a:ext cx="3062736"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4515638"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3427103" y="5720463"/>
            <a:ext cx="2971763"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4846378"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403401" cy="194310"/>
          </a:xfrm>
          <a:prstGeom prst="rect">
            <a:avLst/>
          </a:prstGeom>
          <a:noFill/>
        </p:spPr>
        <p:txBody>
          <a:bodyPr wrap="none" lIns="0" rIns="0" tIns="0" bIns="0">
            <a:spAutoFit/>
          </a:bodyPr>
          <a:lstStyle/>
          <a:p>
            <a:r>
              <a:rPr sz="1150" b="0">
                <a:solidFill>
                  <a:srgbClr val="2E2E2E"/>
                </a:solidFill>
                <a:latin typeface="Calibri"/>
              </a:rPr>
              <a:t>Die-cut &amp; folded partitions (h-dividers, tube/cell inserts)</a:t>
            </a:r>
          </a:p>
        </p:txBody>
      </p:sp>
      <p:sp>
        <p:nvSpPr>
          <p:cNvPr id="54" name="TextBox 53"/>
          <p:cNvSpPr txBox="1"/>
          <p:nvPr/>
        </p:nvSpPr>
        <p:spPr>
          <a:xfrm>
            <a:off x="8048625" y="1911934"/>
            <a:ext cx="3767956" cy="194310"/>
          </a:xfrm>
          <a:prstGeom prst="rect">
            <a:avLst/>
          </a:prstGeom>
          <a:noFill/>
        </p:spPr>
        <p:txBody>
          <a:bodyPr wrap="none" lIns="0" rIns="0" tIns="0" bIns="0">
            <a:spAutoFit/>
          </a:bodyPr>
          <a:lstStyle/>
          <a:p>
            <a:r>
              <a:rPr sz="1150" b="0">
                <a:solidFill>
                  <a:srgbClr val="2E2E2E"/>
                </a:solidFill>
                <a:latin typeface="Calibri"/>
              </a:rPr>
              <a:t>segment is expected to command the highest average price of</a:t>
            </a:r>
          </a:p>
        </p:txBody>
      </p:sp>
      <p:sp>
        <p:nvSpPr>
          <p:cNvPr id="55" name="TextBox 54"/>
          <p:cNvSpPr txBox="1"/>
          <p:nvPr/>
        </p:nvSpPr>
        <p:spPr>
          <a:xfrm>
            <a:off x="8048625" y="2087194"/>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56" name="Picture 55" descr="lock.png"/>
          <p:cNvPicPr>
            <a:picLocks noChangeAspect="1"/>
          </p:cNvPicPr>
          <p:nvPr/>
        </p:nvPicPr>
        <p:blipFill>
          <a:blip r:embed="rId4"/>
          <a:stretch>
            <a:fillRect/>
          </a:stretch>
        </p:blipFill>
        <p:spPr>
          <a:xfrm>
            <a:off x="8309028" y="2076970"/>
            <a:ext cx="134549" cy="195707"/>
          </a:xfrm>
          <a:prstGeom prst="rect">
            <a:avLst/>
          </a:prstGeom>
        </p:spPr>
      </p:pic>
      <p:sp>
        <p:nvSpPr>
          <p:cNvPr id="57" name="TextBox 56"/>
          <p:cNvSpPr txBox="1"/>
          <p:nvPr/>
        </p:nvSpPr>
        <p:spPr>
          <a:xfrm>
            <a:off x="8484137" y="2087194"/>
            <a:ext cx="3115825" cy="194310"/>
          </a:xfrm>
          <a:prstGeom prst="rect">
            <a:avLst/>
          </a:prstGeom>
          <a:noFill/>
        </p:spPr>
        <p:txBody>
          <a:bodyPr wrap="none" lIns="0" rIns="0" tIns="0" bIns="0">
            <a:spAutoFit/>
          </a:bodyPr>
          <a:lstStyle/>
          <a:p>
            <a:r>
              <a:rPr sz="1150" b="0">
                <a:solidFill>
                  <a:srgbClr val="2E2E2E"/>
                </a:solidFill>
                <a:latin typeface="Calibri"/>
              </a:rPr>
              <a:t>per MT in 2036. Average selling price of corrugated</a:t>
            </a:r>
          </a:p>
        </p:txBody>
      </p:sp>
      <p:sp>
        <p:nvSpPr>
          <p:cNvPr id="58" name="TextBox 57"/>
          <p:cNvSpPr txBox="1"/>
          <p:nvPr/>
        </p:nvSpPr>
        <p:spPr>
          <a:xfrm>
            <a:off x="8048625" y="2262454"/>
            <a:ext cx="1767755" cy="194310"/>
          </a:xfrm>
          <a:prstGeom prst="rect">
            <a:avLst/>
          </a:prstGeom>
          <a:noFill/>
        </p:spPr>
        <p:txBody>
          <a:bodyPr wrap="none" lIns="0" rIns="0" tIns="0" bIns="0">
            <a:spAutoFit/>
          </a:bodyPr>
          <a:lstStyle/>
          <a:p>
            <a:r>
              <a:rPr sz="1150" b="0">
                <a:solidFill>
                  <a:srgbClr val="2E2E2E"/>
                </a:solidFill>
                <a:latin typeface="Calibri"/>
              </a:rPr>
              <a:t>partition is estimated at US$</a:t>
            </a:r>
          </a:p>
        </p:txBody>
      </p:sp>
      <p:pic>
        <p:nvPicPr>
          <p:cNvPr id="59" name="Picture 58" descr="lock.png"/>
          <p:cNvPicPr>
            <a:picLocks noChangeAspect="1"/>
          </p:cNvPicPr>
          <p:nvPr/>
        </p:nvPicPr>
        <p:blipFill>
          <a:blip r:embed="rId4"/>
          <a:stretch>
            <a:fillRect/>
          </a:stretch>
        </p:blipFill>
        <p:spPr>
          <a:xfrm>
            <a:off x="9765534" y="2252230"/>
            <a:ext cx="134549" cy="195707"/>
          </a:xfrm>
          <a:prstGeom prst="rect">
            <a:avLst/>
          </a:prstGeom>
        </p:spPr>
      </p:pic>
      <p:sp>
        <p:nvSpPr>
          <p:cNvPr id="60" name="TextBox 59"/>
          <p:cNvSpPr txBox="1"/>
          <p:nvPr/>
        </p:nvSpPr>
        <p:spPr>
          <a:xfrm>
            <a:off x="9940643" y="2262454"/>
            <a:ext cx="1359557" cy="194310"/>
          </a:xfrm>
          <a:prstGeom prst="rect">
            <a:avLst/>
          </a:prstGeom>
          <a:noFill/>
        </p:spPr>
        <p:txBody>
          <a:bodyPr wrap="none" lIns="0" rIns="0" tIns="0" bIns="0">
            <a:spAutoFit/>
          </a:bodyPr>
          <a:lstStyle/>
          <a:p>
            <a:r>
              <a:rPr sz="1150" b="0">
                <a:solidFill>
                  <a:srgbClr val="2E2E2E"/>
                </a:solidFill>
                <a:latin typeface="Calibri"/>
              </a:rPr>
              <a:t>per MT in 2025 and is</a:t>
            </a:r>
          </a:p>
        </p:txBody>
      </p:sp>
      <p:sp>
        <p:nvSpPr>
          <p:cNvPr id="61" name="TextBox 60"/>
          <p:cNvSpPr txBox="1"/>
          <p:nvPr/>
        </p:nvSpPr>
        <p:spPr>
          <a:xfrm>
            <a:off x="8048625" y="2437714"/>
            <a:ext cx="1764617" cy="194310"/>
          </a:xfrm>
          <a:prstGeom prst="rect">
            <a:avLst/>
          </a:prstGeom>
          <a:noFill/>
        </p:spPr>
        <p:txBody>
          <a:bodyPr wrap="none" lIns="0" rIns="0" tIns="0" bIns="0">
            <a:spAutoFit/>
          </a:bodyPr>
          <a:lstStyle/>
          <a:p>
            <a:r>
              <a:rPr sz="1150" b="0">
                <a:solidFill>
                  <a:srgbClr val="2E2E2E"/>
                </a:solidFill>
                <a:latin typeface="Calibri"/>
              </a:rPr>
              <a:t>projected to increase to US$</a:t>
            </a:r>
          </a:p>
        </p:txBody>
      </p:sp>
      <p:pic>
        <p:nvPicPr>
          <p:cNvPr id="62" name="Picture 61" descr="lock.png"/>
          <p:cNvPicPr>
            <a:picLocks noChangeAspect="1"/>
          </p:cNvPicPr>
          <p:nvPr/>
        </p:nvPicPr>
        <p:blipFill>
          <a:blip r:embed="rId4"/>
          <a:stretch>
            <a:fillRect/>
          </a:stretch>
        </p:blipFill>
        <p:spPr>
          <a:xfrm>
            <a:off x="9762396" y="2427490"/>
            <a:ext cx="134549" cy="195707"/>
          </a:xfrm>
          <a:prstGeom prst="rect">
            <a:avLst/>
          </a:prstGeom>
        </p:spPr>
      </p:pic>
      <p:sp>
        <p:nvSpPr>
          <p:cNvPr id="63" name="TextBox 62"/>
          <p:cNvSpPr txBox="1"/>
          <p:nvPr/>
        </p:nvSpPr>
        <p:spPr>
          <a:xfrm>
            <a:off x="9937506" y="2437714"/>
            <a:ext cx="1048630" cy="194310"/>
          </a:xfrm>
          <a:prstGeom prst="rect">
            <a:avLst/>
          </a:prstGeom>
          <a:noFill/>
        </p:spPr>
        <p:txBody>
          <a:bodyPr wrap="none" lIns="0" rIns="0" tIns="0" bIns="0">
            <a:spAutoFit/>
          </a:bodyPr>
          <a:lstStyle/>
          <a:p>
            <a:r>
              <a:rPr sz="1150" b="0">
                <a:solidFill>
                  <a:srgbClr val="2E2E2E"/>
                </a:solidFill>
                <a:latin typeface="Calibri"/>
              </a:rPr>
              <a:t>per MT by 2036.</a:t>
            </a:r>
          </a:p>
        </p:txBody>
      </p:sp>
      <p:sp>
        <p:nvSpPr>
          <p:cNvPr id="64" name="TextBox 63"/>
          <p:cNvSpPr txBox="1"/>
          <p:nvPr/>
        </p:nvSpPr>
        <p:spPr>
          <a:xfrm>
            <a:off x="8048625" y="2665551"/>
            <a:ext cx="3806750" cy="194310"/>
          </a:xfrm>
          <a:prstGeom prst="rect">
            <a:avLst/>
          </a:prstGeom>
          <a:noFill/>
        </p:spPr>
        <p:txBody>
          <a:bodyPr wrap="none" lIns="0" rIns="0" tIns="0" bIns="0">
            <a:spAutoFit/>
          </a:bodyPr>
          <a:lstStyle/>
          <a:p>
            <a:r>
              <a:rPr sz="1150" b="0">
                <a:solidFill>
                  <a:srgbClr val="2E2E2E"/>
                </a:solidFill>
                <a:latin typeface="Calibri"/>
              </a:rPr>
              <a:t>Europe is the highest-priced region, while North America is the</a:t>
            </a:r>
          </a:p>
        </p:txBody>
      </p:sp>
      <p:sp>
        <p:nvSpPr>
          <p:cNvPr id="65" name="TextBox 64"/>
          <p:cNvSpPr txBox="1"/>
          <p:nvPr/>
        </p:nvSpPr>
        <p:spPr>
          <a:xfrm>
            <a:off x="8048625" y="2840811"/>
            <a:ext cx="3834420" cy="194310"/>
          </a:xfrm>
          <a:prstGeom prst="rect">
            <a:avLst/>
          </a:prstGeom>
          <a:noFill/>
        </p:spPr>
        <p:txBody>
          <a:bodyPr wrap="none" lIns="0" rIns="0" tIns="0" bIns="0">
            <a:spAutoFit/>
          </a:bodyPr>
          <a:lstStyle/>
          <a:p>
            <a:r>
              <a:rPr sz="1150" b="0">
                <a:solidFill>
                  <a:srgbClr val="2E2E2E"/>
                </a:solidFill>
                <a:latin typeface="Calibri"/>
              </a:rPr>
              <a:t>most price-competitive market. The orange dot is each region's</a:t>
            </a:r>
          </a:p>
        </p:txBody>
      </p:sp>
      <p:sp>
        <p:nvSpPr>
          <p:cNvPr id="66" name="TextBox 65"/>
          <p:cNvSpPr txBox="1"/>
          <p:nvPr/>
        </p:nvSpPr>
        <p:spPr>
          <a:xfrm>
            <a:off x="8048625" y="3016071"/>
            <a:ext cx="3749699" cy="194310"/>
          </a:xfrm>
          <a:prstGeom prst="rect">
            <a:avLst/>
          </a:prstGeom>
          <a:noFill/>
        </p:spPr>
        <p:txBody>
          <a:bodyPr wrap="none" lIns="0" rIns="0" tIns="0" bIns="0">
            <a:spAutoFit/>
          </a:bodyPr>
          <a:lstStyle/>
          <a:p>
            <a:r>
              <a:rPr sz="1150" b="0">
                <a:solidFill>
                  <a:srgbClr val="2E2E2E"/>
                </a:solidFill>
                <a:latin typeface="Calibri"/>
              </a:rPr>
              <a:t>average selling price; the blue band is its full low-to-high price</a:t>
            </a:r>
          </a:p>
        </p:txBody>
      </p:sp>
      <p:sp>
        <p:nvSpPr>
          <p:cNvPr id="67" name="TextBox 66"/>
          <p:cNvSpPr txBox="1"/>
          <p:nvPr/>
        </p:nvSpPr>
        <p:spPr>
          <a:xfrm>
            <a:off x="8048625" y="3191331"/>
            <a:ext cx="2269517" cy="194310"/>
          </a:xfrm>
          <a:prstGeom prst="rect">
            <a:avLst/>
          </a:prstGeom>
          <a:noFill/>
        </p:spPr>
        <p:txBody>
          <a:bodyPr wrap="none" lIns="0" rIns="0" tIns="0" bIns="0">
            <a:spAutoFit/>
          </a:bodyPr>
          <a:lstStyle/>
          <a:p>
            <a:r>
              <a:rPr sz="1150" b="0">
                <a:solidFill>
                  <a:srgbClr val="2E2E2E"/>
                </a:solidFill>
                <a:latin typeface="Calibri"/>
              </a:rPr>
              <a:t>range, all derived as Value ÷ Volume.</a:t>
            </a:r>
          </a:p>
        </p:txBody>
      </p:sp>
      <p:sp>
        <p:nvSpPr>
          <p:cNvPr id="68" name="TextBox 67"/>
          <p:cNvSpPr txBox="1"/>
          <p:nvPr/>
        </p:nvSpPr>
        <p:spPr>
          <a:xfrm>
            <a:off x="8048625" y="3419169"/>
            <a:ext cx="3691793" cy="194310"/>
          </a:xfrm>
          <a:prstGeom prst="rect">
            <a:avLst/>
          </a:prstGeom>
          <a:noFill/>
        </p:spPr>
        <p:txBody>
          <a:bodyPr wrap="none" lIns="0" rIns="0" tIns="0" bIns="0">
            <a:spAutoFit/>
          </a:bodyPr>
          <a:lstStyle/>
          <a:p>
            <a:r>
              <a:rPr sz="1150" b="0">
                <a:solidFill>
                  <a:srgbClr val="2E2E2E"/>
                </a:solidFill>
                <a:latin typeface="Calibri"/>
              </a:rPr>
              <a:t>Narrow bands point to commoditised, price-led competition;</a:t>
            </a:r>
          </a:p>
        </p:txBody>
      </p:sp>
      <p:sp>
        <p:nvSpPr>
          <p:cNvPr id="69" name="TextBox 68"/>
          <p:cNvSpPr txBox="1"/>
          <p:nvPr/>
        </p:nvSpPr>
        <p:spPr>
          <a:xfrm>
            <a:off x="8048625" y="3594429"/>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70" name="TextBox 69"/>
          <p:cNvSpPr txBox="1"/>
          <p:nvPr/>
        </p:nvSpPr>
        <p:spPr>
          <a:xfrm>
            <a:off x="8048625" y="3769689"/>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Corrugated Partition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Corrugated Partition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Corrugated Partition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288771"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896652" y="1889132"/>
            <a:ext cx="128699" cy="187198"/>
          </a:xfrm>
          <a:prstGeom prst="rect">
            <a:avLst/>
          </a:prstGeom>
        </p:spPr>
      </p:pic>
      <p:sp>
        <p:nvSpPr>
          <p:cNvPr id="66" name="TextBox 65"/>
          <p:cNvSpPr txBox="1"/>
          <p:nvPr/>
        </p:nvSpPr>
        <p:spPr>
          <a:xfrm>
            <a:off x="4314683"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370988" y="2315626"/>
            <a:ext cx="92663" cy="134782"/>
          </a:xfrm>
          <a:prstGeom prst="rect">
            <a:avLst/>
          </a:prstGeom>
        </p:spPr>
      </p:pic>
      <p:sp>
        <p:nvSpPr>
          <p:cNvPr id="68" name="TextBox 67"/>
          <p:cNvSpPr txBox="1"/>
          <p:nvPr/>
        </p:nvSpPr>
        <p:spPr>
          <a:xfrm>
            <a:off x="5083343"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125111" y="3363591"/>
            <a:ext cx="92663" cy="134782"/>
          </a:xfrm>
          <a:prstGeom prst="rect">
            <a:avLst/>
          </a:prstGeom>
        </p:spPr>
      </p:pic>
      <p:sp>
        <p:nvSpPr>
          <p:cNvPr id="70" name="TextBox 69"/>
          <p:cNvSpPr txBox="1"/>
          <p:nvPr/>
        </p:nvSpPr>
        <p:spPr>
          <a:xfrm>
            <a:off x="5072546"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130716" y="4655202"/>
            <a:ext cx="97811" cy="142270"/>
          </a:xfrm>
          <a:prstGeom prst="rect">
            <a:avLst/>
          </a:prstGeom>
        </p:spPr>
      </p:pic>
      <p:sp>
        <p:nvSpPr>
          <p:cNvPr id="72" name="TextBox 71"/>
          <p:cNvSpPr txBox="1"/>
          <p:nvPr/>
        </p:nvSpPr>
        <p:spPr>
          <a:xfrm>
            <a:off x="4279667"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837988" y="5767261"/>
            <a:ext cx="92663" cy="134782"/>
          </a:xfrm>
          <a:prstGeom prst="rect">
            <a:avLst/>
          </a:prstGeom>
        </p:spPr>
      </p:pic>
      <p:sp>
        <p:nvSpPr>
          <p:cNvPr id="74" name="TextBox 73"/>
          <p:cNvSpPr txBox="1"/>
          <p:nvPr/>
        </p:nvSpPr>
        <p:spPr>
          <a:xfrm>
            <a:off x="3097033"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119536" y="6103453"/>
            <a:ext cx="97811" cy="142270"/>
          </a:xfrm>
          <a:prstGeom prst="rect">
            <a:avLst/>
          </a:prstGeom>
        </p:spPr>
      </p:pic>
      <p:sp>
        <p:nvSpPr>
          <p:cNvPr id="76" name="TextBox 75"/>
          <p:cNvSpPr txBox="1"/>
          <p:nvPr/>
        </p:nvSpPr>
        <p:spPr>
          <a:xfrm>
            <a:off x="1906713"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7" name="TextBox 76"/>
          <p:cNvSpPr txBox="1"/>
          <p:nvPr/>
        </p:nvSpPr>
        <p:spPr>
          <a:xfrm>
            <a:off x="2260671"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497177" y="5767261"/>
            <a:ext cx="92663" cy="134782"/>
          </a:xfrm>
          <a:prstGeom prst="rect">
            <a:avLst/>
          </a:prstGeom>
        </p:spPr>
      </p:pic>
      <p:sp>
        <p:nvSpPr>
          <p:cNvPr id="79" name="TextBox 78"/>
          <p:cNvSpPr txBox="1"/>
          <p:nvPr/>
        </p:nvSpPr>
        <p:spPr>
          <a:xfrm>
            <a:off x="1097191"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612685" y="4719297"/>
            <a:ext cx="92663" cy="134782"/>
          </a:xfrm>
          <a:prstGeom prst="rect">
            <a:avLst/>
          </a:prstGeom>
        </p:spPr>
      </p:pic>
      <p:sp>
        <p:nvSpPr>
          <p:cNvPr id="81" name="TextBox 80"/>
          <p:cNvSpPr txBox="1"/>
          <p:nvPr/>
        </p:nvSpPr>
        <p:spPr>
          <a:xfrm>
            <a:off x="1079852"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155213" y="3363591"/>
            <a:ext cx="92663" cy="134782"/>
          </a:xfrm>
          <a:prstGeom prst="rect">
            <a:avLst/>
          </a:prstGeom>
        </p:spPr>
      </p:pic>
      <p:sp>
        <p:nvSpPr>
          <p:cNvPr id="83" name="TextBox 82"/>
          <p:cNvSpPr txBox="1"/>
          <p:nvPr/>
        </p:nvSpPr>
        <p:spPr>
          <a:xfrm>
            <a:off x="1850723"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374076" y="2375977"/>
            <a:ext cx="92663" cy="134782"/>
          </a:xfrm>
          <a:prstGeom prst="rect">
            <a:avLst/>
          </a:prstGeom>
        </p:spPr>
      </p:pic>
      <p:sp>
        <p:nvSpPr>
          <p:cNvPr id="85" name="TextBox 84"/>
          <p:cNvSpPr txBox="1"/>
          <p:nvPr/>
        </p:nvSpPr>
        <p:spPr>
          <a:xfrm>
            <a:off x="7381875" y="5362146"/>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8070793" y="5352366"/>
            <a:ext cx="128699" cy="187198"/>
          </a:xfrm>
          <a:prstGeom prst="rect">
            <a:avLst/>
          </a:prstGeom>
        </p:spPr>
      </p:pic>
      <p:sp>
        <p:nvSpPr>
          <p:cNvPr id="87" name="TextBox 86"/>
          <p:cNvSpPr txBox="1"/>
          <p:nvPr/>
        </p:nvSpPr>
        <p:spPr>
          <a:xfrm>
            <a:off x="8238288" y="5362146"/>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8" name="TextBox 87"/>
          <p:cNvSpPr txBox="1"/>
          <p:nvPr/>
        </p:nvSpPr>
        <p:spPr>
          <a:xfrm>
            <a:off x="7381875" y="5580078"/>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181298" y="5570298"/>
            <a:ext cx="128699" cy="187198"/>
          </a:xfrm>
          <a:prstGeom prst="rect">
            <a:avLst/>
          </a:prstGeom>
        </p:spPr>
      </p:pic>
      <p:sp>
        <p:nvSpPr>
          <p:cNvPr id="90" name="TextBox 89"/>
          <p:cNvSpPr txBox="1"/>
          <p:nvPr/>
        </p:nvSpPr>
        <p:spPr>
          <a:xfrm>
            <a:off x="9348794" y="5580078"/>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1" name="TextBox 90"/>
          <p:cNvSpPr txBox="1"/>
          <p:nvPr/>
        </p:nvSpPr>
        <p:spPr>
          <a:xfrm>
            <a:off x="7381875" y="5798010"/>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808310" y="5788230"/>
            <a:ext cx="128699" cy="187198"/>
          </a:xfrm>
          <a:prstGeom prst="rect">
            <a:avLst/>
          </a:prstGeom>
        </p:spPr>
      </p:pic>
      <p:sp>
        <p:nvSpPr>
          <p:cNvPr id="93" name="TextBox 92"/>
          <p:cNvSpPr txBox="1"/>
          <p:nvPr/>
        </p:nvSpPr>
        <p:spPr>
          <a:xfrm>
            <a:off x="8975806" y="5798010"/>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4" name="TextBox 93"/>
          <p:cNvSpPr txBox="1"/>
          <p:nvPr/>
        </p:nvSpPr>
        <p:spPr>
          <a:xfrm>
            <a:off x="7381875" y="6015942"/>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855241" y="6006162"/>
            <a:ext cx="128699" cy="187198"/>
          </a:xfrm>
          <a:prstGeom prst="rect">
            <a:avLst/>
          </a:prstGeom>
        </p:spPr>
      </p:pic>
      <p:sp>
        <p:nvSpPr>
          <p:cNvPr id="96" name="TextBox 95"/>
          <p:cNvSpPr txBox="1"/>
          <p:nvPr/>
        </p:nvSpPr>
        <p:spPr>
          <a:xfrm>
            <a:off x="9022737" y="6015942"/>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7" name="TextBox 96"/>
          <p:cNvSpPr txBox="1"/>
          <p:nvPr/>
        </p:nvSpPr>
        <p:spPr>
          <a:xfrm>
            <a:off x="7381875" y="6233874"/>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8930002" y="6224094"/>
            <a:ext cx="128699" cy="187198"/>
          </a:xfrm>
          <a:prstGeom prst="rect">
            <a:avLst/>
          </a:prstGeom>
        </p:spPr>
      </p:pic>
      <p:sp>
        <p:nvSpPr>
          <p:cNvPr id="99" name="TextBox 98"/>
          <p:cNvSpPr txBox="1"/>
          <p:nvPr/>
        </p:nvSpPr>
        <p:spPr>
          <a:xfrm>
            <a:off x="9097498" y="6233874"/>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gridCol w="1128887"/>
                <a:gridCol w="1128887"/>
                <a:gridCol w="1128887"/>
                <a:gridCol w="1128887"/>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9" cy="2271330"/>
        </p:xfrm>
        <a:graphic>
          <a:graphicData uri="http://schemas.openxmlformats.org/drawingml/2006/table">
            <a:tbl>
              <a:tblPr>
                <a:tableStyleId>{5C22544A-7EE6-4342-B048-85BDC9FD1C3A}</a:tableStyleId>
              </a:tblPr>
              <a:tblGrid>
                <a:gridCol w="2038759"/>
                <a:gridCol w="947635"/>
                <a:gridCol w="947635"/>
                <a:gridCol w="947635"/>
                <a:gridCol w="947635"/>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9957639" y="2566777"/>
            <a:ext cx="366712" cy="533400"/>
          </a:xfrm>
          <a:prstGeom prst="rect">
            <a:avLst/>
          </a:prstGeom>
        </p:spPr>
      </p:pic>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partition type type and region (US$/MT).</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Partition Type (US$/MT)</a:t>
            </a:r>
          </a:p>
        </p:txBody>
      </p:sp>
      <p:graphicFrame>
        <p:nvGraphicFramePr>
          <p:cNvPr id="13" name="Table 12"/>
          <p:cNvGraphicFramePr>
            <a:graphicFrameLocks noGrp="1"/>
          </p:cNvGraphicFramePr>
          <p:nvPr/>
        </p:nvGraphicFramePr>
        <p:xfrm>
          <a:off x="152400" y="1571625"/>
          <a:ext cx="11887201" cy="2409822"/>
        </p:xfrm>
        <a:graphic>
          <a:graphicData uri="http://schemas.openxmlformats.org/drawingml/2006/table">
            <a:tbl>
              <a:tblPr>
                <a:tableStyleId>{5C22544A-7EE6-4342-B048-85BDC9FD1C3A}</a:tableStyleId>
              </a:tblPr>
              <a:tblGrid>
                <a:gridCol w="1627762"/>
                <a:gridCol w="2777446"/>
                <a:gridCol w="4301267"/>
                <a:gridCol w="2022997"/>
                <a:gridCol w="1157729"/>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Slotted (Interlocking Grid) Partitions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Die-Cut &amp; Folded Partitions (H-dividers, tube/cell inserts)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Flat Dividers &amp; Layer Pads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360616">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196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43450"/>
            <a:ext cx="11639550" cy="17240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23191" y="2632898"/>
            <a:ext cx="366712" cy="533400"/>
          </a:xfrm>
          <a:prstGeom prst="rect">
            <a:avLst/>
          </a:prstGeom>
        </p:spPr>
      </p:pic>
      <p:sp>
        <p:nvSpPr>
          <p:cNvPr id="21" name="TextBox 20"/>
          <p:cNvSpPr txBox="1"/>
          <p:nvPr/>
        </p:nvSpPr>
        <p:spPr>
          <a:xfrm>
            <a:off x="276225" y="4752975"/>
            <a:ext cx="4195551" cy="194310"/>
          </a:xfrm>
          <a:prstGeom prst="rect">
            <a:avLst/>
          </a:prstGeom>
          <a:noFill/>
        </p:spPr>
        <p:txBody>
          <a:bodyPr wrap="none" lIns="0" rIns="0" tIns="0" bIns="0">
            <a:spAutoFit/>
          </a:bodyPr>
          <a:lstStyle/>
          <a:p>
            <a:r>
              <a:rPr sz="1150" b="0">
                <a:solidFill>
                  <a:srgbClr val="2E2E2E"/>
                </a:solidFill>
                <a:latin typeface="Calibri"/>
              </a:rPr>
              <a:t>▪ On a weighted-average basis 'Europe' is the highest-priced region (~</a:t>
            </a:r>
          </a:p>
        </p:txBody>
      </p:sp>
      <p:pic>
        <p:nvPicPr>
          <p:cNvPr id="22" name="Picture 21" descr="lock.png"/>
          <p:cNvPicPr>
            <a:picLocks noChangeAspect="1"/>
          </p:cNvPicPr>
          <p:nvPr/>
        </p:nvPicPr>
        <p:blipFill>
          <a:blip r:embed="rId4"/>
          <a:stretch>
            <a:fillRect/>
          </a:stretch>
        </p:blipFill>
        <p:spPr>
          <a:xfrm>
            <a:off x="4420930" y="4742751"/>
            <a:ext cx="134549" cy="195707"/>
          </a:xfrm>
          <a:prstGeom prst="rect">
            <a:avLst/>
          </a:prstGeom>
        </p:spPr>
      </p:pic>
      <p:sp>
        <p:nvSpPr>
          <p:cNvPr id="23" name="TextBox 22"/>
          <p:cNvSpPr txBox="1"/>
          <p:nvPr/>
        </p:nvSpPr>
        <p:spPr>
          <a:xfrm>
            <a:off x="4596039" y="4752975"/>
            <a:ext cx="3290726" cy="194310"/>
          </a:xfrm>
          <a:prstGeom prst="rect">
            <a:avLst/>
          </a:prstGeom>
          <a:noFill/>
        </p:spPr>
        <p:txBody>
          <a:bodyPr wrap="none" lIns="0" rIns="0" tIns="0" bIns="0">
            <a:spAutoFit/>
          </a:bodyPr>
          <a:lstStyle/>
          <a:p>
            <a:r>
              <a:rPr sz="1150" b="0">
                <a:solidFill>
                  <a:srgbClr val="2E2E2E"/>
                </a:solidFill>
                <a:latin typeface="Calibri"/>
              </a:rPr>
              <a:t>US$/MT) and 'North America' the most competitive (~</a:t>
            </a:r>
          </a:p>
        </p:txBody>
      </p:sp>
      <p:pic>
        <p:nvPicPr>
          <p:cNvPr id="24" name="Picture 23" descr="lock.png"/>
          <p:cNvPicPr>
            <a:picLocks noChangeAspect="1"/>
          </p:cNvPicPr>
          <p:nvPr/>
        </p:nvPicPr>
        <p:blipFill>
          <a:blip r:embed="rId4"/>
          <a:stretch>
            <a:fillRect/>
          </a:stretch>
        </p:blipFill>
        <p:spPr>
          <a:xfrm>
            <a:off x="7835920" y="4742751"/>
            <a:ext cx="134549" cy="195707"/>
          </a:xfrm>
          <a:prstGeom prst="rect">
            <a:avLst/>
          </a:prstGeom>
        </p:spPr>
      </p:pic>
      <p:sp>
        <p:nvSpPr>
          <p:cNvPr id="25" name="TextBox 24"/>
          <p:cNvSpPr txBox="1"/>
          <p:nvPr/>
        </p:nvSpPr>
        <p:spPr>
          <a:xfrm>
            <a:off x="8011029" y="4752975"/>
            <a:ext cx="644996" cy="194310"/>
          </a:xfrm>
          <a:prstGeom prst="rect">
            <a:avLst/>
          </a:prstGeom>
          <a:noFill/>
        </p:spPr>
        <p:txBody>
          <a:bodyPr wrap="none" lIns="0" rIns="0" tIns="0" bIns="0">
            <a:spAutoFit/>
          </a:bodyPr>
          <a:lstStyle/>
          <a:p>
            <a:r>
              <a:rPr sz="1150" b="0">
                <a:solidFill>
                  <a:srgbClr val="2E2E2E"/>
                </a:solidFill>
                <a:latin typeface="Calibri"/>
              </a:rPr>
              <a:t>US$/MT).</a:t>
            </a:r>
          </a:p>
        </p:txBody>
      </p:sp>
      <p:sp>
        <p:nvSpPr>
          <p:cNvPr id="26" name="TextBox 25"/>
          <p:cNvSpPr txBox="1"/>
          <p:nvPr/>
        </p:nvSpPr>
        <p:spPr>
          <a:xfrm>
            <a:off x="276225" y="4980813"/>
            <a:ext cx="5977247" cy="194310"/>
          </a:xfrm>
          <a:prstGeom prst="rect">
            <a:avLst/>
          </a:prstGeom>
          <a:noFill/>
        </p:spPr>
        <p:txBody>
          <a:bodyPr wrap="none" lIns="0" rIns="0" tIns="0" bIns="0">
            <a:spAutoFit/>
          </a:bodyPr>
          <a:lstStyle/>
          <a:p>
            <a:r>
              <a:rPr sz="1150" b="0">
                <a:solidFill>
                  <a:srgbClr val="2E2E2E"/>
                </a:solidFill>
                <a:latin typeface="Calibri"/>
              </a:rPr>
              <a:t>▪ Price ranges are benchmarked per partition type type at 2026, derived as Value ÷ Volume with a ±</a:t>
            </a:r>
          </a:p>
        </p:txBody>
      </p:sp>
      <p:pic>
        <p:nvPicPr>
          <p:cNvPr id="27" name="Picture 26" descr="lock.png"/>
          <p:cNvPicPr>
            <a:picLocks noChangeAspect="1"/>
          </p:cNvPicPr>
          <p:nvPr/>
        </p:nvPicPr>
        <p:blipFill>
          <a:blip r:embed="rId4"/>
          <a:stretch>
            <a:fillRect/>
          </a:stretch>
        </p:blipFill>
        <p:spPr>
          <a:xfrm>
            <a:off x="6202626" y="4970589"/>
            <a:ext cx="134549" cy="195707"/>
          </a:xfrm>
          <a:prstGeom prst="rect">
            <a:avLst/>
          </a:prstGeom>
        </p:spPr>
      </p:pic>
      <p:sp>
        <p:nvSpPr>
          <p:cNvPr id="28" name="TextBox 27"/>
          <p:cNvSpPr txBox="1"/>
          <p:nvPr/>
        </p:nvSpPr>
        <p:spPr>
          <a:xfrm>
            <a:off x="6377735" y="4980813"/>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29" name="TextBox 28"/>
          <p:cNvSpPr txBox="1"/>
          <p:nvPr/>
        </p:nvSpPr>
        <p:spPr>
          <a:xfrm>
            <a:off x="276225" y="5208650"/>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5198427"/>
            <a:ext cx="134549" cy="195707"/>
          </a:xfrm>
          <a:prstGeom prst="rect">
            <a:avLst/>
          </a:prstGeom>
        </p:spPr>
      </p:pic>
      <p:sp>
        <p:nvSpPr>
          <p:cNvPr id="31" name="TextBox 30"/>
          <p:cNvSpPr txBox="1"/>
          <p:nvPr/>
        </p:nvSpPr>
        <p:spPr>
          <a:xfrm>
            <a:off x="2541355" y="5208650"/>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5436488"/>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partition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Partition Type (US$/MT)</a:t>
            </a:r>
          </a:p>
        </p:txBody>
      </p:sp>
      <p:graphicFrame>
        <p:nvGraphicFramePr>
          <p:cNvPr id="13" name="Table 12"/>
          <p:cNvGraphicFramePr>
            <a:graphicFrameLocks noGrp="1"/>
          </p:cNvGraphicFramePr>
          <p:nvPr/>
        </p:nvGraphicFramePr>
        <p:xfrm>
          <a:off x="152400" y="1574749"/>
          <a:ext cx="11887198" cy="1504674"/>
        </p:xfrm>
        <a:graphic>
          <a:graphicData uri="http://schemas.openxmlformats.org/drawingml/2006/table">
            <a:tbl>
              <a:tblPr>
                <a:tableStyleId>{5C22544A-7EE6-4342-B048-85BDC9FD1C3A}</a:tableStyleId>
              </a:tblPr>
              <a:tblGrid>
                <a:gridCol w="3981736"/>
                <a:gridCol w="1317577"/>
                <a:gridCol w="1317577"/>
                <a:gridCol w="1317577"/>
                <a:gridCol w="1317577"/>
                <a:gridCol w="1317577"/>
                <a:gridCol w="1317577"/>
              </a:tblGrid>
              <a:tr h="246126">
                <a:tc>
                  <a:txBody>
                    <a:bodyPr wrap="none"/>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419516">
                <a:tc>
                  <a:txBody>
                    <a:bodyPr wrap="none"/>
                    <a:lstStyle/>
                    <a:p>
                      <a:pPr algn="l"/>
                      <a:r>
                        <a:rPr sz="1100" b="1">
                          <a:solidFill>
                            <a:srgbClr val="2E2E2E"/>
                          </a:solidFill>
                          <a:latin typeface="Calibri"/>
                        </a:rPr>
                        <a:t>Slotted (Interlocking Grid) P…</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19516">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19516">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7900177" y="2183449"/>
            <a:ext cx="366712" cy="533399"/>
          </a:xfrm>
          <a:prstGeom prst="rect">
            <a:avLst/>
          </a:prstGeom>
        </p:spPr>
      </p:pic>
      <p:sp>
        <p:nvSpPr>
          <p:cNvPr id="25" name="TextBox 24"/>
          <p:cNvSpPr txBox="1"/>
          <p:nvPr/>
        </p:nvSpPr>
        <p:spPr>
          <a:xfrm>
            <a:off x="6334125" y="3817595"/>
            <a:ext cx="3388242" cy="194310"/>
          </a:xfrm>
          <a:prstGeom prst="rect">
            <a:avLst/>
          </a:prstGeom>
          <a:noFill/>
        </p:spPr>
        <p:txBody>
          <a:bodyPr wrap="none" lIns="0" rIns="0" tIns="0" bIns="0">
            <a:spAutoFit/>
          </a:bodyPr>
          <a:lstStyle/>
          <a:p>
            <a:r>
              <a:rPr sz="1150" b="0">
                <a:solidFill>
                  <a:srgbClr val="2E2E2E"/>
                </a:solidFill>
                <a:latin typeface="Calibri"/>
              </a:rPr>
              <a:t>▪ Average partition type price is projected to rise from ~</a:t>
            </a:r>
          </a:p>
        </p:txBody>
      </p:sp>
      <p:pic>
        <p:nvPicPr>
          <p:cNvPr id="26" name="Picture 25" descr="lock.png"/>
          <p:cNvPicPr>
            <a:picLocks noChangeAspect="1"/>
          </p:cNvPicPr>
          <p:nvPr/>
        </p:nvPicPr>
        <p:blipFill>
          <a:blip r:embed="rId4"/>
          <a:stretch>
            <a:fillRect/>
          </a:stretch>
        </p:blipFill>
        <p:spPr>
          <a:xfrm>
            <a:off x="9671521" y="3807371"/>
            <a:ext cx="134549" cy="195707"/>
          </a:xfrm>
          <a:prstGeom prst="rect">
            <a:avLst/>
          </a:prstGeom>
        </p:spPr>
      </p:pic>
      <p:sp>
        <p:nvSpPr>
          <p:cNvPr id="27" name="TextBox 26"/>
          <p:cNvSpPr txBox="1"/>
          <p:nvPr/>
        </p:nvSpPr>
        <p:spPr>
          <a:xfrm>
            <a:off x="9846631"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103896" y="3807371"/>
            <a:ext cx="134549" cy="195707"/>
          </a:xfrm>
          <a:prstGeom prst="rect">
            <a:avLst/>
          </a:prstGeom>
        </p:spPr>
      </p:pic>
      <p:sp>
        <p:nvSpPr>
          <p:cNvPr id="29" name="TextBox 28"/>
          <p:cNvSpPr txBox="1"/>
          <p:nvPr/>
        </p:nvSpPr>
        <p:spPr>
          <a:xfrm>
            <a:off x="10279005" y="3817595"/>
            <a:ext cx="1278545" cy="194310"/>
          </a:xfrm>
          <a:prstGeom prst="rect">
            <a:avLst/>
          </a:prstGeom>
          <a:noFill/>
        </p:spPr>
        <p:txBody>
          <a:bodyPr wrap="none" lIns="0" rIns="0" tIns="0" bIns="0">
            <a:spAutoFit/>
          </a:bodyPr>
          <a:lstStyle/>
          <a:p>
            <a:r>
              <a:rPr sz="1150" b="0">
                <a:solidFill>
                  <a:srgbClr val="2E2E2E"/>
                </a:solidFill>
                <a:latin typeface="Calibri"/>
              </a:rPr>
              <a:t>US$/MT by 2036 a +</a:t>
            </a:r>
          </a:p>
        </p:txBody>
      </p:sp>
      <p:pic>
        <p:nvPicPr>
          <p:cNvPr id="30" name="Picture 29" descr="lock.png"/>
          <p:cNvPicPr>
            <a:picLocks noChangeAspect="1"/>
          </p:cNvPicPr>
          <p:nvPr/>
        </p:nvPicPr>
        <p:blipFill>
          <a:blip r:embed="rId4"/>
          <a:stretch>
            <a:fillRect/>
          </a:stretch>
        </p:blipFill>
        <p:spPr>
          <a:xfrm>
            <a:off x="11506704" y="3807371"/>
            <a:ext cx="134549" cy="195707"/>
          </a:xfrm>
          <a:prstGeom prst="rect">
            <a:avLst/>
          </a:prstGeom>
        </p:spPr>
      </p:pic>
      <p:sp>
        <p:nvSpPr>
          <p:cNvPr id="31" name="TextBox 30"/>
          <p:cNvSpPr txBox="1"/>
          <p:nvPr/>
        </p:nvSpPr>
        <p:spPr>
          <a:xfrm>
            <a:off x="6334125" y="399285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2" name="TextBox 31"/>
          <p:cNvSpPr txBox="1"/>
          <p:nvPr/>
        </p:nvSpPr>
        <p:spPr>
          <a:xfrm>
            <a:off x="6334125" y="4220692"/>
            <a:ext cx="4979429" cy="194310"/>
          </a:xfrm>
          <a:prstGeom prst="rect">
            <a:avLst/>
          </a:prstGeom>
          <a:noFill/>
        </p:spPr>
        <p:txBody>
          <a:bodyPr wrap="none" lIns="0" rIns="0" tIns="0" bIns="0">
            <a:spAutoFit/>
          </a:bodyPr>
          <a:lstStyle/>
          <a:p>
            <a:r>
              <a:rPr sz="1150" b="0">
                <a:solidFill>
                  <a:srgbClr val="2E2E2E"/>
                </a:solidFill>
                <a:latin typeface="Calibri"/>
              </a:rPr>
              <a:t>▪ 'Slotted (Interlocking Grid) P…' shows the strongest forecast price appreciation (+</a:t>
            </a:r>
          </a:p>
        </p:txBody>
      </p:sp>
      <p:pic>
        <p:nvPicPr>
          <p:cNvPr id="33" name="Picture 32" descr="lock.png"/>
          <p:cNvPicPr>
            <a:picLocks noChangeAspect="1"/>
          </p:cNvPicPr>
          <p:nvPr/>
        </p:nvPicPr>
        <p:blipFill>
          <a:blip r:embed="rId4"/>
          <a:stretch>
            <a:fillRect/>
          </a:stretch>
        </p:blipFill>
        <p:spPr>
          <a:xfrm>
            <a:off x="11262708" y="4210469"/>
            <a:ext cx="134549" cy="195707"/>
          </a:xfrm>
          <a:prstGeom prst="rect">
            <a:avLst/>
          </a:prstGeom>
        </p:spPr>
      </p:pic>
      <p:sp>
        <p:nvSpPr>
          <p:cNvPr id="34" name="TextBox 33"/>
          <p:cNvSpPr txBox="1"/>
          <p:nvPr/>
        </p:nvSpPr>
        <p:spPr>
          <a:xfrm>
            <a:off x="11437817" y="4220692"/>
            <a:ext cx="420216" cy="194310"/>
          </a:xfrm>
          <a:prstGeom prst="rect">
            <a:avLst/>
          </a:prstGeom>
          <a:noFill/>
        </p:spPr>
        <p:txBody>
          <a:bodyPr wrap="none" lIns="0" rIns="0" tIns="0" bIns="0">
            <a:spAutoFit/>
          </a:bodyPr>
          <a:lstStyle/>
          <a:p>
            <a:r>
              <a:rPr sz="1150" b="0">
                <a:solidFill>
                  <a:srgbClr val="2E2E2E"/>
                </a:solidFill>
                <a:latin typeface="Calibri"/>
              </a:rPr>
              <a:t>) over</a:t>
            </a:r>
          </a:p>
        </p:txBody>
      </p:sp>
      <p:sp>
        <p:nvSpPr>
          <p:cNvPr id="35" name="TextBox 34"/>
          <p:cNvSpPr txBox="1"/>
          <p:nvPr/>
        </p:nvSpPr>
        <p:spPr>
          <a:xfrm>
            <a:off x="6334125" y="4395952"/>
            <a:ext cx="794469" cy="194310"/>
          </a:xfrm>
          <a:prstGeom prst="rect">
            <a:avLst/>
          </a:prstGeom>
          <a:noFill/>
        </p:spPr>
        <p:txBody>
          <a:bodyPr wrap="none" lIns="0" rIns="0" tIns="0" bIns="0">
            <a:spAutoFit/>
          </a:bodyPr>
          <a:lstStyle/>
          <a:p>
            <a:r>
              <a:rPr sz="1150" b="0">
                <a:solidFill>
                  <a:srgbClr val="2E2E2E"/>
                </a:solidFill>
                <a:latin typeface="Calibri"/>
              </a:rPr>
              <a:t>the horizon.</a:t>
            </a:r>
          </a:p>
        </p:txBody>
      </p:sp>
      <p:sp>
        <p:nvSpPr>
          <p:cNvPr id="36" name="TextBox 35"/>
          <p:cNvSpPr txBox="1"/>
          <p:nvPr/>
        </p:nvSpPr>
        <p:spPr>
          <a:xfrm>
            <a:off x="6334125" y="462379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7" name="TextBox 36"/>
          <p:cNvSpPr txBox="1"/>
          <p:nvPr/>
        </p:nvSpPr>
        <p:spPr>
          <a:xfrm>
            <a:off x="6334125" y="479905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8" name="TextBox 37"/>
          <p:cNvSpPr txBox="1"/>
          <p:nvPr/>
        </p:nvSpPr>
        <p:spPr>
          <a:xfrm>
            <a:off x="6334125" y="502688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39" name="TextBox 38"/>
          <p:cNvSpPr txBox="1"/>
          <p:nvPr/>
        </p:nvSpPr>
        <p:spPr>
          <a:xfrm>
            <a:off x="6334125" y="520214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51" cy="3619746"/>
        </p:xfrm>
        <a:graphic>
          <a:graphicData uri="http://schemas.openxmlformats.org/drawingml/2006/table">
            <a:tbl>
              <a:tblPr>
                <a:tableStyleId>{5C22544A-7EE6-4342-B048-85BDC9FD1C3A}</a:tableStyleId>
              </a:tblPr>
              <a:tblGrid>
                <a:gridCol w="2216375"/>
                <a:gridCol w="552668"/>
                <a:gridCol w="1161869"/>
                <a:gridCol w="1087652"/>
                <a:gridCol w="2658587"/>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2270">
                <a:tc>
                  <a:txBody>
                    <a:bodyPr wrap="none"/>
                    <a:lstStyle/>
                    <a:p>
                      <a:pPr algn="l"/>
                      <a:r>
                        <a:rPr sz="1100" b="1">
                          <a:solidFill>
                            <a:srgbClr val="2E2E2E"/>
                          </a:solidFill>
                          <a:latin typeface="Calibri"/>
                        </a:rPr>
                        <a:t>Multicell Packaging Inc.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Company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Great American Paper Inc.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Interpack Inc.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Caps Cases Ltd.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M &amp; M Box &amp; Partitions 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4459117" y="3086680"/>
            <a:ext cx="330041" cy="480060"/>
          </a:xfrm>
          <a:prstGeom prst="rect">
            <a:avLst/>
          </a:prstGeom>
        </p:spPr>
      </p:pic>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560026" cy="153161"/>
          </a:xfrm>
          <a:prstGeom prst="rect">
            <a:avLst/>
          </a:prstGeom>
          <a:noFill/>
        </p:spPr>
        <p:txBody>
          <a:bodyPr wrap="none" lIns="0" rIns="0" tIns="0" bIns="0">
            <a:spAutoFit/>
          </a:bodyPr>
          <a:lstStyle/>
          <a:p>
            <a:r>
              <a:rPr sz="879" b="0">
                <a:solidFill>
                  <a:srgbClr val="2E2E2E"/>
                </a:solidFill>
                <a:latin typeface="Calibri"/>
              </a:rPr>
              <a:t>▪ The Corrugated Partition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Corrugated Partition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Corrugated Partition Market Buyers / End-User Assessment</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947929"/>
                <a:gridCol w="1501336"/>
                <a:gridCol w="1076058"/>
                <a:gridCol w="1141485"/>
                <a:gridCol w="1621286"/>
                <a:gridCol w="1294149"/>
                <a:gridCol w="1419509"/>
                <a:gridCol w="1365029"/>
                <a:gridCol w="1520419"/>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293147" y="2451926"/>
            <a:ext cx="366712" cy="533400"/>
          </a:xfrm>
          <a:prstGeom prst="rect">
            <a:avLst/>
          </a:prstGeom>
        </p:spPr>
      </p:pic>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70276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702767"/>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545745"/>
            <a:ext cx="3676650" cy="64800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0" name="TextBox 19"/>
          <p:cNvSpPr txBox="1"/>
          <p:nvPr/>
        </p:nvSpPr>
        <p:spPr>
          <a:xfrm>
            <a:off x="5534025" y="1545745"/>
            <a:ext cx="2724150" cy="64800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TextBox 20"/>
          <p:cNvSpPr txBox="1"/>
          <p:nvPr/>
        </p:nvSpPr>
        <p:spPr>
          <a:xfrm>
            <a:off x="8391525" y="1545745"/>
            <a:ext cx="3581400" cy="64800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222113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22113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4" name="TextBox 23"/>
          <p:cNvSpPr txBox="1"/>
          <p:nvPr/>
        </p:nvSpPr>
        <p:spPr>
          <a:xfrm>
            <a:off x="1724025" y="224851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5534025" y="224851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8391525" y="224851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7" name="Rectangle 26"/>
          <p:cNvSpPr/>
          <p:nvPr/>
        </p:nvSpPr>
        <p:spPr>
          <a:xfrm>
            <a:off x="142875" y="2732236"/>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732236"/>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29" name="TextBox 28"/>
          <p:cNvSpPr txBox="1"/>
          <p:nvPr/>
        </p:nvSpPr>
        <p:spPr>
          <a:xfrm>
            <a:off x="1724025" y="275961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5534025" y="275961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1" name="TextBox 30"/>
          <p:cNvSpPr txBox="1"/>
          <p:nvPr/>
        </p:nvSpPr>
        <p:spPr>
          <a:xfrm>
            <a:off x="8391525" y="275961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2" name="Rectangle 31"/>
          <p:cNvSpPr/>
          <p:nvPr/>
        </p:nvSpPr>
        <p:spPr>
          <a:xfrm>
            <a:off x="142875" y="3243339"/>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24333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270720"/>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5" name="TextBox 34"/>
          <p:cNvSpPr txBox="1"/>
          <p:nvPr/>
        </p:nvSpPr>
        <p:spPr>
          <a:xfrm>
            <a:off x="5534025" y="3270720"/>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8391525" y="3270720"/>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Rectangle 36"/>
          <p:cNvSpPr/>
          <p:nvPr/>
        </p:nvSpPr>
        <p:spPr>
          <a:xfrm>
            <a:off x="142875" y="3754443"/>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754443"/>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39" name="TextBox 38"/>
          <p:cNvSpPr txBox="1"/>
          <p:nvPr/>
        </p:nvSpPr>
        <p:spPr>
          <a:xfrm>
            <a:off x="1724025" y="378182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0" name="TextBox 39"/>
          <p:cNvSpPr txBox="1"/>
          <p:nvPr/>
        </p:nvSpPr>
        <p:spPr>
          <a:xfrm>
            <a:off x="5534025" y="378182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TextBox 40"/>
          <p:cNvSpPr txBox="1"/>
          <p:nvPr/>
        </p:nvSpPr>
        <p:spPr>
          <a:xfrm>
            <a:off x="8391525" y="378182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2" name="Rectangle 41"/>
          <p:cNvSpPr/>
          <p:nvPr/>
        </p:nvSpPr>
        <p:spPr>
          <a:xfrm>
            <a:off x="142875" y="4265546"/>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265546"/>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4292927"/>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5534025" y="4292927"/>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TextBox 45"/>
          <p:cNvSpPr txBox="1"/>
          <p:nvPr/>
        </p:nvSpPr>
        <p:spPr>
          <a:xfrm>
            <a:off x="8391525" y="4292927"/>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cxnSp>
        <p:nvCxnSpPr>
          <p:cNvPr id="47" name="Connector 46"/>
          <p:cNvCxnSpPr/>
          <p:nvPr/>
        </p:nvCxnSpPr>
        <p:spPr>
          <a:xfrm>
            <a:off x="142875" y="4776650"/>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4794903"/>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9" name="Rounded Rectangle 48"/>
          <p:cNvSpPr/>
          <p:nvPr/>
        </p:nvSpPr>
        <p:spPr>
          <a:xfrm>
            <a:off x="142875" y="5050455"/>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76225" y="5086963"/>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1" name="Connector 50"/>
          <p:cNvCxnSpPr/>
          <p:nvPr/>
        </p:nvCxnSpPr>
        <p:spPr>
          <a:xfrm>
            <a:off x="276225" y="5324261"/>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76225" y="5379022"/>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3" name="TextBox 5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4" name="TextBox 53"/>
          <p:cNvSpPr txBox="1"/>
          <p:nvPr/>
        </p:nvSpPr>
        <p:spPr>
          <a:xfrm>
            <a:off x="1752600" y="1702107"/>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55" name="Picture 54" descr="lock.png"/>
          <p:cNvPicPr>
            <a:picLocks noChangeAspect="1"/>
          </p:cNvPicPr>
          <p:nvPr/>
        </p:nvPicPr>
        <p:blipFill>
          <a:blip r:embed="rId4"/>
          <a:stretch>
            <a:fillRect/>
          </a:stretch>
        </p:blipFill>
        <p:spPr>
          <a:xfrm>
            <a:off x="2438789" y="1692329"/>
            <a:ext cx="128699" cy="187198"/>
          </a:xfrm>
          <a:prstGeom prst="rect">
            <a:avLst/>
          </a:prstGeom>
        </p:spPr>
      </p:pic>
      <p:sp>
        <p:nvSpPr>
          <p:cNvPr id="56" name="TextBox 55"/>
          <p:cNvSpPr txBox="1"/>
          <p:nvPr/>
        </p:nvSpPr>
        <p:spPr>
          <a:xfrm>
            <a:off x="2606285" y="1702107"/>
            <a:ext cx="1556419" cy="186689"/>
          </a:xfrm>
          <a:prstGeom prst="rect">
            <a:avLst/>
          </a:prstGeom>
          <a:noFill/>
        </p:spPr>
        <p:txBody>
          <a:bodyPr wrap="none" lIns="0" rIns="0" tIns="0" bIns="0">
            <a:spAutoFit/>
          </a:bodyPr>
          <a:lstStyle/>
          <a:p>
            <a:r>
              <a:rPr sz="1100" b="0">
                <a:solidFill>
                  <a:srgbClr val="2E2E2E"/>
                </a:solidFill>
                <a:latin typeface="Calibri"/>
              </a:rPr>
              <a:t>share), Installed demand (</a:t>
            </a:r>
          </a:p>
        </p:txBody>
      </p:sp>
      <p:pic>
        <p:nvPicPr>
          <p:cNvPr id="57" name="Picture 56" descr="lock.png"/>
          <p:cNvPicPr>
            <a:picLocks noChangeAspect="1"/>
          </p:cNvPicPr>
          <p:nvPr/>
        </p:nvPicPr>
        <p:blipFill>
          <a:blip r:embed="rId4"/>
          <a:stretch>
            <a:fillRect/>
          </a:stretch>
        </p:blipFill>
        <p:spPr>
          <a:xfrm>
            <a:off x="4110756" y="1692329"/>
            <a:ext cx="128699" cy="187198"/>
          </a:xfrm>
          <a:prstGeom prst="rect">
            <a:avLst/>
          </a:prstGeom>
        </p:spPr>
      </p:pic>
      <p:sp>
        <p:nvSpPr>
          <p:cNvPr id="58" name="TextBox 57"/>
          <p:cNvSpPr txBox="1"/>
          <p:nvPr/>
        </p:nvSpPr>
        <p:spPr>
          <a:xfrm>
            <a:off x="4278252" y="1702107"/>
            <a:ext cx="714382" cy="186689"/>
          </a:xfrm>
          <a:prstGeom prst="rect">
            <a:avLst/>
          </a:prstGeom>
          <a:noFill/>
        </p:spPr>
        <p:txBody>
          <a:bodyPr wrap="none" lIns="0" rIns="0" tIns="0" bIns="0">
            <a:spAutoFit/>
          </a:bodyPr>
          <a:lstStyle/>
          <a:p>
            <a:r>
              <a:rPr sz="1100" b="0">
                <a:solidFill>
                  <a:srgbClr val="2E2E2E"/>
                </a:solidFill>
                <a:latin typeface="Calibri"/>
              </a:rPr>
              <a:t>CAGR), Flat</a:t>
            </a:r>
          </a:p>
        </p:txBody>
      </p:sp>
      <p:sp>
        <p:nvSpPr>
          <p:cNvPr id="59" name="TextBox 58"/>
          <p:cNvSpPr txBox="1"/>
          <p:nvPr/>
        </p:nvSpPr>
        <p:spPr>
          <a:xfrm>
            <a:off x="1752600" y="1869747"/>
            <a:ext cx="3180432" cy="186689"/>
          </a:xfrm>
          <a:prstGeom prst="rect">
            <a:avLst/>
          </a:prstGeom>
          <a:noFill/>
        </p:spPr>
        <p:txBody>
          <a:bodyPr wrap="none" lIns="0" rIns="0" tIns="0" bIns="0">
            <a:spAutoFit/>
          </a:bodyPr>
          <a:lstStyle/>
          <a:p>
            <a:r>
              <a:rPr sz="1100" b="0">
                <a:solidFill>
                  <a:srgbClr val="2E2E2E"/>
                </a:solidFill>
                <a:latin typeface="Calibri"/>
              </a:rPr>
              <a:t>Dividers &amp; Layer Pads demand, Accelerating vs history.</a:t>
            </a:r>
          </a:p>
        </p:txBody>
      </p:sp>
      <p:sp>
        <p:nvSpPr>
          <p:cNvPr id="60" name="TextBox 59"/>
          <p:cNvSpPr txBox="1"/>
          <p:nvPr/>
        </p:nvSpPr>
        <p:spPr>
          <a:xfrm>
            <a:off x="5562600" y="1702107"/>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61" name="Picture 60" descr="lock.png"/>
          <p:cNvPicPr>
            <a:picLocks noChangeAspect="1"/>
          </p:cNvPicPr>
          <p:nvPr/>
        </p:nvPicPr>
        <p:blipFill>
          <a:blip r:embed="rId4"/>
          <a:stretch>
            <a:fillRect/>
          </a:stretch>
        </p:blipFill>
        <p:spPr>
          <a:xfrm>
            <a:off x="6797766" y="1692329"/>
            <a:ext cx="128699" cy="187198"/>
          </a:xfrm>
          <a:prstGeom prst="rect">
            <a:avLst/>
          </a:prstGeom>
        </p:spPr>
      </p:pic>
      <p:sp>
        <p:nvSpPr>
          <p:cNvPr id="62" name="TextBox 61"/>
          <p:cNvSpPr txBox="1"/>
          <p:nvPr/>
        </p:nvSpPr>
        <p:spPr>
          <a:xfrm>
            <a:off x="6965262" y="1702107"/>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63" name="TextBox 62"/>
          <p:cNvSpPr txBox="1"/>
          <p:nvPr/>
        </p:nvSpPr>
        <p:spPr>
          <a:xfrm>
            <a:off x="5562600" y="1869747"/>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64" name="Picture 63" descr="lock.png"/>
          <p:cNvPicPr>
            <a:picLocks noChangeAspect="1"/>
          </p:cNvPicPr>
          <p:nvPr/>
        </p:nvPicPr>
        <p:blipFill>
          <a:blip r:embed="rId4"/>
          <a:stretch>
            <a:fillRect/>
          </a:stretch>
        </p:blipFill>
        <p:spPr>
          <a:xfrm>
            <a:off x="6258066" y="1859969"/>
            <a:ext cx="128699" cy="187198"/>
          </a:xfrm>
          <a:prstGeom prst="rect">
            <a:avLst/>
          </a:prstGeom>
        </p:spPr>
      </p:pic>
      <p:sp>
        <p:nvSpPr>
          <p:cNvPr id="65" name="TextBox 64"/>
          <p:cNvSpPr txBox="1"/>
          <p:nvPr/>
        </p:nvSpPr>
        <p:spPr>
          <a:xfrm>
            <a:off x="6425562" y="1869747"/>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66" name="TextBox 65"/>
          <p:cNvSpPr txBox="1"/>
          <p:nvPr/>
        </p:nvSpPr>
        <p:spPr>
          <a:xfrm>
            <a:off x="8420100" y="1702107"/>
            <a:ext cx="1939776" cy="186689"/>
          </a:xfrm>
          <a:prstGeom prst="rect">
            <a:avLst/>
          </a:prstGeom>
          <a:noFill/>
        </p:spPr>
        <p:txBody>
          <a:bodyPr wrap="none" lIns="0" rIns="0" tIns="0" bIns="0">
            <a:spAutoFit/>
          </a:bodyPr>
          <a:lstStyle/>
          <a:p>
            <a:r>
              <a:rPr sz="1100" b="0">
                <a:solidFill>
                  <a:srgbClr val="2E2E2E"/>
                </a:solidFill>
                <a:latin typeface="Calibri"/>
              </a:rPr>
              <a:t>Scale Flat Dividers &amp; Layer Pads (</a:t>
            </a:r>
          </a:p>
        </p:txBody>
      </p:sp>
      <p:pic>
        <p:nvPicPr>
          <p:cNvPr id="67" name="Picture 66" descr="lock.png"/>
          <p:cNvPicPr>
            <a:picLocks noChangeAspect="1"/>
          </p:cNvPicPr>
          <p:nvPr/>
        </p:nvPicPr>
        <p:blipFill>
          <a:blip r:embed="rId4"/>
          <a:stretch>
            <a:fillRect/>
          </a:stretch>
        </p:blipFill>
        <p:spPr>
          <a:xfrm>
            <a:off x="10307927" y="1692329"/>
            <a:ext cx="128699" cy="187198"/>
          </a:xfrm>
          <a:prstGeom prst="rect">
            <a:avLst/>
          </a:prstGeom>
        </p:spPr>
      </p:pic>
      <p:sp>
        <p:nvSpPr>
          <p:cNvPr id="68" name="TextBox 67"/>
          <p:cNvSpPr txBox="1"/>
          <p:nvPr/>
        </p:nvSpPr>
        <p:spPr>
          <a:xfrm>
            <a:off x="10475423" y="1702107"/>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9" name="Picture 68" descr="lock.png"/>
          <p:cNvPicPr>
            <a:picLocks noChangeAspect="1"/>
          </p:cNvPicPr>
          <p:nvPr/>
        </p:nvPicPr>
        <p:blipFill>
          <a:blip r:embed="rId4"/>
          <a:stretch>
            <a:fillRect/>
          </a:stretch>
        </p:blipFill>
        <p:spPr>
          <a:xfrm>
            <a:off x="10576892" y="1692329"/>
            <a:ext cx="128699" cy="187198"/>
          </a:xfrm>
          <a:prstGeom prst="rect">
            <a:avLst/>
          </a:prstGeom>
        </p:spPr>
      </p:pic>
      <p:sp>
        <p:nvSpPr>
          <p:cNvPr id="70" name="TextBox 69"/>
          <p:cNvSpPr txBox="1"/>
          <p:nvPr/>
        </p:nvSpPr>
        <p:spPr>
          <a:xfrm>
            <a:off x="10744387" y="1702107"/>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8420100" y="1869747"/>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72" name="TextBox 71"/>
          <p:cNvSpPr txBox="1"/>
          <p:nvPr/>
        </p:nvSpPr>
        <p:spPr>
          <a:xfrm>
            <a:off x="1752600" y="2309044"/>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73" name="Picture 72" descr="lock.png"/>
          <p:cNvPicPr>
            <a:picLocks noChangeAspect="1"/>
          </p:cNvPicPr>
          <p:nvPr/>
        </p:nvPicPr>
        <p:blipFill>
          <a:blip r:embed="rId4"/>
          <a:stretch>
            <a:fillRect/>
          </a:stretch>
        </p:blipFill>
        <p:spPr>
          <a:xfrm>
            <a:off x="2438789" y="2299265"/>
            <a:ext cx="128699" cy="187198"/>
          </a:xfrm>
          <a:prstGeom prst="rect">
            <a:avLst/>
          </a:prstGeom>
        </p:spPr>
      </p:pic>
      <p:sp>
        <p:nvSpPr>
          <p:cNvPr id="74" name="TextBox 73"/>
          <p:cNvSpPr txBox="1"/>
          <p:nvPr/>
        </p:nvSpPr>
        <p:spPr>
          <a:xfrm>
            <a:off x="2606285" y="2309044"/>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75" name="Picture 74" descr="lock.png"/>
          <p:cNvPicPr>
            <a:picLocks noChangeAspect="1"/>
          </p:cNvPicPr>
          <p:nvPr/>
        </p:nvPicPr>
        <p:blipFill>
          <a:blip r:embed="rId4"/>
          <a:stretch>
            <a:fillRect/>
          </a:stretch>
        </p:blipFill>
        <p:spPr>
          <a:xfrm>
            <a:off x="4237905" y="2299265"/>
            <a:ext cx="128699" cy="187198"/>
          </a:xfrm>
          <a:prstGeom prst="rect">
            <a:avLst/>
          </a:prstGeom>
        </p:spPr>
      </p:pic>
      <p:sp>
        <p:nvSpPr>
          <p:cNvPr id="76" name="TextBox 75"/>
          <p:cNvSpPr txBox="1"/>
          <p:nvPr/>
        </p:nvSpPr>
        <p:spPr>
          <a:xfrm>
            <a:off x="4405401" y="2309044"/>
            <a:ext cx="886569" cy="186689"/>
          </a:xfrm>
          <a:prstGeom prst="rect">
            <a:avLst/>
          </a:prstGeom>
          <a:noFill/>
        </p:spPr>
        <p:txBody>
          <a:bodyPr wrap="none" lIns="0" rIns="0" tIns="0" bIns="0">
            <a:spAutoFit/>
          </a:bodyPr>
          <a:lstStyle/>
          <a:p>
            <a:r>
              <a:rPr sz="1100" b="0">
                <a:solidFill>
                  <a:srgbClr val="2E2E2E"/>
                </a:solidFill>
                <a:latin typeface="Calibri"/>
              </a:rPr>
              <a:t>), Flat Dividers</a:t>
            </a:r>
          </a:p>
        </p:txBody>
      </p:sp>
      <p:sp>
        <p:nvSpPr>
          <p:cNvPr id="77" name="TextBox 76"/>
          <p:cNvSpPr txBox="1"/>
          <p:nvPr/>
        </p:nvSpPr>
        <p:spPr>
          <a:xfrm>
            <a:off x="1752600" y="2476684"/>
            <a:ext cx="2689026" cy="186689"/>
          </a:xfrm>
          <a:prstGeom prst="rect">
            <a:avLst/>
          </a:prstGeom>
          <a:noFill/>
        </p:spPr>
        <p:txBody>
          <a:bodyPr wrap="none" lIns="0" rIns="0" tIns="0" bIns="0">
            <a:spAutoFit/>
          </a:bodyPr>
          <a:lstStyle/>
          <a:p>
            <a:r>
              <a:rPr sz="1100" b="0">
                <a:solidFill>
                  <a:srgbClr val="2E2E2E"/>
                </a:solidFill>
                <a:latin typeface="Calibri"/>
              </a:rPr>
              <a:t>&amp; Layer Pads demand, Accelerating vs history.</a:t>
            </a:r>
          </a:p>
        </p:txBody>
      </p:sp>
      <p:sp>
        <p:nvSpPr>
          <p:cNvPr id="78" name="TextBox 77"/>
          <p:cNvSpPr txBox="1"/>
          <p:nvPr/>
        </p:nvSpPr>
        <p:spPr>
          <a:xfrm>
            <a:off x="5562600" y="2392864"/>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79" name="Picture 78" descr="lock.png"/>
          <p:cNvPicPr>
            <a:picLocks noChangeAspect="1"/>
          </p:cNvPicPr>
          <p:nvPr/>
        </p:nvPicPr>
        <p:blipFill>
          <a:blip r:embed="rId4"/>
          <a:stretch>
            <a:fillRect/>
          </a:stretch>
        </p:blipFill>
        <p:spPr>
          <a:xfrm>
            <a:off x="6623687" y="2383085"/>
            <a:ext cx="128699" cy="187198"/>
          </a:xfrm>
          <a:prstGeom prst="rect">
            <a:avLst/>
          </a:prstGeom>
        </p:spPr>
      </p:pic>
      <p:sp>
        <p:nvSpPr>
          <p:cNvPr id="80" name="TextBox 79"/>
          <p:cNvSpPr txBox="1"/>
          <p:nvPr/>
        </p:nvSpPr>
        <p:spPr>
          <a:xfrm>
            <a:off x="6791183" y="2392864"/>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81" name="TextBox 80"/>
          <p:cNvSpPr txBox="1"/>
          <p:nvPr/>
        </p:nvSpPr>
        <p:spPr>
          <a:xfrm>
            <a:off x="8420100" y="2309044"/>
            <a:ext cx="1939776" cy="186689"/>
          </a:xfrm>
          <a:prstGeom prst="rect">
            <a:avLst/>
          </a:prstGeom>
          <a:noFill/>
        </p:spPr>
        <p:txBody>
          <a:bodyPr wrap="none" lIns="0" rIns="0" tIns="0" bIns="0">
            <a:spAutoFit/>
          </a:bodyPr>
          <a:lstStyle/>
          <a:p>
            <a:r>
              <a:rPr sz="1100" b="0">
                <a:solidFill>
                  <a:srgbClr val="2E2E2E"/>
                </a:solidFill>
                <a:latin typeface="Calibri"/>
              </a:rPr>
              <a:t>Scale Flat Dividers &amp; Layer Pads (</a:t>
            </a:r>
          </a:p>
        </p:txBody>
      </p:sp>
      <p:pic>
        <p:nvPicPr>
          <p:cNvPr id="82" name="Picture 81" descr="lock.png"/>
          <p:cNvPicPr>
            <a:picLocks noChangeAspect="1"/>
          </p:cNvPicPr>
          <p:nvPr/>
        </p:nvPicPr>
        <p:blipFill>
          <a:blip r:embed="rId4"/>
          <a:stretch>
            <a:fillRect/>
          </a:stretch>
        </p:blipFill>
        <p:spPr>
          <a:xfrm>
            <a:off x="10307927" y="2299265"/>
            <a:ext cx="128699" cy="187198"/>
          </a:xfrm>
          <a:prstGeom prst="rect">
            <a:avLst/>
          </a:prstGeom>
        </p:spPr>
      </p:pic>
      <p:sp>
        <p:nvSpPr>
          <p:cNvPr id="83" name="TextBox 82"/>
          <p:cNvSpPr txBox="1"/>
          <p:nvPr/>
        </p:nvSpPr>
        <p:spPr>
          <a:xfrm>
            <a:off x="10475423" y="2309044"/>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84" name="Picture 83" descr="lock.png"/>
          <p:cNvPicPr>
            <a:picLocks noChangeAspect="1"/>
          </p:cNvPicPr>
          <p:nvPr/>
        </p:nvPicPr>
        <p:blipFill>
          <a:blip r:embed="rId4"/>
          <a:stretch>
            <a:fillRect/>
          </a:stretch>
        </p:blipFill>
        <p:spPr>
          <a:xfrm>
            <a:off x="10576892" y="2299265"/>
            <a:ext cx="128699" cy="187198"/>
          </a:xfrm>
          <a:prstGeom prst="rect">
            <a:avLst/>
          </a:prstGeom>
        </p:spPr>
      </p:pic>
      <p:sp>
        <p:nvSpPr>
          <p:cNvPr id="85" name="TextBox 84"/>
          <p:cNvSpPr txBox="1"/>
          <p:nvPr/>
        </p:nvSpPr>
        <p:spPr>
          <a:xfrm>
            <a:off x="10744387" y="2309044"/>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6" name="TextBox 85"/>
          <p:cNvSpPr txBox="1"/>
          <p:nvPr/>
        </p:nvSpPr>
        <p:spPr>
          <a:xfrm>
            <a:off x="8420100" y="2476684"/>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87" name="TextBox 86"/>
          <p:cNvSpPr txBox="1"/>
          <p:nvPr/>
        </p:nvSpPr>
        <p:spPr>
          <a:xfrm>
            <a:off x="1752600" y="2820147"/>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88" name="Picture 87" descr="lock.png"/>
          <p:cNvPicPr>
            <a:picLocks noChangeAspect="1"/>
          </p:cNvPicPr>
          <p:nvPr/>
        </p:nvPicPr>
        <p:blipFill>
          <a:blip r:embed="rId4"/>
          <a:stretch>
            <a:fillRect/>
          </a:stretch>
        </p:blipFill>
        <p:spPr>
          <a:xfrm>
            <a:off x="2438789" y="2810368"/>
            <a:ext cx="128699" cy="187198"/>
          </a:xfrm>
          <a:prstGeom prst="rect">
            <a:avLst/>
          </a:prstGeom>
        </p:spPr>
      </p:pic>
      <p:sp>
        <p:nvSpPr>
          <p:cNvPr id="89" name="TextBox 88"/>
          <p:cNvSpPr txBox="1"/>
          <p:nvPr/>
        </p:nvSpPr>
        <p:spPr>
          <a:xfrm>
            <a:off x="2606285" y="2820147"/>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90" name="Picture 89" descr="lock.png"/>
          <p:cNvPicPr>
            <a:picLocks noChangeAspect="1"/>
          </p:cNvPicPr>
          <p:nvPr/>
        </p:nvPicPr>
        <p:blipFill>
          <a:blip r:embed="rId4"/>
          <a:stretch>
            <a:fillRect/>
          </a:stretch>
        </p:blipFill>
        <p:spPr>
          <a:xfrm>
            <a:off x="4237905" y="2810368"/>
            <a:ext cx="128699" cy="187198"/>
          </a:xfrm>
          <a:prstGeom prst="rect">
            <a:avLst/>
          </a:prstGeom>
        </p:spPr>
      </p:pic>
      <p:sp>
        <p:nvSpPr>
          <p:cNvPr id="91" name="TextBox 90"/>
          <p:cNvSpPr txBox="1"/>
          <p:nvPr/>
        </p:nvSpPr>
        <p:spPr>
          <a:xfrm>
            <a:off x="4405401" y="2820147"/>
            <a:ext cx="886569" cy="186689"/>
          </a:xfrm>
          <a:prstGeom prst="rect">
            <a:avLst/>
          </a:prstGeom>
          <a:noFill/>
        </p:spPr>
        <p:txBody>
          <a:bodyPr wrap="none" lIns="0" rIns="0" tIns="0" bIns="0">
            <a:spAutoFit/>
          </a:bodyPr>
          <a:lstStyle/>
          <a:p>
            <a:r>
              <a:rPr sz="1100" b="0">
                <a:solidFill>
                  <a:srgbClr val="2E2E2E"/>
                </a:solidFill>
                <a:latin typeface="Calibri"/>
              </a:rPr>
              <a:t>), Flat Dividers</a:t>
            </a:r>
          </a:p>
        </p:txBody>
      </p:sp>
      <p:sp>
        <p:nvSpPr>
          <p:cNvPr id="92" name="TextBox 91"/>
          <p:cNvSpPr txBox="1"/>
          <p:nvPr/>
        </p:nvSpPr>
        <p:spPr>
          <a:xfrm>
            <a:off x="1752600" y="2987787"/>
            <a:ext cx="2689026" cy="186689"/>
          </a:xfrm>
          <a:prstGeom prst="rect">
            <a:avLst/>
          </a:prstGeom>
          <a:noFill/>
        </p:spPr>
        <p:txBody>
          <a:bodyPr wrap="none" lIns="0" rIns="0" tIns="0" bIns="0">
            <a:spAutoFit/>
          </a:bodyPr>
          <a:lstStyle/>
          <a:p>
            <a:r>
              <a:rPr sz="1100" b="0">
                <a:solidFill>
                  <a:srgbClr val="2E2E2E"/>
                </a:solidFill>
                <a:latin typeface="Calibri"/>
              </a:rPr>
              <a:t>&amp; Layer Pads demand, Accelerating vs history.</a:t>
            </a:r>
          </a:p>
        </p:txBody>
      </p:sp>
      <p:sp>
        <p:nvSpPr>
          <p:cNvPr id="93" name="TextBox 92"/>
          <p:cNvSpPr txBox="1"/>
          <p:nvPr/>
        </p:nvSpPr>
        <p:spPr>
          <a:xfrm>
            <a:off x="5562600" y="2903967"/>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94" name="Picture 93" descr="lock.png"/>
          <p:cNvPicPr>
            <a:picLocks noChangeAspect="1"/>
          </p:cNvPicPr>
          <p:nvPr/>
        </p:nvPicPr>
        <p:blipFill>
          <a:blip r:embed="rId4"/>
          <a:stretch>
            <a:fillRect/>
          </a:stretch>
        </p:blipFill>
        <p:spPr>
          <a:xfrm>
            <a:off x="6623687" y="2894188"/>
            <a:ext cx="128699" cy="187198"/>
          </a:xfrm>
          <a:prstGeom prst="rect">
            <a:avLst/>
          </a:prstGeom>
        </p:spPr>
      </p:pic>
      <p:sp>
        <p:nvSpPr>
          <p:cNvPr id="95" name="TextBox 94"/>
          <p:cNvSpPr txBox="1"/>
          <p:nvPr/>
        </p:nvSpPr>
        <p:spPr>
          <a:xfrm>
            <a:off x="6791183" y="2903967"/>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96" name="TextBox 95"/>
          <p:cNvSpPr txBox="1"/>
          <p:nvPr/>
        </p:nvSpPr>
        <p:spPr>
          <a:xfrm>
            <a:off x="8420100" y="2820147"/>
            <a:ext cx="1939776" cy="186689"/>
          </a:xfrm>
          <a:prstGeom prst="rect">
            <a:avLst/>
          </a:prstGeom>
          <a:noFill/>
        </p:spPr>
        <p:txBody>
          <a:bodyPr wrap="none" lIns="0" rIns="0" tIns="0" bIns="0">
            <a:spAutoFit/>
          </a:bodyPr>
          <a:lstStyle/>
          <a:p>
            <a:r>
              <a:rPr sz="1100" b="0">
                <a:solidFill>
                  <a:srgbClr val="2E2E2E"/>
                </a:solidFill>
                <a:latin typeface="Calibri"/>
              </a:rPr>
              <a:t>Scale Flat Dividers &amp; Layer Pads (</a:t>
            </a:r>
          </a:p>
        </p:txBody>
      </p:sp>
      <p:pic>
        <p:nvPicPr>
          <p:cNvPr id="97" name="Picture 96" descr="lock.png"/>
          <p:cNvPicPr>
            <a:picLocks noChangeAspect="1"/>
          </p:cNvPicPr>
          <p:nvPr/>
        </p:nvPicPr>
        <p:blipFill>
          <a:blip r:embed="rId4"/>
          <a:stretch>
            <a:fillRect/>
          </a:stretch>
        </p:blipFill>
        <p:spPr>
          <a:xfrm>
            <a:off x="10307927" y="2810368"/>
            <a:ext cx="128699" cy="187198"/>
          </a:xfrm>
          <a:prstGeom prst="rect">
            <a:avLst/>
          </a:prstGeom>
        </p:spPr>
      </p:pic>
      <p:sp>
        <p:nvSpPr>
          <p:cNvPr id="98" name="TextBox 97"/>
          <p:cNvSpPr txBox="1"/>
          <p:nvPr/>
        </p:nvSpPr>
        <p:spPr>
          <a:xfrm>
            <a:off x="10475423" y="2820147"/>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9" name="Picture 98" descr="lock.png"/>
          <p:cNvPicPr>
            <a:picLocks noChangeAspect="1"/>
          </p:cNvPicPr>
          <p:nvPr/>
        </p:nvPicPr>
        <p:blipFill>
          <a:blip r:embed="rId4"/>
          <a:stretch>
            <a:fillRect/>
          </a:stretch>
        </p:blipFill>
        <p:spPr>
          <a:xfrm>
            <a:off x="10576892" y="2810368"/>
            <a:ext cx="128699" cy="187198"/>
          </a:xfrm>
          <a:prstGeom prst="rect">
            <a:avLst/>
          </a:prstGeom>
        </p:spPr>
      </p:pic>
      <p:sp>
        <p:nvSpPr>
          <p:cNvPr id="100" name="TextBox 99"/>
          <p:cNvSpPr txBox="1"/>
          <p:nvPr/>
        </p:nvSpPr>
        <p:spPr>
          <a:xfrm>
            <a:off x="10744387" y="2820147"/>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01" name="TextBox 100"/>
          <p:cNvSpPr txBox="1"/>
          <p:nvPr/>
        </p:nvSpPr>
        <p:spPr>
          <a:xfrm>
            <a:off x="8420100" y="2987787"/>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02" name="TextBox 101"/>
          <p:cNvSpPr txBox="1"/>
          <p:nvPr/>
        </p:nvSpPr>
        <p:spPr>
          <a:xfrm>
            <a:off x="1752600" y="3331251"/>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03" name="Picture 102" descr="lock.png"/>
          <p:cNvPicPr>
            <a:picLocks noChangeAspect="1"/>
          </p:cNvPicPr>
          <p:nvPr/>
        </p:nvPicPr>
        <p:blipFill>
          <a:blip r:embed="rId4"/>
          <a:stretch>
            <a:fillRect/>
          </a:stretch>
        </p:blipFill>
        <p:spPr>
          <a:xfrm>
            <a:off x="2834969" y="3321472"/>
            <a:ext cx="128699" cy="187198"/>
          </a:xfrm>
          <a:prstGeom prst="rect">
            <a:avLst/>
          </a:prstGeom>
        </p:spPr>
      </p:pic>
      <p:sp>
        <p:nvSpPr>
          <p:cNvPr id="104" name="TextBox 103"/>
          <p:cNvSpPr txBox="1"/>
          <p:nvPr/>
        </p:nvSpPr>
        <p:spPr>
          <a:xfrm>
            <a:off x="3002465" y="3331251"/>
            <a:ext cx="1970318" cy="186689"/>
          </a:xfrm>
          <a:prstGeom prst="rect">
            <a:avLst/>
          </a:prstGeom>
          <a:noFill/>
        </p:spPr>
        <p:txBody>
          <a:bodyPr wrap="none" lIns="0" rIns="0" tIns="0" bIns="0">
            <a:spAutoFit/>
          </a:bodyPr>
          <a:lstStyle/>
          <a:p>
            <a:r>
              <a:rPr sz="1100" b="0">
                <a:solidFill>
                  <a:srgbClr val="2E2E2E"/>
                </a:solidFill>
                <a:latin typeface="Calibri"/>
              </a:rPr>
              <a:t>CAGR), Flat Dividers &amp; Layer Pads</a:t>
            </a:r>
          </a:p>
        </p:txBody>
      </p:sp>
      <p:sp>
        <p:nvSpPr>
          <p:cNvPr id="105" name="TextBox 104"/>
          <p:cNvSpPr txBox="1"/>
          <p:nvPr/>
        </p:nvSpPr>
        <p:spPr>
          <a:xfrm>
            <a:off x="1752600" y="3498891"/>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106" name="TextBox 105"/>
          <p:cNvSpPr txBox="1"/>
          <p:nvPr/>
        </p:nvSpPr>
        <p:spPr>
          <a:xfrm>
            <a:off x="5562600" y="3331251"/>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07" name="Picture 106" descr="lock.png"/>
          <p:cNvPicPr>
            <a:picLocks noChangeAspect="1"/>
          </p:cNvPicPr>
          <p:nvPr/>
        </p:nvPicPr>
        <p:blipFill>
          <a:blip r:embed="rId4"/>
          <a:stretch>
            <a:fillRect/>
          </a:stretch>
        </p:blipFill>
        <p:spPr>
          <a:xfrm>
            <a:off x="6797766" y="3321472"/>
            <a:ext cx="128699" cy="187198"/>
          </a:xfrm>
          <a:prstGeom prst="rect">
            <a:avLst/>
          </a:prstGeom>
        </p:spPr>
      </p:pic>
      <p:sp>
        <p:nvSpPr>
          <p:cNvPr id="108" name="TextBox 107"/>
          <p:cNvSpPr txBox="1"/>
          <p:nvPr/>
        </p:nvSpPr>
        <p:spPr>
          <a:xfrm>
            <a:off x="6965262" y="3331251"/>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09" name="TextBox 108"/>
          <p:cNvSpPr txBox="1"/>
          <p:nvPr/>
        </p:nvSpPr>
        <p:spPr>
          <a:xfrm>
            <a:off x="5562600" y="3498891"/>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10" name="Picture 109" descr="lock.png"/>
          <p:cNvPicPr>
            <a:picLocks noChangeAspect="1"/>
          </p:cNvPicPr>
          <p:nvPr/>
        </p:nvPicPr>
        <p:blipFill>
          <a:blip r:embed="rId4"/>
          <a:stretch>
            <a:fillRect/>
          </a:stretch>
        </p:blipFill>
        <p:spPr>
          <a:xfrm>
            <a:off x="6258066" y="3489112"/>
            <a:ext cx="128699" cy="187198"/>
          </a:xfrm>
          <a:prstGeom prst="rect">
            <a:avLst/>
          </a:prstGeom>
        </p:spPr>
      </p:pic>
      <p:sp>
        <p:nvSpPr>
          <p:cNvPr id="111" name="TextBox 110"/>
          <p:cNvSpPr txBox="1"/>
          <p:nvPr/>
        </p:nvSpPr>
        <p:spPr>
          <a:xfrm>
            <a:off x="6425562" y="3498891"/>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12" name="TextBox 111"/>
          <p:cNvSpPr txBox="1"/>
          <p:nvPr/>
        </p:nvSpPr>
        <p:spPr>
          <a:xfrm>
            <a:off x="8420100" y="3331251"/>
            <a:ext cx="1939776" cy="186689"/>
          </a:xfrm>
          <a:prstGeom prst="rect">
            <a:avLst/>
          </a:prstGeom>
          <a:noFill/>
        </p:spPr>
        <p:txBody>
          <a:bodyPr wrap="none" lIns="0" rIns="0" tIns="0" bIns="0">
            <a:spAutoFit/>
          </a:bodyPr>
          <a:lstStyle/>
          <a:p>
            <a:r>
              <a:rPr sz="1100" b="0">
                <a:solidFill>
                  <a:srgbClr val="2E2E2E"/>
                </a:solidFill>
                <a:latin typeface="Calibri"/>
              </a:rPr>
              <a:t>Scale Flat Dividers &amp; Layer Pads (</a:t>
            </a:r>
          </a:p>
        </p:txBody>
      </p:sp>
      <p:pic>
        <p:nvPicPr>
          <p:cNvPr id="113" name="Picture 112" descr="lock.png"/>
          <p:cNvPicPr>
            <a:picLocks noChangeAspect="1"/>
          </p:cNvPicPr>
          <p:nvPr/>
        </p:nvPicPr>
        <p:blipFill>
          <a:blip r:embed="rId4"/>
          <a:stretch>
            <a:fillRect/>
          </a:stretch>
        </p:blipFill>
        <p:spPr>
          <a:xfrm>
            <a:off x="10307927" y="3321472"/>
            <a:ext cx="128699" cy="187198"/>
          </a:xfrm>
          <a:prstGeom prst="rect">
            <a:avLst/>
          </a:prstGeom>
        </p:spPr>
      </p:pic>
      <p:sp>
        <p:nvSpPr>
          <p:cNvPr id="114" name="TextBox 113"/>
          <p:cNvSpPr txBox="1"/>
          <p:nvPr/>
        </p:nvSpPr>
        <p:spPr>
          <a:xfrm>
            <a:off x="10475423" y="3331251"/>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15" name="Picture 114" descr="lock.png"/>
          <p:cNvPicPr>
            <a:picLocks noChangeAspect="1"/>
          </p:cNvPicPr>
          <p:nvPr/>
        </p:nvPicPr>
        <p:blipFill>
          <a:blip r:embed="rId4"/>
          <a:stretch>
            <a:fillRect/>
          </a:stretch>
        </p:blipFill>
        <p:spPr>
          <a:xfrm>
            <a:off x="10576892" y="3321472"/>
            <a:ext cx="128699" cy="187198"/>
          </a:xfrm>
          <a:prstGeom prst="rect">
            <a:avLst/>
          </a:prstGeom>
        </p:spPr>
      </p:pic>
      <p:sp>
        <p:nvSpPr>
          <p:cNvPr id="116" name="TextBox 115"/>
          <p:cNvSpPr txBox="1"/>
          <p:nvPr/>
        </p:nvSpPr>
        <p:spPr>
          <a:xfrm>
            <a:off x="10744387" y="333125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7" name="TextBox 116"/>
          <p:cNvSpPr txBox="1"/>
          <p:nvPr/>
        </p:nvSpPr>
        <p:spPr>
          <a:xfrm>
            <a:off x="8420100" y="3498891"/>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18" name="TextBox 117"/>
          <p:cNvSpPr txBox="1"/>
          <p:nvPr/>
        </p:nvSpPr>
        <p:spPr>
          <a:xfrm>
            <a:off x="1752600" y="3842354"/>
            <a:ext cx="1261467" cy="186689"/>
          </a:xfrm>
          <a:prstGeom prst="rect">
            <a:avLst/>
          </a:prstGeom>
          <a:noFill/>
        </p:spPr>
        <p:txBody>
          <a:bodyPr wrap="none" lIns="0" rIns="0" tIns="0" bIns="0">
            <a:spAutoFit/>
          </a:bodyPr>
          <a:lstStyle/>
          <a:p>
            <a:r>
              <a:rPr sz="1100" b="0">
                <a:solidFill>
                  <a:srgbClr val="2E2E2E"/>
                </a:solidFill>
                <a:latin typeface="Calibri"/>
              </a:rPr>
              <a:t>Above-market pace (</a:t>
            </a:r>
          </a:p>
        </p:txBody>
      </p:sp>
      <p:pic>
        <p:nvPicPr>
          <p:cNvPr id="119" name="Picture 118" descr="lock.png"/>
          <p:cNvPicPr>
            <a:picLocks noChangeAspect="1"/>
          </p:cNvPicPr>
          <p:nvPr/>
        </p:nvPicPr>
        <p:blipFill>
          <a:blip r:embed="rId4"/>
          <a:stretch>
            <a:fillRect/>
          </a:stretch>
        </p:blipFill>
        <p:spPr>
          <a:xfrm>
            <a:off x="2962118" y="3832575"/>
            <a:ext cx="128699" cy="187198"/>
          </a:xfrm>
          <a:prstGeom prst="rect">
            <a:avLst/>
          </a:prstGeom>
        </p:spPr>
      </p:pic>
      <p:sp>
        <p:nvSpPr>
          <p:cNvPr id="120" name="TextBox 119"/>
          <p:cNvSpPr txBox="1"/>
          <p:nvPr/>
        </p:nvSpPr>
        <p:spPr>
          <a:xfrm>
            <a:off x="3129614" y="3842354"/>
            <a:ext cx="2185888" cy="186689"/>
          </a:xfrm>
          <a:prstGeom prst="rect">
            <a:avLst/>
          </a:prstGeom>
          <a:noFill/>
        </p:spPr>
        <p:txBody>
          <a:bodyPr wrap="none" lIns="0" rIns="0" tIns="0" bIns="0">
            <a:spAutoFit/>
          </a:bodyPr>
          <a:lstStyle/>
          <a:p>
            <a:r>
              <a:rPr sz="1100" b="0">
                <a:solidFill>
                  <a:srgbClr val="2E2E2E"/>
                </a:solidFill>
                <a:latin typeface="Calibri"/>
              </a:rPr>
              <a:t>), Flat Dividers &amp; Layer Pads demand,</a:t>
            </a:r>
          </a:p>
        </p:txBody>
      </p:sp>
      <p:sp>
        <p:nvSpPr>
          <p:cNvPr id="121" name="TextBox 120"/>
          <p:cNvSpPr txBox="1"/>
          <p:nvPr/>
        </p:nvSpPr>
        <p:spPr>
          <a:xfrm>
            <a:off x="1752600" y="4009994"/>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22" name="TextBox 121"/>
          <p:cNvSpPr txBox="1"/>
          <p:nvPr/>
        </p:nvSpPr>
        <p:spPr>
          <a:xfrm>
            <a:off x="5562600" y="3926174"/>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123" name="Picture 122" descr="lock.png"/>
          <p:cNvPicPr>
            <a:picLocks noChangeAspect="1"/>
          </p:cNvPicPr>
          <p:nvPr/>
        </p:nvPicPr>
        <p:blipFill>
          <a:blip r:embed="rId4"/>
          <a:stretch>
            <a:fillRect/>
          </a:stretch>
        </p:blipFill>
        <p:spPr>
          <a:xfrm>
            <a:off x="6623687" y="3916395"/>
            <a:ext cx="128699" cy="187198"/>
          </a:xfrm>
          <a:prstGeom prst="rect">
            <a:avLst/>
          </a:prstGeom>
        </p:spPr>
      </p:pic>
      <p:sp>
        <p:nvSpPr>
          <p:cNvPr id="124" name="TextBox 123"/>
          <p:cNvSpPr txBox="1"/>
          <p:nvPr/>
        </p:nvSpPr>
        <p:spPr>
          <a:xfrm>
            <a:off x="6791183" y="3926174"/>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25" name="TextBox 124"/>
          <p:cNvSpPr txBox="1"/>
          <p:nvPr/>
        </p:nvSpPr>
        <p:spPr>
          <a:xfrm>
            <a:off x="8420100" y="3842354"/>
            <a:ext cx="1939776" cy="186689"/>
          </a:xfrm>
          <a:prstGeom prst="rect">
            <a:avLst/>
          </a:prstGeom>
          <a:noFill/>
        </p:spPr>
        <p:txBody>
          <a:bodyPr wrap="none" lIns="0" rIns="0" tIns="0" bIns="0">
            <a:spAutoFit/>
          </a:bodyPr>
          <a:lstStyle/>
          <a:p>
            <a:r>
              <a:rPr sz="1100" b="0">
                <a:solidFill>
                  <a:srgbClr val="2E2E2E"/>
                </a:solidFill>
                <a:latin typeface="Calibri"/>
              </a:rPr>
              <a:t>Scale Flat Dividers &amp; Layer Pads (</a:t>
            </a:r>
          </a:p>
        </p:txBody>
      </p:sp>
      <p:pic>
        <p:nvPicPr>
          <p:cNvPr id="126" name="Picture 125" descr="lock.png"/>
          <p:cNvPicPr>
            <a:picLocks noChangeAspect="1"/>
          </p:cNvPicPr>
          <p:nvPr/>
        </p:nvPicPr>
        <p:blipFill>
          <a:blip r:embed="rId4"/>
          <a:stretch>
            <a:fillRect/>
          </a:stretch>
        </p:blipFill>
        <p:spPr>
          <a:xfrm>
            <a:off x="10307927" y="3832575"/>
            <a:ext cx="128699" cy="187198"/>
          </a:xfrm>
          <a:prstGeom prst="rect">
            <a:avLst/>
          </a:prstGeom>
        </p:spPr>
      </p:pic>
      <p:sp>
        <p:nvSpPr>
          <p:cNvPr id="127" name="TextBox 126"/>
          <p:cNvSpPr txBox="1"/>
          <p:nvPr/>
        </p:nvSpPr>
        <p:spPr>
          <a:xfrm>
            <a:off x="10475423" y="3842354"/>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28" name="Picture 127" descr="lock.png"/>
          <p:cNvPicPr>
            <a:picLocks noChangeAspect="1"/>
          </p:cNvPicPr>
          <p:nvPr/>
        </p:nvPicPr>
        <p:blipFill>
          <a:blip r:embed="rId4"/>
          <a:stretch>
            <a:fillRect/>
          </a:stretch>
        </p:blipFill>
        <p:spPr>
          <a:xfrm>
            <a:off x="10576892" y="3832575"/>
            <a:ext cx="128699" cy="187198"/>
          </a:xfrm>
          <a:prstGeom prst="rect">
            <a:avLst/>
          </a:prstGeom>
        </p:spPr>
      </p:pic>
      <p:sp>
        <p:nvSpPr>
          <p:cNvPr id="129" name="TextBox 128"/>
          <p:cNvSpPr txBox="1"/>
          <p:nvPr/>
        </p:nvSpPr>
        <p:spPr>
          <a:xfrm>
            <a:off x="10744387" y="3842354"/>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30" name="TextBox 129"/>
          <p:cNvSpPr txBox="1"/>
          <p:nvPr/>
        </p:nvSpPr>
        <p:spPr>
          <a:xfrm>
            <a:off x="8420100" y="4009994"/>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31" name="TextBox 130"/>
          <p:cNvSpPr txBox="1"/>
          <p:nvPr/>
        </p:nvSpPr>
        <p:spPr>
          <a:xfrm>
            <a:off x="1752600" y="4353458"/>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32" name="Picture 131" descr="lock.png"/>
          <p:cNvPicPr>
            <a:picLocks noChangeAspect="1"/>
          </p:cNvPicPr>
          <p:nvPr/>
        </p:nvPicPr>
        <p:blipFill>
          <a:blip r:embed="rId4"/>
          <a:stretch>
            <a:fillRect/>
          </a:stretch>
        </p:blipFill>
        <p:spPr>
          <a:xfrm>
            <a:off x="2834969" y="4343679"/>
            <a:ext cx="128699" cy="187198"/>
          </a:xfrm>
          <a:prstGeom prst="rect">
            <a:avLst/>
          </a:prstGeom>
        </p:spPr>
      </p:pic>
      <p:sp>
        <p:nvSpPr>
          <p:cNvPr id="133" name="TextBox 132"/>
          <p:cNvSpPr txBox="1"/>
          <p:nvPr/>
        </p:nvSpPr>
        <p:spPr>
          <a:xfrm>
            <a:off x="3002465" y="4353458"/>
            <a:ext cx="1970318" cy="186689"/>
          </a:xfrm>
          <a:prstGeom prst="rect">
            <a:avLst/>
          </a:prstGeom>
          <a:noFill/>
        </p:spPr>
        <p:txBody>
          <a:bodyPr wrap="none" lIns="0" rIns="0" tIns="0" bIns="0">
            <a:spAutoFit/>
          </a:bodyPr>
          <a:lstStyle/>
          <a:p>
            <a:r>
              <a:rPr sz="1100" b="0">
                <a:solidFill>
                  <a:srgbClr val="2E2E2E"/>
                </a:solidFill>
                <a:latin typeface="Calibri"/>
              </a:rPr>
              <a:t>CAGR), Flat Dividers &amp; Layer Pads</a:t>
            </a:r>
          </a:p>
        </p:txBody>
      </p:sp>
      <p:sp>
        <p:nvSpPr>
          <p:cNvPr id="134" name="TextBox 133"/>
          <p:cNvSpPr txBox="1"/>
          <p:nvPr/>
        </p:nvSpPr>
        <p:spPr>
          <a:xfrm>
            <a:off x="1752600" y="4521098"/>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135" name="TextBox 134"/>
          <p:cNvSpPr txBox="1"/>
          <p:nvPr/>
        </p:nvSpPr>
        <p:spPr>
          <a:xfrm>
            <a:off x="5562600" y="4353458"/>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36" name="Picture 135" descr="lock.png"/>
          <p:cNvPicPr>
            <a:picLocks noChangeAspect="1"/>
          </p:cNvPicPr>
          <p:nvPr/>
        </p:nvPicPr>
        <p:blipFill>
          <a:blip r:embed="rId4"/>
          <a:stretch>
            <a:fillRect/>
          </a:stretch>
        </p:blipFill>
        <p:spPr>
          <a:xfrm>
            <a:off x="6797766" y="4343679"/>
            <a:ext cx="128699" cy="187198"/>
          </a:xfrm>
          <a:prstGeom prst="rect">
            <a:avLst/>
          </a:prstGeom>
        </p:spPr>
      </p:pic>
      <p:sp>
        <p:nvSpPr>
          <p:cNvPr id="137" name="TextBox 136"/>
          <p:cNvSpPr txBox="1"/>
          <p:nvPr/>
        </p:nvSpPr>
        <p:spPr>
          <a:xfrm>
            <a:off x="6965262" y="4353458"/>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38" name="TextBox 137"/>
          <p:cNvSpPr txBox="1"/>
          <p:nvPr/>
        </p:nvSpPr>
        <p:spPr>
          <a:xfrm>
            <a:off x="5562600" y="4521098"/>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39" name="Picture 138" descr="lock.png"/>
          <p:cNvPicPr>
            <a:picLocks noChangeAspect="1"/>
          </p:cNvPicPr>
          <p:nvPr/>
        </p:nvPicPr>
        <p:blipFill>
          <a:blip r:embed="rId4"/>
          <a:stretch>
            <a:fillRect/>
          </a:stretch>
        </p:blipFill>
        <p:spPr>
          <a:xfrm>
            <a:off x="6258066" y="4511319"/>
            <a:ext cx="128699" cy="187198"/>
          </a:xfrm>
          <a:prstGeom prst="rect">
            <a:avLst/>
          </a:prstGeom>
        </p:spPr>
      </p:pic>
      <p:sp>
        <p:nvSpPr>
          <p:cNvPr id="140" name="TextBox 139"/>
          <p:cNvSpPr txBox="1"/>
          <p:nvPr/>
        </p:nvSpPr>
        <p:spPr>
          <a:xfrm>
            <a:off x="6425562" y="4521098"/>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41" name="TextBox 140"/>
          <p:cNvSpPr txBox="1"/>
          <p:nvPr/>
        </p:nvSpPr>
        <p:spPr>
          <a:xfrm>
            <a:off x="8420100" y="4353458"/>
            <a:ext cx="1939776" cy="186689"/>
          </a:xfrm>
          <a:prstGeom prst="rect">
            <a:avLst/>
          </a:prstGeom>
          <a:noFill/>
        </p:spPr>
        <p:txBody>
          <a:bodyPr wrap="none" lIns="0" rIns="0" tIns="0" bIns="0">
            <a:spAutoFit/>
          </a:bodyPr>
          <a:lstStyle/>
          <a:p>
            <a:r>
              <a:rPr sz="1100" b="0">
                <a:solidFill>
                  <a:srgbClr val="2E2E2E"/>
                </a:solidFill>
                <a:latin typeface="Calibri"/>
              </a:rPr>
              <a:t>Scale Flat Dividers &amp; Layer Pads (</a:t>
            </a:r>
          </a:p>
        </p:txBody>
      </p:sp>
      <p:pic>
        <p:nvPicPr>
          <p:cNvPr id="142" name="Picture 141" descr="lock.png"/>
          <p:cNvPicPr>
            <a:picLocks noChangeAspect="1"/>
          </p:cNvPicPr>
          <p:nvPr/>
        </p:nvPicPr>
        <p:blipFill>
          <a:blip r:embed="rId4"/>
          <a:stretch>
            <a:fillRect/>
          </a:stretch>
        </p:blipFill>
        <p:spPr>
          <a:xfrm>
            <a:off x="10307927" y="4343679"/>
            <a:ext cx="128699" cy="187198"/>
          </a:xfrm>
          <a:prstGeom prst="rect">
            <a:avLst/>
          </a:prstGeom>
        </p:spPr>
      </p:pic>
      <p:sp>
        <p:nvSpPr>
          <p:cNvPr id="143" name="TextBox 142"/>
          <p:cNvSpPr txBox="1"/>
          <p:nvPr/>
        </p:nvSpPr>
        <p:spPr>
          <a:xfrm>
            <a:off x="10475423" y="4353458"/>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44" name="Picture 143" descr="lock.png"/>
          <p:cNvPicPr>
            <a:picLocks noChangeAspect="1"/>
          </p:cNvPicPr>
          <p:nvPr/>
        </p:nvPicPr>
        <p:blipFill>
          <a:blip r:embed="rId4"/>
          <a:stretch>
            <a:fillRect/>
          </a:stretch>
        </p:blipFill>
        <p:spPr>
          <a:xfrm>
            <a:off x="10576892" y="4343679"/>
            <a:ext cx="128699" cy="187198"/>
          </a:xfrm>
          <a:prstGeom prst="rect">
            <a:avLst/>
          </a:prstGeom>
        </p:spPr>
      </p:pic>
      <p:sp>
        <p:nvSpPr>
          <p:cNvPr id="145" name="TextBox 144"/>
          <p:cNvSpPr txBox="1"/>
          <p:nvPr/>
        </p:nvSpPr>
        <p:spPr>
          <a:xfrm>
            <a:off x="10744387" y="4353458"/>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46" name="TextBox 145"/>
          <p:cNvSpPr txBox="1"/>
          <p:nvPr/>
        </p:nvSpPr>
        <p:spPr>
          <a:xfrm>
            <a:off x="8420100" y="4521098"/>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47" name="TextBox 146"/>
          <p:cNvSpPr txBox="1"/>
          <p:nvPr/>
        </p:nvSpPr>
        <p:spPr>
          <a:xfrm>
            <a:off x="304800" y="5424184"/>
            <a:ext cx="4373612" cy="186689"/>
          </a:xfrm>
          <a:prstGeom prst="rect">
            <a:avLst/>
          </a:prstGeom>
          <a:noFill/>
        </p:spPr>
        <p:txBody>
          <a:bodyPr wrap="none" lIns="0" rIns="0" tIns="0" bIns="0">
            <a:spAutoFit/>
          </a:bodyPr>
          <a:lstStyle/>
          <a:p>
            <a:r>
              <a:rPr sz="1100" b="0">
                <a:solidFill>
                  <a:srgbClr val="2E2E2E"/>
                </a:solidFill>
                <a:latin typeface="Calibri"/>
              </a:rPr>
              <a:t>▪ North America, Europe, South Asia &amp; Pacific anchor scale with a combined</a:t>
            </a:r>
          </a:p>
        </p:txBody>
      </p:sp>
      <p:pic>
        <p:nvPicPr>
          <p:cNvPr id="148" name="Picture 147" descr="lock.png"/>
          <p:cNvPicPr>
            <a:picLocks noChangeAspect="1"/>
          </p:cNvPicPr>
          <p:nvPr/>
        </p:nvPicPr>
        <p:blipFill>
          <a:blip r:embed="rId4"/>
          <a:stretch>
            <a:fillRect/>
          </a:stretch>
        </p:blipFill>
        <p:spPr>
          <a:xfrm>
            <a:off x="4626463" y="5414405"/>
            <a:ext cx="128699" cy="187198"/>
          </a:xfrm>
          <a:prstGeom prst="rect">
            <a:avLst/>
          </a:prstGeom>
        </p:spPr>
      </p:pic>
      <p:sp>
        <p:nvSpPr>
          <p:cNvPr id="149" name="TextBox 148"/>
          <p:cNvSpPr txBox="1"/>
          <p:nvPr/>
        </p:nvSpPr>
        <p:spPr>
          <a:xfrm>
            <a:off x="4793959" y="5424184"/>
            <a:ext cx="4622998" cy="186689"/>
          </a:xfrm>
          <a:prstGeom prst="rect">
            <a:avLst/>
          </a:prstGeom>
          <a:noFill/>
        </p:spPr>
        <p:txBody>
          <a:bodyPr wrap="none" lIns="0" rIns="0" tIns="0" bIns="0">
            <a:spAutoFit/>
          </a:bodyPr>
          <a:lstStyle/>
          <a:p>
            <a:r>
              <a:rPr sz="1100" b="0">
                <a:solidFill>
                  <a:srgbClr val="2E2E2E"/>
                </a:solidFill>
                <a:latin typeface="Calibri"/>
              </a:rPr>
              <a:t>of Global value in 2036, while 'South Asia &amp; Pacific' offers the steepest upside at</a:t>
            </a:r>
          </a:p>
        </p:txBody>
      </p:sp>
      <p:pic>
        <p:nvPicPr>
          <p:cNvPr id="150" name="Picture 149" descr="lock.png"/>
          <p:cNvPicPr>
            <a:picLocks noChangeAspect="1"/>
          </p:cNvPicPr>
          <p:nvPr/>
        </p:nvPicPr>
        <p:blipFill>
          <a:blip r:embed="rId4"/>
          <a:stretch>
            <a:fillRect/>
          </a:stretch>
        </p:blipFill>
        <p:spPr>
          <a:xfrm>
            <a:off x="9365009" y="5414405"/>
            <a:ext cx="128699" cy="187198"/>
          </a:xfrm>
          <a:prstGeom prst="rect">
            <a:avLst/>
          </a:prstGeom>
        </p:spPr>
      </p:pic>
      <p:sp>
        <p:nvSpPr>
          <p:cNvPr id="151" name="TextBox 150"/>
          <p:cNvSpPr txBox="1"/>
          <p:nvPr/>
        </p:nvSpPr>
        <p:spPr>
          <a:xfrm>
            <a:off x="9532505" y="5424184"/>
            <a:ext cx="1819704" cy="186689"/>
          </a:xfrm>
          <a:prstGeom prst="rect">
            <a:avLst/>
          </a:prstGeom>
          <a:noFill/>
        </p:spPr>
        <p:txBody>
          <a:bodyPr wrap="none" lIns="0" rIns="0" tIns="0" bIns="0">
            <a:spAutoFit/>
          </a:bodyPr>
          <a:lstStyle/>
          <a:p>
            <a:r>
              <a:rPr sz="1100" b="0">
                <a:solidFill>
                  <a:srgbClr val="2E2E2E"/>
                </a:solidFill>
                <a:latin typeface="Calibri"/>
              </a:rPr>
              <a:t>CAGR against a market pace of</a:t>
            </a:r>
          </a:p>
        </p:txBody>
      </p:sp>
      <p:pic>
        <p:nvPicPr>
          <p:cNvPr id="152" name="Picture 151" descr="lock.png"/>
          <p:cNvPicPr>
            <a:picLocks noChangeAspect="1"/>
          </p:cNvPicPr>
          <p:nvPr/>
        </p:nvPicPr>
        <p:blipFill>
          <a:blip r:embed="rId4"/>
          <a:stretch>
            <a:fillRect/>
          </a:stretch>
        </p:blipFill>
        <p:spPr>
          <a:xfrm>
            <a:off x="291332" y="5582045"/>
            <a:ext cx="128699" cy="187198"/>
          </a:xfrm>
          <a:prstGeom prst="rect">
            <a:avLst/>
          </a:prstGeom>
        </p:spPr>
      </p:pic>
      <p:sp>
        <p:nvSpPr>
          <p:cNvPr id="153" name="TextBox 152"/>
          <p:cNvSpPr txBox="1"/>
          <p:nvPr/>
        </p:nvSpPr>
        <p:spPr>
          <a:xfrm>
            <a:off x="458828" y="5591824"/>
            <a:ext cx="11008816" cy="186689"/>
          </a:xfrm>
          <a:prstGeom prst="rect">
            <a:avLst/>
          </a:prstGeom>
          <a:noFill/>
        </p:spPr>
        <p:txBody>
          <a:bodyPr wrap="none" lIns="0" rIns="0" tIns="0" bIns="0">
            <a:spAutoFit/>
          </a:bodyPr>
          <a:lstStyle/>
          <a:p>
            <a:r>
              <a:rPr sz="1100" b="0">
                <a:solidFill>
                  <a:srgbClr val="2E2E2E"/>
                </a:solidFill>
                <a:latin typeface="Calibri"/>
              </a:rPr>
              <a:t>. 3 of 6 regions grow at or above that pace, so entry logic has to differ by region scale defence in the leaders, mix and premiumisation in the mid-tier, and availability-led expansion in the fastest</a:t>
            </a:r>
          </a:p>
        </p:txBody>
      </p:sp>
      <p:sp>
        <p:nvSpPr>
          <p:cNvPr id="154" name="TextBox 153"/>
          <p:cNvSpPr txBox="1"/>
          <p:nvPr/>
        </p:nvSpPr>
        <p:spPr>
          <a:xfrm>
            <a:off x="304800" y="5759464"/>
            <a:ext cx="532680" cy="186689"/>
          </a:xfrm>
          <a:prstGeom prst="rect">
            <a:avLst/>
          </a:prstGeom>
          <a:noFill/>
        </p:spPr>
        <p:txBody>
          <a:bodyPr wrap="none" lIns="0" rIns="0" tIns="0" bIns="0">
            <a:spAutoFit/>
          </a:bodyPr>
          <a:lstStyle/>
          <a:p>
            <a:r>
              <a:rPr sz="1100" b="0">
                <a:solidFill>
                  <a:srgbClr val="2E2E2E"/>
                </a:solidFill>
                <a:latin typeface="Calibri"/>
              </a:rPr>
              <a:t>movers.</a:t>
            </a: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04460"/>
            <a:ext cx="2324100" cy="2829323"/>
          </a:xfrm>
          <a:custGeom>
            <a:avLst/>
            <a:gdLst/>
            <a:ahLst/>
            <a:cxnLst/>
            <a:rect l="l" t="t" r="r" b="b"/>
            <a:pathLst>
              <a:path w="244" h="310">
                <a:moveTo>
                  <a:pt x="244" y="11"/>
                </a:moveTo>
                <a:lnTo>
                  <a:pt x="176" y="0"/>
                </a:lnTo>
                <a:lnTo>
                  <a:pt x="121" y="43"/>
                </a:lnTo>
                <a:lnTo>
                  <a:pt x="96" y="107"/>
                </a:lnTo>
                <a:lnTo>
                  <a:pt x="0" y="197"/>
                </a:lnTo>
                <a:lnTo>
                  <a:pt x="130" y="232"/>
                </a:lnTo>
                <a:lnTo>
                  <a:pt x="163" y="310"/>
                </a:lnTo>
                <a:lnTo>
                  <a:pt x="244" y="25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3 partition type lines and 7 end use routes, giving producers wide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3466991" y="1322601"/>
            <a:ext cx="1125226" cy="173278"/>
          </a:xfrm>
          <a:prstGeom prst="rect">
            <a:avLst/>
          </a:prstGeom>
          <a:noFill/>
        </p:spPr>
        <p:txBody>
          <a:bodyPr wrap="none" lIns="0" rIns="0" tIns="0" bIns="0">
            <a:spAutoFit/>
          </a:bodyPr>
          <a:lstStyle/>
          <a:p>
            <a:r>
              <a:rPr sz="1011" b="0">
                <a:solidFill>
                  <a:srgbClr val="2E2E2E"/>
                </a:solidFill>
                <a:latin typeface="Calibri"/>
              </a:rPr>
              <a:t>Production Scale-up</a:t>
            </a:r>
          </a:p>
        </p:txBody>
      </p:sp>
      <p:pic>
        <p:nvPicPr>
          <p:cNvPr id="69" name="Picture 68" descr="lock.png"/>
          <p:cNvPicPr>
            <a:picLocks noChangeAspect="1"/>
          </p:cNvPicPr>
          <p:nvPr/>
        </p:nvPicPr>
        <p:blipFill>
          <a:blip r:embed="rId4"/>
          <a:stretch>
            <a:fillRect/>
          </a:stretch>
        </p:blipFill>
        <p:spPr>
          <a:xfrm>
            <a:off x="4538330" y="1313604"/>
            <a:ext cx="118403" cy="172222"/>
          </a:xfrm>
          <a:prstGeom prst="rect">
            <a:avLst/>
          </a:prstGeom>
        </p:spPr>
      </p:pic>
      <p:sp>
        <p:nvSpPr>
          <p:cNvPr id="70" name="TextBox 69"/>
          <p:cNvSpPr txBox="1"/>
          <p:nvPr/>
        </p:nvSpPr>
        <p:spPr>
          <a:xfrm>
            <a:off x="2482772" y="1561215"/>
            <a:ext cx="1094602" cy="173278"/>
          </a:xfrm>
          <a:prstGeom prst="rect">
            <a:avLst/>
          </a:prstGeom>
          <a:noFill/>
        </p:spPr>
        <p:txBody>
          <a:bodyPr wrap="none" lIns="0" rIns="0" tIns="0" bIns="0">
            <a:spAutoFit/>
          </a:bodyPr>
          <a:lstStyle/>
          <a:p>
            <a:r>
              <a:rPr sz="1011" b="0">
                <a:solidFill>
                  <a:srgbClr val="2E2E2E"/>
                </a:solidFill>
                <a:latin typeface="Calibri"/>
              </a:rPr>
              <a:t>Input Cost Pressure</a:t>
            </a:r>
          </a:p>
        </p:txBody>
      </p:sp>
      <p:pic>
        <p:nvPicPr>
          <p:cNvPr id="71" name="Picture 70" descr="lock.png"/>
          <p:cNvPicPr>
            <a:picLocks noChangeAspect="1"/>
          </p:cNvPicPr>
          <p:nvPr/>
        </p:nvPicPr>
        <p:blipFill>
          <a:blip r:embed="rId4"/>
          <a:stretch>
            <a:fillRect/>
          </a:stretch>
        </p:blipFill>
        <p:spPr>
          <a:xfrm>
            <a:off x="3523486" y="1552218"/>
            <a:ext cx="118403" cy="172222"/>
          </a:xfrm>
          <a:prstGeom prst="rect">
            <a:avLst/>
          </a:prstGeom>
        </p:spPr>
      </p:pic>
      <p:sp>
        <p:nvSpPr>
          <p:cNvPr id="72" name="TextBox 71"/>
          <p:cNvSpPr txBox="1"/>
          <p:nvPr/>
        </p:nvSpPr>
        <p:spPr>
          <a:xfrm>
            <a:off x="1943191" y="2311939"/>
            <a:ext cx="759234" cy="173278"/>
          </a:xfrm>
          <a:prstGeom prst="rect">
            <a:avLst/>
          </a:prstGeom>
          <a:noFill/>
        </p:spPr>
        <p:txBody>
          <a:bodyPr wrap="none" lIns="0" rIns="0" tIns="0" bIns="0">
            <a:spAutoFit/>
          </a:bodyPr>
          <a:lstStyle/>
          <a:p>
            <a:r>
              <a:rPr sz="1011" b="0">
                <a:solidFill>
                  <a:srgbClr val="2E2E2E"/>
                </a:solidFill>
                <a:latin typeface="Calibri"/>
              </a:rPr>
              <a:t>Capacity Add</a:t>
            </a:r>
          </a:p>
        </p:txBody>
      </p:sp>
      <p:pic>
        <p:nvPicPr>
          <p:cNvPr id="73" name="Picture 72" descr="lock.png"/>
          <p:cNvPicPr>
            <a:picLocks noChangeAspect="1"/>
          </p:cNvPicPr>
          <p:nvPr/>
        </p:nvPicPr>
        <p:blipFill>
          <a:blip r:embed="rId4"/>
          <a:stretch>
            <a:fillRect/>
          </a:stretch>
        </p:blipFill>
        <p:spPr>
          <a:xfrm>
            <a:off x="2648537" y="2302942"/>
            <a:ext cx="118403" cy="172222"/>
          </a:xfrm>
          <a:prstGeom prst="rect">
            <a:avLst/>
          </a:prstGeom>
        </p:spPr>
      </p:pic>
      <p:sp>
        <p:nvSpPr>
          <p:cNvPr id="74" name="TextBox 73"/>
          <p:cNvSpPr txBox="1"/>
          <p:nvPr/>
        </p:nvSpPr>
        <p:spPr>
          <a:xfrm>
            <a:off x="1014573" y="3278069"/>
            <a:ext cx="1202291" cy="173278"/>
          </a:xfrm>
          <a:prstGeom prst="rect">
            <a:avLst/>
          </a:prstGeom>
          <a:noFill/>
        </p:spPr>
        <p:txBody>
          <a:bodyPr wrap="none" lIns="0" rIns="0" tIns="0" bIns="0">
            <a:spAutoFit/>
          </a:bodyPr>
          <a:lstStyle/>
          <a:p>
            <a:r>
              <a:rPr sz="1011" b="0">
                <a:solidFill>
                  <a:srgbClr val="2E2E2E"/>
                </a:solidFill>
                <a:latin typeface="Calibri"/>
              </a:rPr>
              <a:t>Supply Concentration</a:t>
            </a:r>
          </a:p>
        </p:txBody>
      </p:sp>
      <p:pic>
        <p:nvPicPr>
          <p:cNvPr id="75" name="Picture 74" descr="lock.png"/>
          <p:cNvPicPr>
            <a:picLocks noChangeAspect="1"/>
          </p:cNvPicPr>
          <p:nvPr/>
        </p:nvPicPr>
        <p:blipFill>
          <a:blip r:embed="rId4"/>
          <a:stretch>
            <a:fillRect/>
          </a:stretch>
        </p:blipFill>
        <p:spPr>
          <a:xfrm>
            <a:off x="2162976" y="3269072"/>
            <a:ext cx="118403" cy="172222"/>
          </a:xfrm>
          <a:prstGeom prst="rect">
            <a:avLst/>
          </a:prstGeom>
        </p:spPr>
      </p:pic>
      <p:sp>
        <p:nvSpPr>
          <p:cNvPr id="76" name="TextBox 75"/>
          <p:cNvSpPr txBox="1"/>
          <p:nvPr/>
        </p:nvSpPr>
        <p:spPr>
          <a:xfrm>
            <a:off x="1148118" y="4350392"/>
            <a:ext cx="1068746" cy="173278"/>
          </a:xfrm>
          <a:prstGeom prst="rect">
            <a:avLst/>
          </a:prstGeom>
          <a:noFill/>
        </p:spPr>
        <p:txBody>
          <a:bodyPr wrap="none" lIns="0" rIns="0" tIns="0" bIns="0">
            <a:spAutoFit/>
          </a:bodyPr>
          <a:lstStyle/>
          <a:p>
            <a:r>
              <a:rPr sz="1011" b="0">
                <a:solidFill>
                  <a:srgbClr val="2E2E2E"/>
                </a:solidFill>
                <a:latin typeface="Calibri"/>
              </a:rPr>
              <a:t>Geographic Spread</a:t>
            </a:r>
          </a:p>
        </p:txBody>
      </p:sp>
      <p:pic>
        <p:nvPicPr>
          <p:cNvPr id="77" name="Picture 76" descr="lock.png"/>
          <p:cNvPicPr>
            <a:picLocks noChangeAspect="1"/>
          </p:cNvPicPr>
          <p:nvPr/>
        </p:nvPicPr>
        <p:blipFill>
          <a:blip r:embed="rId4"/>
          <a:stretch>
            <a:fillRect/>
          </a:stretch>
        </p:blipFill>
        <p:spPr>
          <a:xfrm>
            <a:off x="2162976" y="4341395"/>
            <a:ext cx="118403" cy="172222"/>
          </a:xfrm>
          <a:prstGeom prst="rect">
            <a:avLst/>
          </a:prstGeom>
        </p:spPr>
      </p:pic>
      <p:sp>
        <p:nvSpPr>
          <p:cNvPr id="78" name="TextBox 77"/>
          <p:cNvSpPr txBox="1"/>
          <p:nvPr/>
        </p:nvSpPr>
        <p:spPr>
          <a:xfrm>
            <a:off x="1722039" y="5316521"/>
            <a:ext cx="980386" cy="173278"/>
          </a:xfrm>
          <a:prstGeom prst="rect">
            <a:avLst/>
          </a:prstGeom>
          <a:noFill/>
        </p:spPr>
        <p:txBody>
          <a:bodyPr wrap="none" lIns="0" rIns="0" tIns="0" bIns="0">
            <a:spAutoFit/>
          </a:bodyPr>
          <a:lstStyle/>
          <a:p>
            <a:r>
              <a:rPr sz="1011" b="0">
                <a:solidFill>
                  <a:srgbClr val="2E2E2E"/>
                </a:solidFill>
                <a:latin typeface="Calibri"/>
              </a:rPr>
              <a:t>Portfolio Breadth</a:t>
            </a:r>
          </a:p>
        </p:txBody>
      </p:sp>
      <p:pic>
        <p:nvPicPr>
          <p:cNvPr id="79" name="Picture 78" descr="lock.png"/>
          <p:cNvPicPr>
            <a:picLocks noChangeAspect="1"/>
          </p:cNvPicPr>
          <p:nvPr/>
        </p:nvPicPr>
        <p:blipFill>
          <a:blip r:embed="rId4"/>
          <a:stretch>
            <a:fillRect/>
          </a:stretch>
        </p:blipFill>
        <p:spPr>
          <a:xfrm>
            <a:off x="2648537" y="5307524"/>
            <a:ext cx="118403" cy="172222"/>
          </a:xfrm>
          <a:prstGeom prst="rect">
            <a:avLst/>
          </a:prstGeom>
        </p:spPr>
      </p:pic>
      <p:sp>
        <p:nvSpPr>
          <p:cNvPr id="80" name="TextBox 79"/>
          <p:cNvSpPr txBox="1"/>
          <p:nvPr/>
        </p:nvSpPr>
        <p:spPr>
          <a:xfrm>
            <a:off x="2838472" y="6067245"/>
            <a:ext cx="738901" cy="173278"/>
          </a:xfrm>
          <a:prstGeom prst="rect">
            <a:avLst/>
          </a:prstGeom>
          <a:noFill/>
        </p:spPr>
        <p:txBody>
          <a:bodyPr wrap="none" lIns="0" rIns="0" tIns="0" bIns="0">
            <a:spAutoFit/>
          </a:bodyPr>
          <a:lstStyle/>
          <a:p>
            <a:r>
              <a:rPr sz="1011" b="0">
                <a:solidFill>
                  <a:srgbClr val="2E2E2E"/>
                </a:solidFill>
                <a:latin typeface="Calibri"/>
              </a:rPr>
              <a:t>Route Depth</a:t>
            </a:r>
          </a:p>
        </p:txBody>
      </p:sp>
      <p:pic>
        <p:nvPicPr>
          <p:cNvPr id="81" name="Picture 80" descr="lock.png"/>
          <p:cNvPicPr>
            <a:picLocks noChangeAspect="1"/>
          </p:cNvPicPr>
          <p:nvPr/>
        </p:nvPicPr>
        <p:blipFill>
          <a:blip r:embed="rId4"/>
          <a:stretch>
            <a:fillRect/>
          </a:stretch>
        </p:blipFill>
        <p:spPr>
          <a:xfrm>
            <a:off x="3523486" y="6058248"/>
            <a:ext cx="118403" cy="172222"/>
          </a:xfrm>
          <a:prstGeom prst="rect">
            <a:avLst/>
          </a:prstGeom>
        </p:spPr>
      </p:pic>
      <p:sp>
        <p:nvSpPr>
          <p:cNvPr id="82" name="TextBox 81"/>
          <p:cNvSpPr txBox="1"/>
          <p:nvPr/>
        </p:nvSpPr>
        <p:spPr>
          <a:xfrm>
            <a:off x="3616852" y="6305860"/>
            <a:ext cx="975365" cy="173278"/>
          </a:xfrm>
          <a:prstGeom prst="rect">
            <a:avLst/>
          </a:prstGeom>
          <a:noFill/>
        </p:spPr>
        <p:txBody>
          <a:bodyPr wrap="none" lIns="0" rIns="0" tIns="0" bIns="0">
            <a:spAutoFit/>
          </a:bodyPr>
          <a:lstStyle/>
          <a:p>
            <a:r>
              <a:rPr sz="1011" b="0">
                <a:solidFill>
                  <a:srgbClr val="2E2E2E"/>
                </a:solidFill>
                <a:latin typeface="Calibri"/>
              </a:rPr>
              <a:t>Value Realisation</a:t>
            </a:r>
          </a:p>
        </p:txBody>
      </p:sp>
      <p:pic>
        <p:nvPicPr>
          <p:cNvPr id="83" name="Picture 82" descr="lock.png"/>
          <p:cNvPicPr>
            <a:picLocks noChangeAspect="1"/>
          </p:cNvPicPr>
          <p:nvPr/>
        </p:nvPicPr>
        <p:blipFill>
          <a:blip r:embed="rId4"/>
          <a:stretch>
            <a:fillRect/>
          </a:stretch>
        </p:blipFill>
        <p:spPr>
          <a:xfrm>
            <a:off x="4538330" y="6296863"/>
            <a:ext cx="118403" cy="172222"/>
          </a:xfrm>
          <a:prstGeom prst="rect">
            <a:avLst/>
          </a:prstGeom>
        </p:spPr>
      </p:pic>
      <p:sp>
        <p:nvSpPr>
          <p:cNvPr id="84" name="TextBox 83"/>
          <p:cNvSpPr txBox="1"/>
          <p:nvPr/>
        </p:nvSpPr>
        <p:spPr>
          <a:xfrm>
            <a:off x="5000625" y="1496754"/>
            <a:ext cx="3210445" cy="186689"/>
          </a:xfrm>
          <a:prstGeom prst="rect">
            <a:avLst/>
          </a:prstGeom>
          <a:noFill/>
        </p:spPr>
        <p:txBody>
          <a:bodyPr wrap="none" lIns="0" rIns="0" tIns="0" bIns="0">
            <a:spAutoFit/>
          </a:bodyPr>
          <a:lstStyle/>
          <a:p>
            <a:r>
              <a:rPr sz="1100" b="0">
                <a:solidFill>
                  <a:srgbClr val="2E2E2E"/>
                </a:solidFill>
                <a:latin typeface="Calibri"/>
              </a:rPr>
              <a:t>▪ Supply-side conditions are led by Geographic Spread (</a:t>
            </a:r>
          </a:p>
        </p:txBody>
      </p:sp>
      <p:pic>
        <p:nvPicPr>
          <p:cNvPr id="85" name="Picture 84" descr="lock.png"/>
          <p:cNvPicPr>
            <a:picLocks noChangeAspect="1"/>
          </p:cNvPicPr>
          <p:nvPr/>
        </p:nvPicPr>
        <p:blipFill>
          <a:blip r:embed="rId4"/>
          <a:stretch>
            <a:fillRect/>
          </a:stretch>
        </p:blipFill>
        <p:spPr>
          <a:xfrm>
            <a:off x="8159122" y="1486975"/>
            <a:ext cx="128699" cy="187198"/>
          </a:xfrm>
          <a:prstGeom prst="rect">
            <a:avLst/>
          </a:prstGeom>
        </p:spPr>
      </p:pic>
      <p:sp>
        <p:nvSpPr>
          <p:cNvPr id="86" name="TextBox 85"/>
          <p:cNvSpPr txBox="1"/>
          <p:nvPr/>
        </p:nvSpPr>
        <p:spPr>
          <a:xfrm>
            <a:off x="8326618" y="1496754"/>
            <a:ext cx="1175246" cy="186689"/>
          </a:xfrm>
          <a:prstGeom prst="rect">
            <a:avLst/>
          </a:prstGeom>
          <a:noFill/>
        </p:spPr>
        <p:txBody>
          <a:bodyPr wrap="none" lIns="0" rIns="0" tIns="0" bIns="0">
            <a:spAutoFit/>
          </a:bodyPr>
          <a:lstStyle/>
          <a:p>
            <a:r>
              <a:rPr sz="1100" b="0">
                <a:solidFill>
                  <a:srgbClr val="2E2E2E"/>
                </a:solidFill>
                <a:latin typeface="Calibri"/>
              </a:rPr>
              <a:t>/10), Route Depth (</a:t>
            </a:r>
          </a:p>
        </p:txBody>
      </p:sp>
      <p:pic>
        <p:nvPicPr>
          <p:cNvPr id="87" name="Picture 86" descr="lock.png"/>
          <p:cNvPicPr>
            <a:picLocks noChangeAspect="1"/>
          </p:cNvPicPr>
          <p:nvPr/>
        </p:nvPicPr>
        <p:blipFill>
          <a:blip r:embed="rId4"/>
          <a:stretch>
            <a:fillRect/>
          </a:stretch>
        </p:blipFill>
        <p:spPr>
          <a:xfrm>
            <a:off x="9449916" y="1486975"/>
            <a:ext cx="128699" cy="187198"/>
          </a:xfrm>
          <a:prstGeom prst="rect">
            <a:avLst/>
          </a:prstGeom>
        </p:spPr>
      </p:pic>
      <p:sp>
        <p:nvSpPr>
          <p:cNvPr id="88" name="TextBox 87"/>
          <p:cNvSpPr txBox="1"/>
          <p:nvPr/>
        </p:nvSpPr>
        <p:spPr>
          <a:xfrm>
            <a:off x="9617411" y="1496754"/>
            <a:ext cx="1197347" cy="186689"/>
          </a:xfrm>
          <a:prstGeom prst="rect">
            <a:avLst/>
          </a:prstGeom>
          <a:noFill/>
        </p:spPr>
        <p:txBody>
          <a:bodyPr wrap="none" lIns="0" rIns="0" tIns="0" bIns="0">
            <a:spAutoFit/>
          </a:bodyPr>
          <a:lstStyle/>
          <a:p>
            <a:r>
              <a:rPr sz="1100" b="0">
                <a:solidFill>
                  <a:srgbClr val="2E2E2E"/>
                </a:solidFill>
                <a:latin typeface="Calibri"/>
              </a:rPr>
              <a:t>/10), Capacity Add (</a:t>
            </a:r>
          </a:p>
        </p:txBody>
      </p:sp>
      <p:pic>
        <p:nvPicPr>
          <p:cNvPr id="89" name="Picture 88" descr="lock.png"/>
          <p:cNvPicPr>
            <a:picLocks noChangeAspect="1"/>
          </p:cNvPicPr>
          <p:nvPr/>
        </p:nvPicPr>
        <p:blipFill>
          <a:blip r:embed="rId4"/>
          <a:stretch>
            <a:fillRect/>
          </a:stretch>
        </p:blipFill>
        <p:spPr>
          <a:xfrm>
            <a:off x="10762810" y="1486975"/>
            <a:ext cx="128699" cy="187198"/>
          </a:xfrm>
          <a:prstGeom prst="rect">
            <a:avLst/>
          </a:prstGeom>
        </p:spPr>
      </p:pic>
      <p:sp>
        <p:nvSpPr>
          <p:cNvPr id="90" name="TextBox 89"/>
          <p:cNvSpPr txBox="1"/>
          <p:nvPr/>
        </p:nvSpPr>
        <p:spPr>
          <a:xfrm>
            <a:off x="10930306" y="1496754"/>
            <a:ext cx="878929" cy="186689"/>
          </a:xfrm>
          <a:prstGeom prst="rect">
            <a:avLst/>
          </a:prstGeom>
          <a:noFill/>
        </p:spPr>
        <p:txBody>
          <a:bodyPr wrap="none" lIns="0" rIns="0" tIns="0" bIns="0">
            <a:spAutoFit/>
          </a:bodyPr>
          <a:lstStyle/>
          <a:p>
            <a:r>
              <a:rPr sz="1100" b="0">
                <a:solidFill>
                  <a:srgbClr val="2E2E2E"/>
                </a:solidFill>
                <a:latin typeface="Calibri"/>
              </a:rPr>
              <a:t>/10) on a 0-10</a:t>
            </a:r>
          </a:p>
        </p:txBody>
      </p:sp>
      <p:sp>
        <p:nvSpPr>
          <p:cNvPr id="91" name="TextBox 90"/>
          <p:cNvSpPr txBox="1"/>
          <p:nvPr/>
        </p:nvSpPr>
        <p:spPr>
          <a:xfrm>
            <a:off x="5000625" y="1664394"/>
            <a:ext cx="2476748" cy="186689"/>
          </a:xfrm>
          <a:prstGeom prst="rect">
            <a:avLst/>
          </a:prstGeom>
          <a:noFill/>
        </p:spPr>
        <p:txBody>
          <a:bodyPr wrap="none" lIns="0" rIns="0" tIns="0" bIns="0">
            <a:spAutoFit/>
          </a:bodyPr>
          <a:lstStyle/>
          <a:p>
            <a:r>
              <a:rPr sz="1100" b="0">
                <a:solidFill>
                  <a:srgbClr val="2E2E2E"/>
                </a:solidFill>
                <a:latin typeface="Calibri"/>
              </a:rPr>
              <a:t>scale scored from the global dataset itself.</a:t>
            </a:r>
          </a:p>
        </p:txBody>
      </p:sp>
      <p:sp>
        <p:nvSpPr>
          <p:cNvPr id="92" name="TextBox 91"/>
          <p:cNvSpPr txBox="1"/>
          <p:nvPr/>
        </p:nvSpPr>
        <p:spPr>
          <a:xfrm>
            <a:off x="5000625" y="1953097"/>
            <a:ext cx="1245914" cy="186689"/>
          </a:xfrm>
          <a:prstGeom prst="rect">
            <a:avLst/>
          </a:prstGeom>
          <a:noFill/>
        </p:spPr>
        <p:txBody>
          <a:bodyPr wrap="none" lIns="0" rIns="0" tIns="0" bIns="0">
            <a:spAutoFit/>
          </a:bodyPr>
          <a:lstStyle/>
          <a:p>
            <a:r>
              <a:rPr sz="1100" b="0">
                <a:solidFill>
                  <a:srgbClr val="2E2E2E"/>
                </a:solidFill>
                <a:latin typeface="Calibri"/>
              </a:rPr>
              <a:t>▪ Volume expands at</a:t>
            </a:r>
          </a:p>
        </p:txBody>
      </p:sp>
      <p:pic>
        <p:nvPicPr>
          <p:cNvPr id="93" name="Picture 92" descr="lock.png"/>
          <p:cNvPicPr>
            <a:picLocks noChangeAspect="1"/>
          </p:cNvPicPr>
          <p:nvPr/>
        </p:nvPicPr>
        <p:blipFill>
          <a:blip r:embed="rId4"/>
          <a:stretch>
            <a:fillRect/>
          </a:stretch>
        </p:blipFill>
        <p:spPr>
          <a:xfrm>
            <a:off x="6194591" y="1943318"/>
            <a:ext cx="128699" cy="187198"/>
          </a:xfrm>
          <a:prstGeom prst="rect">
            <a:avLst/>
          </a:prstGeom>
        </p:spPr>
      </p:pic>
      <p:sp>
        <p:nvSpPr>
          <p:cNvPr id="94" name="TextBox 93"/>
          <p:cNvSpPr txBox="1"/>
          <p:nvPr/>
        </p:nvSpPr>
        <p:spPr>
          <a:xfrm>
            <a:off x="6362087" y="1953097"/>
            <a:ext cx="3002788" cy="186689"/>
          </a:xfrm>
          <a:prstGeom prst="rect">
            <a:avLst/>
          </a:prstGeom>
          <a:noFill/>
        </p:spPr>
        <p:txBody>
          <a:bodyPr wrap="none" lIns="0" rIns="0" tIns="0" bIns="0">
            <a:spAutoFit/>
          </a:bodyPr>
          <a:lstStyle/>
          <a:p>
            <a:r>
              <a:rPr sz="1100" b="0">
                <a:solidFill>
                  <a:srgbClr val="2E2E2E"/>
                </a:solidFill>
                <a:latin typeface="Calibri"/>
              </a:rPr>
              <a:t>CAGR (2026–2036) while average realisation moves</a:t>
            </a:r>
          </a:p>
        </p:txBody>
      </p:sp>
      <p:pic>
        <p:nvPicPr>
          <p:cNvPr id="95" name="Picture 94" descr="lock.png"/>
          <p:cNvPicPr>
            <a:picLocks noChangeAspect="1"/>
          </p:cNvPicPr>
          <p:nvPr/>
        </p:nvPicPr>
        <p:blipFill>
          <a:blip r:embed="rId4"/>
          <a:stretch>
            <a:fillRect/>
          </a:stretch>
        </p:blipFill>
        <p:spPr>
          <a:xfrm>
            <a:off x="9312927" y="1943318"/>
            <a:ext cx="128699" cy="187198"/>
          </a:xfrm>
          <a:prstGeom prst="rect">
            <a:avLst/>
          </a:prstGeom>
        </p:spPr>
      </p:pic>
      <p:sp>
        <p:nvSpPr>
          <p:cNvPr id="96" name="TextBox 95"/>
          <p:cNvSpPr txBox="1"/>
          <p:nvPr/>
        </p:nvSpPr>
        <p:spPr>
          <a:xfrm>
            <a:off x="9480423" y="1953097"/>
            <a:ext cx="2346597" cy="186689"/>
          </a:xfrm>
          <a:prstGeom prst="rect">
            <a:avLst/>
          </a:prstGeom>
          <a:noFill/>
        </p:spPr>
        <p:txBody>
          <a:bodyPr wrap="none" lIns="0" rIns="0" tIns="0" bIns="0">
            <a:spAutoFit/>
          </a:bodyPr>
          <a:lstStyle/>
          <a:p>
            <a:r>
              <a:rPr sz="1100" b="0">
                <a:solidFill>
                  <a:srgbClr val="2E2E2E"/>
                </a:solidFill>
                <a:latin typeface="Calibri"/>
              </a:rPr>
              <a:t>a year the balance of those two sets the</a:t>
            </a:r>
          </a:p>
        </p:txBody>
      </p:sp>
      <p:sp>
        <p:nvSpPr>
          <p:cNvPr id="97" name="TextBox 96"/>
          <p:cNvSpPr txBox="1"/>
          <p:nvPr/>
        </p:nvSpPr>
        <p:spPr>
          <a:xfrm>
            <a:off x="5000625" y="2120737"/>
            <a:ext cx="1571426" cy="186689"/>
          </a:xfrm>
          <a:prstGeom prst="rect">
            <a:avLst/>
          </a:prstGeom>
          <a:noFill/>
        </p:spPr>
        <p:txBody>
          <a:bodyPr wrap="none" lIns="0" rIns="0" tIns="0" bIns="0">
            <a:spAutoFit/>
          </a:bodyPr>
          <a:lstStyle/>
          <a:p>
            <a:r>
              <a:rPr sz="1100" b="0">
                <a:solidFill>
                  <a:srgbClr val="2E2E2E"/>
                </a:solidFill>
                <a:latin typeface="Calibri"/>
              </a:rPr>
              <a:t>cost-pass-through picture.</a:t>
            </a:r>
          </a:p>
        </p:txBody>
      </p:sp>
      <p:sp>
        <p:nvSpPr>
          <p:cNvPr id="98" name="TextBox 97"/>
          <p:cNvSpPr txBox="1"/>
          <p:nvPr/>
        </p:nvSpPr>
        <p:spPr>
          <a:xfrm>
            <a:off x="5000625" y="2401990"/>
            <a:ext cx="2540049" cy="186689"/>
          </a:xfrm>
          <a:prstGeom prst="rect">
            <a:avLst/>
          </a:prstGeom>
          <a:noFill/>
        </p:spPr>
        <p:txBody>
          <a:bodyPr wrap="none" lIns="0" rIns="0" tIns="0" bIns="0">
            <a:spAutoFit/>
          </a:bodyPr>
          <a:lstStyle/>
          <a:p>
            <a:r>
              <a:rPr sz="1100" b="0">
                <a:solidFill>
                  <a:srgbClr val="2E2E2E"/>
                </a:solidFill>
                <a:latin typeface="Calibri"/>
              </a:rPr>
              <a:t>▪ Supply is dispersed: 'North America' holds</a:t>
            </a:r>
          </a:p>
        </p:txBody>
      </p:sp>
      <p:pic>
        <p:nvPicPr>
          <p:cNvPr id="99" name="Picture 98" descr="lock.png"/>
          <p:cNvPicPr>
            <a:picLocks noChangeAspect="1"/>
          </p:cNvPicPr>
          <p:nvPr/>
        </p:nvPicPr>
        <p:blipFill>
          <a:blip r:embed="rId4"/>
          <a:stretch>
            <a:fillRect/>
          </a:stretch>
        </p:blipFill>
        <p:spPr>
          <a:xfrm>
            <a:off x="7488726" y="2392211"/>
            <a:ext cx="128699" cy="187198"/>
          </a:xfrm>
          <a:prstGeom prst="rect">
            <a:avLst/>
          </a:prstGeom>
        </p:spPr>
      </p:pic>
      <p:sp>
        <p:nvSpPr>
          <p:cNvPr id="100" name="TextBox 99"/>
          <p:cNvSpPr txBox="1"/>
          <p:nvPr/>
        </p:nvSpPr>
        <p:spPr>
          <a:xfrm>
            <a:off x="7656222" y="2401990"/>
            <a:ext cx="1821358" cy="186689"/>
          </a:xfrm>
          <a:prstGeom prst="rect">
            <a:avLst/>
          </a:prstGeom>
          <a:noFill/>
        </p:spPr>
        <p:txBody>
          <a:bodyPr wrap="none" lIns="0" rIns="0" tIns="0" bIns="0">
            <a:spAutoFit/>
          </a:bodyPr>
          <a:lstStyle/>
          <a:p>
            <a:r>
              <a:rPr sz="1100" b="0">
                <a:solidFill>
                  <a:srgbClr val="2E2E2E"/>
                </a:solidFill>
                <a:latin typeface="Calibri"/>
              </a:rPr>
              <a:t>of 2036 value across 6 regions.</a:t>
            </a:r>
          </a:p>
        </p:txBody>
      </p:sp>
      <p:sp>
        <p:nvSpPr>
          <p:cNvPr id="101" name="TextBox 100"/>
          <p:cNvSpPr txBox="1"/>
          <p:nvPr/>
        </p:nvSpPr>
        <p:spPr>
          <a:xfrm>
            <a:off x="5000625" y="3132138"/>
            <a:ext cx="2931591" cy="186689"/>
          </a:xfrm>
          <a:prstGeom prst="rect">
            <a:avLst/>
          </a:prstGeom>
          <a:noFill/>
        </p:spPr>
        <p:txBody>
          <a:bodyPr wrap="none" lIns="0" rIns="0" tIns="0" bIns="0">
            <a:spAutoFit/>
          </a:bodyPr>
          <a:lstStyle/>
          <a:p>
            <a:r>
              <a:rPr sz="1100" b="0">
                <a:solidFill>
                  <a:srgbClr val="2E2E2E"/>
                </a:solidFill>
                <a:latin typeface="Calibri"/>
              </a:rPr>
              <a:t>▪ Capacity added between 2026 and 2036 is worth</a:t>
            </a:r>
          </a:p>
        </p:txBody>
      </p:sp>
      <p:pic>
        <p:nvPicPr>
          <p:cNvPr id="102" name="Picture 101" descr="lock.png"/>
          <p:cNvPicPr>
            <a:picLocks noChangeAspect="1"/>
          </p:cNvPicPr>
          <p:nvPr/>
        </p:nvPicPr>
        <p:blipFill>
          <a:blip r:embed="rId4"/>
          <a:stretch>
            <a:fillRect/>
          </a:stretch>
        </p:blipFill>
        <p:spPr>
          <a:xfrm>
            <a:off x="7880268" y="3122359"/>
            <a:ext cx="128699" cy="187198"/>
          </a:xfrm>
          <a:prstGeom prst="rect">
            <a:avLst/>
          </a:prstGeom>
        </p:spPr>
      </p:pic>
      <p:sp>
        <p:nvSpPr>
          <p:cNvPr id="103" name="TextBox 102"/>
          <p:cNvSpPr txBox="1"/>
          <p:nvPr/>
        </p:nvSpPr>
        <p:spPr>
          <a:xfrm>
            <a:off x="8047764" y="3132138"/>
            <a:ext cx="659010" cy="186689"/>
          </a:xfrm>
          <a:prstGeom prst="rect">
            <a:avLst/>
          </a:prstGeom>
          <a:noFill/>
        </p:spPr>
        <p:txBody>
          <a:bodyPr wrap="none" lIns="0" rIns="0" tIns="0" bIns="0">
            <a:spAutoFit/>
          </a:bodyPr>
          <a:lstStyle/>
          <a:p>
            <a:r>
              <a:rPr sz="1100" b="0">
                <a:solidFill>
                  <a:srgbClr val="2E2E2E"/>
                </a:solidFill>
                <a:latin typeface="Calibri"/>
              </a:rPr>
              <a:t>US$ Mn, a</a:t>
            </a:r>
          </a:p>
        </p:txBody>
      </p:sp>
      <p:pic>
        <p:nvPicPr>
          <p:cNvPr id="104" name="Picture 103" descr="lock.png"/>
          <p:cNvPicPr>
            <a:picLocks noChangeAspect="1"/>
          </p:cNvPicPr>
          <p:nvPr/>
        </p:nvPicPr>
        <p:blipFill>
          <a:blip r:embed="rId4"/>
          <a:stretch>
            <a:fillRect/>
          </a:stretch>
        </p:blipFill>
        <p:spPr>
          <a:xfrm>
            <a:off x="8654826" y="3122359"/>
            <a:ext cx="128699" cy="187198"/>
          </a:xfrm>
          <a:prstGeom prst="rect">
            <a:avLst/>
          </a:prstGeom>
        </p:spPr>
      </p:pic>
      <p:sp>
        <p:nvSpPr>
          <p:cNvPr id="105" name="TextBox 104"/>
          <p:cNvSpPr txBox="1"/>
          <p:nvPr/>
        </p:nvSpPr>
        <p:spPr>
          <a:xfrm>
            <a:off x="8822322" y="3132138"/>
            <a:ext cx="1801986" cy="186689"/>
          </a:xfrm>
          <a:prstGeom prst="rect">
            <a:avLst/>
          </a:prstGeom>
          <a:noFill/>
        </p:spPr>
        <p:txBody>
          <a:bodyPr wrap="none" lIns="0" rIns="0" tIns="0" bIns="0">
            <a:spAutoFit/>
          </a:bodyPr>
          <a:lstStyle/>
          <a:p>
            <a:r>
              <a:rPr sz="1100" b="0">
                <a:solidFill>
                  <a:srgbClr val="2E2E2E"/>
                </a:solidFill>
                <a:latin typeface="Calibri"/>
              </a:rPr>
              <a:t>× expansion on the 2026 base.</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595333"/>
            <a:ext cx="1495425" cy="3413441"/>
          </a:xfrm>
          <a:custGeom>
            <a:avLst/>
            <a:gdLst/>
            <a:ahLst/>
            <a:cxnLst/>
            <a:rect l="l" t="t" r="r" b="b"/>
            <a:pathLst>
              <a:path w="157" h="374">
                <a:moveTo>
                  <a:pt x="0" y="18"/>
                </a:moveTo>
                <a:lnTo>
                  <a:pt x="69" y="0"/>
                </a:lnTo>
                <a:lnTo>
                  <a:pt x="147" y="25"/>
                </a:lnTo>
                <a:lnTo>
                  <a:pt x="97" y="120"/>
                </a:lnTo>
                <a:lnTo>
                  <a:pt x="157" y="178"/>
                </a:lnTo>
                <a:lnTo>
                  <a:pt x="99" y="221"/>
                </a:lnTo>
                <a:lnTo>
                  <a:pt x="96" y="342"/>
                </a:lnTo>
                <a:lnTo>
                  <a:pt x="0" y="374"/>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180975" y="261358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180975" y="3069929"/>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180975" y="3526271"/>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7534275" y="1322601"/>
            <a:ext cx="943988" cy="173278"/>
          </a:xfrm>
          <a:prstGeom prst="rect">
            <a:avLst/>
          </a:prstGeom>
          <a:noFill/>
        </p:spPr>
        <p:txBody>
          <a:bodyPr wrap="none" lIns="0" rIns="0" tIns="0" bIns="0">
            <a:spAutoFit/>
          </a:bodyPr>
          <a:lstStyle/>
          <a:p>
            <a:r>
              <a:rPr sz="1011" b="0">
                <a:solidFill>
                  <a:srgbClr val="2E2E2E"/>
                </a:solidFill>
                <a:latin typeface="Calibri"/>
              </a:rPr>
              <a:t>Demand Growth</a:t>
            </a:r>
          </a:p>
        </p:txBody>
      </p:sp>
      <p:pic>
        <p:nvPicPr>
          <p:cNvPr id="69" name="Picture 68" descr="lock.png"/>
          <p:cNvPicPr>
            <a:picLocks noChangeAspect="1"/>
          </p:cNvPicPr>
          <p:nvPr/>
        </p:nvPicPr>
        <p:blipFill>
          <a:blip r:embed="rId4"/>
          <a:stretch>
            <a:fillRect/>
          </a:stretch>
        </p:blipFill>
        <p:spPr>
          <a:xfrm>
            <a:off x="8424374" y="1313604"/>
            <a:ext cx="118403" cy="172222"/>
          </a:xfrm>
          <a:prstGeom prst="rect">
            <a:avLst/>
          </a:prstGeom>
        </p:spPr>
      </p:pic>
      <p:sp>
        <p:nvSpPr>
          <p:cNvPr id="70" name="TextBox 69"/>
          <p:cNvSpPr txBox="1"/>
          <p:nvPr/>
        </p:nvSpPr>
        <p:spPr>
          <a:xfrm>
            <a:off x="8549119" y="1561215"/>
            <a:ext cx="903573" cy="173278"/>
          </a:xfrm>
          <a:prstGeom prst="rect">
            <a:avLst/>
          </a:prstGeom>
          <a:noFill/>
        </p:spPr>
        <p:txBody>
          <a:bodyPr wrap="none" lIns="0" rIns="0" tIns="0" bIns="0">
            <a:spAutoFit/>
          </a:bodyPr>
          <a:lstStyle/>
          <a:p>
            <a:r>
              <a:rPr sz="1011" b="0">
                <a:solidFill>
                  <a:srgbClr val="2E2E2E"/>
                </a:solidFill>
                <a:latin typeface="Calibri"/>
              </a:rPr>
              <a:t>Premiumisation</a:t>
            </a:r>
          </a:p>
        </p:txBody>
      </p:sp>
      <p:pic>
        <p:nvPicPr>
          <p:cNvPr id="71" name="Picture 70" descr="lock.png"/>
          <p:cNvPicPr>
            <a:picLocks noChangeAspect="1"/>
          </p:cNvPicPr>
          <p:nvPr/>
        </p:nvPicPr>
        <p:blipFill>
          <a:blip r:embed="rId4"/>
          <a:stretch>
            <a:fillRect/>
          </a:stretch>
        </p:blipFill>
        <p:spPr>
          <a:xfrm>
            <a:off x="9398803" y="1552218"/>
            <a:ext cx="118403" cy="172222"/>
          </a:xfrm>
          <a:prstGeom prst="rect">
            <a:avLst/>
          </a:prstGeom>
        </p:spPr>
      </p:pic>
      <p:sp>
        <p:nvSpPr>
          <p:cNvPr id="72" name="TextBox 71"/>
          <p:cNvSpPr txBox="1"/>
          <p:nvPr/>
        </p:nvSpPr>
        <p:spPr>
          <a:xfrm>
            <a:off x="9424068" y="2311939"/>
            <a:ext cx="765761" cy="173278"/>
          </a:xfrm>
          <a:prstGeom prst="rect">
            <a:avLst/>
          </a:prstGeom>
          <a:noFill/>
        </p:spPr>
        <p:txBody>
          <a:bodyPr wrap="none" lIns="0" rIns="0" tIns="0" bIns="0">
            <a:spAutoFit/>
          </a:bodyPr>
          <a:lstStyle/>
          <a:p>
            <a:r>
              <a:rPr sz="1011" b="0">
                <a:solidFill>
                  <a:srgbClr val="2E2E2E"/>
                </a:solidFill>
                <a:latin typeface="Calibri"/>
              </a:rPr>
              <a:t>App. Breadth</a:t>
            </a:r>
          </a:p>
        </p:txBody>
      </p:sp>
      <p:pic>
        <p:nvPicPr>
          <p:cNvPr id="73" name="Picture 72" descr="lock.png"/>
          <p:cNvPicPr>
            <a:picLocks noChangeAspect="1"/>
          </p:cNvPicPr>
          <p:nvPr/>
        </p:nvPicPr>
        <p:blipFill>
          <a:blip r:embed="rId4"/>
          <a:stretch>
            <a:fillRect/>
          </a:stretch>
        </p:blipFill>
        <p:spPr>
          <a:xfrm>
            <a:off x="10135940" y="2302942"/>
            <a:ext cx="118403" cy="172222"/>
          </a:xfrm>
          <a:prstGeom prst="rect">
            <a:avLst/>
          </a:prstGeom>
        </p:spPr>
      </p:pic>
      <p:sp>
        <p:nvSpPr>
          <p:cNvPr id="74" name="TextBox 73"/>
          <p:cNvSpPr txBox="1"/>
          <p:nvPr/>
        </p:nvSpPr>
        <p:spPr>
          <a:xfrm>
            <a:off x="9909628" y="3278069"/>
            <a:ext cx="791114" cy="173278"/>
          </a:xfrm>
          <a:prstGeom prst="rect">
            <a:avLst/>
          </a:prstGeom>
          <a:noFill/>
        </p:spPr>
        <p:txBody>
          <a:bodyPr wrap="none" lIns="0" rIns="0" tIns="0" bIns="0">
            <a:spAutoFit/>
          </a:bodyPr>
          <a:lstStyle/>
          <a:p>
            <a:r>
              <a:rPr sz="1011" b="0">
                <a:solidFill>
                  <a:srgbClr val="2E2E2E"/>
                </a:solidFill>
                <a:latin typeface="Calibri"/>
              </a:rPr>
              <a:t>Emerging Pull</a:t>
            </a:r>
          </a:p>
        </p:txBody>
      </p:sp>
      <p:pic>
        <p:nvPicPr>
          <p:cNvPr id="75" name="Picture 74" descr="lock.png"/>
          <p:cNvPicPr>
            <a:picLocks noChangeAspect="1"/>
          </p:cNvPicPr>
          <p:nvPr/>
        </p:nvPicPr>
        <p:blipFill>
          <a:blip r:embed="rId4"/>
          <a:stretch>
            <a:fillRect/>
          </a:stretch>
        </p:blipFill>
        <p:spPr>
          <a:xfrm>
            <a:off x="10646855" y="3269072"/>
            <a:ext cx="118403" cy="172222"/>
          </a:xfrm>
          <a:prstGeom prst="rect">
            <a:avLst/>
          </a:prstGeom>
        </p:spPr>
      </p:pic>
      <p:sp>
        <p:nvSpPr>
          <p:cNvPr id="76" name="TextBox 75"/>
          <p:cNvSpPr txBox="1"/>
          <p:nvPr/>
        </p:nvSpPr>
        <p:spPr>
          <a:xfrm>
            <a:off x="9909628" y="4350392"/>
            <a:ext cx="1135267" cy="173278"/>
          </a:xfrm>
          <a:prstGeom prst="rect">
            <a:avLst/>
          </a:prstGeom>
          <a:noFill/>
        </p:spPr>
        <p:txBody>
          <a:bodyPr wrap="none" lIns="0" rIns="0" tIns="0" bIns="0">
            <a:spAutoFit/>
          </a:bodyPr>
          <a:lstStyle/>
          <a:p>
            <a:r>
              <a:rPr sz="1011" b="0">
                <a:solidFill>
                  <a:srgbClr val="2E2E2E"/>
                </a:solidFill>
                <a:latin typeface="Calibri"/>
              </a:rPr>
              <a:t>Volume Momentum</a:t>
            </a:r>
          </a:p>
        </p:txBody>
      </p:sp>
      <p:pic>
        <p:nvPicPr>
          <p:cNvPr id="77" name="Picture 76" descr="lock.png"/>
          <p:cNvPicPr>
            <a:picLocks noChangeAspect="1"/>
          </p:cNvPicPr>
          <p:nvPr/>
        </p:nvPicPr>
        <p:blipFill>
          <a:blip r:embed="rId4"/>
          <a:stretch>
            <a:fillRect/>
          </a:stretch>
        </p:blipFill>
        <p:spPr>
          <a:xfrm>
            <a:off x="10991008" y="4341395"/>
            <a:ext cx="118403" cy="172222"/>
          </a:xfrm>
          <a:prstGeom prst="rect">
            <a:avLst/>
          </a:prstGeom>
        </p:spPr>
      </p:pic>
      <p:sp>
        <p:nvSpPr>
          <p:cNvPr id="78" name="TextBox 77"/>
          <p:cNvSpPr txBox="1"/>
          <p:nvPr/>
        </p:nvSpPr>
        <p:spPr>
          <a:xfrm>
            <a:off x="9424068" y="5316521"/>
            <a:ext cx="1032097" cy="173278"/>
          </a:xfrm>
          <a:prstGeom prst="rect">
            <a:avLst/>
          </a:prstGeom>
          <a:noFill/>
        </p:spPr>
        <p:txBody>
          <a:bodyPr wrap="none" lIns="0" rIns="0" tIns="0" bIns="0">
            <a:spAutoFit/>
          </a:bodyPr>
          <a:lstStyle/>
          <a:p>
            <a:r>
              <a:rPr sz="1011" b="0">
                <a:solidFill>
                  <a:srgbClr val="2E2E2E"/>
                </a:solidFill>
                <a:latin typeface="Calibri"/>
              </a:rPr>
              <a:t>Category Maturity</a:t>
            </a:r>
          </a:p>
        </p:txBody>
      </p:sp>
      <p:pic>
        <p:nvPicPr>
          <p:cNvPr id="79" name="Picture 78" descr="lock.png"/>
          <p:cNvPicPr>
            <a:picLocks noChangeAspect="1"/>
          </p:cNvPicPr>
          <p:nvPr/>
        </p:nvPicPr>
        <p:blipFill>
          <a:blip r:embed="rId4"/>
          <a:stretch>
            <a:fillRect/>
          </a:stretch>
        </p:blipFill>
        <p:spPr>
          <a:xfrm>
            <a:off x="10402276" y="5307524"/>
            <a:ext cx="118403" cy="172222"/>
          </a:xfrm>
          <a:prstGeom prst="rect">
            <a:avLst/>
          </a:prstGeom>
        </p:spPr>
      </p:pic>
      <p:sp>
        <p:nvSpPr>
          <p:cNvPr id="80" name="TextBox 79"/>
          <p:cNvSpPr txBox="1"/>
          <p:nvPr/>
        </p:nvSpPr>
        <p:spPr>
          <a:xfrm>
            <a:off x="8549119" y="6067245"/>
            <a:ext cx="911857" cy="173278"/>
          </a:xfrm>
          <a:prstGeom prst="rect">
            <a:avLst/>
          </a:prstGeom>
          <a:noFill/>
        </p:spPr>
        <p:txBody>
          <a:bodyPr wrap="none" lIns="0" rIns="0" tIns="0" bIns="0">
            <a:spAutoFit/>
          </a:bodyPr>
          <a:lstStyle/>
          <a:p>
            <a:r>
              <a:rPr sz="1011" b="0">
                <a:solidFill>
                  <a:srgbClr val="2E2E2E"/>
                </a:solidFill>
                <a:latin typeface="Calibri"/>
              </a:rPr>
              <a:t>Adoption Depth</a:t>
            </a:r>
          </a:p>
        </p:txBody>
      </p:sp>
      <p:pic>
        <p:nvPicPr>
          <p:cNvPr id="81" name="Picture 80" descr="lock.png"/>
          <p:cNvPicPr>
            <a:picLocks noChangeAspect="1"/>
          </p:cNvPicPr>
          <p:nvPr/>
        </p:nvPicPr>
        <p:blipFill>
          <a:blip r:embed="rId4"/>
          <a:stretch>
            <a:fillRect/>
          </a:stretch>
        </p:blipFill>
        <p:spPr>
          <a:xfrm>
            <a:off x="9407087" y="6058248"/>
            <a:ext cx="118403" cy="172222"/>
          </a:xfrm>
          <a:prstGeom prst="rect">
            <a:avLst/>
          </a:prstGeom>
        </p:spPr>
      </p:pic>
      <p:sp>
        <p:nvSpPr>
          <p:cNvPr id="82" name="TextBox 81"/>
          <p:cNvSpPr txBox="1"/>
          <p:nvPr/>
        </p:nvSpPr>
        <p:spPr>
          <a:xfrm>
            <a:off x="7534275" y="6305860"/>
            <a:ext cx="955786" cy="173278"/>
          </a:xfrm>
          <a:prstGeom prst="rect">
            <a:avLst/>
          </a:prstGeom>
          <a:noFill/>
        </p:spPr>
        <p:txBody>
          <a:bodyPr wrap="none" lIns="0" rIns="0" tIns="0" bIns="0">
            <a:spAutoFit/>
          </a:bodyPr>
          <a:lstStyle/>
          <a:p>
            <a:r>
              <a:rPr sz="1011" b="0">
                <a:solidFill>
                  <a:srgbClr val="2E2E2E"/>
                </a:solidFill>
                <a:latin typeface="Calibri"/>
              </a:rPr>
              <a:t>Consumer Reach</a:t>
            </a:r>
          </a:p>
        </p:txBody>
      </p:sp>
      <p:pic>
        <p:nvPicPr>
          <p:cNvPr id="83" name="Picture 82" descr="lock.png"/>
          <p:cNvPicPr>
            <a:picLocks noChangeAspect="1"/>
          </p:cNvPicPr>
          <p:nvPr/>
        </p:nvPicPr>
        <p:blipFill>
          <a:blip r:embed="rId4"/>
          <a:stretch>
            <a:fillRect/>
          </a:stretch>
        </p:blipFill>
        <p:spPr>
          <a:xfrm>
            <a:off x="8436172" y="6296863"/>
            <a:ext cx="118403" cy="172222"/>
          </a:xfrm>
          <a:prstGeom prst="rect">
            <a:avLst/>
          </a:prstGeom>
        </p:spPr>
      </p:pic>
      <p:sp>
        <p:nvSpPr>
          <p:cNvPr id="84" name="TextBox 83"/>
          <p:cNvSpPr txBox="1"/>
          <p:nvPr/>
        </p:nvSpPr>
        <p:spPr>
          <a:xfrm>
            <a:off x="209550" y="1496754"/>
            <a:ext cx="3188617" cy="186689"/>
          </a:xfrm>
          <a:prstGeom prst="rect">
            <a:avLst/>
          </a:prstGeom>
          <a:noFill/>
        </p:spPr>
        <p:txBody>
          <a:bodyPr wrap="none" lIns="0" rIns="0" tIns="0" bIns="0">
            <a:spAutoFit/>
          </a:bodyPr>
          <a:lstStyle/>
          <a:p>
            <a:r>
              <a:rPr sz="1100" b="0">
                <a:solidFill>
                  <a:srgbClr val="2E2E2E"/>
                </a:solidFill>
                <a:latin typeface="Calibri"/>
              </a:rPr>
              <a:t>▪ Demand-side conditions are led by Consumer Reach (</a:t>
            </a:r>
          </a:p>
        </p:txBody>
      </p:sp>
      <p:pic>
        <p:nvPicPr>
          <p:cNvPr id="85" name="Picture 84" descr="lock.png"/>
          <p:cNvPicPr>
            <a:picLocks noChangeAspect="1"/>
          </p:cNvPicPr>
          <p:nvPr/>
        </p:nvPicPr>
        <p:blipFill>
          <a:blip r:embed="rId4"/>
          <a:stretch>
            <a:fillRect/>
          </a:stretch>
        </p:blipFill>
        <p:spPr>
          <a:xfrm>
            <a:off x="3346219" y="1486975"/>
            <a:ext cx="128699" cy="187198"/>
          </a:xfrm>
          <a:prstGeom prst="rect">
            <a:avLst/>
          </a:prstGeom>
        </p:spPr>
      </p:pic>
      <p:sp>
        <p:nvSpPr>
          <p:cNvPr id="86" name="TextBox 85"/>
          <p:cNvSpPr txBox="1"/>
          <p:nvPr/>
        </p:nvSpPr>
        <p:spPr>
          <a:xfrm>
            <a:off x="3513715" y="1496754"/>
            <a:ext cx="1363240" cy="186689"/>
          </a:xfrm>
          <a:prstGeom prst="rect">
            <a:avLst/>
          </a:prstGeom>
          <a:noFill/>
        </p:spPr>
        <p:txBody>
          <a:bodyPr wrap="none" lIns="0" rIns="0" tIns="0" bIns="0">
            <a:spAutoFit/>
          </a:bodyPr>
          <a:lstStyle/>
          <a:p>
            <a:r>
              <a:rPr sz="1100" b="0">
                <a:solidFill>
                  <a:srgbClr val="2E2E2E"/>
                </a:solidFill>
                <a:latin typeface="Calibri"/>
              </a:rPr>
              <a:t>/10), Adoption Depth (</a:t>
            </a:r>
          </a:p>
        </p:txBody>
      </p:sp>
      <p:pic>
        <p:nvPicPr>
          <p:cNvPr id="87" name="Picture 86" descr="lock.png"/>
          <p:cNvPicPr>
            <a:picLocks noChangeAspect="1"/>
          </p:cNvPicPr>
          <p:nvPr/>
        </p:nvPicPr>
        <p:blipFill>
          <a:blip r:embed="rId4"/>
          <a:stretch>
            <a:fillRect/>
          </a:stretch>
        </p:blipFill>
        <p:spPr>
          <a:xfrm>
            <a:off x="4825007" y="1486975"/>
            <a:ext cx="128699" cy="187198"/>
          </a:xfrm>
          <a:prstGeom prst="rect">
            <a:avLst/>
          </a:prstGeom>
        </p:spPr>
      </p:pic>
      <p:sp>
        <p:nvSpPr>
          <p:cNvPr id="88" name="TextBox 87"/>
          <p:cNvSpPr txBox="1"/>
          <p:nvPr/>
        </p:nvSpPr>
        <p:spPr>
          <a:xfrm>
            <a:off x="4992503" y="1496754"/>
            <a:ext cx="1204441" cy="186689"/>
          </a:xfrm>
          <a:prstGeom prst="rect">
            <a:avLst/>
          </a:prstGeom>
          <a:noFill/>
        </p:spPr>
        <p:txBody>
          <a:bodyPr wrap="none" lIns="0" rIns="0" tIns="0" bIns="0">
            <a:spAutoFit/>
          </a:bodyPr>
          <a:lstStyle/>
          <a:p>
            <a:r>
              <a:rPr sz="1100" b="0">
                <a:solidFill>
                  <a:srgbClr val="2E2E2E"/>
                </a:solidFill>
                <a:latin typeface="Calibri"/>
              </a:rPr>
              <a:t>/10), App. Breadth (</a:t>
            </a:r>
          </a:p>
        </p:txBody>
      </p:sp>
      <p:pic>
        <p:nvPicPr>
          <p:cNvPr id="89" name="Picture 88" descr="lock.png"/>
          <p:cNvPicPr>
            <a:picLocks noChangeAspect="1"/>
          </p:cNvPicPr>
          <p:nvPr/>
        </p:nvPicPr>
        <p:blipFill>
          <a:blip r:embed="rId4"/>
          <a:stretch>
            <a:fillRect/>
          </a:stretch>
        </p:blipFill>
        <p:spPr>
          <a:xfrm>
            <a:off x="6144996" y="1486975"/>
            <a:ext cx="128699" cy="187198"/>
          </a:xfrm>
          <a:prstGeom prst="rect">
            <a:avLst/>
          </a:prstGeom>
        </p:spPr>
      </p:pic>
      <p:sp>
        <p:nvSpPr>
          <p:cNvPr id="90" name="TextBox 89"/>
          <p:cNvSpPr txBox="1"/>
          <p:nvPr/>
        </p:nvSpPr>
        <p:spPr>
          <a:xfrm>
            <a:off x="6312492" y="1496754"/>
            <a:ext cx="591616" cy="186689"/>
          </a:xfrm>
          <a:prstGeom prst="rect">
            <a:avLst/>
          </a:prstGeom>
          <a:noFill/>
        </p:spPr>
        <p:txBody>
          <a:bodyPr wrap="none" lIns="0" rIns="0" tIns="0" bIns="0">
            <a:spAutoFit/>
          </a:bodyPr>
          <a:lstStyle/>
          <a:p>
            <a:r>
              <a:rPr sz="1100" b="0">
                <a:solidFill>
                  <a:srgbClr val="2E2E2E"/>
                </a:solidFill>
                <a:latin typeface="Calibri"/>
              </a:rPr>
              <a:t>/10) on a</a:t>
            </a:r>
          </a:p>
        </p:txBody>
      </p:sp>
      <p:sp>
        <p:nvSpPr>
          <p:cNvPr id="91" name="TextBox 90"/>
          <p:cNvSpPr txBox="1"/>
          <p:nvPr/>
        </p:nvSpPr>
        <p:spPr>
          <a:xfrm>
            <a:off x="209550" y="1664394"/>
            <a:ext cx="2764060" cy="186689"/>
          </a:xfrm>
          <a:prstGeom prst="rect">
            <a:avLst/>
          </a:prstGeom>
          <a:noFill/>
        </p:spPr>
        <p:txBody>
          <a:bodyPr wrap="none" lIns="0" rIns="0" tIns="0" bIns="0">
            <a:spAutoFit/>
          </a:bodyPr>
          <a:lstStyle/>
          <a:p>
            <a:r>
              <a:rPr sz="1100" b="0">
                <a:solidFill>
                  <a:srgbClr val="2E2E2E"/>
                </a:solidFill>
                <a:latin typeface="Calibri"/>
              </a:rPr>
              <a:t>0-10 scale scored from the global dataset itself.</a:t>
            </a:r>
          </a:p>
        </p:txBody>
      </p:sp>
      <p:sp>
        <p:nvSpPr>
          <p:cNvPr id="92" name="TextBox 91"/>
          <p:cNvSpPr txBox="1"/>
          <p:nvPr/>
        </p:nvSpPr>
        <p:spPr>
          <a:xfrm>
            <a:off x="209550" y="1945648"/>
            <a:ext cx="998438" cy="186689"/>
          </a:xfrm>
          <a:prstGeom prst="rect">
            <a:avLst/>
          </a:prstGeom>
          <a:noFill/>
        </p:spPr>
        <p:txBody>
          <a:bodyPr wrap="none" lIns="0" rIns="0" tIns="0" bIns="0">
            <a:spAutoFit/>
          </a:bodyPr>
          <a:lstStyle/>
          <a:p>
            <a:r>
              <a:rPr sz="1100" b="0">
                <a:solidFill>
                  <a:srgbClr val="2E2E2E"/>
                </a:solidFill>
                <a:latin typeface="Calibri"/>
              </a:rPr>
              <a:t>▪ Value grows at</a:t>
            </a:r>
          </a:p>
        </p:txBody>
      </p:sp>
      <p:pic>
        <p:nvPicPr>
          <p:cNvPr id="93" name="Picture 92" descr="lock.png"/>
          <p:cNvPicPr>
            <a:picLocks noChangeAspect="1"/>
          </p:cNvPicPr>
          <p:nvPr/>
        </p:nvPicPr>
        <p:blipFill>
          <a:blip r:embed="rId4"/>
          <a:stretch>
            <a:fillRect/>
          </a:stretch>
        </p:blipFill>
        <p:spPr>
          <a:xfrm>
            <a:off x="1156039" y="1935869"/>
            <a:ext cx="128699" cy="187198"/>
          </a:xfrm>
          <a:prstGeom prst="rect">
            <a:avLst/>
          </a:prstGeom>
        </p:spPr>
      </p:pic>
      <p:sp>
        <p:nvSpPr>
          <p:cNvPr id="94" name="TextBox 93"/>
          <p:cNvSpPr txBox="1"/>
          <p:nvPr/>
        </p:nvSpPr>
        <p:spPr>
          <a:xfrm>
            <a:off x="1323535" y="1945648"/>
            <a:ext cx="1083295" cy="186689"/>
          </a:xfrm>
          <a:prstGeom prst="rect">
            <a:avLst/>
          </a:prstGeom>
          <a:noFill/>
        </p:spPr>
        <p:txBody>
          <a:bodyPr wrap="none" lIns="0" rIns="0" tIns="0" bIns="0">
            <a:spAutoFit/>
          </a:bodyPr>
          <a:lstStyle/>
          <a:p>
            <a:r>
              <a:rPr sz="1100" b="0">
                <a:solidFill>
                  <a:srgbClr val="2E2E2E"/>
                </a:solidFill>
                <a:latin typeface="Calibri"/>
              </a:rPr>
              <a:t>against volume at</a:t>
            </a:r>
          </a:p>
        </p:txBody>
      </p:sp>
      <p:pic>
        <p:nvPicPr>
          <p:cNvPr id="95" name="Picture 94" descr="lock.png"/>
          <p:cNvPicPr>
            <a:picLocks noChangeAspect="1"/>
          </p:cNvPicPr>
          <p:nvPr/>
        </p:nvPicPr>
        <p:blipFill>
          <a:blip r:embed="rId4"/>
          <a:stretch>
            <a:fillRect/>
          </a:stretch>
        </p:blipFill>
        <p:spPr>
          <a:xfrm>
            <a:off x="2354882" y="1935869"/>
            <a:ext cx="128699" cy="187198"/>
          </a:xfrm>
          <a:prstGeom prst="rect">
            <a:avLst/>
          </a:prstGeom>
        </p:spPr>
      </p:pic>
      <p:sp>
        <p:nvSpPr>
          <p:cNvPr id="96" name="TextBox 95"/>
          <p:cNvSpPr txBox="1"/>
          <p:nvPr/>
        </p:nvSpPr>
        <p:spPr>
          <a:xfrm>
            <a:off x="2522378" y="1945648"/>
            <a:ext cx="2230090" cy="186689"/>
          </a:xfrm>
          <a:prstGeom prst="rect">
            <a:avLst/>
          </a:prstGeom>
          <a:noFill/>
        </p:spPr>
        <p:txBody>
          <a:bodyPr wrap="none" lIns="0" rIns="0" tIns="0" bIns="0">
            <a:spAutoFit/>
          </a:bodyPr>
          <a:lstStyle/>
          <a:p>
            <a:r>
              <a:rPr sz="1100" b="0">
                <a:solidFill>
                  <a:srgbClr val="2E2E2E"/>
                </a:solidFill>
                <a:latin typeface="Calibri"/>
              </a:rPr>
              <a:t>a premiumising market through 2036.</a:t>
            </a:r>
          </a:p>
        </p:txBody>
      </p:sp>
      <p:sp>
        <p:nvSpPr>
          <p:cNvPr id="97" name="TextBox 96"/>
          <p:cNvSpPr txBox="1"/>
          <p:nvPr/>
        </p:nvSpPr>
        <p:spPr>
          <a:xfrm>
            <a:off x="209550" y="2226902"/>
            <a:ext cx="2096665" cy="186689"/>
          </a:xfrm>
          <a:prstGeom prst="rect">
            <a:avLst/>
          </a:prstGeom>
          <a:noFill/>
        </p:spPr>
        <p:txBody>
          <a:bodyPr wrap="none" lIns="0" rIns="0" tIns="0" bIns="0">
            <a:spAutoFit/>
          </a:bodyPr>
          <a:lstStyle/>
          <a:p>
            <a:r>
              <a:rPr sz="1100" b="0">
                <a:solidFill>
                  <a:srgbClr val="2E2E2E"/>
                </a:solidFill>
                <a:latin typeface="Calibri"/>
              </a:rPr>
              <a:t>▪ 'Flat Dividers &amp; Layer Pads' carries</a:t>
            </a:r>
          </a:p>
        </p:txBody>
      </p:sp>
      <p:pic>
        <p:nvPicPr>
          <p:cNvPr id="98" name="Picture 97" descr="lock.png"/>
          <p:cNvPicPr>
            <a:picLocks noChangeAspect="1"/>
          </p:cNvPicPr>
          <p:nvPr/>
        </p:nvPicPr>
        <p:blipFill>
          <a:blip r:embed="rId4"/>
          <a:stretch>
            <a:fillRect/>
          </a:stretch>
        </p:blipFill>
        <p:spPr>
          <a:xfrm>
            <a:off x="2254267" y="2217123"/>
            <a:ext cx="128699" cy="187198"/>
          </a:xfrm>
          <a:prstGeom prst="rect">
            <a:avLst/>
          </a:prstGeom>
        </p:spPr>
      </p:pic>
      <p:sp>
        <p:nvSpPr>
          <p:cNvPr id="99" name="TextBox 98"/>
          <p:cNvSpPr txBox="1"/>
          <p:nvPr/>
        </p:nvSpPr>
        <p:spPr>
          <a:xfrm>
            <a:off x="2421763" y="2226902"/>
            <a:ext cx="4658469" cy="186689"/>
          </a:xfrm>
          <a:prstGeom prst="rect">
            <a:avLst/>
          </a:prstGeom>
          <a:noFill/>
        </p:spPr>
        <p:txBody>
          <a:bodyPr wrap="none" lIns="0" rIns="0" tIns="0" bIns="0">
            <a:spAutoFit/>
          </a:bodyPr>
          <a:lstStyle/>
          <a:p>
            <a:r>
              <a:rPr sz="1100" b="0">
                <a:solidFill>
                  <a:srgbClr val="2E2E2E"/>
                </a:solidFill>
                <a:latin typeface="Calibri"/>
              </a:rPr>
              <a:t>of partition type demand while 'Flat Dividers &amp; Layer Pads' compounds fastest at</a:t>
            </a:r>
          </a:p>
        </p:txBody>
      </p:sp>
      <p:pic>
        <p:nvPicPr>
          <p:cNvPr id="100" name="Picture 99" descr="lock.png"/>
          <p:cNvPicPr>
            <a:picLocks noChangeAspect="1"/>
          </p:cNvPicPr>
          <p:nvPr/>
        </p:nvPicPr>
        <p:blipFill>
          <a:blip r:embed="rId4"/>
          <a:stretch>
            <a:fillRect/>
          </a:stretch>
        </p:blipFill>
        <p:spPr>
          <a:xfrm>
            <a:off x="196082" y="2384763"/>
            <a:ext cx="128699" cy="187198"/>
          </a:xfrm>
          <a:prstGeom prst="rect">
            <a:avLst/>
          </a:prstGeom>
        </p:spPr>
      </p:pic>
      <p:sp>
        <p:nvSpPr>
          <p:cNvPr id="101" name="TextBox 100"/>
          <p:cNvSpPr txBox="1"/>
          <p:nvPr/>
        </p:nvSpPr>
        <p:spPr>
          <a:xfrm>
            <a:off x="363578" y="239454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2" name="TextBox 101"/>
          <p:cNvSpPr txBox="1"/>
          <p:nvPr/>
        </p:nvSpPr>
        <p:spPr>
          <a:xfrm>
            <a:off x="209550" y="2767064"/>
            <a:ext cx="2476748" cy="186689"/>
          </a:xfrm>
          <a:prstGeom prst="rect">
            <a:avLst/>
          </a:prstGeom>
          <a:noFill/>
        </p:spPr>
        <p:txBody>
          <a:bodyPr wrap="none" lIns="0" rIns="0" tIns="0" bIns="0">
            <a:spAutoFit/>
          </a:bodyPr>
          <a:lstStyle/>
          <a:p>
            <a:r>
              <a:rPr sz="1100" b="0">
                <a:solidFill>
                  <a:srgbClr val="2E2E2E"/>
                </a:solidFill>
                <a:latin typeface="Calibri"/>
              </a:rPr>
              <a:t>▪ Pull is strongest in 'South Asia &amp; Pacific' (</a:t>
            </a:r>
          </a:p>
        </p:txBody>
      </p:sp>
      <p:pic>
        <p:nvPicPr>
          <p:cNvPr id="103" name="Picture 102" descr="lock.png"/>
          <p:cNvPicPr>
            <a:picLocks noChangeAspect="1"/>
          </p:cNvPicPr>
          <p:nvPr/>
        </p:nvPicPr>
        <p:blipFill>
          <a:blip r:embed="rId4"/>
          <a:stretch>
            <a:fillRect/>
          </a:stretch>
        </p:blipFill>
        <p:spPr>
          <a:xfrm>
            <a:off x="2634349" y="2757285"/>
            <a:ext cx="128699" cy="187198"/>
          </a:xfrm>
          <a:prstGeom prst="rect">
            <a:avLst/>
          </a:prstGeom>
        </p:spPr>
      </p:pic>
      <p:sp>
        <p:nvSpPr>
          <p:cNvPr id="104" name="TextBox 103"/>
          <p:cNvSpPr txBox="1"/>
          <p:nvPr/>
        </p:nvSpPr>
        <p:spPr>
          <a:xfrm>
            <a:off x="2801845" y="2767064"/>
            <a:ext cx="531572"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105" name="Picture 104" descr="lock.png"/>
          <p:cNvPicPr>
            <a:picLocks noChangeAspect="1"/>
          </p:cNvPicPr>
          <p:nvPr/>
        </p:nvPicPr>
        <p:blipFill>
          <a:blip r:embed="rId4"/>
          <a:stretch>
            <a:fillRect/>
          </a:stretch>
        </p:blipFill>
        <p:spPr>
          <a:xfrm>
            <a:off x="3281469" y="2757285"/>
            <a:ext cx="128699" cy="187198"/>
          </a:xfrm>
          <a:prstGeom prst="rect">
            <a:avLst/>
          </a:prstGeom>
        </p:spPr>
      </p:pic>
      <p:sp>
        <p:nvSpPr>
          <p:cNvPr id="106" name="TextBox 105"/>
          <p:cNvSpPr txBox="1"/>
          <p:nvPr/>
        </p:nvSpPr>
        <p:spPr>
          <a:xfrm>
            <a:off x="3448965" y="2767064"/>
            <a:ext cx="3522588" cy="186689"/>
          </a:xfrm>
          <a:prstGeom prst="rect">
            <a:avLst/>
          </a:prstGeom>
          <a:noFill/>
        </p:spPr>
        <p:txBody>
          <a:bodyPr wrap="none" lIns="0" rIns="0" tIns="0" bIns="0">
            <a:spAutoFit/>
          </a:bodyPr>
          <a:lstStyle/>
          <a:p>
            <a:r>
              <a:rPr sz="1100" b="0">
                <a:solidFill>
                  <a:srgbClr val="2E2E2E"/>
                </a:solidFill>
                <a:latin typeface="Calibri"/>
              </a:rPr>
              <a:t>BPS versus the market), with 3 of 6 regions at or above pace.</a:t>
            </a:r>
          </a:p>
        </p:txBody>
      </p:sp>
      <p:sp>
        <p:nvSpPr>
          <p:cNvPr id="107" name="TextBox 106"/>
          <p:cNvSpPr txBox="1"/>
          <p:nvPr/>
        </p:nvSpPr>
        <p:spPr>
          <a:xfrm>
            <a:off x="209550" y="3139587"/>
            <a:ext cx="4959151" cy="186689"/>
          </a:xfrm>
          <a:prstGeom prst="rect">
            <a:avLst/>
          </a:prstGeom>
          <a:noFill/>
        </p:spPr>
        <p:txBody>
          <a:bodyPr wrap="none" lIns="0" rIns="0" tIns="0" bIns="0">
            <a:spAutoFit/>
          </a:bodyPr>
          <a:lstStyle/>
          <a:p>
            <a:r>
              <a:rPr sz="1100" b="0">
                <a:solidFill>
                  <a:srgbClr val="2E2E2E"/>
                </a:solidFill>
                <a:latin typeface="Calibri"/>
              </a:rPr>
              <a:t>▪ Reach runs through 7 end use routes, led by 'Glassware, Ceramics &amp; Home Goods' at</a:t>
            </a:r>
          </a:p>
        </p:txBody>
      </p:sp>
      <p:pic>
        <p:nvPicPr>
          <p:cNvPr id="108" name="Picture 107" descr="lock.png"/>
          <p:cNvPicPr>
            <a:picLocks noChangeAspect="1"/>
          </p:cNvPicPr>
          <p:nvPr/>
        </p:nvPicPr>
        <p:blipFill>
          <a:blip r:embed="rId4"/>
          <a:stretch>
            <a:fillRect/>
          </a:stretch>
        </p:blipFill>
        <p:spPr>
          <a:xfrm>
            <a:off x="5116753" y="3129808"/>
            <a:ext cx="128699" cy="187198"/>
          </a:xfrm>
          <a:prstGeom prst="rect">
            <a:avLst/>
          </a:prstGeom>
        </p:spPr>
      </p:pic>
      <p:sp>
        <p:nvSpPr>
          <p:cNvPr id="109" name="TextBox 108"/>
          <p:cNvSpPr txBox="1"/>
          <p:nvPr/>
        </p:nvSpPr>
        <p:spPr>
          <a:xfrm>
            <a:off x="5284248" y="3139587"/>
            <a:ext cx="1381249" cy="186689"/>
          </a:xfrm>
          <a:prstGeom prst="rect">
            <a:avLst/>
          </a:prstGeom>
          <a:noFill/>
        </p:spPr>
        <p:txBody>
          <a:bodyPr wrap="none" lIns="0" rIns="0" tIns="0" bIns="0">
            <a:spAutoFit/>
          </a:bodyPr>
          <a:lstStyle/>
          <a:p>
            <a:r>
              <a:rPr sz="1100" b="0">
                <a:solidFill>
                  <a:srgbClr val="2E2E2E"/>
                </a:solidFill>
                <a:latin typeface="Calibri"/>
              </a:rPr>
              <a:t>and with 'Electronics &amp;</a:t>
            </a:r>
          </a:p>
        </p:txBody>
      </p:sp>
      <p:sp>
        <p:nvSpPr>
          <p:cNvPr id="110" name="TextBox 109"/>
          <p:cNvSpPr txBox="1"/>
          <p:nvPr/>
        </p:nvSpPr>
        <p:spPr>
          <a:xfrm>
            <a:off x="209550" y="3307227"/>
            <a:ext cx="1672654" cy="186689"/>
          </a:xfrm>
          <a:prstGeom prst="rect">
            <a:avLst/>
          </a:prstGeom>
          <a:noFill/>
        </p:spPr>
        <p:txBody>
          <a:bodyPr wrap="none" lIns="0" rIns="0" tIns="0" bIns="0">
            <a:spAutoFit/>
          </a:bodyPr>
          <a:lstStyle/>
          <a:p>
            <a:r>
              <a:rPr sz="1100" b="0">
                <a:solidFill>
                  <a:srgbClr val="2E2E2E"/>
                </a:solidFill>
                <a:latin typeface="Calibri"/>
              </a:rPr>
              <a:t>Electrical' growing fastest at</a:t>
            </a:r>
          </a:p>
        </p:txBody>
      </p:sp>
      <p:pic>
        <p:nvPicPr>
          <p:cNvPr id="111" name="Picture 110" descr="lock.png"/>
          <p:cNvPicPr>
            <a:picLocks noChangeAspect="1"/>
          </p:cNvPicPr>
          <p:nvPr/>
        </p:nvPicPr>
        <p:blipFill>
          <a:blip r:embed="rId4"/>
          <a:stretch>
            <a:fillRect/>
          </a:stretch>
        </p:blipFill>
        <p:spPr>
          <a:xfrm>
            <a:off x="1830256" y="3297448"/>
            <a:ext cx="128699" cy="187198"/>
          </a:xfrm>
          <a:prstGeom prst="rect">
            <a:avLst/>
          </a:prstGeom>
        </p:spPr>
      </p:pic>
      <p:sp>
        <p:nvSpPr>
          <p:cNvPr id="112" name="TextBox 111"/>
          <p:cNvSpPr txBox="1"/>
          <p:nvPr/>
        </p:nvSpPr>
        <p:spPr>
          <a:xfrm>
            <a:off x="1997751" y="3307227"/>
            <a:ext cx="111397" cy="186689"/>
          </a:xfrm>
          <a:prstGeom prst="rect">
            <a:avLst/>
          </a:prstGeom>
          <a:noFill/>
        </p:spPr>
        <p:txBody>
          <a:bodyPr wrap="none" lIns="0" rIns="0" tIns="0" bIns="0">
            <a:spAutoFit/>
          </a:bodyPr>
          <a:lstStyle/>
          <a:p>
            <a:r>
              <a:rPr sz="1100" b="0">
                <a:solidFill>
                  <a:srgbClr val="2E2E2E"/>
                </a:solidFill>
                <a:latin typeface="Calibri"/>
              </a:rPr>
              <a:t>.</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Die-Cut &amp; Folded Partitions (H-dividers, tube/cell inserts)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Region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53513"/>
            <a:ext cx="4163759" cy="186689"/>
          </a:xfrm>
          <a:prstGeom prst="rect">
            <a:avLst/>
          </a:prstGeom>
          <a:noFill/>
        </p:spPr>
        <p:txBody>
          <a:bodyPr wrap="none" lIns="0" rIns="0" tIns="0" bIns="0">
            <a:spAutoFit/>
          </a:bodyPr>
          <a:lstStyle/>
          <a:p>
            <a:r>
              <a:rPr sz="1100" b="0">
                <a:solidFill>
                  <a:srgbClr val="2E2E2E"/>
                </a:solidFill>
                <a:latin typeface="Calibri"/>
              </a:rPr>
              <a:t>'Die-Cut &amp; Folded Partitions (H-dividers, tube/cell inserts)' grows at only</a:t>
            </a:r>
          </a:p>
        </p:txBody>
      </p:sp>
      <p:pic>
        <p:nvPicPr>
          <p:cNvPr id="65" name="Picture 64" descr="lock.png"/>
          <p:cNvPicPr>
            <a:picLocks noChangeAspect="1"/>
          </p:cNvPicPr>
          <p:nvPr/>
        </p:nvPicPr>
        <p:blipFill>
          <a:blip r:embed="rId4"/>
          <a:stretch>
            <a:fillRect/>
          </a:stretch>
        </p:blipFill>
        <p:spPr>
          <a:xfrm>
            <a:off x="4302311" y="1743734"/>
            <a:ext cx="128699" cy="187198"/>
          </a:xfrm>
          <a:prstGeom prst="rect">
            <a:avLst/>
          </a:prstGeom>
        </p:spPr>
      </p:pic>
      <p:sp>
        <p:nvSpPr>
          <p:cNvPr id="66" name="TextBox 65"/>
          <p:cNvSpPr txBox="1"/>
          <p:nvPr/>
        </p:nvSpPr>
        <p:spPr>
          <a:xfrm>
            <a:off x="4469806" y="1753513"/>
            <a:ext cx="4683251" cy="186689"/>
          </a:xfrm>
          <a:prstGeom prst="rect">
            <a:avLst/>
          </a:prstGeom>
          <a:noFill/>
        </p:spPr>
        <p:txBody>
          <a:bodyPr wrap="none" lIns="0" rIns="0" tIns="0" bIns="0">
            <a:spAutoFit/>
          </a:bodyPr>
          <a:lstStyle/>
          <a:p>
            <a:r>
              <a:rPr sz="1100" b="0">
                <a:solidFill>
                  <a:srgbClr val="2E2E2E"/>
                </a:solidFill>
                <a:latin typeface="Calibri"/>
              </a:rPr>
              <a:t>CAGR against the market's 5.0%, a -141 BPS gap, and 'Die-Cut &amp; Folded Partitions</a:t>
            </a:r>
          </a:p>
        </p:txBody>
      </p:sp>
      <p:sp>
        <p:nvSpPr>
          <p:cNvPr id="67" name="TextBox 66"/>
          <p:cNvSpPr txBox="1"/>
          <p:nvPr/>
        </p:nvSpPr>
        <p:spPr>
          <a:xfrm>
            <a:off x="190500" y="1921153"/>
            <a:ext cx="2404169" cy="186689"/>
          </a:xfrm>
          <a:prstGeom prst="rect">
            <a:avLst/>
          </a:prstGeom>
          <a:noFill/>
        </p:spPr>
        <p:txBody>
          <a:bodyPr wrap="none" lIns="0" rIns="0" tIns="0" bIns="0">
            <a:spAutoFit/>
          </a:bodyPr>
          <a:lstStyle/>
          <a:p>
            <a:r>
              <a:rPr sz="1100" b="0">
                <a:solidFill>
                  <a:srgbClr val="2E2E2E"/>
                </a:solidFill>
                <a:latin typeface="Calibri"/>
              </a:rPr>
              <a:t>(H-dividers, tube/cell inserts)' surrenders</a:t>
            </a:r>
          </a:p>
        </p:txBody>
      </p:sp>
      <p:pic>
        <p:nvPicPr>
          <p:cNvPr id="68" name="Picture 67" descr="lock.png"/>
          <p:cNvPicPr>
            <a:picLocks noChangeAspect="1"/>
          </p:cNvPicPr>
          <p:nvPr/>
        </p:nvPicPr>
        <p:blipFill>
          <a:blip r:embed="rId4"/>
          <a:stretch>
            <a:fillRect/>
          </a:stretch>
        </p:blipFill>
        <p:spPr>
          <a:xfrm>
            <a:off x="2542721" y="1911374"/>
            <a:ext cx="128699" cy="187198"/>
          </a:xfrm>
          <a:prstGeom prst="rect">
            <a:avLst/>
          </a:prstGeom>
        </p:spPr>
      </p:pic>
      <p:sp>
        <p:nvSpPr>
          <p:cNvPr id="69" name="TextBox 68"/>
          <p:cNvSpPr txBox="1"/>
          <p:nvPr/>
        </p:nvSpPr>
        <p:spPr>
          <a:xfrm>
            <a:off x="2710216" y="1921153"/>
            <a:ext cx="6515496" cy="186689"/>
          </a:xfrm>
          <a:prstGeom prst="rect">
            <a:avLst/>
          </a:prstGeom>
          <a:noFill/>
        </p:spPr>
        <p:txBody>
          <a:bodyPr wrap="none" lIns="0" rIns="0" tIns="0" bIns="0">
            <a:spAutoFit/>
          </a:bodyPr>
          <a:lstStyle/>
          <a:p>
            <a:r>
              <a:rPr sz="1100" b="0">
                <a:solidFill>
                  <a:srgbClr val="2E2E2E"/>
                </a:solidFill>
                <a:latin typeface="Calibri"/>
              </a:rPr>
              <a:t>BPS of partition type share between 2026 and 2036. Because these lines still carry meaningful volume, the drag is</a:t>
            </a:r>
          </a:p>
        </p:txBody>
      </p:sp>
      <p:sp>
        <p:nvSpPr>
          <p:cNvPr id="70" name="TextBox 69"/>
          <p:cNvSpPr txBox="1"/>
          <p:nvPr/>
        </p:nvSpPr>
        <p:spPr>
          <a:xfrm>
            <a:off x="190500" y="2088793"/>
            <a:ext cx="9215363" cy="186689"/>
          </a:xfrm>
          <a:prstGeom prst="rect">
            <a:avLst/>
          </a:prstGeom>
          <a:noFill/>
        </p:spPr>
        <p:txBody>
          <a:bodyPr wrap="none" lIns="0" rIns="0" tIns="0" bIns="0">
            <a:spAutoFit/>
          </a:bodyPr>
          <a:lstStyle/>
          <a:p>
            <a:r>
              <a:rPr sz="1100" b="0">
                <a:solidFill>
                  <a:srgbClr val="2E2E2E"/>
                </a:solidFill>
                <a:latin typeface="Calibri"/>
              </a:rPr>
              <a:t>absorbed by the whole category: blended growth sits below what the leading lines achieve on their own. Rationalising or repositioning the lagging end of a 3-line</a:t>
            </a:r>
          </a:p>
        </p:txBody>
      </p:sp>
      <p:sp>
        <p:nvSpPr>
          <p:cNvPr id="71" name="TextBox 70"/>
          <p:cNvSpPr txBox="1"/>
          <p:nvPr/>
        </p:nvSpPr>
        <p:spPr>
          <a:xfrm>
            <a:off x="190500" y="2256433"/>
            <a:ext cx="4103216" cy="186689"/>
          </a:xfrm>
          <a:prstGeom prst="rect">
            <a:avLst/>
          </a:prstGeom>
          <a:noFill/>
        </p:spPr>
        <p:txBody>
          <a:bodyPr wrap="none" lIns="0" rIns="0" tIns="0" bIns="0">
            <a:spAutoFit/>
          </a:bodyPr>
          <a:lstStyle/>
          <a:p>
            <a:r>
              <a:rPr sz="1100" b="0">
                <a:solidFill>
                  <a:srgbClr val="2E2E2E"/>
                </a:solidFill>
                <a:latin typeface="Calibri"/>
              </a:rPr>
              <a:t>portfolio is therefore a precondition for realising the headline forecast.</a:t>
            </a:r>
          </a:p>
        </p:txBody>
      </p:sp>
      <p:sp>
        <p:nvSpPr>
          <p:cNvPr id="72" name="TextBox 71"/>
          <p:cNvSpPr txBox="1"/>
          <p:nvPr/>
        </p:nvSpPr>
        <p:spPr>
          <a:xfrm>
            <a:off x="190500" y="3498419"/>
            <a:ext cx="1731590" cy="186689"/>
          </a:xfrm>
          <a:prstGeom prst="rect">
            <a:avLst/>
          </a:prstGeom>
          <a:noFill/>
        </p:spPr>
        <p:txBody>
          <a:bodyPr wrap="none" lIns="0" rIns="0" tIns="0" bIns="0">
            <a:spAutoFit/>
          </a:bodyPr>
          <a:lstStyle/>
          <a:p>
            <a:r>
              <a:rPr sz="1100" b="0">
                <a:solidFill>
                  <a:srgbClr val="2E2E2E"/>
                </a:solidFill>
                <a:latin typeface="Calibri"/>
              </a:rPr>
              <a:t>'North America' grows at just</a:t>
            </a:r>
          </a:p>
        </p:txBody>
      </p:sp>
      <p:pic>
        <p:nvPicPr>
          <p:cNvPr id="73" name="Picture 72" descr="lock.png"/>
          <p:cNvPicPr>
            <a:picLocks noChangeAspect="1"/>
          </p:cNvPicPr>
          <p:nvPr/>
        </p:nvPicPr>
        <p:blipFill>
          <a:blip r:embed="rId4"/>
          <a:stretch>
            <a:fillRect/>
          </a:stretch>
        </p:blipFill>
        <p:spPr>
          <a:xfrm>
            <a:off x="1870142" y="3488640"/>
            <a:ext cx="128699" cy="187198"/>
          </a:xfrm>
          <a:prstGeom prst="rect">
            <a:avLst/>
          </a:prstGeom>
        </p:spPr>
      </p:pic>
      <p:sp>
        <p:nvSpPr>
          <p:cNvPr id="74" name="TextBox 73"/>
          <p:cNvSpPr txBox="1"/>
          <p:nvPr/>
        </p:nvSpPr>
        <p:spPr>
          <a:xfrm>
            <a:off x="2037637" y="3498419"/>
            <a:ext cx="469907"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75" name="Picture 74" descr="lock.png"/>
          <p:cNvPicPr>
            <a:picLocks noChangeAspect="1"/>
          </p:cNvPicPr>
          <p:nvPr/>
        </p:nvPicPr>
        <p:blipFill>
          <a:blip r:embed="rId4"/>
          <a:stretch>
            <a:fillRect/>
          </a:stretch>
        </p:blipFill>
        <p:spPr>
          <a:xfrm>
            <a:off x="2455597" y="3488640"/>
            <a:ext cx="128699" cy="187198"/>
          </a:xfrm>
          <a:prstGeom prst="rect">
            <a:avLst/>
          </a:prstGeom>
        </p:spPr>
      </p:pic>
      <p:sp>
        <p:nvSpPr>
          <p:cNvPr id="76" name="TextBox 75"/>
          <p:cNvSpPr txBox="1"/>
          <p:nvPr/>
        </p:nvSpPr>
        <p:spPr>
          <a:xfrm>
            <a:off x="2623093" y="3498419"/>
            <a:ext cx="6616997" cy="186689"/>
          </a:xfrm>
          <a:prstGeom prst="rect">
            <a:avLst/>
          </a:prstGeom>
          <a:noFill/>
        </p:spPr>
        <p:txBody>
          <a:bodyPr wrap="none" lIns="0" rIns="0" tIns="0" bIns="0">
            <a:spAutoFit/>
          </a:bodyPr>
          <a:lstStyle/>
          <a:p>
            <a:r>
              <a:rPr sz="1100" b="0">
                <a:solidFill>
                  <a:srgbClr val="2E2E2E"/>
                </a:solidFill>
                <a:latin typeface="Calibri"/>
              </a:rPr>
              <a:t>BPS against the market and 3 of 6 regions sit below the market pace altogether. Demand is therefore not uniformly</a:t>
            </a:r>
          </a:p>
        </p:txBody>
      </p:sp>
      <p:sp>
        <p:nvSpPr>
          <p:cNvPr id="77" name="TextBox 76"/>
          <p:cNvSpPr txBox="1"/>
          <p:nvPr/>
        </p:nvSpPr>
        <p:spPr>
          <a:xfrm>
            <a:off x="190500" y="3666059"/>
            <a:ext cx="8618091" cy="186689"/>
          </a:xfrm>
          <a:prstGeom prst="rect">
            <a:avLst/>
          </a:prstGeom>
          <a:noFill/>
        </p:spPr>
        <p:txBody>
          <a:bodyPr wrap="none" lIns="0" rIns="0" tIns="0" bIns="0">
            <a:spAutoFit/>
          </a:bodyPr>
          <a:lstStyle/>
          <a:p>
            <a:r>
              <a:rPr sz="1100" b="0">
                <a:solidFill>
                  <a:srgbClr val="2E2E2E"/>
                </a:solidFill>
                <a:latin typeface="Calibri"/>
              </a:rPr>
              <a:t>available: suppliers carrying a broad geographic footprint fund presence in slow regions out of returns earned in the fast ones. With 'North America' at</a:t>
            </a:r>
          </a:p>
        </p:txBody>
      </p:sp>
      <p:pic>
        <p:nvPicPr>
          <p:cNvPr id="78" name="Picture 77" descr="lock.png"/>
          <p:cNvPicPr>
            <a:picLocks noChangeAspect="1"/>
          </p:cNvPicPr>
          <p:nvPr/>
        </p:nvPicPr>
        <p:blipFill>
          <a:blip r:embed="rId4"/>
          <a:stretch>
            <a:fillRect/>
          </a:stretch>
        </p:blipFill>
        <p:spPr>
          <a:xfrm>
            <a:off x="8756642" y="3656280"/>
            <a:ext cx="128699" cy="187198"/>
          </a:xfrm>
          <a:prstGeom prst="rect">
            <a:avLst/>
          </a:prstGeom>
        </p:spPr>
      </p:pic>
      <p:sp>
        <p:nvSpPr>
          <p:cNvPr id="79" name="TextBox 78"/>
          <p:cNvSpPr txBox="1"/>
          <p:nvPr/>
        </p:nvSpPr>
        <p:spPr>
          <a:xfrm>
            <a:off x="8924138" y="3666059"/>
            <a:ext cx="564058" cy="186689"/>
          </a:xfrm>
          <a:prstGeom prst="rect">
            <a:avLst/>
          </a:prstGeom>
          <a:noFill/>
        </p:spPr>
        <p:txBody>
          <a:bodyPr wrap="none" lIns="0" rIns="0" tIns="0" bIns="0">
            <a:spAutoFit/>
          </a:bodyPr>
          <a:lstStyle/>
          <a:p>
            <a:r>
              <a:rPr sz="1100" b="0">
                <a:solidFill>
                  <a:srgbClr val="2E2E2E"/>
                </a:solidFill>
                <a:latin typeface="Calibri"/>
              </a:rPr>
              <a:t>of value,</a:t>
            </a:r>
          </a:p>
        </p:txBody>
      </p:sp>
      <p:sp>
        <p:nvSpPr>
          <p:cNvPr id="80" name="TextBox 79"/>
          <p:cNvSpPr txBox="1"/>
          <p:nvPr/>
        </p:nvSpPr>
        <p:spPr>
          <a:xfrm>
            <a:off x="190500" y="3833699"/>
            <a:ext cx="5170338" cy="186689"/>
          </a:xfrm>
          <a:prstGeom prst="rect">
            <a:avLst/>
          </a:prstGeom>
          <a:noFill/>
        </p:spPr>
        <p:txBody>
          <a:bodyPr wrap="none" lIns="0" rIns="0" tIns="0" bIns="0">
            <a:spAutoFit/>
          </a:bodyPr>
          <a:lstStyle/>
          <a:p>
            <a:r>
              <a:rPr sz="1100" b="0">
                <a:solidFill>
                  <a:srgbClr val="2E2E2E"/>
                </a:solidFill>
                <a:latin typeface="Calibri"/>
              </a:rPr>
              <a:t>a shortfall in a single leading region is difficult to offset elsewhere in the forecast window.</a:t>
            </a:r>
          </a:p>
        </p:txBody>
      </p:sp>
      <p:sp>
        <p:nvSpPr>
          <p:cNvPr id="81" name="TextBox 80"/>
          <p:cNvSpPr txBox="1"/>
          <p:nvPr/>
        </p:nvSpPr>
        <p:spPr>
          <a:xfrm>
            <a:off x="190500" y="5250774"/>
            <a:ext cx="3337594" cy="186689"/>
          </a:xfrm>
          <a:prstGeom prst="rect">
            <a:avLst/>
          </a:prstGeom>
          <a:noFill/>
        </p:spPr>
        <p:txBody>
          <a:bodyPr wrap="none" lIns="0" rIns="0" tIns="0" bIns="0">
            <a:spAutoFit/>
          </a:bodyPr>
          <a:lstStyle/>
          <a:p>
            <a:r>
              <a:rPr sz="1100" b="0">
                <a:solidFill>
                  <a:srgbClr val="2E2E2E"/>
                </a:solidFill>
                <a:latin typeface="Calibri"/>
              </a:rPr>
              <a:t>The market is concentrated: 'North America' accounts for</a:t>
            </a:r>
          </a:p>
        </p:txBody>
      </p:sp>
      <p:pic>
        <p:nvPicPr>
          <p:cNvPr id="82" name="Picture 81" descr="lock.png"/>
          <p:cNvPicPr>
            <a:picLocks noChangeAspect="1"/>
          </p:cNvPicPr>
          <p:nvPr/>
        </p:nvPicPr>
        <p:blipFill>
          <a:blip r:embed="rId4"/>
          <a:stretch>
            <a:fillRect/>
          </a:stretch>
        </p:blipFill>
        <p:spPr>
          <a:xfrm>
            <a:off x="3476146" y="5240995"/>
            <a:ext cx="128699" cy="187198"/>
          </a:xfrm>
          <a:prstGeom prst="rect">
            <a:avLst/>
          </a:prstGeom>
        </p:spPr>
      </p:pic>
      <p:sp>
        <p:nvSpPr>
          <p:cNvPr id="83" name="TextBox 82"/>
          <p:cNvSpPr txBox="1"/>
          <p:nvPr/>
        </p:nvSpPr>
        <p:spPr>
          <a:xfrm>
            <a:off x="3643642" y="5250774"/>
            <a:ext cx="3003078" cy="186689"/>
          </a:xfrm>
          <a:prstGeom prst="rect">
            <a:avLst/>
          </a:prstGeom>
          <a:noFill/>
        </p:spPr>
        <p:txBody>
          <a:bodyPr wrap="none" lIns="0" rIns="0" tIns="0" bIns="0">
            <a:spAutoFit/>
          </a:bodyPr>
          <a:lstStyle/>
          <a:p>
            <a:r>
              <a:rPr sz="1100" b="0">
                <a:solidFill>
                  <a:srgbClr val="2E2E2E"/>
                </a:solidFill>
                <a:latin typeface="Calibri"/>
              </a:rPr>
              <a:t>of 2036 value and the leading partition type line for</a:t>
            </a:r>
          </a:p>
        </p:txBody>
      </p:sp>
      <p:pic>
        <p:nvPicPr>
          <p:cNvPr id="84" name="Picture 83" descr="lock.png"/>
          <p:cNvPicPr>
            <a:picLocks noChangeAspect="1"/>
          </p:cNvPicPr>
          <p:nvPr/>
        </p:nvPicPr>
        <p:blipFill>
          <a:blip r:embed="rId4"/>
          <a:stretch>
            <a:fillRect/>
          </a:stretch>
        </p:blipFill>
        <p:spPr>
          <a:xfrm>
            <a:off x="6594772" y="5240995"/>
            <a:ext cx="128699" cy="187198"/>
          </a:xfrm>
          <a:prstGeom prst="rect">
            <a:avLst/>
          </a:prstGeom>
        </p:spPr>
      </p:pic>
      <p:sp>
        <p:nvSpPr>
          <p:cNvPr id="85" name="TextBox 84"/>
          <p:cNvSpPr txBox="1"/>
          <p:nvPr/>
        </p:nvSpPr>
        <p:spPr>
          <a:xfrm>
            <a:off x="6762268" y="5250774"/>
            <a:ext cx="2445058" cy="186689"/>
          </a:xfrm>
          <a:prstGeom prst="rect">
            <a:avLst/>
          </a:prstGeom>
          <a:noFill/>
        </p:spPr>
        <p:txBody>
          <a:bodyPr wrap="none" lIns="0" rIns="0" tIns="0" bIns="0">
            <a:spAutoFit/>
          </a:bodyPr>
          <a:lstStyle/>
          <a:p>
            <a:r>
              <a:rPr sz="1100" b="0">
                <a:solidFill>
                  <a:srgbClr val="2E2E2E"/>
                </a:solidFill>
                <a:latin typeface="Calibri"/>
              </a:rPr>
              <a:t>of its segment. Average realisation moves</a:t>
            </a:r>
          </a:p>
        </p:txBody>
      </p:sp>
      <p:pic>
        <p:nvPicPr>
          <p:cNvPr id="86" name="Picture 85" descr="lock.png"/>
          <p:cNvPicPr>
            <a:picLocks noChangeAspect="1"/>
          </p:cNvPicPr>
          <p:nvPr/>
        </p:nvPicPr>
        <p:blipFill>
          <a:blip r:embed="rId4"/>
          <a:stretch>
            <a:fillRect/>
          </a:stretch>
        </p:blipFill>
        <p:spPr>
          <a:xfrm>
            <a:off x="177032" y="5408635"/>
            <a:ext cx="128699" cy="187198"/>
          </a:xfrm>
          <a:prstGeom prst="rect">
            <a:avLst/>
          </a:prstGeom>
        </p:spPr>
      </p:pic>
      <p:sp>
        <p:nvSpPr>
          <p:cNvPr id="87" name="TextBox 86"/>
          <p:cNvSpPr txBox="1"/>
          <p:nvPr/>
        </p:nvSpPr>
        <p:spPr>
          <a:xfrm>
            <a:off x="344528" y="5418414"/>
            <a:ext cx="9124776" cy="186689"/>
          </a:xfrm>
          <a:prstGeom prst="rect">
            <a:avLst/>
          </a:prstGeom>
          <a:noFill/>
        </p:spPr>
        <p:txBody>
          <a:bodyPr wrap="none" lIns="0" rIns="0" tIns="0" bIns="0">
            <a:spAutoFit/>
          </a:bodyPr>
          <a:lstStyle/>
          <a:p>
            <a:r>
              <a:rPr sz="1100" b="0">
                <a:solidFill>
                  <a:srgbClr val="2E2E2E"/>
                </a:solidFill>
                <a:latin typeface="Calibri"/>
              </a:rPr>
              <a:t>a year, so cost movements cannot be passed on evenly across 6 regions. The practical constraint is the same in either case commercial terms set for the market</a:t>
            </a:r>
          </a:p>
        </p:txBody>
      </p:sp>
      <p:sp>
        <p:nvSpPr>
          <p:cNvPr id="88" name="TextBox 87"/>
          <p:cNvSpPr txBox="1"/>
          <p:nvPr/>
        </p:nvSpPr>
        <p:spPr>
          <a:xfrm>
            <a:off x="190500" y="5586054"/>
            <a:ext cx="6191894" cy="186689"/>
          </a:xfrm>
          <a:prstGeom prst="rect">
            <a:avLst/>
          </a:prstGeom>
          <a:noFill/>
        </p:spPr>
        <p:txBody>
          <a:bodyPr wrap="none" lIns="0" rIns="0" tIns="0" bIns="0">
            <a:spAutoFit/>
          </a:bodyPr>
          <a:lstStyle/>
          <a:p>
            <a:r>
              <a:rPr sz="1100" b="0">
                <a:solidFill>
                  <a:srgbClr val="2E2E2E"/>
                </a:solidFill>
                <a:latin typeface="Calibri"/>
              </a:rPr>
              <a:t>as a whole underserve part of it, and margin is lost in the mismatch rather than in the headline growth rate.</a:t>
            </a: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Saudi Arabia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Electronics &amp; Electrical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46064"/>
            <a:ext cx="662012" cy="186689"/>
          </a:xfrm>
          <a:prstGeom prst="rect">
            <a:avLst/>
          </a:prstGeom>
          <a:noFill/>
        </p:spPr>
        <p:txBody>
          <a:bodyPr wrap="none" lIns="0" rIns="0" tIns="0" bIns="0">
            <a:spAutoFit/>
          </a:bodyPr>
          <a:lstStyle/>
          <a:p>
            <a:r>
              <a:rPr sz="1100" b="0">
                <a:solidFill>
                  <a:srgbClr val="2E2E2E"/>
                </a:solidFill>
                <a:latin typeface="Calibri"/>
              </a:rPr>
              <a:t>'U.S.' adds</a:t>
            </a:r>
          </a:p>
        </p:txBody>
      </p:sp>
      <p:pic>
        <p:nvPicPr>
          <p:cNvPr id="65" name="Picture 64" descr="lock.png"/>
          <p:cNvPicPr>
            <a:picLocks noChangeAspect="1"/>
          </p:cNvPicPr>
          <p:nvPr/>
        </p:nvPicPr>
        <p:blipFill>
          <a:blip r:embed="rId4"/>
          <a:stretch>
            <a:fillRect/>
          </a:stretch>
        </p:blipFill>
        <p:spPr>
          <a:xfrm>
            <a:off x="800563" y="1736285"/>
            <a:ext cx="128699" cy="187198"/>
          </a:xfrm>
          <a:prstGeom prst="rect">
            <a:avLst/>
          </a:prstGeom>
        </p:spPr>
      </p:pic>
      <p:sp>
        <p:nvSpPr>
          <p:cNvPr id="66" name="TextBox 65"/>
          <p:cNvSpPr txBox="1"/>
          <p:nvPr/>
        </p:nvSpPr>
        <p:spPr>
          <a:xfrm>
            <a:off x="968059" y="1746064"/>
            <a:ext cx="8433097" cy="186689"/>
          </a:xfrm>
          <a:prstGeom prst="rect">
            <a:avLst/>
          </a:prstGeom>
          <a:noFill/>
        </p:spPr>
        <p:txBody>
          <a:bodyPr wrap="none" lIns="0" rIns="0" t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7" name="TextBox 66"/>
          <p:cNvSpPr txBox="1"/>
          <p:nvPr/>
        </p:nvSpPr>
        <p:spPr>
          <a:xfrm>
            <a:off x="190500" y="1913704"/>
            <a:ext cx="3769245" cy="186689"/>
          </a:xfrm>
          <a:prstGeom prst="rect">
            <a:avLst/>
          </a:prstGeom>
          <a:noFill/>
        </p:spPr>
        <p:txBody>
          <a:bodyPr wrap="none" lIns="0" rIns="0" tIns="0" bIns="0">
            <a:spAutoFit/>
          </a:bodyPr>
          <a:lstStyle/>
          <a:p>
            <a:r>
              <a:rPr sz="1100" b="0">
                <a:solidFill>
                  <a:srgbClr val="2E2E2E"/>
                </a:solidFill>
                <a:latin typeface="Calibri"/>
              </a:rPr>
              <a:t>rather than market creation: demand already exists and grows at</a:t>
            </a:r>
          </a:p>
        </p:txBody>
      </p:sp>
      <p:pic>
        <p:nvPicPr>
          <p:cNvPr id="68" name="Picture 67" descr="lock.png"/>
          <p:cNvPicPr>
            <a:picLocks noChangeAspect="1"/>
          </p:cNvPicPr>
          <p:nvPr/>
        </p:nvPicPr>
        <p:blipFill>
          <a:blip r:embed="rId4"/>
          <a:stretch>
            <a:fillRect/>
          </a:stretch>
        </p:blipFill>
        <p:spPr>
          <a:xfrm>
            <a:off x="3907797" y="1903925"/>
            <a:ext cx="128699" cy="187198"/>
          </a:xfrm>
          <a:prstGeom prst="rect">
            <a:avLst/>
          </a:prstGeom>
        </p:spPr>
      </p:pic>
      <p:sp>
        <p:nvSpPr>
          <p:cNvPr id="69" name="TextBox 68"/>
          <p:cNvSpPr txBox="1"/>
          <p:nvPr/>
        </p:nvSpPr>
        <p:spPr>
          <a:xfrm>
            <a:off x="4075293" y="1913704"/>
            <a:ext cx="5402535" cy="186689"/>
          </a:xfrm>
          <a:prstGeom prst="rect">
            <a:avLst/>
          </a:prstGeom>
          <a:noFill/>
        </p:spPr>
        <p:txBody>
          <a:bodyPr wrap="none" lIns="0" rIns="0" tIns="0" bIns="0">
            <a:spAutoFit/>
          </a:bodyPr>
          <a:lstStyle/>
          <a:p>
            <a:r>
              <a:rPr sz="1100" b="0">
                <a:solidFill>
                  <a:srgbClr val="2E2E2E"/>
                </a:solidFill>
                <a:latin typeface="Calibri"/>
              </a:rPr>
              <a:t>at the market level. Prioritising supply, channel coverage and service levels there converts the</a:t>
            </a:r>
          </a:p>
        </p:txBody>
      </p:sp>
      <p:sp>
        <p:nvSpPr>
          <p:cNvPr id="70" name="TextBox 69"/>
          <p:cNvSpPr txBox="1"/>
          <p:nvPr/>
        </p:nvSpPr>
        <p:spPr>
          <a:xfrm>
            <a:off x="190500" y="2081344"/>
            <a:ext cx="1175246" cy="186689"/>
          </a:xfrm>
          <a:prstGeom prst="rect">
            <a:avLst/>
          </a:prstGeom>
          <a:noFill/>
        </p:spPr>
        <p:txBody>
          <a:bodyPr wrap="none" lIns="0" rIns="0" tIns="0" bIns="0">
            <a:spAutoFit/>
          </a:bodyPr>
          <a:lstStyle/>
          <a:p>
            <a:r>
              <a:rPr sz="1100" b="0">
                <a:solidFill>
                  <a:srgbClr val="2E2E2E"/>
                </a:solidFill>
                <a:latin typeface="Calibri"/>
              </a:rPr>
              <a:t>largest share of the</a:t>
            </a:r>
          </a:p>
        </p:txBody>
      </p:sp>
      <p:pic>
        <p:nvPicPr>
          <p:cNvPr id="71" name="Picture 70" descr="lock.png"/>
          <p:cNvPicPr>
            <a:picLocks noChangeAspect="1"/>
          </p:cNvPicPr>
          <p:nvPr/>
        </p:nvPicPr>
        <p:blipFill>
          <a:blip r:embed="rId4"/>
          <a:stretch>
            <a:fillRect/>
          </a:stretch>
        </p:blipFill>
        <p:spPr>
          <a:xfrm>
            <a:off x="1313797" y="2071565"/>
            <a:ext cx="128699" cy="187198"/>
          </a:xfrm>
          <a:prstGeom prst="rect">
            <a:avLst/>
          </a:prstGeom>
        </p:spPr>
      </p:pic>
      <p:sp>
        <p:nvSpPr>
          <p:cNvPr id="72" name="TextBox 71"/>
          <p:cNvSpPr txBox="1"/>
          <p:nvPr/>
        </p:nvSpPr>
        <p:spPr>
          <a:xfrm>
            <a:off x="1481293" y="2081344"/>
            <a:ext cx="3306489" cy="186689"/>
          </a:xfrm>
          <a:prstGeom prst="rect">
            <a:avLst/>
          </a:prstGeom>
          <a:noFill/>
        </p:spPr>
        <p:txBody>
          <a:bodyPr wrap="none" lIns="0" rIns="0" tIns="0" bIns="0">
            <a:spAutoFit/>
          </a:bodyPr>
          <a:lstStyle/>
          <a:p>
            <a:r>
              <a:rPr sz="1100" b="0">
                <a:solidFill>
                  <a:srgbClr val="2E2E2E"/>
                </a:solidFill>
                <a:latin typeface="Calibri"/>
              </a:rPr>
              <a:t>US$ Mn the whole market adds over the forecast period.</a:t>
            </a:r>
          </a:p>
        </p:txBody>
      </p:sp>
      <p:sp>
        <p:nvSpPr>
          <p:cNvPr id="73" name="TextBox 72"/>
          <p:cNvSpPr txBox="1"/>
          <p:nvPr/>
        </p:nvSpPr>
        <p:spPr>
          <a:xfrm>
            <a:off x="190500" y="3498419"/>
            <a:ext cx="1691754" cy="186689"/>
          </a:xfrm>
          <a:prstGeom prst="rect">
            <a:avLst/>
          </a:prstGeom>
          <a:noFill/>
        </p:spPr>
        <p:txBody>
          <a:bodyPr wrap="none" lIns="0" rIns="0" tIns="0" bIns="0">
            <a:spAutoFit/>
          </a:bodyPr>
          <a:lstStyle/>
          <a:p>
            <a:r>
              <a:rPr sz="1100" b="0">
                <a:solidFill>
                  <a:srgbClr val="2E2E2E"/>
                </a:solidFill>
                <a:latin typeface="Calibri"/>
              </a:rPr>
              <a:t>'Saudi Arabia' compounds at</a:t>
            </a:r>
          </a:p>
        </p:txBody>
      </p:sp>
      <p:pic>
        <p:nvPicPr>
          <p:cNvPr id="74" name="Picture 73" descr="lock.png"/>
          <p:cNvPicPr>
            <a:picLocks noChangeAspect="1"/>
          </p:cNvPicPr>
          <p:nvPr/>
        </p:nvPicPr>
        <p:blipFill>
          <a:blip r:embed="rId4"/>
          <a:stretch>
            <a:fillRect/>
          </a:stretch>
        </p:blipFill>
        <p:spPr>
          <a:xfrm>
            <a:off x="1830305" y="3488640"/>
            <a:ext cx="128699" cy="187198"/>
          </a:xfrm>
          <a:prstGeom prst="rect">
            <a:avLst/>
          </a:prstGeom>
        </p:spPr>
      </p:pic>
      <p:sp>
        <p:nvSpPr>
          <p:cNvPr id="75" name="TextBox 74"/>
          <p:cNvSpPr txBox="1"/>
          <p:nvPr/>
        </p:nvSpPr>
        <p:spPr>
          <a:xfrm>
            <a:off x="1997801" y="3498419"/>
            <a:ext cx="7315207" cy="186689"/>
          </a:xfrm>
          <a:prstGeom prst="rect">
            <a:avLst/>
          </a:prstGeom>
          <a:noFill/>
        </p:spPr>
        <p:txBody>
          <a:bodyPr wrap="none" lIns="0" rIns="0" tIns="0" bIns="0">
            <a:spAutoFit/>
          </a:bodyPr>
          <a:lstStyle/>
          <a:p>
            <a:r>
              <a:rPr sz="1100" b="0">
                <a:solidFill>
                  <a:srgbClr val="2E2E2E"/>
                </a:solidFill>
                <a:latin typeface="Calibri"/>
              </a:rPr>
              <a:t>CAGR from a below-median base one of 8 geographies in the dataset combining above-median growth with below-median size.</a:t>
            </a:r>
          </a:p>
        </p:txBody>
      </p:sp>
      <p:sp>
        <p:nvSpPr>
          <p:cNvPr id="76" name="TextBox 75"/>
          <p:cNvSpPr txBox="1"/>
          <p:nvPr/>
        </p:nvSpPr>
        <p:spPr>
          <a:xfrm>
            <a:off x="190500" y="3666059"/>
            <a:ext cx="7425456" cy="186689"/>
          </a:xfrm>
          <a:prstGeom prst="rect">
            <a:avLst/>
          </a:prstGeom>
          <a:noFill/>
        </p:spPr>
        <p:txBody>
          <a:bodyPr wrap="none" lIns="0" rIns="0" tIns="0" bIns="0">
            <a:spAutoFit/>
          </a:bodyPr>
          <a:lstStyle/>
          <a:p>
            <a:r>
              <a:rPr sz="1100" b="0">
                <a:solidFill>
                  <a:srgbClr val="2E2E2E"/>
                </a:solidFill>
                <a:latin typeface="Calibri"/>
              </a:rPr>
              <a:t>That profile is where share is cheapest to buy: competitive intensity is lower than in the 30.3%-share leaders, while growth runs +</a:t>
            </a:r>
          </a:p>
        </p:txBody>
      </p:sp>
      <p:pic>
        <p:nvPicPr>
          <p:cNvPr id="77" name="Picture 76" descr="lock.png"/>
          <p:cNvPicPr>
            <a:picLocks noChangeAspect="1"/>
          </p:cNvPicPr>
          <p:nvPr/>
        </p:nvPicPr>
        <p:blipFill>
          <a:blip r:embed="rId4"/>
          <a:stretch>
            <a:fillRect/>
          </a:stretch>
        </p:blipFill>
        <p:spPr>
          <a:xfrm>
            <a:off x="7564008" y="3656280"/>
            <a:ext cx="128699" cy="187198"/>
          </a:xfrm>
          <a:prstGeom prst="rect">
            <a:avLst/>
          </a:prstGeom>
        </p:spPr>
      </p:pic>
      <p:sp>
        <p:nvSpPr>
          <p:cNvPr id="78" name="TextBox 77"/>
          <p:cNvSpPr txBox="1"/>
          <p:nvPr/>
        </p:nvSpPr>
        <p:spPr>
          <a:xfrm>
            <a:off x="7731504" y="3666059"/>
            <a:ext cx="1825144" cy="186689"/>
          </a:xfrm>
          <a:prstGeom prst="rect">
            <a:avLst/>
          </a:prstGeom>
          <a:noFill/>
        </p:spPr>
        <p:txBody>
          <a:bodyPr wrap="none" lIns="0" rIns="0" tIns="0" bIns="0">
            <a:spAutoFit/>
          </a:bodyPr>
          <a:lstStyle/>
          <a:p>
            <a:r>
              <a:rPr sz="1100" b="0">
                <a:solidFill>
                  <a:srgbClr val="2E2E2E"/>
                </a:solidFill>
                <a:latin typeface="Calibri"/>
              </a:rPr>
              <a:t>BPS ahead of the market. Early</a:t>
            </a:r>
          </a:p>
        </p:txBody>
      </p:sp>
      <p:sp>
        <p:nvSpPr>
          <p:cNvPr id="79" name="TextBox 78"/>
          <p:cNvSpPr txBox="1"/>
          <p:nvPr/>
        </p:nvSpPr>
        <p:spPr>
          <a:xfrm>
            <a:off x="190500" y="3833699"/>
            <a:ext cx="4556695" cy="186689"/>
          </a:xfrm>
          <a:prstGeom prst="rect">
            <a:avLst/>
          </a:prstGeom>
          <a:noFill/>
        </p:spPr>
        <p:txBody>
          <a:bodyPr wrap="none" lIns="0" rIns="0" tIns="0" bIns="0">
            <a:spAutoFit/>
          </a:bodyPr>
          <a:lstStyle/>
          <a:p>
            <a:r>
              <a:rPr sz="1100" b="0">
                <a:solidFill>
                  <a:srgbClr val="2E2E2E"/>
                </a:solidFill>
                <a:latin typeface="Calibri"/>
              </a:rPr>
              <a:t>distribution and reference accounts established here compound through 2036.</a:t>
            </a:r>
          </a:p>
        </p:txBody>
      </p:sp>
      <p:sp>
        <p:nvSpPr>
          <p:cNvPr id="80" name="TextBox 79"/>
          <p:cNvSpPr txBox="1"/>
          <p:nvPr/>
        </p:nvSpPr>
        <p:spPr>
          <a:xfrm>
            <a:off x="190500" y="5250774"/>
            <a:ext cx="1949598" cy="186689"/>
          </a:xfrm>
          <a:prstGeom prst="rect">
            <a:avLst/>
          </a:prstGeom>
          <a:noFill/>
        </p:spPr>
        <p:txBody>
          <a:bodyPr wrap="none" lIns="0" rIns="0" tIns="0" bIns="0">
            <a:spAutoFit/>
          </a:bodyPr>
          <a:lstStyle/>
          <a:p>
            <a:r>
              <a:rPr sz="1100" b="0">
                <a:solidFill>
                  <a:srgbClr val="2E2E2E"/>
                </a:solidFill>
                <a:latin typeface="Calibri"/>
              </a:rPr>
              <a:t>'Electronics &amp; Electrical' grows at</a:t>
            </a:r>
          </a:p>
        </p:txBody>
      </p:sp>
      <p:pic>
        <p:nvPicPr>
          <p:cNvPr id="81" name="Picture 80" descr="lock.png"/>
          <p:cNvPicPr>
            <a:picLocks noChangeAspect="1"/>
          </p:cNvPicPr>
          <p:nvPr/>
        </p:nvPicPr>
        <p:blipFill>
          <a:blip r:embed="rId4"/>
          <a:stretch>
            <a:fillRect/>
          </a:stretch>
        </p:blipFill>
        <p:spPr>
          <a:xfrm>
            <a:off x="2088150" y="5240995"/>
            <a:ext cx="128699" cy="187198"/>
          </a:xfrm>
          <a:prstGeom prst="rect">
            <a:avLst/>
          </a:prstGeom>
        </p:spPr>
      </p:pic>
      <p:sp>
        <p:nvSpPr>
          <p:cNvPr id="82" name="TextBox 81"/>
          <p:cNvSpPr txBox="1"/>
          <p:nvPr/>
        </p:nvSpPr>
        <p:spPr>
          <a:xfrm>
            <a:off x="2255646" y="5250774"/>
            <a:ext cx="2771956" cy="186689"/>
          </a:xfrm>
          <a:prstGeom prst="rect">
            <a:avLst/>
          </a:prstGeom>
          <a:noFill/>
        </p:spPr>
        <p:txBody>
          <a:bodyPr wrap="none" lIns="0" rIns="0" tIns="0" bIns="0">
            <a:spAutoFit/>
          </a:bodyPr>
          <a:lstStyle/>
          <a:p>
            <a:r>
              <a:rPr sz="1100" b="0">
                <a:solidFill>
                  <a:srgbClr val="2E2E2E"/>
                </a:solidFill>
                <a:latin typeface="Calibri"/>
              </a:rPr>
              <a:t>CAGR, the fastest of 7 end use routes, and adds</a:t>
            </a:r>
          </a:p>
        </p:txBody>
      </p:sp>
      <p:pic>
        <p:nvPicPr>
          <p:cNvPr id="83" name="Picture 82" descr="lock.png"/>
          <p:cNvPicPr>
            <a:picLocks noChangeAspect="1"/>
          </p:cNvPicPr>
          <p:nvPr/>
        </p:nvPicPr>
        <p:blipFill>
          <a:blip r:embed="rId4"/>
          <a:stretch>
            <a:fillRect/>
          </a:stretch>
        </p:blipFill>
        <p:spPr>
          <a:xfrm>
            <a:off x="4975654" y="5240995"/>
            <a:ext cx="128699" cy="187198"/>
          </a:xfrm>
          <a:prstGeom prst="rect">
            <a:avLst/>
          </a:prstGeom>
        </p:spPr>
      </p:pic>
      <p:sp>
        <p:nvSpPr>
          <p:cNvPr id="84" name="TextBox 83"/>
          <p:cNvSpPr txBox="1"/>
          <p:nvPr/>
        </p:nvSpPr>
        <p:spPr>
          <a:xfrm>
            <a:off x="5143150" y="5250774"/>
            <a:ext cx="3997622" cy="186689"/>
          </a:xfrm>
          <a:prstGeom prst="rect">
            <a:avLst/>
          </a:prstGeom>
          <a:noFill/>
        </p:spPr>
        <p:txBody>
          <a:bodyPr wrap="none" lIns="0" rIns="0" tIns="0" bIns="0">
            <a:spAutoFit/>
          </a:bodyPr>
          <a:lstStyle/>
          <a:p>
            <a:r>
              <a:rPr sz="1100" b="0">
                <a:solidFill>
                  <a:srgbClr val="2E2E2E"/>
                </a:solidFill>
                <a:latin typeface="Calibri"/>
              </a:rPr>
              <a:t>US$ Mn over the forecast period while 'Glassware, Ceramics &amp; Home</a:t>
            </a:r>
          </a:p>
        </p:txBody>
      </p:sp>
      <p:sp>
        <p:nvSpPr>
          <p:cNvPr id="85" name="TextBox 84"/>
          <p:cNvSpPr txBox="1"/>
          <p:nvPr/>
        </p:nvSpPr>
        <p:spPr>
          <a:xfrm>
            <a:off x="190500" y="5418414"/>
            <a:ext cx="1111944" cy="186689"/>
          </a:xfrm>
          <a:prstGeom prst="rect">
            <a:avLst/>
          </a:prstGeom>
          <a:noFill/>
        </p:spPr>
        <p:txBody>
          <a:bodyPr wrap="none" lIns="0" rIns="0" tIns="0" bIns="0">
            <a:spAutoFit/>
          </a:bodyPr>
          <a:lstStyle/>
          <a:p>
            <a:r>
              <a:rPr sz="1100" b="0">
                <a:solidFill>
                  <a:srgbClr val="2E2E2E"/>
                </a:solidFill>
                <a:latin typeface="Calibri"/>
              </a:rPr>
              <a:t>Goods' still carries</a:t>
            </a:r>
          </a:p>
        </p:txBody>
      </p:sp>
      <p:pic>
        <p:nvPicPr>
          <p:cNvPr id="86" name="Picture 85" descr="lock.png"/>
          <p:cNvPicPr>
            <a:picLocks noChangeAspect="1"/>
          </p:cNvPicPr>
          <p:nvPr/>
        </p:nvPicPr>
        <p:blipFill>
          <a:blip r:embed="rId4"/>
          <a:stretch>
            <a:fillRect/>
          </a:stretch>
        </p:blipFill>
        <p:spPr>
          <a:xfrm>
            <a:off x="1250496" y="5408635"/>
            <a:ext cx="128699" cy="187198"/>
          </a:xfrm>
          <a:prstGeom prst="rect">
            <a:avLst/>
          </a:prstGeom>
        </p:spPr>
      </p:pic>
      <p:sp>
        <p:nvSpPr>
          <p:cNvPr id="87" name="TextBox 86"/>
          <p:cNvSpPr txBox="1"/>
          <p:nvPr/>
        </p:nvSpPr>
        <p:spPr>
          <a:xfrm>
            <a:off x="1417991" y="5418414"/>
            <a:ext cx="7947967" cy="186689"/>
          </a:xfrm>
          <a:prstGeom prst="rect">
            <a:avLst/>
          </a:prstGeom>
          <a:noFill/>
        </p:spPr>
        <p:txBody>
          <a:bodyPr wrap="none" lIns="0" rIns="0" tIns="0" bIns="0">
            <a:spAutoFit/>
          </a:bodyPr>
          <a:lstStyle/>
          <a:p>
            <a:r>
              <a:rPr sz="1100" b="0">
                <a:solidFill>
                  <a:srgbClr val="2E2E2E"/>
                </a:solidFill>
                <a:latin typeface="Calibri"/>
              </a:rPr>
              <a:t>of demand today. Pairing the incumbent route for volume with the fastest route for growth and leading with 'Flat Dividers &amp; Layer Pads' at</a:t>
            </a:r>
          </a:p>
        </p:txBody>
      </p:sp>
      <p:pic>
        <p:nvPicPr>
          <p:cNvPr id="88" name="Picture 87" descr="lock.png"/>
          <p:cNvPicPr>
            <a:picLocks noChangeAspect="1"/>
          </p:cNvPicPr>
          <p:nvPr/>
        </p:nvPicPr>
        <p:blipFill>
          <a:blip r:embed="rId4"/>
          <a:stretch>
            <a:fillRect/>
          </a:stretch>
        </p:blipFill>
        <p:spPr>
          <a:xfrm>
            <a:off x="177032" y="5576275"/>
            <a:ext cx="128699" cy="187198"/>
          </a:xfrm>
          <a:prstGeom prst="rect">
            <a:avLst/>
          </a:prstGeom>
        </p:spPr>
      </p:pic>
      <p:sp>
        <p:nvSpPr>
          <p:cNvPr id="89" name="TextBox 88"/>
          <p:cNvSpPr txBox="1"/>
          <p:nvPr/>
        </p:nvSpPr>
        <p:spPr>
          <a:xfrm>
            <a:off x="344528" y="5586054"/>
            <a:ext cx="3137594" cy="186689"/>
          </a:xfrm>
          <a:prstGeom prst="rect">
            <a:avLst/>
          </a:prstGeom>
          <a:noFill/>
        </p:spPr>
        <p:txBody>
          <a:bodyPr wrap="none" lIns="0" rIns="0" tIns="0" bIns="0">
            <a:spAutoFit/>
          </a:bodyPr>
          <a:lstStyle/>
          <a:p>
            <a:r>
              <a:rPr sz="1100" b="0">
                <a:solidFill>
                  <a:srgbClr val="2E2E2E"/>
                </a:solidFill>
                <a:latin typeface="Calibri"/>
              </a:rPr>
              <a:t>is the highest-yield combination the dataset supports.</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Corrugated Partition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296013"/>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296013"/>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296013"/>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68957"/>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8" name="Rectangle 17"/>
          <p:cNvSpPr/>
          <p:nvPr/>
        </p:nvSpPr>
        <p:spPr>
          <a:xfrm>
            <a:off x="142875" y="26135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6135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6135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905646"/>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35992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5992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2035</a:t>
            </a:r>
          </a:p>
        </p:txBody>
      </p:sp>
      <p:cxnSp>
        <p:nvCxnSpPr>
          <p:cNvPr id="24" name="Connector 23"/>
          <p:cNvCxnSpPr/>
          <p:nvPr/>
        </p:nvCxnSpPr>
        <p:spPr>
          <a:xfrm>
            <a:off x="1571625" y="35992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8913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Rectangle 25"/>
          <p:cNvSpPr/>
          <p:nvPr/>
        </p:nvSpPr>
        <p:spPr>
          <a:xfrm>
            <a:off x="142875" y="45849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5849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5849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8770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Rectangle 29"/>
          <p:cNvSpPr/>
          <p:nvPr/>
        </p:nvSpPr>
        <p:spPr>
          <a:xfrm>
            <a:off x="142875" y="55706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706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706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627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5" name="TextBox 34"/>
          <p:cNvSpPr txBox="1"/>
          <p:nvPr/>
        </p:nvSpPr>
        <p:spPr>
          <a:xfrm>
            <a:off x="1743075" y="1797939"/>
            <a:ext cx="3516585" cy="186689"/>
          </a:xfrm>
          <a:prstGeom prst="rect">
            <a:avLst/>
          </a:prstGeom>
          <a:noFill/>
        </p:spPr>
        <p:txBody>
          <a:bodyPr wrap="none" lIns="0" rIns="0" tIns="0" bIns="0">
            <a:spAutoFit/>
          </a:bodyPr>
          <a:lstStyle/>
          <a:p>
            <a:r>
              <a:rPr sz="1100" b="0">
                <a:solidFill>
                  <a:srgbClr val="2E2E2E"/>
                </a:solidFill>
                <a:latin typeface="Calibri"/>
              </a:rPr>
              <a:t>Strongest historical expansion on record: Global value rose +</a:t>
            </a:r>
          </a:p>
        </p:txBody>
      </p:sp>
      <p:pic>
        <p:nvPicPr>
          <p:cNvPr id="36" name="Picture 35" descr="lock.png"/>
          <p:cNvPicPr>
            <a:picLocks noChangeAspect="1"/>
          </p:cNvPicPr>
          <p:nvPr/>
        </p:nvPicPr>
        <p:blipFill>
          <a:blip r:embed="rId4"/>
          <a:stretch>
            <a:fillRect/>
          </a:stretch>
        </p:blipFill>
        <p:spPr>
          <a:xfrm>
            <a:off x="5207711" y="1788160"/>
            <a:ext cx="128699" cy="187198"/>
          </a:xfrm>
          <a:prstGeom prst="rect">
            <a:avLst/>
          </a:prstGeom>
        </p:spPr>
      </p:pic>
      <p:sp>
        <p:nvSpPr>
          <p:cNvPr id="37" name="TextBox 36"/>
          <p:cNvSpPr txBox="1"/>
          <p:nvPr/>
        </p:nvSpPr>
        <p:spPr>
          <a:xfrm>
            <a:off x="5375207" y="1797939"/>
            <a:ext cx="935955" cy="186689"/>
          </a:xfrm>
          <a:prstGeom prst="rect">
            <a:avLst/>
          </a:prstGeom>
          <a:noFill/>
        </p:spPr>
        <p:txBody>
          <a:bodyPr wrap="none" lIns="0" rIns="0" tIns="0" bIns="0">
            <a:spAutoFit/>
          </a:bodyPr>
          <a:lstStyle/>
          <a:p>
            <a:r>
              <a:rPr sz="1100" b="0">
                <a:solidFill>
                  <a:srgbClr val="2E2E2E"/>
                </a:solidFill>
                <a:latin typeface="Calibri"/>
              </a:rPr>
              <a:t>year on year to</a:t>
            </a:r>
          </a:p>
        </p:txBody>
      </p:sp>
      <p:pic>
        <p:nvPicPr>
          <p:cNvPr id="38" name="Picture 37" descr="lock.png"/>
          <p:cNvPicPr>
            <a:picLocks noChangeAspect="1"/>
          </p:cNvPicPr>
          <p:nvPr/>
        </p:nvPicPr>
        <p:blipFill>
          <a:blip r:embed="rId4"/>
          <a:stretch>
            <a:fillRect/>
          </a:stretch>
        </p:blipFill>
        <p:spPr>
          <a:xfrm>
            <a:off x="6259214" y="1788160"/>
            <a:ext cx="128699" cy="187198"/>
          </a:xfrm>
          <a:prstGeom prst="rect">
            <a:avLst/>
          </a:prstGeom>
        </p:spPr>
      </p:pic>
      <p:sp>
        <p:nvSpPr>
          <p:cNvPr id="39" name="TextBox 38"/>
          <p:cNvSpPr txBox="1"/>
          <p:nvPr/>
        </p:nvSpPr>
        <p:spPr>
          <a:xfrm>
            <a:off x="6426710" y="1797939"/>
            <a:ext cx="5248374" cy="186689"/>
          </a:xfrm>
          <a:prstGeom prst="rect">
            <a:avLst/>
          </a:prstGeom>
          <a:noFill/>
        </p:spPr>
        <p:txBody>
          <a:bodyPr wrap="none" lIns="0" rIns="0" tIns="0" bIns="0">
            <a:spAutoFit/>
          </a:bodyPr>
          <a:lstStyle/>
          <a:p>
            <a:r>
              <a:rPr sz="1100" b="0">
                <a:solidFill>
                  <a:srgbClr val="2E2E2E"/>
                </a:solidFill>
                <a:latin typeface="Calibri"/>
              </a:rPr>
              <a:t>US$ Mn, the steepest single-year move of the 2021–2025 period. Demand for 'Flat Dividers</a:t>
            </a:r>
          </a:p>
        </p:txBody>
      </p:sp>
      <p:sp>
        <p:nvSpPr>
          <p:cNvPr id="40" name="TextBox 39"/>
          <p:cNvSpPr txBox="1"/>
          <p:nvPr/>
        </p:nvSpPr>
        <p:spPr>
          <a:xfrm>
            <a:off x="1743075" y="1965579"/>
            <a:ext cx="839911" cy="186689"/>
          </a:xfrm>
          <a:prstGeom prst="rect">
            <a:avLst/>
          </a:prstGeom>
          <a:noFill/>
        </p:spPr>
        <p:txBody>
          <a:bodyPr wrap="none" lIns="0" rIns="0" tIns="0" bIns="0">
            <a:spAutoFit/>
          </a:bodyPr>
          <a:lstStyle/>
          <a:p>
            <a:r>
              <a:rPr sz="1100" b="0">
                <a:solidFill>
                  <a:srgbClr val="2E2E2E"/>
                </a:solidFill>
                <a:latin typeface="Calibri"/>
              </a:rPr>
              <a:t>&amp; Layer Pads'</a:t>
            </a:r>
          </a:p>
        </p:txBody>
      </p:sp>
      <p:pic>
        <p:nvPicPr>
          <p:cNvPr id="41" name="Picture 40" descr="lock.png"/>
          <p:cNvPicPr>
            <a:picLocks noChangeAspect="1"/>
          </p:cNvPicPr>
          <p:nvPr/>
        </p:nvPicPr>
        <p:blipFill>
          <a:blip r:embed="rId4"/>
          <a:stretch>
            <a:fillRect/>
          </a:stretch>
        </p:blipFill>
        <p:spPr>
          <a:xfrm>
            <a:off x="2531038" y="1955800"/>
            <a:ext cx="128699" cy="187198"/>
          </a:xfrm>
          <a:prstGeom prst="rect">
            <a:avLst/>
          </a:prstGeom>
        </p:spPr>
      </p:pic>
      <p:sp>
        <p:nvSpPr>
          <p:cNvPr id="42" name="TextBox 41"/>
          <p:cNvSpPr txBox="1"/>
          <p:nvPr/>
        </p:nvSpPr>
        <p:spPr>
          <a:xfrm>
            <a:off x="2698533" y="1965579"/>
            <a:ext cx="6854651" cy="186689"/>
          </a:xfrm>
          <a:prstGeom prst="rect">
            <a:avLst/>
          </a:prstGeom>
          <a:noFill/>
        </p:spPr>
        <p:txBody>
          <a:bodyPr wrap="none" lIns="0" rIns="0" tIns="0" bIns="0">
            <a:spAutoFit/>
          </a:bodyPr>
          <a:lstStyle/>
          <a:p>
            <a:r>
              <a:rPr sz="1100" b="0">
                <a:solidFill>
                  <a:srgbClr val="2E2E2E"/>
                </a:solidFill>
                <a:latin typeface="Calibri"/>
              </a:rPr>
              <a:t>of partition type value by 2036 set the pace, and the 7 end use routes tracked here all carried volume through the year.</a:t>
            </a:r>
          </a:p>
        </p:txBody>
      </p:sp>
      <p:sp>
        <p:nvSpPr>
          <p:cNvPr id="43" name="TextBox 42"/>
          <p:cNvSpPr txBox="1"/>
          <p:nvPr/>
        </p:nvSpPr>
        <p:spPr>
          <a:xfrm>
            <a:off x="1743075" y="2945502"/>
            <a:ext cx="3340465" cy="179984"/>
          </a:xfrm>
          <a:prstGeom prst="rect">
            <a:avLst/>
          </a:prstGeom>
          <a:noFill/>
        </p:spPr>
        <p:txBody>
          <a:bodyPr wrap="none" lIns="0" rIns="0" tIns="0" bIns="0">
            <a:spAutoFit/>
          </a:bodyPr>
          <a:lstStyle/>
          <a:p>
            <a:r>
              <a:rPr sz="1055" b="0">
                <a:solidFill>
                  <a:srgbClr val="2E2E2E"/>
                </a:solidFill>
                <a:latin typeface="Calibri"/>
              </a:rPr>
              <a:t>Base year for the forecast: the global market is estimated at</a:t>
            </a:r>
          </a:p>
        </p:txBody>
      </p:sp>
      <p:pic>
        <p:nvPicPr>
          <p:cNvPr id="44" name="Picture 43" descr="lock.png"/>
          <p:cNvPicPr>
            <a:picLocks noChangeAspect="1"/>
          </p:cNvPicPr>
          <p:nvPr/>
        </p:nvPicPr>
        <p:blipFill>
          <a:blip r:embed="rId4"/>
          <a:stretch>
            <a:fillRect/>
          </a:stretch>
        </p:blipFill>
        <p:spPr>
          <a:xfrm>
            <a:off x="5030621" y="2936114"/>
            <a:ext cx="123551" cy="179710"/>
          </a:xfrm>
          <a:prstGeom prst="rect">
            <a:avLst/>
          </a:prstGeom>
        </p:spPr>
      </p:pic>
      <p:sp>
        <p:nvSpPr>
          <p:cNvPr id="45" name="TextBox 44"/>
          <p:cNvSpPr txBox="1"/>
          <p:nvPr/>
        </p:nvSpPr>
        <p:spPr>
          <a:xfrm>
            <a:off x="5191417" y="2945502"/>
            <a:ext cx="1825680" cy="179984"/>
          </a:xfrm>
          <a:prstGeom prst="rect">
            <a:avLst/>
          </a:prstGeom>
          <a:noFill/>
        </p:spPr>
        <p:txBody>
          <a:bodyPr wrap="none" lIns="0" rIns="0" tIns="0" bIns="0">
            <a:spAutoFit/>
          </a:bodyPr>
          <a:lstStyle/>
          <a:p>
            <a:r>
              <a:rPr sz="1055" b="0">
                <a:solidFill>
                  <a:srgbClr val="2E2E2E"/>
                </a:solidFill>
                <a:latin typeface="Calibri"/>
              </a:rPr>
              <a:t>US$ Mn, having compounded at</a:t>
            </a:r>
          </a:p>
        </p:txBody>
      </p:sp>
      <p:pic>
        <p:nvPicPr>
          <p:cNvPr id="46" name="Picture 45" descr="lock.png"/>
          <p:cNvPicPr>
            <a:picLocks noChangeAspect="1"/>
          </p:cNvPicPr>
          <p:nvPr/>
        </p:nvPicPr>
        <p:blipFill>
          <a:blip r:embed="rId4"/>
          <a:stretch>
            <a:fillRect/>
          </a:stretch>
        </p:blipFill>
        <p:spPr>
          <a:xfrm>
            <a:off x="6964179" y="2936114"/>
            <a:ext cx="123551" cy="179710"/>
          </a:xfrm>
          <a:prstGeom prst="rect">
            <a:avLst/>
          </a:prstGeom>
        </p:spPr>
      </p:pic>
      <p:sp>
        <p:nvSpPr>
          <p:cNvPr id="47" name="TextBox 46"/>
          <p:cNvSpPr txBox="1"/>
          <p:nvPr/>
        </p:nvSpPr>
        <p:spPr>
          <a:xfrm>
            <a:off x="7124975" y="2945502"/>
            <a:ext cx="2310788" cy="179984"/>
          </a:xfrm>
          <a:prstGeom prst="rect">
            <a:avLst/>
          </a:prstGeom>
          <a:noFill/>
        </p:spPr>
        <p:txBody>
          <a:bodyPr wrap="none" lIns="0" rIns="0" tIns="0" bIns="0">
            <a:spAutoFit/>
          </a:bodyPr>
          <a:lstStyle/>
          <a:p>
            <a:r>
              <a:rPr sz="1055" b="0">
                <a:solidFill>
                  <a:srgbClr val="2E2E2E"/>
                </a:solidFill>
                <a:latin typeface="Calibri"/>
              </a:rPr>
              <a:t>across 2021–2025. 'North America' holds</a:t>
            </a:r>
          </a:p>
        </p:txBody>
      </p:sp>
      <p:pic>
        <p:nvPicPr>
          <p:cNvPr id="48" name="Picture 47" descr="lock.png"/>
          <p:cNvPicPr>
            <a:picLocks noChangeAspect="1"/>
          </p:cNvPicPr>
          <p:nvPr/>
        </p:nvPicPr>
        <p:blipFill>
          <a:blip r:embed="rId4"/>
          <a:stretch>
            <a:fillRect/>
          </a:stretch>
        </p:blipFill>
        <p:spPr>
          <a:xfrm>
            <a:off x="9382846" y="2936114"/>
            <a:ext cx="123551" cy="179710"/>
          </a:xfrm>
          <a:prstGeom prst="rect">
            <a:avLst/>
          </a:prstGeom>
        </p:spPr>
      </p:pic>
      <p:sp>
        <p:nvSpPr>
          <p:cNvPr id="49" name="TextBox 48"/>
          <p:cNvSpPr txBox="1"/>
          <p:nvPr/>
        </p:nvSpPr>
        <p:spPr>
          <a:xfrm>
            <a:off x="9543642" y="2945502"/>
            <a:ext cx="1896665" cy="179984"/>
          </a:xfrm>
          <a:prstGeom prst="rect">
            <a:avLst/>
          </a:prstGeom>
          <a:noFill/>
        </p:spPr>
        <p:txBody>
          <a:bodyPr wrap="none" lIns="0" rIns="0" tIns="0" bIns="0">
            <a:spAutoFit/>
          </a:bodyPr>
          <a:lstStyle/>
          <a:p>
            <a:r>
              <a:rPr sz="1055" b="0">
                <a:solidFill>
                  <a:srgbClr val="2E2E2E"/>
                </a:solidFill>
                <a:latin typeface="Calibri"/>
              </a:rPr>
              <a:t>of value across 6 regions, and the</a:t>
            </a:r>
          </a:p>
        </p:txBody>
      </p:sp>
      <p:sp>
        <p:nvSpPr>
          <p:cNvPr id="50" name="TextBox 49"/>
          <p:cNvSpPr txBox="1"/>
          <p:nvPr/>
        </p:nvSpPr>
        <p:spPr>
          <a:xfrm>
            <a:off x="1743075" y="3106436"/>
            <a:ext cx="4265366" cy="179984"/>
          </a:xfrm>
          <a:prstGeom prst="rect">
            <a:avLst/>
          </a:prstGeom>
          <a:noFill/>
        </p:spPr>
        <p:txBody>
          <a:bodyPr wrap="none" lIns="0" rIns="0" tIns="0" bIns="0">
            <a:spAutoFit/>
          </a:bodyPr>
          <a:lstStyle/>
          <a:p>
            <a:r>
              <a:rPr sz="1055" b="0">
                <a:solidFill>
                  <a:srgbClr val="2E2E2E"/>
                </a:solidFill>
                <a:latin typeface="Calibri"/>
              </a:rPr>
              <a:t>forecast is built from 10 segment breakdowns covering 3 partition type lines.</a:t>
            </a:r>
          </a:p>
        </p:txBody>
      </p:sp>
      <p:sp>
        <p:nvSpPr>
          <p:cNvPr id="51" name="TextBox 50"/>
          <p:cNvSpPr txBox="1"/>
          <p:nvPr/>
        </p:nvSpPr>
        <p:spPr>
          <a:xfrm>
            <a:off x="1743075" y="3931201"/>
            <a:ext cx="1089374" cy="179984"/>
          </a:xfrm>
          <a:prstGeom prst="rect">
            <a:avLst/>
          </a:prstGeom>
          <a:noFill/>
        </p:spPr>
        <p:txBody>
          <a:bodyPr wrap="none" lIns="0" rIns="0" tIns="0" bIns="0">
            <a:spAutoFit/>
          </a:bodyPr>
          <a:lstStyle/>
          <a:p>
            <a:r>
              <a:rPr sz="1055" b="0">
                <a:solidFill>
                  <a:srgbClr val="2E2E2E"/>
                </a:solidFill>
                <a:latin typeface="Calibri"/>
              </a:rPr>
              <a:t>The market passes</a:t>
            </a:r>
          </a:p>
        </p:txBody>
      </p:sp>
      <p:pic>
        <p:nvPicPr>
          <p:cNvPr id="52" name="Picture 51" descr="lock.png"/>
          <p:cNvPicPr>
            <a:picLocks noChangeAspect="1"/>
          </p:cNvPicPr>
          <p:nvPr/>
        </p:nvPicPr>
        <p:blipFill>
          <a:blip r:embed="rId4"/>
          <a:stretch>
            <a:fillRect/>
          </a:stretch>
        </p:blipFill>
        <p:spPr>
          <a:xfrm>
            <a:off x="2779530" y="3921813"/>
            <a:ext cx="123551" cy="179710"/>
          </a:xfrm>
          <a:prstGeom prst="rect">
            <a:avLst/>
          </a:prstGeom>
        </p:spPr>
      </p:pic>
      <p:sp>
        <p:nvSpPr>
          <p:cNvPr id="53" name="TextBox 52"/>
          <p:cNvSpPr txBox="1"/>
          <p:nvPr/>
        </p:nvSpPr>
        <p:spPr>
          <a:xfrm>
            <a:off x="2940326" y="3931201"/>
            <a:ext cx="2945201" cy="179984"/>
          </a:xfrm>
          <a:prstGeom prst="rect">
            <a:avLst/>
          </a:prstGeom>
          <a:noFill/>
        </p:spPr>
        <p:txBody>
          <a:bodyPr wrap="none" lIns="0" rIns="0" tIns="0" bIns="0">
            <a:spAutoFit/>
          </a:bodyPr>
          <a:lstStyle/>
          <a:p>
            <a:r>
              <a:rPr sz="1055" b="0">
                <a:solidFill>
                  <a:srgbClr val="2E2E2E"/>
                </a:solidFill>
                <a:latin typeface="Calibri"/>
              </a:rPr>
              <a:t>US$ Mn one and a half times the 2026 base reaching</a:t>
            </a:r>
          </a:p>
        </p:txBody>
      </p:sp>
      <p:pic>
        <p:nvPicPr>
          <p:cNvPr id="54" name="Picture 53" descr="lock.png"/>
          <p:cNvPicPr>
            <a:picLocks noChangeAspect="1"/>
          </p:cNvPicPr>
          <p:nvPr/>
        </p:nvPicPr>
        <p:blipFill>
          <a:blip r:embed="rId4"/>
          <a:stretch>
            <a:fillRect/>
          </a:stretch>
        </p:blipFill>
        <p:spPr>
          <a:xfrm>
            <a:off x="5832609" y="3921813"/>
            <a:ext cx="123551" cy="179710"/>
          </a:xfrm>
          <a:prstGeom prst="rect">
            <a:avLst/>
          </a:prstGeom>
        </p:spPr>
      </p:pic>
      <p:sp>
        <p:nvSpPr>
          <p:cNvPr id="55" name="TextBox 54"/>
          <p:cNvSpPr txBox="1"/>
          <p:nvPr/>
        </p:nvSpPr>
        <p:spPr>
          <a:xfrm>
            <a:off x="5993405" y="3931201"/>
            <a:ext cx="3804618" cy="179984"/>
          </a:xfrm>
          <a:prstGeom prst="rect">
            <a:avLst/>
          </a:prstGeom>
          <a:noFill/>
        </p:spPr>
        <p:txBody>
          <a:bodyPr wrap="none" lIns="0" rIns="0" tIns="0" bIns="0">
            <a:spAutoFit/>
          </a:bodyPr>
          <a:lstStyle/>
          <a:p>
            <a:r>
              <a:rPr sz="1055" b="0">
                <a:solidFill>
                  <a:srgbClr val="2E2E2E"/>
                </a:solidFill>
                <a:latin typeface="Calibri"/>
              </a:rPr>
              <a:t>US$ Mn. Growth by this point is led by 'Flat Dividers &amp; Layer Pads' at</a:t>
            </a:r>
          </a:p>
        </p:txBody>
      </p:sp>
      <p:pic>
        <p:nvPicPr>
          <p:cNvPr id="56" name="Picture 55" descr="lock.png"/>
          <p:cNvPicPr>
            <a:picLocks noChangeAspect="1"/>
          </p:cNvPicPr>
          <p:nvPr/>
        </p:nvPicPr>
        <p:blipFill>
          <a:blip r:embed="rId4"/>
          <a:stretch>
            <a:fillRect/>
          </a:stretch>
        </p:blipFill>
        <p:spPr>
          <a:xfrm>
            <a:off x="9745105" y="3921813"/>
            <a:ext cx="123551" cy="179710"/>
          </a:xfrm>
          <a:prstGeom prst="rect">
            <a:avLst/>
          </a:prstGeom>
        </p:spPr>
      </p:pic>
      <p:sp>
        <p:nvSpPr>
          <p:cNvPr id="57" name="TextBox 56"/>
          <p:cNvSpPr txBox="1"/>
          <p:nvPr/>
        </p:nvSpPr>
        <p:spPr>
          <a:xfrm>
            <a:off x="9905901" y="3931201"/>
            <a:ext cx="1535175" cy="179984"/>
          </a:xfrm>
          <a:prstGeom prst="rect">
            <a:avLst/>
          </a:prstGeom>
          <a:noFill/>
        </p:spPr>
        <p:txBody>
          <a:bodyPr wrap="none" lIns="0" rIns="0" tIns="0" bIns="0">
            <a:spAutoFit/>
          </a:bodyPr>
          <a:lstStyle/>
          <a:p>
            <a:r>
              <a:rPr sz="1055" b="0">
                <a:solidFill>
                  <a:srgbClr val="2E2E2E"/>
                </a:solidFill>
                <a:latin typeface="Calibri"/>
              </a:rPr>
              <a:t>CAGR and by 'South Asia &amp;</a:t>
            </a:r>
          </a:p>
        </p:txBody>
      </p:sp>
      <p:sp>
        <p:nvSpPr>
          <p:cNvPr id="58" name="TextBox 57"/>
          <p:cNvSpPr txBox="1"/>
          <p:nvPr/>
        </p:nvSpPr>
        <p:spPr>
          <a:xfrm>
            <a:off x="1743075" y="4092135"/>
            <a:ext cx="1433036" cy="179984"/>
          </a:xfrm>
          <a:prstGeom prst="rect">
            <a:avLst/>
          </a:prstGeom>
          <a:noFill/>
        </p:spPr>
        <p:txBody>
          <a:bodyPr wrap="none" lIns="0" rIns="0" tIns="0" bIns="0">
            <a:spAutoFit/>
          </a:bodyPr>
          <a:lstStyle/>
          <a:p>
            <a:r>
              <a:rPr sz="1055" b="0">
                <a:solidFill>
                  <a:srgbClr val="2E2E2E"/>
                </a:solidFill>
                <a:latin typeface="Calibri"/>
              </a:rPr>
              <a:t>Pacific' among regions at</a:t>
            </a:r>
          </a:p>
        </p:txBody>
      </p:sp>
      <p:pic>
        <p:nvPicPr>
          <p:cNvPr id="59" name="Picture 58" descr="lock.png"/>
          <p:cNvPicPr>
            <a:picLocks noChangeAspect="1"/>
          </p:cNvPicPr>
          <p:nvPr/>
        </p:nvPicPr>
        <p:blipFill>
          <a:blip r:embed="rId4"/>
          <a:stretch>
            <a:fillRect/>
          </a:stretch>
        </p:blipFill>
        <p:spPr>
          <a:xfrm>
            <a:off x="3123192" y="4082747"/>
            <a:ext cx="123551" cy="179710"/>
          </a:xfrm>
          <a:prstGeom prst="rect">
            <a:avLst/>
          </a:prstGeom>
        </p:spPr>
      </p:pic>
      <p:sp>
        <p:nvSpPr>
          <p:cNvPr id="60" name="TextBox 59"/>
          <p:cNvSpPr txBox="1"/>
          <p:nvPr/>
        </p:nvSpPr>
        <p:spPr>
          <a:xfrm>
            <a:off x="3283988" y="4092135"/>
            <a:ext cx="3178063" cy="179984"/>
          </a:xfrm>
          <a:prstGeom prst="rect">
            <a:avLst/>
          </a:prstGeom>
          <a:noFill/>
        </p:spPr>
        <p:txBody>
          <a:bodyPr wrap="none" lIns="0" rIns="0" tIns="0" bIns="0">
            <a:spAutoFit/>
          </a:bodyPr>
          <a:lstStyle/>
          <a:p>
            <a:r>
              <a:rPr sz="1055" b="0">
                <a:solidFill>
                  <a:srgbClr val="2E2E2E"/>
                </a:solidFill>
                <a:latin typeface="Calibri"/>
              </a:rPr>
              <a:t>, with 3 of 6 regions running at or above the market rate.</a:t>
            </a:r>
          </a:p>
        </p:txBody>
      </p:sp>
      <p:sp>
        <p:nvSpPr>
          <p:cNvPr id="61" name="TextBox 60"/>
          <p:cNvSpPr txBox="1"/>
          <p:nvPr/>
        </p:nvSpPr>
        <p:spPr>
          <a:xfrm>
            <a:off x="1743075" y="4916901"/>
            <a:ext cx="2190297" cy="179984"/>
          </a:xfrm>
          <a:prstGeom prst="rect">
            <a:avLst/>
          </a:prstGeom>
          <a:noFill/>
        </p:spPr>
        <p:txBody>
          <a:bodyPr wrap="none" lIns="0" rIns="0" tIns="0" bIns="0">
            <a:spAutoFit/>
          </a:bodyPr>
          <a:lstStyle/>
          <a:p>
            <a:r>
              <a:rPr sz="1055" b="0">
                <a:solidFill>
                  <a:srgbClr val="2E2E2E"/>
                </a:solidFill>
                <a:latin typeface="Calibri"/>
              </a:rPr>
              <a:t>Mid-horizon checkpoint: value reaches</a:t>
            </a:r>
          </a:p>
        </p:txBody>
      </p:sp>
      <p:pic>
        <p:nvPicPr>
          <p:cNvPr id="62" name="Picture 61" descr="lock.png"/>
          <p:cNvPicPr>
            <a:picLocks noChangeAspect="1"/>
          </p:cNvPicPr>
          <p:nvPr/>
        </p:nvPicPr>
        <p:blipFill>
          <a:blip r:embed="rId4"/>
          <a:stretch>
            <a:fillRect/>
          </a:stretch>
        </p:blipFill>
        <p:spPr>
          <a:xfrm>
            <a:off x="3880454" y="4907513"/>
            <a:ext cx="123551" cy="179710"/>
          </a:xfrm>
          <a:prstGeom prst="rect">
            <a:avLst/>
          </a:prstGeom>
        </p:spPr>
      </p:pic>
      <p:sp>
        <p:nvSpPr>
          <p:cNvPr id="63" name="TextBox 62"/>
          <p:cNvSpPr txBox="1"/>
          <p:nvPr/>
        </p:nvSpPr>
        <p:spPr>
          <a:xfrm>
            <a:off x="4041250" y="4916901"/>
            <a:ext cx="541139" cy="179984"/>
          </a:xfrm>
          <a:prstGeom prst="rect">
            <a:avLst/>
          </a:prstGeom>
          <a:noFill/>
        </p:spPr>
        <p:txBody>
          <a:bodyPr wrap="none" lIns="0" rIns="0" tIns="0" bIns="0">
            <a:spAutoFit/>
          </a:bodyPr>
          <a:lstStyle/>
          <a:p>
            <a:r>
              <a:rPr sz="1055" b="0">
                <a:solidFill>
                  <a:srgbClr val="2E2E2E"/>
                </a:solidFill>
                <a:latin typeface="Calibri"/>
              </a:rPr>
              <a:t>US$ Mn,</a:t>
            </a:r>
          </a:p>
        </p:txBody>
      </p:sp>
      <p:pic>
        <p:nvPicPr>
          <p:cNvPr id="64" name="Picture 63" descr="lock.png"/>
          <p:cNvPicPr>
            <a:picLocks noChangeAspect="1"/>
          </p:cNvPicPr>
          <p:nvPr/>
        </p:nvPicPr>
        <p:blipFill>
          <a:blip r:embed="rId4"/>
          <a:stretch>
            <a:fillRect/>
          </a:stretch>
        </p:blipFill>
        <p:spPr>
          <a:xfrm>
            <a:off x="4529470" y="4907513"/>
            <a:ext cx="123551" cy="179710"/>
          </a:xfrm>
          <a:prstGeom prst="rect">
            <a:avLst/>
          </a:prstGeom>
        </p:spPr>
      </p:pic>
      <p:sp>
        <p:nvSpPr>
          <p:cNvPr id="65" name="TextBox 64"/>
          <p:cNvSpPr txBox="1"/>
          <p:nvPr/>
        </p:nvSpPr>
        <p:spPr>
          <a:xfrm>
            <a:off x="4690266" y="4916901"/>
            <a:ext cx="2581333" cy="179984"/>
          </a:xfrm>
          <a:prstGeom prst="rect">
            <a:avLst/>
          </a:prstGeom>
          <a:noFill/>
        </p:spPr>
        <p:txBody>
          <a:bodyPr wrap="none" lIns="0" rIns="0" tIns="0" bIns="0">
            <a:spAutoFit/>
          </a:bodyPr>
          <a:lstStyle/>
          <a:p>
            <a:r>
              <a:rPr sz="1055" b="0">
                <a:solidFill>
                  <a:srgbClr val="2E2E2E"/>
                </a:solidFill>
                <a:latin typeface="Calibri"/>
              </a:rPr>
              <a:t>× the 2026 base. Average realisation stands at</a:t>
            </a:r>
          </a:p>
        </p:txBody>
      </p:sp>
      <p:pic>
        <p:nvPicPr>
          <p:cNvPr id="66" name="Picture 65" descr="lock.png"/>
          <p:cNvPicPr>
            <a:picLocks noChangeAspect="1"/>
          </p:cNvPicPr>
          <p:nvPr/>
        </p:nvPicPr>
        <p:blipFill>
          <a:blip r:embed="rId4"/>
          <a:stretch>
            <a:fillRect/>
          </a:stretch>
        </p:blipFill>
        <p:spPr>
          <a:xfrm>
            <a:off x="7218681" y="4907513"/>
            <a:ext cx="123551" cy="179710"/>
          </a:xfrm>
          <a:prstGeom prst="rect">
            <a:avLst/>
          </a:prstGeom>
        </p:spPr>
      </p:pic>
      <p:sp>
        <p:nvSpPr>
          <p:cNvPr id="67" name="TextBox 66"/>
          <p:cNvSpPr txBox="1"/>
          <p:nvPr/>
        </p:nvSpPr>
        <p:spPr>
          <a:xfrm>
            <a:off x="7379477" y="4916901"/>
            <a:ext cx="1740288" cy="179984"/>
          </a:xfrm>
          <a:prstGeom prst="rect">
            <a:avLst/>
          </a:prstGeom>
          <a:noFill/>
        </p:spPr>
        <p:txBody>
          <a:bodyPr wrap="none" lIns="0" rIns="0" tIns="0" bIns="0">
            <a:spAutoFit/>
          </a:bodyPr>
          <a:lstStyle/>
          <a:p>
            <a:r>
              <a:rPr sz="1055" b="0">
                <a:solidFill>
                  <a:srgbClr val="2E2E2E"/>
                </a:solidFill>
                <a:latin typeface="Calibri"/>
              </a:rPr>
              <a:t>US$/MT, and mix has moved +</a:t>
            </a:r>
          </a:p>
        </p:txBody>
      </p:sp>
      <p:pic>
        <p:nvPicPr>
          <p:cNvPr id="68" name="Picture 67" descr="lock.png"/>
          <p:cNvPicPr>
            <a:picLocks noChangeAspect="1"/>
          </p:cNvPicPr>
          <p:nvPr/>
        </p:nvPicPr>
        <p:blipFill>
          <a:blip r:embed="rId4"/>
          <a:stretch>
            <a:fillRect/>
          </a:stretch>
        </p:blipFill>
        <p:spPr>
          <a:xfrm>
            <a:off x="9066848" y="4907513"/>
            <a:ext cx="123551" cy="179710"/>
          </a:xfrm>
          <a:prstGeom prst="rect">
            <a:avLst/>
          </a:prstGeom>
        </p:spPr>
      </p:pic>
      <p:sp>
        <p:nvSpPr>
          <p:cNvPr id="69" name="TextBox 68"/>
          <p:cNvSpPr txBox="1"/>
          <p:nvPr/>
        </p:nvSpPr>
        <p:spPr>
          <a:xfrm>
            <a:off x="9227644" y="4916901"/>
            <a:ext cx="2200775" cy="179984"/>
          </a:xfrm>
          <a:prstGeom prst="rect">
            <a:avLst/>
          </a:prstGeom>
          <a:noFill/>
        </p:spPr>
        <p:txBody>
          <a:bodyPr wrap="none" lIns="0" rIns="0" tIns="0" bIns="0">
            <a:spAutoFit/>
          </a:bodyPr>
          <a:lstStyle/>
          <a:p>
            <a:r>
              <a:rPr sz="1055" b="0">
                <a:solidFill>
                  <a:srgbClr val="2E2E2E"/>
                </a:solidFill>
                <a:latin typeface="Calibri"/>
              </a:rPr>
              <a:t>BPS toward 'Flat Dividers &amp; Layer Pads'</a:t>
            </a:r>
          </a:p>
        </p:txBody>
      </p:sp>
      <p:sp>
        <p:nvSpPr>
          <p:cNvPr id="70" name="TextBox 69"/>
          <p:cNvSpPr txBox="1"/>
          <p:nvPr/>
        </p:nvSpPr>
        <p:spPr>
          <a:xfrm>
            <a:off x="1743075" y="5077835"/>
            <a:ext cx="4038761" cy="179984"/>
          </a:xfrm>
          <a:prstGeom prst="rect">
            <a:avLst/>
          </a:prstGeom>
          <a:noFill/>
        </p:spPr>
        <p:txBody>
          <a:bodyPr wrap="none" lIns="0" rIns="0" tIns="0" bIns="0">
            <a:spAutoFit/>
          </a:bodyPr>
          <a:lstStyle/>
          <a:p>
            <a:r>
              <a:rPr sz="1055" b="0">
                <a:solidFill>
                  <a:srgbClr val="2E2E2E"/>
                </a:solidFill>
                <a:latin typeface="Calibri"/>
              </a:rPr>
              <a:t>while 'Die-Cut &amp; Folded Partitions (H-dividers, tube/cell inserts)' gives up</a:t>
            </a:r>
          </a:p>
        </p:txBody>
      </p:sp>
      <p:pic>
        <p:nvPicPr>
          <p:cNvPr id="71" name="Picture 70" descr="lock.png"/>
          <p:cNvPicPr>
            <a:picLocks noChangeAspect="1"/>
          </p:cNvPicPr>
          <p:nvPr/>
        </p:nvPicPr>
        <p:blipFill>
          <a:blip r:embed="rId4"/>
          <a:stretch>
            <a:fillRect/>
          </a:stretch>
        </p:blipFill>
        <p:spPr>
          <a:xfrm>
            <a:off x="5728918" y="5068447"/>
            <a:ext cx="123551" cy="179710"/>
          </a:xfrm>
          <a:prstGeom prst="rect">
            <a:avLst/>
          </a:prstGeom>
        </p:spPr>
      </p:pic>
      <p:sp>
        <p:nvSpPr>
          <p:cNvPr id="72" name="TextBox 71"/>
          <p:cNvSpPr txBox="1"/>
          <p:nvPr/>
        </p:nvSpPr>
        <p:spPr>
          <a:xfrm>
            <a:off x="5889714" y="5077835"/>
            <a:ext cx="314039" cy="179984"/>
          </a:xfrm>
          <a:prstGeom prst="rect">
            <a:avLst/>
          </a:prstGeom>
          <a:noFill/>
        </p:spPr>
        <p:txBody>
          <a:bodyPr wrap="none" lIns="0" rIns="0" tIns="0" bIns="0">
            <a:spAutoFit/>
          </a:bodyPr>
          <a:lstStyle/>
          <a:p>
            <a:r>
              <a:rPr sz="1055" b="0">
                <a:solidFill>
                  <a:srgbClr val="2E2E2E"/>
                </a:solidFill>
                <a:latin typeface="Calibri"/>
              </a:rPr>
              <a:t>BPS.</a:t>
            </a:r>
          </a:p>
        </p:txBody>
      </p:sp>
      <p:sp>
        <p:nvSpPr>
          <p:cNvPr id="73" name="TextBox 72"/>
          <p:cNvSpPr txBox="1"/>
          <p:nvPr/>
        </p:nvSpPr>
        <p:spPr>
          <a:xfrm>
            <a:off x="1743075" y="5902601"/>
            <a:ext cx="2544146" cy="179984"/>
          </a:xfrm>
          <a:prstGeom prst="rect">
            <a:avLst/>
          </a:prstGeom>
          <a:noFill/>
        </p:spPr>
        <p:txBody>
          <a:bodyPr wrap="none" lIns="0" rIns="0" tIns="0" bIns="0">
            <a:spAutoFit/>
          </a:bodyPr>
          <a:lstStyle/>
          <a:p>
            <a:r>
              <a:rPr sz="1055" b="0">
                <a:solidFill>
                  <a:srgbClr val="2E2E2E"/>
                </a:solidFill>
                <a:latin typeface="Calibri"/>
              </a:rPr>
              <a:t>Forecast outcome: the global market reaches</a:t>
            </a:r>
          </a:p>
        </p:txBody>
      </p:sp>
      <p:pic>
        <p:nvPicPr>
          <p:cNvPr id="74" name="Picture 73" descr="lock.png"/>
          <p:cNvPicPr>
            <a:picLocks noChangeAspect="1"/>
          </p:cNvPicPr>
          <p:nvPr/>
        </p:nvPicPr>
        <p:blipFill>
          <a:blip r:embed="rId4"/>
          <a:stretch>
            <a:fillRect/>
          </a:stretch>
        </p:blipFill>
        <p:spPr>
          <a:xfrm>
            <a:off x="4234303" y="5893213"/>
            <a:ext cx="123551" cy="179710"/>
          </a:xfrm>
          <a:prstGeom prst="rect">
            <a:avLst/>
          </a:prstGeom>
        </p:spPr>
      </p:pic>
      <p:sp>
        <p:nvSpPr>
          <p:cNvPr id="75" name="TextBox 74"/>
          <p:cNvSpPr txBox="1"/>
          <p:nvPr/>
        </p:nvSpPr>
        <p:spPr>
          <a:xfrm>
            <a:off x="4395098" y="5902601"/>
            <a:ext cx="635698" cy="179984"/>
          </a:xfrm>
          <a:prstGeom prst="rect">
            <a:avLst/>
          </a:prstGeom>
          <a:noFill/>
        </p:spPr>
        <p:txBody>
          <a:bodyPr wrap="none" lIns="0" rIns="0" tIns="0" bIns="0">
            <a:spAutoFit/>
          </a:bodyPr>
          <a:lstStyle/>
          <a:p>
            <a:r>
              <a:rPr sz="1055" b="0">
                <a:solidFill>
                  <a:srgbClr val="2E2E2E"/>
                </a:solidFill>
                <a:latin typeface="Calibri"/>
              </a:rPr>
              <a:t>US$ Mn, a</a:t>
            </a:r>
          </a:p>
        </p:txBody>
      </p:sp>
      <p:pic>
        <p:nvPicPr>
          <p:cNvPr id="76" name="Picture 75" descr="lock.png"/>
          <p:cNvPicPr>
            <a:picLocks noChangeAspect="1"/>
          </p:cNvPicPr>
          <p:nvPr/>
        </p:nvPicPr>
        <p:blipFill>
          <a:blip r:embed="rId4"/>
          <a:stretch>
            <a:fillRect/>
          </a:stretch>
        </p:blipFill>
        <p:spPr>
          <a:xfrm>
            <a:off x="4977879" y="5893213"/>
            <a:ext cx="123551" cy="179710"/>
          </a:xfrm>
          <a:prstGeom prst="rect">
            <a:avLst/>
          </a:prstGeom>
        </p:spPr>
      </p:pic>
      <p:sp>
        <p:nvSpPr>
          <p:cNvPr id="77" name="TextBox 76"/>
          <p:cNvSpPr txBox="1"/>
          <p:nvPr/>
        </p:nvSpPr>
        <p:spPr>
          <a:xfrm>
            <a:off x="5138675" y="5902601"/>
            <a:ext cx="1437751" cy="179984"/>
          </a:xfrm>
          <a:prstGeom prst="rect">
            <a:avLst/>
          </a:prstGeom>
          <a:noFill/>
        </p:spPr>
        <p:txBody>
          <a:bodyPr wrap="none" lIns="0" rIns="0" tIns="0" bIns="0">
            <a:spAutoFit/>
          </a:bodyPr>
          <a:lstStyle/>
          <a:p>
            <a:r>
              <a:rPr sz="1055" b="0">
                <a:solidFill>
                  <a:srgbClr val="2E2E2E"/>
                </a:solidFill>
                <a:latin typeface="Calibri"/>
              </a:rPr>
              <a:t>× expansion on 2026 and</a:t>
            </a:r>
          </a:p>
        </p:txBody>
      </p:sp>
      <p:pic>
        <p:nvPicPr>
          <p:cNvPr id="78" name="Picture 77" descr="lock.png"/>
          <p:cNvPicPr>
            <a:picLocks noChangeAspect="1"/>
          </p:cNvPicPr>
          <p:nvPr/>
        </p:nvPicPr>
        <p:blipFill>
          <a:blip r:embed="rId4"/>
          <a:stretch>
            <a:fillRect/>
          </a:stretch>
        </p:blipFill>
        <p:spPr>
          <a:xfrm>
            <a:off x="6523507" y="5893213"/>
            <a:ext cx="123551" cy="179710"/>
          </a:xfrm>
          <a:prstGeom prst="rect">
            <a:avLst/>
          </a:prstGeom>
        </p:spPr>
      </p:pic>
      <p:sp>
        <p:nvSpPr>
          <p:cNvPr id="79" name="TextBox 78"/>
          <p:cNvSpPr txBox="1"/>
          <p:nvPr/>
        </p:nvSpPr>
        <p:spPr>
          <a:xfrm>
            <a:off x="6684303" y="5902601"/>
            <a:ext cx="1799224" cy="179984"/>
          </a:xfrm>
          <a:prstGeom prst="rect">
            <a:avLst/>
          </a:prstGeom>
          <a:noFill/>
        </p:spPr>
        <p:txBody>
          <a:bodyPr wrap="none" lIns="0" rIns="0" tIns="0" bIns="0">
            <a:spAutoFit/>
          </a:bodyPr>
          <a:lstStyle/>
          <a:p>
            <a:r>
              <a:rPr sz="1055" b="0">
                <a:solidFill>
                  <a:srgbClr val="2E2E2E"/>
                </a:solidFill>
                <a:latin typeface="Calibri"/>
              </a:rPr>
              <a:t>US$ Mn of incremental value at</a:t>
            </a:r>
          </a:p>
        </p:txBody>
      </p:sp>
      <p:pic>
        <p:nvPicPr>
          <p:cNvPr id="80" name="Picture 79" descr="lock.png"/>
          <p:cNvPicPr>
            <a:picLocks noChangeAspect="1"/>
          </p:cNvPicPr>
          <p:nvPr/>
        </p:nvPicPr>
        <p:blipFill>
          <a:blip r:embed="rId4"/>
          <a:stretch>
            <a:fillRect/>
          </a:stretch>
        </p:blipFill>
        <p:spPr>
          <a:xfrm>
            <a:off x="8430610" y="5893213"/>
            <a:ext cx="123551" cy="179710"/>
          </a:xfrm>
          <a:prstGeom prst="rect">
            <a:avLst/>
          </a:prstGeom>
        </p:spPr>
      </p:pic>
      <p:sp>
        <p:nvSpPr>
          <p:cNvPr id="81" name="TextBox 80"/>
          <p:cNvSpPr txBox="1"/>
          <p:nvPr/>
        </p:nvSpPr>
        <p:spPr>
          <a:xfrm>
            <a:off x="8591406" y="5902601"/>
            <a:ext cx="1678717" cy="179984"/>
          </a:xfrm>
          <a:prstGeom prst="rect">
            <a:avLst/>
          </a:prstGeom>
          <a:noFill/>
        </p:spPr>
        <p:txBody>
          <a:bodyPr wrap="none" lIns="0" rIns="0" tIns="0" bIns="0">
            <a:spAutoFit/>
          </a:bodyPr>
          <a:lstStyle/>
          <a:p>
            <a:r>
              <a:rPr sz="1055" b="0">
                <a:solidFill>
                  <a:srgbClr val="2E2E2E"/>
                </a:solidFill>
                <a:latin typeface="Calibri"/>
              </a:rPr>
              <a:t>CAGR. Volume compounds at</a:t>
            </a:r>
          </a:p>
        </p:txBody>
      </p:sp>
      <p:pic>
        <p:nvPicPr>
          <p:cNvPr id="82" name="Picture 81" descr="lock.png"/>
          <p:cNvPicPr>
            <a:picLocks noChangeAspect="1"/>
          </p:cNvPicPr>
          <p:nvPr/>
        </p:nvPicPr>
        <p:blipFill>
          <a:blip r:embed="rId4"/>
          <a:stretch>
            <a:fillRect/>
          </a:stretch>
        </p:blipFill>
        <p:spPr>
          <a:xfrm>
            <a:off x="10217204" y="5893213"/>
            <a:ext cx="123551" cy="179710"/>
          </a:xfrm>
          <a:prstGeom prst="rect">
            <a:avLst/>
          </a:prstGeom>
        </p:spPr>
      </p:pic>
      <p:sp>
        <p:nvSpPr>
          <p:cNvPr id="83" name="TextBox 82"/>
          <p:cNvSpPr txBox="1"/>
          <p:nvPr/>
        </p:nvSpPr>
        <p:spPr>
          <a:xfrm>
            <a:off x="10378000" y="5902601"/>
            <a:ext cx="854678" cy="179984"/>
          </a:xfrm>
          <a:prstGeom prst="rect">
            <a:avLst/>
          </a:prstGeom>
          <a:noFill/>
        </p:spPr>
        <p:txBody>
          <a:bodyPr wrap="none" lIns="0" rIns="0" tIns="0" bIns="0">
            <a:spAutoFit/>
          </a:bodyPr>
          <a:lstStyle/>
          <a:p>
            <a:r>
              <a:rPr sz="1055" b="0">
                <a:solidFill>
                  <a:srgbClr val="2E2E2E"/>
                </a:solidFill>
                <a:latin typeface="Calibri"/>
              </a:rPr>
              <a:t>over the same</a:t>
            </a:r>
          </a:p>
        </p:txBody>
      </p:sp>
      <p:sp>
        <p:nvSpPr>
          <p:cNvPr id="84" name="TextBox 83"/>
          <p:cNvSpPr txBox="1"/>
          <p:nvPr/>
        </p:nvSpPr>
        <p:spPr>
          <a:xfrm>
            <a:off x="1743075" y="6063535"/>
            <a:ext cx="1565052" cy="179984"/>
          </a:xfrm>
          <a:prstGeom prst="rect">
            <a:avLst/>
          </a:prstGeom>
          <a:noFill/>
        </p:spPr>
        <p:txBody>
          <a:bodyPr wrap="none" lIns="0" rIns="0" tIns="0" bIns="0">
            <a:spAutoFit/>
          </a:bodyPr>
          <a:lstStyle/>
          <a:p>
            <a:r>
              <a:rPr sz="1055" b="0">
                <a:solidFill>
                  <a:srgbClr val="2E2E2E"/>
                </a:solidFill>
                <a:latin typeface="Calibri"/>
              </a:rPr>
              <a:t>window, leaving realisation</a:t>
            </a:r>
          </a:p>
        </p:txBody>
      </p:sp>
      <p:pic>
        <p:nvPicPr>
          <p:cNvPr id="85" name="Picture 84" descr="lock.png"/>
          <p:cNvPicPr>
            <a:picLocks noChangeAspect="1"/>
          </p:cNvPicPr>
          <p:nvPr/>
        </p:nvPicPr>
        <p:blipFill>
          <a:blip r:embed="rId4"/>
          <a:stretch>
            <a:fillRect/>
          </a:stretch>
        </p:blipFill>
        <p:spPr>
          <a:xfrm>
            <a:off x="3255209" y="6054147"/>
            <a:ext cx="123551" cy="179710"/>
          </a:xfrm>
          <a:prstGeom prst="rect">
            <a:avLst/>
          </a:prstGeom>
        </p:spPr>
      </p:pic>
      <p:sp>
        <p:nvSpPr>
          <p:cNvPr id="86" name="TextBox 85"/>
          <p:cNvSpPr txBox="1"/>
          <p:nvPr/>
        </p:nvSpPr>
        <p:spPr>
          <a:xfrm>
            <a:off x="3416005" y="6063535"/>
            <a:ext cx="4255412" cy="179984"/>
          </a:xfrm>
          <a:prstGeom prst="rect">
            <a:avLst/>
          </a:prstGeom>
          <a:noFill/>
        </p:spPr>
        <p:txBody>
          <a:bodyPr wrap="none" lIns="0" rIns="0" t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Corrugated Partition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3 partition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2628900" y="385483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2628900" y="4539352"/>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3 comparable partition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5010150" y="3480637"/>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5010150" y="4539352"/>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1341647"/>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7391400" y="4229039"/>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7391400" y="4721889"/>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5" name="TextBox 54"/>
          <p:cNvSpPr txBox="1"/>
          <p:nvPr/>
        </p:nvSpPr>
        <p:spPr>
          <a:xfrm>
            <a:off x="977265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6" name="TextBox 55"/>
          <p:cNvSpPr txBox="1"/>
          <p:nvPr/>
        </p:nvSpPr>
        <p:spPr>
          <a:xfrm>
            <a:off x="9772650" y="434768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171450" y="1069470"/>
            <a:ext cx="9740056" cy="186689"/>
          </a:xfrm>
          <a:prstGeom prst="rect">
            <a:avLst/>
          </a:prstGeom>
          <a:noFill/>
        </p:spPr>
        <p:txBody>
          <a:bodyPr wrap="none" lIns="0" rIns="0" tIns="0" bIns="0">
            <a:spAutoFit/>
          </a:bodyPr>
          <a:lstStyle/>
          <a:p>
            <a:r>
              <a:rPr sz="1100" b="0">
                <a:solidFill>
                  <a:srgbClr val="6C7A89"/>
                </a:solidFill>
                <a:latin typeface="Calibri"/>
              </a:rPr>
              <a:t>Supplier power, buyer power, competitive intensity, substitution and entry barriers scored from the global dataset 3 partition type lines, 7 end use routes and 6 regions at</a:t>
            </a:r>
          </a:p>
        </p:txBody>
      </p:sp>
      <p:pic>
        <p:nvPicPr>
          <p:cNvPr id="59" name="Picture 58" descr="lock.png"/>
          <p:cNvPicPr>
            <a:picLocks noChangeAspect="1"/>
          </p:cNvPicPr>
          <p:nvPr/>
        </p:nvPicPr>
        <p:blipFill>
          <a:blip r:embed="rId4"/>
          <a:stretch>
            <a:fillRect/>
          </a:stretch>
        </p:blipFill>
        <p:spPr>
          <a:xfrm>
            <a:off x="9859558" y="1059691"/>
            <a:ext cx="128699" cy="187198"/>
          </a:xfrm>
          <a:prstGeom prst="rect">
            <a:avLst/>
          </a:prstGeom>
        </p:spPr>
      </p:pic>
      <p:sp>
        <p:nvSpPr>
          <p:cNvPr id="60" name="TextBox 59"/>
          <p:cNvSpPr txBox="1"/>
          <p:nvPr/>
        </p:nvSpPr>
        <p:spPr>
          <a:xfrm>
            <a:off x="10027054" y="1069470"/>
            <a:ext cx="430617" cy="186689"/>
          </a:xfrm>
          <a:prstGeom prst="rect">
            <a:avLst/>
          </a:prstGeom>
          <a:noFill/>
        </p:spPr>
        <p:txBody>
          <a:bodyPr wrap="none" lIns="0" rIns="0" tIns="0" bIns="0">
            <a:spAutoFit/>
          </a:bodyPr>
          <a:lstStyle/>
          <a:p>
            <a:r>
              <a:rPr sz="1100" b="0">
                <a:solidFill>
                  <a:srgbClr val="6C7A89"/>
                </a:solidFill>
                <a:latin typeface="Calibri"/>
              </a:rPr>
              <a:t>CAGR.</a:t>
            </a:r>
          </a:p>
        </p:txBody>
      </p:sp>
      <p:sp>
        <p:nvSpPr>
          <p:cNvPr id="61" name="TextBox 60"/>
          <p:cNvSpPr txBox="1"/>
          <p:nvPr/>
        </p:nvSpPr>
        <p:spPr>
          <a:xfrm>
            <a:off x="276225" y="2848734"/>
            <a:ext cx="2114550" cy="186689"/>
          </a:xfrm>
          <a:prstGeom prst="rect">
            <a:avLst/>
          </a:prstGeom>
          <a:noFill/>
        </p:spPr>
        <p:txBody>
          <a:bodyPr wrap="none" lIns="0" rIns="0" tIns="0" bIns="0">
            <a:spAutoFit/>
          </a:bodyPr>
          <a:lstStyle/>
          <a:p>
            <a:r>
              <a:rPr sz="1100" b="0">
                <a:solidFill>
                  <a:srgbClr val="2E2E2E"/>
                </a:solidFill>
                <a:latin typeface="Calibri"/>
              </a:rPr>
              <a:t>▸ Assessed moderate to high. 'North</a:t>
            </a:r>
          </a:p>
        </p:txBody>
      </p:sp>
      <p:sp>
        <p:nvSpPr>
          <p:cNvPr id="62" name="TextBox 61"/>
          <p:cNvSpPr txBox="1"/>
          <p:nvPr/>
        </p:nvSpPr>
        <p:spPr>
          <a:xfrm>
            <a:off x="276225" y="3016374"/>
            <a:ext cx="1071016" cy="186689"/>
          </a:xfrm>
          <a:prstGeom prst="rect">
            <a:avLst/>
          </a:prstGeom>
          <a:noFill/>
        </p:spPr>
        <p:txBody>
          <a:bodyPr wrap="none" lIns="0" rIns="0" tIns="0" bIns="0">
            <a:spAutoFit/>
          </a:bodyPr>
          <a:lstStyle/>
          <a:p>
            <a:r>
              <a:rPr sz="1100" b="0">
                <a:solidFill>
                  <a:srgbClr val="2E2E2E"/>
                </a:solidFill>
                <a:latin typeface="Calibri"/>
              </a:rPr>
              <a:t>America' supplies</a:t>
            </a:r>
          </a:p>
        </p:txBody>
      </p:sp>
      <p:pic>
        <p:nvPicPr>
          <p:cNvPr id="63" name="Picture 62" descr="lock.png"/>
          <p:cNvPicPr>
            <a:picLocks noChangeAspect="1"/>
          </p:cNvPicPr>
          <p:nvPr/>
        </p:nvPicPr>
        <p:blipFill>
          <a:blip r:embed="rId4"/>
          <a:stretch>
            <a:fillRect/>
          </a:stretch>
        </p:blipFill>
        <p:spPr>
          <a:xfrm>
            <a:off x="1295293" y="3006595"/>
            <a:ext cx="128699" cy="187198"/>
          </a:xfrm>
          <a:prstGeom prst="rect">
            <a:avLst/>
          </a:prstGeom>
        </p:spPr>
      </p:pic>
      <p:sp>
        <p:nvSpPr>
          <p:cNvPr id="64" name="TextBox 63"/>
          <p:cNvSpPr txBox="1"/>
          <p:nvPr/>
        </p:nvSpPr>
        <p:spPr>
          <a:xfrm>
            <a:off x="1462789" y="3016374"/>
            <a:ext cx="844549"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65" name="TextBox 64"/>
          <p:cNvSpPr txBox="1"/>
          <p:nvPr/>
        </p:nvSpPr>
        <p:spPr>
          <a:xfrm>
            <a:off x="276225" y="3184014"/>
            <a:ext cx="1842095" cy="186689"/>
          </a:xfrm>
          <a:prstGeom prst="rect">
            <a:avLst/>
          </a:prstGeom>
          <a:noFill/>
        </p:spPr>
        <p:txBody>
          <a:bodyPr wrap="none" lIns="0" rIns="0" tIns="0" bIns="0">
            <a:spAutoFit/>
          </a:bodyPr>
          <a:lstStyle/>
          <a:p>
            <a:r>
              <a:rPr sz="1100" b="0">
                <a:solidFill>
                  <a:srgbClr val="2E2E2E"/>
                </a:solidFill>
                <a:latin typeface="Calibri"/>
              </a:rPr>
              <a:t>across 6 regions, concentrating</a:t>
            </a:r>
          </a:p>
        </p:txBody>
      </p:sp>
      <p:sp>
        <p:nvSpPr>
          <p:cNvPr id="66" name="TextBox 65"/>
          <p:cNvSpPr txBox="1"/>
          <p:nvPr/>
        </p:nvSpPr>
        <p:spPr>
          <a:xfrm>
            <a:off x="276225" y="3351654"/>
            <a:ext cx="1173608" cy="186689"/>
          </a:xfrm>
          <a:prstGeom prst="rect">
            <a:avLst/>
          </a:prstGeom>
          <a:noFill/>
        </p:spPr>
        <p:txBody>
          <a:bodyPr wrap="none" lIns="0" rIns="0" tIns="0" bIns="0">
            <a:spAutoFit/>
          </a:bodyPr>
          <a:lstStyle/>
          <a:p>
            <a:r>
              <a:rPr sz="1100" b="0">
                <a:solidFill>
                  <a:srgbClr val="2E2E2E"/>
                </a:solidFill>
                <a:latin typeface="Calibri"/>
              </a:rPr>
              <a:t>upstream leverage.</a:t>
            </a:r>
          </a:p>
        </p:txBody>
      </p:sp>
      <p:sp>
        <p:nvSpPr>
          <p:cNvPr id="67" name="TextBox 66"/>
          <p:cNvSpPr txBox="1"/>
          <p:nvPr/>
        </p:nvSpPr>
        <p:spPr>
          <a:xfrm>
            <a:off x="276225" y="3799605"/>
            <a:ext cx="1676163" cy="186689"/>
          </a:xfrm>
          <a:prstGeom prst="rect">
            <a:avLst/>
          </a:prstGeom>
          <a:noFill/>
        </p:spPr>
        <p:txBody>
          <a:bodyPr wrap="none" lIns="0" rIns="0" tIns="0" bIns="0">
            <a:spAutoFit/>
          </a:bodyPr>
          <a:lstStyle/>
          <a:p>
            <a:r>
              <a:rPr sz="1100" b="0">
                <a:solidFill>
                  <a:srgbClr val="2E2E2E"/>
                </a:solidFill>
                <a:latin typeface="Calibri"/>
              </a:rPr>
              <a:t>▸ Average realisation moves</a:t>
            </a:r>
          </a:p>
        </p:txBody>
      </p:sp>
      <p:pic>
        <p:nvPicPr>
          <p:cNvPr id="68" name="Picture 67" descr="lock.png"/>
          <p:cNvPicPr>
            <a:picLocks noChangeAspect="1"/>
          </p:cNvPicPr>
          <p:nvPr/>
        </p:nvPicPr>
        <p:blipFill>
          <a:blip r:embed="rId4"/>
          <a:stretch>
            <a:fillRect/>
          </a:stretch>
        </p:blipFill>
        <p:spPr>
          <a:xfrm>
            <a:off x="1900439" y="3789826"/>
            <a:ext cx="128699" cy="187198"/>
          </a:xfrm>
          <a:prstGeom prst="rect">
            <a:avLst/>
          </a:prstGeom>
        </p:spPr>
      </p:pic>
      <p:sp>
        <p:nvSpPr>
          <p:cNvPr id="69" name="TextBox 68"/>
          <p:cNvSpPr txBox="1"/>
          <p:nvPr/>
        </p:nvSpPr>
        <p:spPr>
          <a:xfrm>
            <a:off x="2067935" y="3799605"/>
            <a:ext cx="143048" cy="186689"/>
          </a:xfrm>
          <a:prstGeom prst="rect">
            <a:avLst/>
          </a:prstGeom>
          <a:noFill/>
        </p:spPr>
        <p:txBody>
          <a:bodyPr wrap="none" lIns="0" rIns="0" tIns="0" bIns="0">
            <a:spAutoFit/>
          </a:bodyPr>
          <a:lstStyle/>
          <a:p>
            <a:r>
              <a:rPr sz="1100" b="0">
                <a:solidFill>
                  <a:srgbClr val="2E2E2E"/>
                </a:solidFill>
                <a:latin typeface="Calibri"/>
              </a:rPr>
              <a:t>a</a:t>
            </a:r>
          </a:p>
        </p:txBody>
      </p:sp>
      <p:sp>
        <p:nvSpPr>
          <p:cNvPr id="70" name="TextBox 69"/>
          <p:cNvSpPr txBox="1"/>
          <p:nvPr/>
        </p:nvSpPr>
        <p:spPr>
          <a:xfrm>
            <a:off x="276225" y="3967245"/>
            <a:ext cx="2031181" cy="186689"/>
          </a:xfrm>
          <a:prstGeom prst="rect">
            <a:avLst/>
          </a:prstGeom>
          <a:noFill/>
        </p:spPr>
        <p:txBody>
          <a:bodyPr wrap="none" lIns="0" rIns="0" tIns="0" bIns="0">
            <a:spAutoFit/>
          </a:bodyPr>
          <a:lstStyle/>
          <a:p>
            <a:r>
              <a:rPr sz="1100" b="0">
                <a:solidFill>
                  <a:srgbClr val="2E2E2E"/>
                </a:solidFill>
                <a:latin typeface="Calibri"/>
              </a:rPr>
              <a:t>year (2026–2036), indicating input</a:t>
            </a:r>
          </a:p>
        </p:txBody>
      </p:sp>
      <p:sp>
        <p:nvSpPr>
          <p:cNvPr id="71" name="TextBox 70"/>
          <p:cNvSpPr txBox="1"/>
          <p:nvPr/>
        </p:nvSpPr>
        <p:spPr>
          <a:xfrm>
            <a:off x="276225" y="4134885"/>
            <a:ext cx="1874291" cy="186689"/>
          </a:xfrm>
          <a:prstGeom prst="rect">
            <a:avLst/>
          </a:prstGeom>
          <a:noFill/>
        </p:spPr>
        <p:txBody>
          <a:bodyPr wrap="none" lIns="0" rIns="0" tIns="0" bIns="0">
            <a:spAutoFit/>
          </a:bodyPr>
          <a:lstStyle/>
          <a:p>
            <a:r>
              <a:rPr sz="1100" b="0">
                <a:solidFill>
                  <a:srgbClr val="2E2E2E"/>
                </a:solidFill>
                <a:latin typeface="Calibri"/>
              </a:rPr>
              <a:t>costs are being passed through.</a:t>
            </a:r>
          </a:p>
        </p:txBody>
      </p:sp>
      <p:sp>
        <p:nvSpPr>
          <p:cNvPr id="72" name="TextBox 71"/>
          <p:cNvSpPr txBox="1"/>
          <p:nvPr/>
        </p:nvSpPr>
        <p:spPr>
          <a:xfrm>
            <a:off x="2657475" y="2860746"/>
            <a:ext cx="1746324" cy="186689"/>
          </a:xfrm>
          <a:prstGeom prst="rect">
            <a:avLst/>
          </a:prstGeom>
          <a:noFill/>
        </p:spPr>
        <p:txBody>
          <a:bodyPr wrap="none" lIns="0" rIns="0" tIns="0" bIns="0">
            <a:spAutoFit/>
          </a:bodyPr>
          <a:lstStyle/>
          <a:p>
            <a:r>
              <a:rPr sz="1100" b="0">
                <a:solidFill>
                  <a:srgbClr val="2E2E2E"/>
                </a:solidFill>
                <a:latin typeface="Calibri"/>
              </a:rPr>
              <a:t>▸ Assessed moderate to high.</a:t>
            </a:r>
          </a:p>
        </p:txBody>
      </p:sp>
      <p:sp>
        <p:nvSpPr>
          <p:cNvPr id="73" name="TextBox 72"/>
          <p:cNvSpPr txBox="1"/>
          <p:nvPr/>
        </p:nvSpPr>
        <p:spPr>
          <a:xfrm>
            <a:off x="2657475" y="3028386"/>
            <a:ext cx="2022450" cy="186689"/>
          </a:xfrm>
          <a:prstGeom prst="rect">
            <a:avLst/>
          </a:prstGeom>
          <a:noFill/>
        </p:spPr>
        <p:txBody>
          <a:bodyPr wrap="none" lIns="0" rIns="0" tIns="0" bIns="0">
            <a:spAutoFit/>
          </a:bodyPr>
          <a:lstStyle/>
          <a:p>
            <a:r>
              <a:rPr sz="1100" b="0">
                <a:solidFill>
                  <a:srgbClr val="2E2E2E"/>
                </a:solidFill>
                <a:latin typeface="Calibri"/>
              </a:rPr>
              <a:t>Demand routes through 7 end use</a:t>
            </a:r>
          </a:p>
        </p:txBody>
      </p:sp>
      <p:sp>
        <p:nvSpPr>
          <p:cNvPr id="74" name="TextBox 73"/>
          <p:cNvSpPr txBox="1"/>
          <p:nvPr/>
        </p:nvSpPr>
        <p:spPr>
          <a:xfrm>
            <a:off x="2657475" y="3196026"/>
            <a:ext cx="2114550" cy="186689"/>
          </a:xfrm>
          <a:prstGeom prst="rect">
            <a:avLst/>
          </a:prstGeom>
          <a:noFill/>
        </p:spPr>
        <p:txBody>
          <a:bodyPr wrap="none" lIns="0" rIns="0" tIns="0" bIns="0">
            <a:spAutoFit/>
          </a:bodyPr>
          <a:lstStyle/>
          <a:p>
            <a:r>
              <a:rPr sz="1100" b="0">
                <a:solidFill>
                  <a:srgbClr val="2E2E2E"/>
                </a:solidFill>
                <a:latin typeface="Calibri"/>
              </a:rPr>
              <a:t>channels led by 'Glassware, Ceramics</a:t>
            </a:r>
          </a:p>
        </p:txBody>
      </p:sp>
      <p:sp>
        <p:nvSpPr>
          <p:cNvPr id="75" name="TextBox 74"/>
          <p:cNvSpPr txBox="1"/>
          <p:nvPr/>
        </p:nvSpPr>
        <p:spPr>
          <a:xfrm>
            <a:off x="2657475" y="3363666"/>
            <a:ext cx="1116310" cy="186689"/>
          </a:xfrm>
          <a:prstGeom prst="rect">
            <a:avLst/>
          </a:prstGeom>
          <a:noFill/>
        </p:spPr>
        <p:txBody>
          <a:bodyPr wrap="none" lIns="0" rIns="0" tIns="0" bIns="0">
            <a:spAutoFit/>
          </a:bodyPr>
          <a:lstStyle/>
          <a:p>
            <a:r>
              <a:rPr sz="1100" b="0">
                <a:solidFill>
                  <a:srgbClr val="2E2E2E"/>
                </a:solidFill>
                <a:latin typeface="Calibri"/>
              </a:rPr>
              <a:t>&amp; Home Goods' at</a:t>
            </a:r>
          </a:p>
        </p:txBody>
      </p:sp>
      <p:pic>
        <p:nvPicPr>
          <p:cNvPr id="76" name="Picture 75" descr="lock.png"/>
          <p:cNvPicPr>
            <a:picLocks noChangeAspect="1"/>
          </p:cNvPicPr>
          <p:nvPr/>
        </p:nvPicPr>
        <p:blipFill>
          <a:blip r:embed="rId4"/>
          <a:stretch>
            <a:fillRect/>
          </a:stretch>
        </p:blipFill>
        <p:spPr>
          <a:xfrm>
            <a:off x="3721836" y="3353887"/>
            <a:ext cx="128699" cy="187198"/>
          </a:xfrm>
          <a:prstGeom prst="rect">
            <a:avLst/>
          </a:prstGeom>
        </p:spPr>
      </p:pic>
      <p:sp>
        <p:nvSpPr>
          <p:cNvPr id="77" name="TextBox 76"/>
          <p:cNvSpPr txBox="1"/>
          <p:nvPr/>
        </p:nvSpPr>
        <p:spPr>
          <a:xfrm>
            <a:off x="3889332" y="3363666"/>
            <a:ext cx="789979" cy="186689"/>
          </a:xfrm>
          <a:prstGeom prst="rect">
            <a:avLst/>
          </a:prstGeom>
          <a:noFill/>
        </p:spPr>
        <p:txBody>
          <a:bodyPr wrap="none" lIns="0" rIns="0" tIns="0" bIns="0">
            <a:spAutoFit/>
          </a:bodyPr>
          <a:lstStyle/>
          <a:p>
            <a:r>
              <a:rPr sz="1100" b="0">
                <a:solidFill>
                  <a:srgbClr val="2E2E2E"/>
                </a:solidFill>
                <a:latin typeface="Calibri"/>
              </a:rPr>
              <a:t>, giving large</a:t>
            </a:r>
          </a:p>
        </p:txBody>
      </p:sp>
      <p:sp>
        <p:nvSpPr>
          <p:cNvPr id="78" name="TextBox 77"/>
          <p:cNvSpPr txBox="1"/>
          <p:nvPr/>
        </p:nvSpPr>
        <p:spPr>
          <a:xfrm>
            <a:off x="2657475" y="3531306"/>
            <a:ext cx="808533" cy="186689"/>
          </a:xfrm>
          <a:prstGeom prst="rect">
            <a:avLst/>
          </a:prstGeom>
          <a:noFill/>
        </p:spPr>
        <p:txBody>
          <a:bodyPr wrap="none" lIns="0" rIns="0" tIns="0" bIns="0">
            <a:spAutoFit/>
          </a:bodyPr>
          <a:lstStyle/>
          <a:p>
            <a:r>
              <a:rPr sz="1100" b="0">
                <a:solidFill>
                  <a:srgbClr val="2E2E2E"/>
                </a:solidFill>
                <a:latin typeface="Calibri"/>
              </a:rPr>
              <a:t>buyers scale.</a:t>
            </a:r>
          </a:p>
        </p:txBody>
      </p:sp>
      <p:sp>
        <p:nvSpPr>
          <p:cNvPr id="79" name="TextBox 78"/>
          <p:cNvSpPr txBox="1"/>
          <p:nvPr/>
        </p:nvSpPr>
        <p:spPr>
          <a:xfrm>
            <a:off x="2657475" y="3900000"/>
            <a:ext cx="2062013" cy="186689"/>
          </a:xfrm>
          <a:prstGeom prst="rect">
            <a:avLst/>
          </a:prstGeom>
          <a:noFill/>
        </p:spPr>
        <p:txBody>
          <a:bodyPr wrap="none" lIns="0" rIns="0" tIns="0" bIns="0">
            <a:spAutoFit/>
          </a:bodyPr>
          <a:lstStyle/>
          <a:p>
            <a:r>
              <a:rPr sz="1100" b="0">
                <a:solidFill>
                  <a:srgbClr val="2E2E2E"/>
                </a:solidFill>
                <a:latin typeface="Calibri"/>
              </a:rPr>
              <a:t>▸ Price sensitivity tracks realisation</a:t>
            </a:r>
          </a:p>
        </p:txBody>
      </p:sp>
      <p:sp>
        <p:nvSpPr>
          <p:cNvPr id="80" name="TextBox 79"/>
          <p:cNvSpPr txBox="1"/>
          <p:nvPr/>
        </p:nvSpPr>
        <p:spPr>
          <a:xfrm>
            <a:off x="2657475" y="4067640"/>
            <a:ext cx="495845" cy="186689"/>
          </a:xfrm>
          <a:prstGeom prst="rect">
            <a:avLst/>
          </a:prstGeom>
          <a:noFill/>
        </p:spPr>
        <p:txBody>
          <a:bodyPr wrap="none" lIns="0" rIns="0" tIns="0" bIns="0">
            <a:spAutoFit/>
          </a:bodyPr>
          <a:lstStyle/>
          <a:p>
            <a:r>
              <a:rPr sz="1100" b="0">
                <a:solidFill>
                  <a:srgbClr val="2E2E2E"/>
                </a:solidFill>
                <a:latin typeface="Calibri"/>
              </a:rPr>
              <a:t>moving</a:t>
            </a:r>
          </a:p>
        </p:txBody>
      </p:sp>
      <p:pic>
        <p:nvPicPr>
          <p:cNvPr id="81" name="Picture 80" descr="lock.png"/>
          <p:cNvPicPr>
            <a:picLocks noChangeAspect="1"/>
          </p:cNvPicPr>
          <p:nvPr/>
        </p:nvPicPr>
        <p:blipFill>
          <a:blip r:embed="rId4"/>
          <a:stretch>
            <a:fillRect/>
          </a:stretch>
        </p:blipFill>
        <p:spPr>
          <a:xfrm>
            <a:off x="3101372" y="4057861"/>
            <a:ext cx="128699" cy="187198"/>
          </a:xfrm>
          <a:prstGeom prst="rect">
            <a:avLst/>
          </a:prstGeom>
        </p:spPr>
      </p:pic>
      <p:sp>
        <p:nvSpPr>
          <p:cNvPr id="82" name="TextBox 81"/>
          <p:cNvSpPr txBox="1"/>
          <p:nvPr/>
        </p:nvSpPr>
        <p:spPr>
          <a:xfrm>
            <a:off x="3268868" y="4067640"/>
            <a:ext cx="1316583" cy="186689"/>
          </a:xfrm>
          <a:prstGeom prst="rect">
            <a:avLst/>
          </a:prstGeom>
          <a:noFill/>
        </p:spPr>
        <p:txBody>
          <a:bodyPr wrap="none" lIns="0" rIns="0" tIns="0" bIns="0">
            <a:spAutoFit/>
          </a:bodyPr>
          <a:lstStyle/>
          <a:p>
            <a:r>
              <a:rPr sz="1100" b="0">
                <a:solidFill>
                  <a:srgbClr val="2E2E2E"/>
                </a:solidFill>
                <a:latin typeface="Calibri"/>
              </a:rPr>
              <a:t>a year against volume</a:t>
            </a:r>
          </a:p>
        </p:txBody>
      </p:sp>
      <p:sp>
        <p:nvSpPr>
          <p:cNvPr id="83" name="TextBox 82"/>
          <p:cNvSpPr txBox="1"/>
          <p:nvPr/>
        </p:nvSpPr>
        <p:spPr>
          <a:xfrm>
            <a:off x="2657475" y="4235280"/>
            <a:ext cx="632544" cy="186689"/>
          </a:xfrm>
          <a:prstGeom prst="rect">
            <a:avLst/>
          </a:prstGeom>
          <a:noFill/>
        </p:spPr>
        <p:txBody>
          <a:bodyPr wrap="none" lIns="0" rIns="0" tIns="0" bIns="0">
            <a:spAutoFit/>
          </a:bodyPr>
          <a:lstStyle/>
          <a:p>
            <a:r>
              <a:rPr sz="1100" b="0">
                <a:solidFill>
                  <a:srgbClr val="2E2E2E"/>
                </a:solidFill>
                <a:latin typeface="Calibri"/>
              </a:rPr>
              <a:t>growth of</a:t>
            </a:r>
          </a:p>
        </p:txBody>
      </p:sp>
      <p:pic>
        <p:nvPicPr>
          <p:cNvPr id="84" name="Picture 83" descr="lock.png"/>
          <p:cNvPicPr>
            <a:picLocks noChangeAspect="1"/>
          </p:cNvPicPr>
          <p:nvPr/>
        </p:nvPicPr>
        <p:blipFill>
          <a:blip r:embed="rId4"/>
          <a:stretch>
            <a:fillRect/>
          </a:stretch>
        </p:blipFill>
        <p:spPr>
          <a:xfrm>
            <a:off x="3238070" y="4225501"/>
            <a:ext cx="128699" cy="187198"/>
          </a:xfrm>
          <a:prstGeom prst="rect">
            <a:avLst/>
          </a:prstGeom>
        </p:spPr>
      </p:pic>
      <p:sp>
        <p:nvSpPr>
          <p:cNvPr id="85" name="TextBox 84"/>
          <p:cNvSpPr txBox="1"/>
          <p:nvPr/>
        </p:nvSpPr>
        <p:spPr>
          <a:xfrm>
            <a:off x="3405566" y="423528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6" name="TextBox 85"/>
          <p:cNvSpPr txBox="1"/>
          <p:nvPr/>
        </p:nvSpPr>
        <p:spPr>
          <a:xfrm>
            <a:off x="5038725" y="2841285"/>
            <a:ext cx="1946324" cy="186689"/>
          </a:xfrm>
          <a:prstGeom prst="rect">
            <a:avLst/>
          </a:prstGeom>
          <a:noFill/>
        </p:spPr>
        <p:txBody>
          <a:bodyPr wrap="none" lIns="0" rIns="0" tIns="0" bIns="0">
            <a:spAutoFit/>
          </a:bodyPr>
          <a:lstStyle/>
          <a:p>
            <a:r>
              <a:rPr sz="1100" b="0">
                <a:solidFill>
                  <a:srgbClr val="2E2E2E"/>
                </a:solidFill>
                <a:latin typeface="Calibri"/>
              </a:rPr>
              <a:t>▸ Assessed moderate. 3 partition</a:t>
            </a:r>
          </a:p>
        </p:txBody>
      </p:sp>
      <p:sp>
        <p:nvSpPr>
          <p:cNvPr id="87" name="TextBox 86"/>
          <p:cNvSpPr txBox="1"/>
          <p:nvPr/>
        </p:nvSpPr>
        <p:spPr>
          <a:xfrm>
            <a:off x="5038725" y="3008925"/>
            <a:ext cx="1747142" cy="186689"/>
          </a:xfrm>
          <a:prstGeom prst="rect">
            <a:avLst/>
          </a:prstGeom>
          <a:noFill/>
        </p:spPr>
        <p:txBody>
          <a:bodyPr wrap="none" lIns="0" rIns="0" tIns="0" bIns="0">
            <a:spAutoFit/>
          </a:bodyPr>
          <a:lstStyle/>
          <a:p>
            <a:r>
              <a:rPr sz="1100" b="0">
                <a:solidFill>
                  <a:srgbClr val="2E2E2E"/>
                </a:solidFill>
                <a:latin typeface="Calibri"/>
              </a:rPr>
              <a:t>type lines compete inside the</a:t>
            </a:r>
          </a:p>
        </p:txBody>
      </p:sp>
      <p:sp>
        <p:nvSpPr>
          <p:cNvPr id="88" name="TextBox 87"/>
          <p:cNvSpPr txBox="1"/>
          <p:nvPr/>
        </p:nvSpPr>
        <p:spPr>
          <a:xfrm>
            <a:off x="5038725" y="3176565"/>
            <a:ext cx="1557511" cy="186689"/>
          </a:xfrm>
          <a:prstGeom prst="rect">
            <a:avLst/>
          </a:prstGeom>
          <a:noFill/>
        </p:spPr>
        <p:txBody>
          <a:bodyPr wrap="none" lIns="0" rIns="0" tIns="0" bIns="0">
            <a:spAutoFit/>
          </a:bodyPr>
          <a:lstStyle/>
          <a:p>
            <a:r>
              <a:rPr sz="1100" b="0">
                <a:solidFill>
                  <a:srgbClr val="2E2E2E"/>
                </a:solidFill>
                <a:latin typeface="Calibri"/>
              </a:rPr>
              <a:t>segment; the leader holds</a:t>
            </a:r>
          </a:p>
        </p:txBody>
      </p:sp>
      <p:pic>
        <p:nvPicPr>
          <p:cNvPr id="89" name="Picture 88" descr="lock.png"/>
          <p:cNvPicPr>
            <a:picLocks noChangeAspect="1"/>
          </p:cNvPicPr>
          <p:nvPr/>
        </p:nvPicPr>
        <p:blipFill>
          <a:blip r:embed="rId4"/>
          <a:stretch>
            <a:fillRect/>
          </a:stretch>
        </p:blipFill>
        <p:spPr>
          <a:xfrm>
            <a:off x="6544287" y="3166786"/>
            <a:ext cx="128699" cy="187198"/>
          </a:xfrm>
          <a:prstGeom prst="rect">
            <a:avLst/>
          </a:prstGeom>
        </p:spPr>
      </p:pic>
      <p:sp>
        <p:nvSpPr>
          <p:cNvPr id="90" name="TextBox 89"/>
          <p:cNvSpPr txBox="1"/>
          <p:nvPr/>
        </p:nvSpPr>
        <p:spPr>
          <a:xfrm>
            <a:off x="6711783" y="317656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1" name="TextBox 90"/>
          <p:cNvSpPr txBox="1"/>
          <p:nvPr/>
        </p:nvSpPr>
        <p:spPr>
          <a:xfrm>
            <a:off x="5038725" y="3545260"/>
            <a:ext cx="1934046" cy="186689"/>
          </a:xfrm>
          <a:prstGeom prst="rect">
            <a:avLst/>
          </a:prstGeom>
          <a:noFill/>
        </p:spPr>
        <p:txBody>
          <a:bodyPr wrap="none" lIns="0" rIns="0" tIns="0" bIns="0">
            <a:spAutoFit/>
          </a:bodyPr>
          <a:lstStyle/>
          <a:p>
            <a:r>
              <a:rPr sz="1100" b="0">
                <a:solidFill>
                  <a:srgbClr val="2E2E2E"/>
                </a:solidFill>
                <a:latin typeface="Calibri"/>
              </a:rPr>
              <a:t>▸ Growth is unevenly distributed</a:t>
            </a:r>
          </a:p>
        </p:txBody>
      </p:sp>
      <p:sp>
        <p:nvSpPr>
          <p:cNvPr id="92" name="TextBox 91"/>
          <p:cNvSpPr txBox="1"/>
          <p:nvPr/>
        </p:nvSpPr>
        <p:spPr>
          <a:xfrm>
            <a:off x="5038725" y="3712900"/>
            <a:ext cx="1749325" cy="186689"/>
          </a:xfrm>
          <a:prstGeom prst="rect">
            <a:avLst/>
          </a:prstGeom>
          <a:noFill/>
        </p:spPr>
        <p:txBody>
          <a:bodyPr wrap="none" lIns="0" rIns="0" tIns="0" bIns="0">
            <a:spAutoFit/>
          </a:bodyPr>
          <a:lstStyle/>
          <a:p>
            <a:r>
              <a:rPr sz="1100" b="0">
                <a:solidFill>
                  <a:srgbClr val="2E2E2E"/>
                </a:solidFill>
                <a:latin typeface="Calibri"/>
              </a:rPr>
              <a:t>'Flat Dividers &amp; Layer Pads' at</a:t>
            </a:r>
          </a:p>
        </p:txBody>
      </p:sp>
      <p:pic>
        <p:nvPicPr>
          <p:cNvPr id="93" name="Picture 92" descr="lock.png"/>
          <p:cNvPicPr>
            <a:picLocks noChangeAspect="1"/>
          </p:cNvPicPr>
          <p:nvPr/>
        </p:nvPicPr>
        <p:blipFill>
          <a:blip r:embed="rId4"/>
          <a:stretch>
            <a:fillRect/>
          </a:stretch>
        </p:blipFill>
        <p:spPr>
          <a:xfrm>
            <a:off x="6736102" y="3703121"/>
            <a:ext cx="128699" cy="187198"/>
          </a:xfrm>
          <a:prstGeom prst="rect">
            <a:avLst/>
          </a:prstGeom>
        </p:spPr>
      </p:pic>
      <p:sp>
        <p:nvSpPr>
          <p:cNvPr id="94" name="TextBox 93"/>
          <p:cNvSpPr txBox="1"/>
          <p:nvPr/>
        </p:nvSpPr>
        <p:spPr>
          <a:xfrm>
            <a:off x="5038725" y="3880540"/>
            <a:ext cx="2094998" cy="186689"/>
          </a:xfrm>
          <a:prstGeom prst="rect">
            <a:avLst/>
          </a:prstGeom>
          <a:noFill/>
        </p:spPr>
        <p:txBody>
          <a:bodyPr wrap="none" lIns="0" rIns="0" tIns="0" bIns="0">
            <a:spAutoFit/>
          </a:bodyPr>
          <a:lstStyle/>
          <a:p>
            <a:r>
              <a:rPr sz="1100" b="0">
                <a:solidFill>
                  <a:srgbClr val="2E2E2E"/>
                </a:solidFill>
                <a:latin typeface="Calibri"/>
              </a:rPr>
              <a:t>against 'Die-Cut &amp; Folded Partitions</a:t>
            </a:r>
          </a:p>
        </p:txBody>
      </p:sp>
      <p:sp>
        <p:nvSpPr>
          <p:cNvPr id="95" name="TextBox 94"/>
          <p:cNvSpPr txBox="1"/>
          <p:nvPr/>
        </p:nvSpPr>
        <p:spPr>
          <a:xfrm>
            <a:off x="5038725" y="4048180"/>
            <a:ext cx="1902941" cy="186689"/>
          </a:xfrm>
          <a:prstGeom prst="rect">
            <a:avLst/>
          </a:prstGeom>
          <a:noFill/>
        </p:spPr>
        <p:txBody>
          <a:bodyPr wrap="none" lIns="0" rIns="0" tIns="0" bIns="0">
            <a:spAutoFit/>
          </a:bodyPr>
          <a:lstStyle/>
          <a:p>
            <a:r>
              <a:rPr sz="1100" b="0">
                <a:solidFill>
                  <a:srgbClr val="2E2E2E"/>
                </a:solidFill>
                <a:latin typeface="Calibri"/>
              </a:rPr>
              <a:t>(H-dividers, tube/cell inserts)' at</a:t>
            </a:r>
          </a:p>
        </p:txBody>
      </p:sp>
      <p:pic>
        <p:nvPicPr>
          <p:cNvPr id="96" name="Picture 95" descr="lock.png"/>
          <p:cNvPicPr>
            <a:picLocks noChangeAspect="1"/>
          </p:cNvPicPr>
          <p:nvPr/>
        </p:nvPicPr>
        <p:blipFill>
          <a:blip r:embed="rId4"/>
          <a:stretch>
            <a:fillRect/>
          </a:stretch>
        </p:blipFill>
        <p:spPr>
          <a:xfrm>
            <a:off x="5025257" y="4206041"/>
            <a:ext cx="128699" cy="187198"/>
          </a:xfrm>
          <a:prstGeom prst="rect">
            <a:avLst/>
          </a:prstGeom>
        </p:spPr>
      </p:pic>
      <p:sp>
        <p:nvSpPr>
          <p:cNvPr id="97" name="TextBox 96"/>
          <p:cNvSpPr txBox="1"/>
          <p:nvPr/>
        </p:nvSpPr>
        <p:spPr>
          <a:xfrm>
            <a:off x="5192753" y="421582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8" name="TextBox 97"/>
          <p:cNvSpPr txBox="1"/>
          <p:nvPr/>
        </p:nvSpPr>
        <p:spPr>
          <a:xfrm>
            <a:off x="5038725" y="4584514"/>
            <a:ext cx="2114550" cy="186689"/>
          </a:xfrm>
          <a:prstGeom prst="rect">
            <a:avLst/>
          </a:prstGeom>
          <a:noFill/>
        </p:spPr>
        <p:txBody>
          <a:bodyPr wrap="none" lIns="0" rIns="0" tIns="0" bIns="0">
            <a:spAutoFit/>
          </a:bodyPr>
          <a:lstStyle/>
          <a:p>
            <a:r>
              <a:rPr sz="1100" b="0">
                <a:solidFill>
                  <a:srgbClr val="2E2E2E"/>
                </a:solidFill>
                <a:latin typeface="Calibri"/>
              </a:rPr>
              <a:t>▸ 3 of 6 regions grow at or above the</a:t>
            </a:r>
          </a:p>
        </p:txBody>
      </p:sp>
      <p:pic>
        <p:nvPicPr>
          <p:cNvPr id="99" name="Picture 98" descr="lock.png"/>
          <p:cNvPicPr>
            <a:picLocks noChangeAspect="1"/>
          </p:cNvPicPr>
          <p:nvPr/>
        </p:nvPicPr>
        <p:blipFill>
          <a:blip r:embed="rId4"/>
          <a:stretch>
            <a:fillRect/>
          </a:stretch>
        </p:blipFill>
        <p:spPr>
          <a:xfrm>
            <a:off x="5025257" y="4742375"/>
            <a:ext cx="128699" cy="187198"/>
          </a:xfrm>
          <a:prstGeom prst="rect">
            <a:avLst/>
          </a:prstGeom>
        </p:spPr>
      </p:pic>
      <p:sp>
        <p:nvSpPr>
          <p:cNvPr id="100" name="TextBox 99"/>
          <p:cNvSpPr txBox="1"/>
          <p:nvPr/>
        </p:nvSpPr>
        <p:spPr>
          <a:xfrm>
            <a:off x="5192753" y="4752154"/>
            <a:ext cx="1643186" cy="186689"/>
          </a:xfrm>
          <a:prstGeom prst="rect">
            <a:avLst/>
          </a:prstGeom>
          <a:noFill/>
        </p:spPr>
        <p:txBody>
          <a:bodyPr wrap="none" lIns="0" rIns="0" tIns="0" bIns="0">
            <a:spAutoFit/>
          </a:bodyPr>
          <a:lstStyle/>
          <a:p>
            <a:r>
              <a:rPr sz="1100" b="0">
                <a:solidFill>
                  <a:srgbClr val="2E2E2E"/>
                </a:solidFill>
                <a:latin typeface="Calibri"/>
              </a:rPr>
              <a:t>market pace, keeping share</a:t>
            </a:r>
          </a:p>
        </p:txBody>
      </p:sp>
      <p:sp>
        <p:nvSpPr>
          <p:cNvPr id="101" name="TextBox 100"/>
          <p:cNvSpPr txBox="1"/>
          <p:nvPr/>
        </p:nvSpPr>
        <p:spPr>
          <a:xfrm>
            <a:off x="5038725" y="4919794"/>
            <a:ext cx="678656" cy="186689"/>
          </a:xfrm>
          <a:prstGeom prst="rect">
            <a:avLst/>
          </a:prstGeom>
          <a:noFill/>
        </p:spPr>
        <p:txBody>
          <a:bodyPr wrap="none" lIns="0" rIns="0" tIns="0" bIns="0">
            <a:spAutoFit/>
          </a:bodyPr>
          <a:lstStyle/>
          <a:p>
            <a:r>
              <a:rPr sz="1100" b="0">
                <a:solidFill>
                  <a:srgbClr val="2E2E2E"/>
                </a:solidFill>
                <a:latin typeface="Calibri"/>
              </a:rPr>
              <a:t>contested.</a:t>
            </a:r>
          </a:p>
        </p:txBody>
      </p:sp>
      <p:sp>
        <p:nvSpPr>
          <p:cNvPr id="102" name="TextBox 101"/>
          <p:cNvSpPr txBox="1"/>
          <p:nvPr/>
        </p:nvSpPr>
        <p:spPr>
          <a:xfrm>
            <a:off x="7419975" y="2964026"/>
            <a:ext cx="1746324" cy="186689"/>
          </a:xfrm>
          <a:prstGeom prst="rect">
            <a:avLst/>
          </a:prstGeom>
          <a:noFill/>
        </p:spPr>
        <p:txBody>
          <a:bodyPr wrap="none" lIns="0" rIns="0" tIns="0" bIns="0">
            <a:spAutoFit/>
          </a:bodyPr>
          <a:lstStyle/>
          <a:p>
            <a:r>
              <a:rPr sz="1100" b="0">
                <a:solidFill>
                  <a:srgbClr val="2E2E2E"/>
                </a:solidFill>
                <a:latin typeface="Calibri"/>
              </a:rPr>
              <a:t>▸ Assessed moderate to high.</a:t>
            </a:r>
          </a:p>
        </p:txBody>
      </p:sp>
      <p:sp>
        <p:nvSpPr>
          <p:cNvPr id="103" name="TextBox 102"/>
          <p:cNvSpPr txBox="1"/>
          <p:nvPr/>
        </p:nvSpPr>
        <p:spPr>
          <a:xfrm>
            <a:off x="7419975" y="3131666"/>
            <a:ext cx="1656799" cy="186689"/>
          </a:xfrm>
          <a:prstGeom prst="rect">
            <a:avLst/>
          </a:prstGeom>
          <a:noFill/>
        </p:spPr>
        <p:txBody>
          <a:bodyPr wrap="none" lIns="0" rIns="0" tIns="0" bIns="0">
            <a:spAutoFit/>
          </a:bodyPr>
          <a:lstStyle/>
          <a:p>
            <a:r>
              <a:rPr sz="1100" b="0">
                <a:solidFill>
                  <a:srgbClr val="2E2E2E"/>
                </a:solidFill>
                <a:latin typeface="Calibri"/>
              </a:rPr>
              <a:t>'Die-Cut &amp; Folded Partitions</a:t>
            </a:r>
          </a:p>
        </p:txBody>
      </p:sp>
      <p:sp>
        <p:nvSpPr>
          <p:cNvPr id="104" name="TextBox 103"/>
          <p:cNvSpPr txBox="1"/>
          <p:nvPr/>
        </p:nvSpPr>
        <p:spPr>
          <a:xfrm>
            <a:off x="7419975" y="3299306"/>
            <a:ext cx="2073746" cy="186689"/>
          </a:xfrm>
          <a:prstGeom prst="rect">
            <a:avLst/>
          </a:prstGeom>
          <a:noFill/>
        </p:spPr>
        <p:txBody>
          <a:bodyPr wrap="none" lIns="0" rIns="0" tIns="0" bIns="0">
            <a:spAutoFit/>
          </a:bodyPr>
          <a:lstStyle/>
          <a:p>
            <a:r>
              <a:rPr sz="1100" b="0">
                <a:solidFill>
                  <a:srgbClr val="2E2E2E"/>
                </a:solidFill>
                <a:latin typeface="Calibri"/>
              </a:rPr>
              <a:t>(H-dividers, tube/cell inserts)' loses</a:t>
            </a:r>
          </a:p>
        </p:txBody>
      </p:sp>
      <p:pic>
        <p:nvPicPr>
          <p:cNvPr id="105" name="Picture 104" descr="lock.png"/>
          <p:cNvPicPr>
            <a:picLocks noChangeAspect="1"/>
          </p:cNvPicPr>
          <p:nvPr/>
        </p:nvPicPr>
        <p:blipFill>
          <a:blip r:embed="rId4"/>
          <a:stretch>
            <a:fillRect/>
          </a:stretch>
        </p:blipFill>
        <p:spPr>
          <a:xfrm>
            <a:off x="7406507" y="3457167"/>
            <a:ext cx="128699" cy="187198"/>
          </a:xfrm>
          <a:prstGeom prst="rect">
            <a:avLst/>
          </a:prstGeom>
        </p:spPr>
      </p:pic>
      <p:sp>
        <p:nvSpPr>
          <p:cNvPr id="106" name="TextBox 105"/>
          <p:cNvSpPr txBox="1"/>
          <p:nvPr/>
        </p:nvSpPr>
        <p:spPr>
          <a:xfrm>
            <a:off x="7574003" y="3466946"/>
            <a:ext cx="1824632" cy="186689"/>
          </a:xfrm>
          <a:prstGeom prst="rect">
            <a:avLst/>
          </a:prstGeom>
          <a:noFill/>
        </p:spPr>
        <p:txBody>
          <a:bodyPr wrap="none" lIns="0" rIns="0" tIns="0" bIns="0">
            <a:spAutoFit/>
          </a:bodyPr>
          <a:lstStyle/>
          <a:p>
            <a:r>
              <a:rPr sz="1100" b="0">
                <a:solidFill>
                  <a:srgbClr val="2E2E2E"/>
                </a:solidFill>
                <a:latin typeface="Calibri"/>
              </a:rPr>
              <a:t>BPS of share to 'Flat Dividers &amp;</a:t>
            </a:r>
          </a:p>
        </p:txBody>
      </p:sp>
      <p:sp>
        <p:nvSpPr>
          <p:cNvPr id="107" name="TextBox 106"/>
          <p:cNvSpPr txBox="1"/>
          <p:nvPr/>
        </p:nvSpPr>
        <p:spPr>
          <a:xfrm>
            <a:off x="7419975" y="3634586"/>
            <a:ext cx="856555" cy="186689"/>
          </a:xfrm>
          <a:prstGeom prst="rect">
            <a:avLst/>
          </a:prstGeom>
          <a:noFill/>
        </p:spPr>
        <p:txBody>
          <a:bodyPr wrap="none" lIns="0" rIns="0" tIns="0" bIns="0">
            <a:spAutoFit/>
          </a:bodyPr>
          <a:lstStyle/>
          <a:p>
            <a:r>
              <a:rPr sz="1100" b="0">
                <a:solidFill>
                  <a:srgbClr val="2E2E2E"/>
                </a:solidFill>
                <a:latin typeface="Calibri"/>
              </a:rPr>
              <a:t>Layer Pads' (+</a:t>
            </a:r>
          </a:p>
        </p:txBody>
      </p:sp>
      <p:pic>
        <p:nvPicPr>
          <p:cNvPr id="108" name="Picture 107" descr="lock.png"/>
          <p:cNvPicPr>
            <a:picLocks noChangeAspect="1"/>
          </p:cNvPicPr>
          <p:nvPr/>
        </p:nvPicPr>
        <p:blipFill>
          <a:blip r:embed="rId4"/>
          <a:stretch>
            <a:fillRect/>
          </a:stretch>
        </p:blipFill>
        <p:spPr>
          <a:xfrm>
            <a:off x="8224582" y="3624807"/>
            <a:ext cx="128699" cy="187198"/>
          </a:xfrm>
          <a:prstGeom prst="rect">
            <a:avLst/>
          </a:prstGeom>
        </p:spPr>
      </p:pic>
      <p:sp>
        <p:nvSpPr>
          <p:cNvPr id="109" name="TextBox 108"/>
          <p:cNvSpPr txBox="1"/>
          <p:nvPr/>
        </p:nvSpPr>
        <p:spPr>
          <a:xfrm>
            <a:off x="8392077" y="3634586"/>
            <a:ext cx="814809" cy="186689"/>
          </a:xfrm>
          <a:prstGeom prst="rect">
            <a:avLst/>
          </a:prstGeom>
          <a:noFill/>
        </p:spPr>
        <p:txBody>
          <a:bodyPr wrap="none" lIns="0" rIns="0" tIns="0" bIns="0">
            <a:spAutoFit/>
          </a:bodyPr>
          <a:lstStyle/>
          <a:p>
            <a:r>
              <a:rPr sz="1100" b="0">
                <a:solidFill>
                  <a:srgbClr val="2E2E2E"/>
                </a:solidFill>
                <a:latin typeface="Calibri"/>
              </a:rPr>
              <a:t>BPS) by 2036</a:t>
            </a:r>
          </a:p>
        </p:txBody>
      </p:sp>
      <p:sp>
        <p:nvSpPr>
          <p:cNvPr id="110" name="TextBox 109"/>
          <p:cNvSpPr txBox="1"/>
          <p:nvPr/>
        </p:nvSpPr>
        <p:spPr>
          <a:xfrm>
            <a:off x="7419975" y="3802226"/>
            <a:ext cx="2114550" cy="186689"/>
          </a:xfrm>
          <a:prstGeom prst="rect">
            <a:avLst/>
          </a:prstGeom>
          <a:noFill/>
        </p:spPr>
        <p:txBody>
          <a:bodyPr wrap="none" lIns="0" rIns="0" tIns="0" bIns="0">
            <a:spAutoFit/>
          </a:bodyPr>
          <a:lstStyle/>
          <a:p>
            <a:r>
              <a:rPr sz="1100" b="0">
                <a:solidFill>
                  <a:srgbClr val="2E2E2E"/>
                </a:solidFill>
                <a:latin typeface="Calibri"/>
              </a:rPr>
              <a:t>substitution is visible inside the mix.</a:t>
            </a:r>
          </a:p>
        </p:txBody>
      </p:sp>
      <p:sp>
        <p:nvSpPr>
          <p:cNvPr id="111" name="TextBox 110"/>
          <p:cNvSpPr txBox="1"/>
          <p:nvPr/>
        </p:nvSpPr>
        <p:spPr>
          <a:xfrm>
            <a:off x="7419975" y="4268895"/>
            <a:ext cx="1550384" cy="179984"/>
          </a:xfrm>
          <a:prstGeom prst="rect">
            <a:avLst/>
          </a:prstGeom>
          <a:noFill/>
        </p:spPr>
        <p:txBody>
          <a:bodyPr wrap="none" lIns="0" rIns="0" tIns="0" bIns="0">
            <a:spAutoFit/>
          </a:bodyPr>
          <a:lstStyle/>
          <a:p>
            <a:r>
              <a:rPr sz="1055" b="0">
                <a:solidFill>
                  <a:srgbClr val="2E2E2E"/>
                </a:solidFill>
                <a:latin typeface="Calibri"/>
              </a:rPr>
              <a:t>▸ The slowest line grows at</a:t>
            </a:r>
          </a:p>
        </p:txBody>
      </p:sp>
      <p:pic>
        <p:nvPicPr>
          <p:cNvPr id="112" name="Picture 111" descr="lock.png"/>
          <p:cNvPicPr>
            <a:picLocks noChangeAspect="1"/>
          </p:cNvPicPr>
          <p:nvPr/>
        </p:nvPicPr>
        <p:blipFill>
          <a:blip r:embed="rId4"/>
          <a:stretch>
            <a:fillRect/>
          </a:stretch>
        </p:blipFill>
        <p:spPr>
          <a:xfrm>
            <a:off x="8917440" y="4259507"/>
            <a:ext cx="123551" cy="179710"/>
          </a:xfrm>
          <a:prstGeom prst="rect">
            <a:avLst/>
          </a:prstGeom>
        </p:spPr>
      </p:pic>
      <p:sp>
        <p:nvSpPr>
          <p:cNvPr id="113" name="TextBox 112"/>
          <p:cNvSpPr txBox="1"/>
          <p:nvPr/>
        </p:nvSpPr>
        <p:spPr>
          <a:xfrm>
            <a:off x="9078236" y="4268895"/>
            <a:ext cx="181236" cy="179984"/>
          </a:xfrm>
          <a:prstGeom prst="rect">
            <a:avLst/>
          </a:prstGeom>
          <a:noFill/>
        </p:spPr>
        <p:txBody>
          <a:bodyPr wrap="none" lIns="0" rIns="0" tIns="0" bIns="0">
            <a:spAutoFit/>
          </a:bodyPr>
          <a:lstStyle/>
          <a:p>
            <a:r>
              <a:rPr sz="1055" b="0">
                <a:solidFill>
                  <a:srgbClr val="2E2E2E"/>
                </a:solidFill>
                <a:latin typeface="Calibri"/>
              </a:rPr>
              <a:t>, -</a:t>
            </a:r>
          </a:p>
        </p:txBody>
      </p:sp>
      <p:pic>
        <p:nvPicPr>
          <p:cNvPr id="114" name="Picture 113" descr="lock.png"/>
          <p:cNvPicPr>
            <a:picLocks noChangeAspect="1"/>
          </p:cNvPicPr>
          <p:nvPr/>
        </p:nvPicPr>
        <p:blipFill>
          <a:blip r:embed="rId4"/>
          <a:stretch>
            <a:fillRect/>
          </a:stretch>
        </p:blipFill>
        <p:spPr>
          <a:xfrm>
            <a:off x="9206555" y="4259507"/>
            <a:ext cx="123551" cy="179710"/>
          </a:xfrm>
          <a:prstGeom prst="rect">
            <a:avLst/>
          </a:prstGeom>
        </p:spPr>
      </p:pic>
      <p:sp>
        <p:nvSpPr>
          <p:cNvPr id="115" name="TextBox 114"/>
          <p:cNvSpPr txBox="1"/>
          <p:nvPr/>
        </p:nvSpPr>
        <p:spPr>
          <a:xfrm>
            <a:off x="7419975" y="4429829"/>
            <a:ext cx="1368861" cy="179984"/>
          </a:xfrm>
          <a:prstGeom prst="rect">
            <a:avLst/>
          </a:prstGeom>
          <a:noFill/>
        </p:spPr>
        <p:txBody>
          <a:bodyPr wrap="none" lIns="0" rIns="0" tIns="0" bIns="0">
            <a:spAutoFit/>
          </a:bodyPr>
          <a:lstStyle/>
          <a:p>
            <a:r>
              <a:rPr sz="1055" b="0">
                <a:solidFill>
                  <a:srgbClr val="2E2E2E"/>
                </a:solidFill>
                <a:latin typeface="Calibri"/>
              </a:rPr>
              <a:t>BPS against the market.</a:t>
            </a:r>
          </a:p>
        </p:txBody>
      </p:sp>
      <p:sp>
        <p:nvSpPr>
          <p:cNvPr id="116" name="TextBox 115"/>
          <p:cNvSpPr txBox="1"/>
          <p:nvPr/>
        </p:nvSpPr>
        <p:spPr>
          <a:xfrm>
            <a:off x="7419975" y="4767051"/>
            <a:ext cx="1254373" cy="186689"/>
          </a:xfrm>
          <a:prstGeom prst="rect">
            <a:avLst/>
          </a:prstGeom>
          <a:noFill/>
        </p:spPr>
        <p:txBody>
          <a:bodyPr wrap="none" lIns="0" rIns="0" tIns="0" bIns="0">
            <a:spAutoFit/>
          </a:bodyPr>
          <a:lstStyle/>
          <a:p>
            <a:r>
              <a:rPr sz="1100" b="0">
                <a:solidFill>
                  <a:srgbClr val="2E2E2E"/>
                </a:solidFill>
                <a:latin typeface="Calibri"/>
              </a:rPr>
              <a:t>▸ Realisation moving</a:t>
            </a:r>
          </a:p>
        </p:txBody>
      </p:sp>
      <p:pic>
        <p:nvPicPr>
          <p:cNvPr id="117" name="Picture 116" descr="lock.png"/>
          <p:cNvPicPr>
            <a:picLocks noChangeAspect="1"/>
          </p:cNvPicPr>
          <p:nvPr/>
        </p:nvPicPr>
        <p:blipFill>
          <a:blip r:embed="rId4"/>
          <a:stretch>
            <a:fillRect/>
          </a:stretch>
        </p:blipFill>
        <p:spPr>
          <a:xfrm>
            <a:off x="8622399" y="4757272"/>
            <a:ext cx="128699" cy="187198"/>
          </a:xfrm>
          <a:prstGeom prst="rect">
            <a:avLst/>
          </a:prstGeom>
        </p:spPr>
      </p:pic>
      <p:sp>
        <p:nvSpPr>
          <p:cNvPr id="118" name="TextBox 117"/>
          <p:cNvSpPr txBox="1"/>
          <p:nvPr/>
        </p:nvSpPr>
        <p:spPr>
          <a:xfrm>
            <a:off x="8789895" y="4767051"/>
            <a:ext cx="423267" cy="186689"/>
          </a:xfrm>
          <a:prstGeom prst="rect">
            <a:avLst/>
          </a:prstGeom>
          <a:noFill/>
        </p:spPr>
        <p:txBody>
          <a:bodyPr wrap="none" lIns="0" rIns="0" tIns="0" bIns="0">
            <a:spAutoFit/>
          </a:bodyPr>
          <a:lstStyle/>
          <a:p>
            <a:r>
              <a:rPr sz="1100" b="0">
                <a:solidFill>
                  <a:srgbClr val="2E2E2E"/>
                </a:solidFill>
                <a:latin typeface="Calibri"/>
              </a:rPr>
              <a:t>a year</a:t>
            </a:r>
          </a:p>
        </p:txBody>
      </p:sp>
      <p:sp>
        <p:nvSpPr>
          <p:cNvPr id="119" name="TextBox 118"/>
          <p:cNvSpPr txBox="1"/>
          <p:nvPr/>
        </p:nvSpPr>
        <p:spPr>
          <a:xfrm>
            <a:off x="7419975" y="4934691"/>
            <a:ext cx="1911399" cy="186689"/>
          </a:xfrm>
          <a:prstGeom prst="rect">
            <a:avLst/>
          </a:prstGeom>
          <a:noFill/>
        </p:spPr>
        <p:txBody>
          <a:bodyPr wrap="none" lIns="0" rIns="0" tIns="0" bIns="0">
            <a:spAutoFit/>
          </a:bodyPr>
          <a:lstStyle/>
          <a:p>
            <a:r>
              <a:rPr sz="1100" b="0">
                <a:solidFill>
                  <a:srgbClr val="2E2E2E"/>
                </a:solidFill>
                <a:latin typeface="Calibri"/>
              </a:rPr>
              <a:t>widens the price gap substitutes</a:t>
            </a:r>
          </a:p>
        </p:txBody>
      </p:sp>
      <p:sp>
        <p:nvSpPr>
          <p:cNvPr id="120" name="TextBox 119"/>
          <p:cNvSpPr txBox="1"/>
          <p:nvPr/>
        </p:nvSpPr>
        <p:spPr>
          <a:xfrm>
            <a:off x="7419975" y="5102331"/>
            <a:ext cx="718765" cy="186689"/>
          </a:xfrm>
          <a:prstGeom prst="rect">
            <a:avLst/>
          </a:prstGeom>
          <a:noFill/>
        </p:spPr>
        <p:txBody>
          <a:bodyPr wrap="none" lIns="0" rIns="0" tIns="0" bIns="0">
            <a:spAutoFit/>
          </a:bodyPr>
          <a:lstStyle/>
          <a:p>
            <a:r>
              <a:rPr sz="1100" b="0">
                <a:solidFill>
                  <a:srgbClr val="2E2E2E"/>
                </a:solidFill>
                <a:latin typeface="Calibri"/>
              </a:rPr>
              <a:t>must close.</a:t>
            </a:r>
          </a:p>
        </p:txBody>
      </p:sp>
      <p:sp>
        <p:nvSpPr>
          <p:cNvPr id="121" name="TextBox 120"/>
          <p:cNvSpPr txBox="1"/>
          <p:nvPr/>
        </p:nvSpPr>
        <p:spPr>
          <a:xfrm>
            <a:off x="9801225" y="2848734"/>
            <a:ext cx="1989162" cy="186689"/>
          </a:xfrm>
          <a:prstGeom prst="rect">
            <a:avLst/>
          </a:prstGeom>
          <a:noFill/>
        </p:spPr>
        <p:txBody>
          <a:bodyPr wrap="none" lIns="0" rIns="0" tIns="0" bIns="0">
            <a:spAutoFit/>
          </a:bodyPr>
          <a:lstStyle/>
          <a:p>
            <a:r>
              <a:rPr sz="1100" b="0">
                <a:solidFill>
                  <a:srgbClr val="2E2E2E"/>
                </a:solidFill>
                <a:latin typeface="Calibri"/>
              </a:rPr>
              <a:t>▸ Assessed moderate to high. The</a:t>
            </a:r>
          </a:p>
        </p:txBody>
      </p:sp>
      <p:sp>
        <p:nvSpPr>
          <p:cNvPr id="122" name="TextBox 121"/>
          <p:cNvSpPr txBox="1"/>
          <p:nvPr/>
        </p:nvSpPr>
        <p:spPr>
          <a:xfrm>
            <a:off x="9801225" y="3016374"/>
            <a:ext cx="1003349" cy="186689"/>
          </a:xfrm>
          <a:prstGeom prst="rect">
            <a:avLst/>
          </a:prstGeom>
          <a:noFill/>
        </p:spPr>
        <p:txBody>
          <a:bodyPr wrap="none" lIns="0" rIns="0" tIns="0" bIns="0">
            <a:spAutoFit/>
          </a:bodyPr>
          <a:lstStyle/>
          <a:p>
            <a:r>
              <a:rPr sz="1100" b="0">
                <a:solidFill>
                  <a:srgbClr val="2E2E2E"/>
                </a:solidFill>
                <a:latin typeface="Calibri"/>
              </a:rPr>
              <a:t>market grows at</a:t>
            </a:r>
          </a:p>
        </p:txBody>
      </p:sp>
      <p:pic>
        <p:nvPicPr>
          <p:cNvPr id="123" name="Picture 122" descr="lock.png"/>
          <p:cNvPicPr>
            <a:picLocks noChangeAspect="1"/>
          </p:cNvPicPr>
          <p:nvPr/>
        </p:nvPicPr>
        <p:blipFill>
          <a:blip r:embed="rId4"/>
          <a:stretch>
            <a:fillRect/>
          </a:stretch>
        </p:blipFill>
        <p:spPr>
          <a:xfrm>
            <a:off x="10752626" y="3006595"/>
            <a:ext cx="128699" cy="187198"/>
          </a:xfrm>
          <a:prstGeom prst="rect">
            <a:avLst/>
          </a:prstGeom>
        </p:spPr>
      </p:pic>
      <p:sp>
        <p:nvSpPr>
          <p:cNvPr id="124" name="TextBox 123"/>
          <p:cNvSpPr txBox="1"/>
          <p:nvPr/>
        </p:nvSpPr>
        <p:spPr>
          <a:xfrm>
            <a:off x="10920122" y="3016374"/>
            <a:ext cx="940576" cy="186689"/>
          </a:xfrm>
          <a:prstGeom prst="rect">
            <a:avLst/>
          </a:prstGeom>
          <a:noFill/>
        </p:spPr>
        <p:txBody>
          <a:bodyPr wrap="none" lIns="0" rIns="0" tIns="0" bIns="0">
            <a:spAutoFit/>
          </a:bodyPr>
          <a:lstStyle/>
          <a:p>
            <a:r>
              <a:rPr sz="1100" b="0">
                <a:solidFill>
                  <a:srgbClr val="2E2E2E"/>
                </a:solidFill>
                <a:latin typeface="Calibri"/>
              </a:rPr>
              <a:t>CAGR and adds</a:t>
            </a:r>
          </a:p>
        </p:txBody>
      </p:sp>
      <p:pic>
        <p:nvPicPr>
          <p:cNvPr id="125" name="Picture 124" descr="lock.png"/>
          <p:cNvPicPr>
            <a:picLocks noChangeAspect="1"/>
          </p:cNvPicPr>
          <p:nvPr/>
        </p:nvPicPr>
        <p:blipFill>
          <a:blip r:embed="rId4"/>
          <a:stretch>
            <a:fillRect/>
          </a:stretch>
        </p:blipFill>
        <p:spPr>
          <a:xfrm>
            <a:off x="9787757" y="3174235"/>
            <a:ext cx="128699" cy="187198"/>
          </a:xfrm>
          <a:prstGeom prst="rect">
            <a:avLst/>
          </a:prstGeom>
        </p:spPr>
      </p:pic>
      <p:sp>
        <p:nvSpPr>
          <p:cNvPr id="126" name="TextBox 125"/>
          <p:cNvSpPr txBox="1"/>
          <p:nvPr/>
        </p:nvSpPr>
        <p:spPr>
          <a:xfrm>
            <a:off x="9955253" y="3184014"/>
            <a:ext cx="1629816" cy="186689"/>
          </a:xfrm>
          <a:prstGeom prst="rect">
            <a:avLst/>
          </a:prstGeom>
          <a:noFill/>
        </p:spPr>
        <p:txBody>
          <a:bodyPr wrap="none" lIns="0" rIns="0" tIns="0" bIns="0">
            <a:spAutoFit/>
          </a:bodyPr>
          <a:lstStyle/>
          <a:p>
            <a:r>
              <a:rPr sz="1100" b="0">
                <a:solidFill>
                  <a:srgbClr val="2E2E2E"/>
                </a:solidFill>
                <a:latin typeface="Calibri"/>
              </a:rPr>
              <a:t>US$ Mn by 2036, attracting</a:t>
            </a:r>
          </a:p>
        </p:txBody>
      </p:sp>
      <p:sp>
        <p:nvSpPr>
          <p:cNvPr id="127" name="TextBox 126"/>
          <p:cNvSpPr txBox="1"/>
          <p:nvPr/>
        </p:nvSpPr>
        <p:spPr>
          <a:xfrm>
            <a:off x="9801225" y="3351654"/>
            <a:ext cx="413444" cy="186689"/>
          </a:xfrm>
          <a:prstGeom prst="rect">
            <a:avLst/>
          </a:prstGeom>
          <a:noFill/>
        </p:spPr>
        <p:txBody>
          <a:bodyPr wrap="none" lIns="0" rIns="0" tIns="0" bIns="0">
            <a:spAutoFit/>
          </a:bodyPr>
          <a:lstStyle/>
          <a:p>
            <a:r>
              <a:rPr sz="1100" b="0">
                <a:solidFill>
                  <a:srgbClr val="2E2E2E"/>
                </a:solidFill>
                <a:latin typeface="Calibri"/>
              </a:rPr>
              <a:t>entry.</a:t>
            </a:r>
          </a:p>
        </p:txBody>
      </p:sp>
      <p:sp>
        <p:nvSpPr>
          <p:cNvPr id="128" name="TextBox 127"/>
          <p:cNvSpPr txBox="1"/>
          <p:nvPr/>
        </p:nvSpPr>
        <p:spPr>
          <a:xfrm>
            <a:off x="9801225" y="3708336"/>
            <a:ext cx="1971426" cy="186689"/>
          </a:xfrm>
          <a:prstGeom prst="rect">
            <a:avLst/>
          </a:prstGeom>
          <a:noFill/>
        </p:spPr>
        <p:txBody>
          <a:bodyPr wrap="none" lIns="0" rIns="0" tIns="0" bIns="0">
            <a:spAutoFit/>
          </a:bodyPr>
          <a:lstStyle/>
          <a:p>
            <a:r>
              <a:rPr sz="1100" b="0">
                <a:solidFill>
                  <a:srgbClr val="2E2E2E"/>
                </a:solidFill>
                <a:latin typeface="Calibri"/>
              </a:rPr>
              <a:t>▸ Demand spreads over 6 regions</a:t>
            </a:r>
          </a:p>
        </p:txBody>
      </p:sp>
      <p:sp>
        <p:nvSpPr>
          <p:cNvPr id="129" name="TextBox 128"/>
          <p:cNvSpPr txBox="1"/>
          <p:nvPr/>
        </p:nvSpPr>
        <p:spPr>
          <a:xfrm>
            <a:off x="9801225" y="3875976"/>
            <a:ext cx="1493118" cy="186689"/>
          </a:xfrm>
          <a:prstGeom prst="rect">
            <a:avLst/>
          </a:prstGeom>
          <a:noFill/>
        </p:spPr>
        <p:txBody>
          <a:bodyPr wrap="none" lIns="0" rIns="0" tIns="0" bIns="0">
            <a:spAutoFit/>
          </a:bodyPr>
          <a:lstStyle/>
          <a:p>
            <a:r>
              <a:rPr sz="1100" b="0">
                <a:solidFill>
                  <a:srgbClr val="2E2E2E"/>
                </a:solidFill>
                <a:latin typeface="Calibri"/>
              </a:rPr>
              <a:t>with no single one above</a:t>
            </a:r>
          </a:p>
        </p:txBody>
      </p:sp>
      <p:pic>
        <p:nvPicPr>
          <p:cNvPr id="130" name="Picture 129" descr="lock.png"/>
          <p:cNvPicPr>
            <a:picLocks noChangeAspect="1"/>
          </p:cNvPicPr>
          <p:nvPr/>
        </p:nvPicPr>
        <p:blipFill>
          <a:blip r:embed="rId4"/>
          <a:stretch>
            <a:fillRect/>
          </a:stretch>
        </p:blipFill>
        <p:spPr>
          <a:xfrm>
            <a:off x="11242394" y="3866197"/>
            <a:ext cx="128699" cy="187198"/>
          </a:xfrm>
          <a:prstGeom prst="rect">
            <a:avLst/>
          </a:prstGeom>
        </p:spPr>
      </p:pic>
      <p:sp>
        <p:nvSpPr>
          <p:cNvPr id="131" name="TextBox 130"/>
          <p:cNvSpPr txBox="1"/>
          <p:nvPr/>
        </p:nvSpPr>
        <p:spPr>
          <a:xfrm>
            <a:off x="11409890" y="3875976"/>
            <a:ext cx="271016" cy="186689"/>
          </a:xfrm>
          <a:prstGeom prst="rect">
            <a:avLst/>
          </a:prstGeom>
          <a:noFill/>
        </p:spPr>
        <p:txBody>
          <a:bodyPr wrap="none" lIns="0" rIns="0" tIns="0" bIns="0">
            <a:spAutoFit/>
          </a:bodyPr>
          <a:lstStyle/>
          <a:p>
            <a:r>
              <a:rPr sz="1100" b="0">
                <a:solidFill>
                  <a:srgbClr val="2E2E2E"/>
                </a:solidFill>
                <a:latin typeface="Calibri"/>
              </a:rPr>
              <a:t>, so</a:t>
            </a:r>
          </a:p>
        </p:txBody>
      </p:sp>
      <p:sp>
        <p:nvSpPr>
          <p:cNvPr id="132" name="TextBox 131"/>
          <p:cNvSpPr txBox="1"/>
          <p:nvPr/>
        </p:nvSpPr>
        <p:spPr>
          <a:xfrm>
            <a:off x="9801225" y="4043616"/>
            <a:ext cx="1498575" cy="186689"/>
          </a:xfrm>
          <a:prstGeom prst="rect">
            <a:avLst/>
          </a:prstGeom>
          <a:noFill/>
        </p:spPr>
        <p:txBody>
          <a:bodyPr wrap="none" lIns="0" rIns="0" tIns="0" bIns="0">
            <a:spAutoFit/>
          </a:bodyPr>
          <a:lstStyle/>
          <a:p>
            <a:r>
              <a:rPr sz="1100" b="0">
                <a:solidFill>
                  <a:srgbClr val="2E2E2E"/>
                </a:solidFill>
                <a:latin typeface="Calibri"/>
              </a:rPr>
              <a:t>regional entry is feasible.</a:t>
            </a:r>
          </a:p>
        </p:txBody>
      </p:sp>
      <p:sp>
        <p:nvSpPr>
          <p:cNvPr id="133" name="TextBox 132"/>
          <p:cNvSpPr txBox="1"/>
          <p:nvPr/>
        </p:nvSpPr>
        <p:spPr>
          <a:xfrm>
            <a:off x="9801225" y="4400299"/>
            <a:ext cx="2114550" cy="186689"/>
          </a:xfrm>
          <a:prstGeom prst="rect">
            <a:avLst/>
          </a:prstGeom>
          <a:noFill/>
        </p:spPr>
        <p:txBody>
          <a:bodyPr wrap="none" lIns="0" rIns="0" tIns="0" bIns="0">
            <a:spAutoFit/>
          </a:bodyPr>
          <a:lstStyle/>
          <a:p>
            <a:r>
              <a:rPr sz="1100" b="0">
                <a:solidFill>
                  <a:srgbClr val="2E2E2E"/>
                </a:solidFill>
                <a:latin typeface="Calibri"/>
              </a:rPr>
              <a:t>▸ Incumbent scale in 'North America'</a:t>
            </a:r>
          </a:p>
        </p:txBody>
      </p:sp>
      <p:sp>
        <p:nvSpPr>
          <p:cNvPr id="134" name="TextBox 133"/>
          <p:cNvSpPr txBox="1"/>
          <p:nvPr/>
        </p:nvSpPr>
        <p:spPr>
          <a:xfrm>
            <a:off x="9801225" y="4567939"/>
            <a:ext cx="1923132" cy="186689"/>
          </a:xfrm>
          <a:prstGeom prst="rect">
            <a:avLst/>
          </a:prstGeom>
          <a:noFill/>
        </p:spPr>
        <p:txBody>
          <a:bodyPr wrap="none" lIns="0" rIns="0" tIns="0" bIns="0">
            <a:spAutoFit/>
          </a:bodyPr>
          <a:lstStyle/>
          <a:p>
            <a:r>
              <a:rPr sz="1100" b="0">
                <a:solidFill>
                  <a:srgbClr val="2E2E2E"/>
                </a:solidFill>
                <a:latin typeface="Calibri"/>
              </a:rPr>
              <a:t>and 'Flat Dividers &amp; Layer Pads' (</a:t>
            </a:r>
          </a:p>
        </p:txBody>
      </p:sp>
      <p:pic>
        <p:nvPicPr>
          <p:cNvPr id="135" name="Picture 134" descr="lock.png"/>
          <p:cNvPicPr>
            <a:picLocks noChangeAspect="1"/>
          </p:cNvPicPr>
          <p:nvPr/>
        </p:nvPicPr>
        <p:blipFill>
          <a:blip r:embed="rId4"/>
          <a:stretch>
            <a:fillRect/>
          </a:stretch>
        </p:blipFill>
        <p:spPr>
          <a:xfrm>
            <a:off x="11672408" y="4558160"/>
            <a:ext cx="128699" cy="187198"/>
          </a:xfrm>
          <a:prstGeom prst="rect">
            <a:avLst/>
          </a:prstGeom>
        </p:spPr>
      </p:pic>
      <p:sp>
        <p:nvSpPr>
          <p:cNvPr id="136" name="TextBox 135"/>
          <p:cNvSpPr txBox="1"/>
          <p:nvPr/>
        </p:nvSpPr>
        <p:spPr>
          <a:xfrm>
            <a:off x="9801225" y="4735579"/>
            <a:ext cx="1991345" cy="186689"/>
          </a:xfrm>
          <a:prstGeom prst="rect">
            <a:avLst/>
          </a:prstGeom>
          <a:noFill/>
        </p:spPr>
        <p:txBody>
          <a:bodyPr wrap="none" lIns="0" rIns="0" tIns="0" bIns="0">
            <a:spAutoFit/>
          </a:bodyPr>
          <a:lstStyle/>
          <a:p>
            <a:r>
              <a:rPr sz="1100" b="0">
                <a:solidFill>
                  <a:srgbClr val="2E2E2E"/>
                </a:solidFill>
                <a:latin typeface="Calibri"/>
              </a:rPr>
              <a:t>of segment) remains the principal</a:t>
            </a:r>
          </a:p>
        </p:txBody>
      </p:sp>
      <p:sp>
        <p:nvSpPr>
          <p:cNvPr id="137" name="TextBox 136"/>
          <p:cNvSpPr txBox="1"/>
          <p:nvPr/>
        </p:nvSpPr>
        <p:spPr>
          <a:xfrm>
            <a:off x="9801225" y="4903219"/>
            <a:ext cx="499938" cy="186689"/>
          </a:xfrm>
          <a:prstGeom prst="rect">
            <a:avLst/>
          </a:prstGeom>
          <a:noFill/>
        </p:spPr>
        <p:txBody>
          <a:bodyPr wrap="none" lIns="0" rIns="0" tIns="0" bIns="0">
            <a:spAutoFit/>
          </a:bodyPr>
          <a:lstStyle/>
          <a:p>
            <a:r>
              <a:rPr sz="1100" b="0">
                <a:solidFill>
                  <a:srgbClr val="2E2E2E"/>
                </a:solidFill>
                <a:latin typeface="Calibri"/>
              </a:rPr>
              <a:t>barrier.</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Multicell Packaging Inc.</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Multicell Packaging Inc., Company, Interpack Inc..</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505941"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68" name="Picture 67" descr="lock.png"/>
          <p:cNvPicPr>
            <a:picLocks noChangeAspect="1"/>
          </p:cNvPicPr>
          <p:nvPr/>
        </p:nvPicPr>
        <p:blipFill>
          <a:blip r:embed="rId4"/>
          <a:stretch>
            <a:fillRect/>
          </a:stretch>
        </p:blipFill>
        <p:spPr>
          <a:xfrm>
            <a:off x="5159342" y="1295146"/>
            <a:ext cx="128699" cy="187198"/>
          </a:xfrm>
          <a:prstGeom prst="rect">
            <a:avLst/>
          </a:prstGeom>
        </p:spPr>
      </p:pic>
      <p:sp>
        <p:nvSpPr>
          <p:cNvPr id="69" name="TextBox 68"/>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3 companies lead the 7 sub-segments tracked; no</a:t>
            </a:r>
          </a:p>
        </p:txBody>
      </p:sp>
      <p:sp>
        <p:nvSpPr>
          <p:cNvPr id="72" name="TextBox 71"/>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4.</a:t>
            </a:r>
          </a:p>
        </p:txBody>
      </p:sp>
      <p:sp>
        <p:nvSpPr>
          <p:cNvPr id="73" name="TextBox 72"/>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8" name="TextBox 77"/>
          <p:cNvSpPr txBox="1"/>
          <p:nvPr/>
        </p:nvSpPr>
        <p:spPr>
          <a:xfrm>
            <a:off x="523875" y="4333875"/>
            <a:ext cx="5307583" cy="186689"/>
          </a:xfrm>
          <a:prstGeom prst="rect">
            <a:avLst/>
          </a:prstGeom>
          <a:noFill/>
        </p:spPr>
        <p:txBody>
          <a:bodyPr wrap="none" lIns="0" rIns="0" tIns="0" bIns="0">
            <a:spAutoFit/>
          </a:bodyPr>
          <a:lstStyle/>
          <a:p>
            <a:r>
              <a:rPr sz="1100" b="0">
                <a:solidFill>
                  <a:srgbClr val="1F2933"/>
                </a:solidFill>
                <a:latin typeface="Calibri"/>
              </a:rPr>
              <a:t>'Flat Dividers &amp; Layer Pads' is the largest line; 'Flat Dividers &amp; Layer Pads' compounds fastest</a:t>
            </a:r>
          </a:p>
        </p:txBody>
      </p:sp>
      <p:sp>
        <p:nvSpPr>
          <p:cNvPr id="79" name="TextBox 78"/>
          <p:cNvSpPr txBox="1"/>
          <p:nvPr/>
        </p:nvSpPr>
        <p:spPr>
          <a:xfrm>
            <a:off x="523875" y="4501515"/>
            <a:ext cx="189979" cy="186689"/>
          </a:xfrm>
          <a:prstGeom prst="rect">
            <a:avLst/>
          </a:prstGeom>
          <a:noFill/>
        </p:spPr>
        <p:txBody>
          <a:bodyPr wrap="none" lIns="0" rIns="0" tIns="0" bIns="0">
            <a:spAutoFit/>
          </a:bodyPr>
          <a:lstStyle/>
          <a:p>
            <a:r>
              <a:rPr sz="1100" b="0">
                <a:solidFill>
                  <a:srgbClr val="1F2933"/>
                </a:solidFill>
                <a:latin typeface="Calibri"/>
              </a:rPr>
              <a:t>at</a:t>
            </a:r>
          </a:p>
        </p:txBody>
      </p:sp>
      <p:pic>
        <p:nvPicPr>
          <p:cNvPr id="80" name="Picture 79" descr="lock.png"/>
          <p:cNvPicPr>
            <a:picLocks noChangeAspect="1"/>
          </p:cNvPicPr>
          <p:nvPr/>
        </p:nvPicPr>
        <p:blipFill>
          <a:blip r:embed="rId4"/>
          <a:stretch>
            <a:fillRect/>
          </a:stretch>
        </p:blipFill>
        <p:spPr>
          <a:xfrm>
            <a:off x="661905" y="4491736"/>
            <a:ext cx="128699" cy="187198"/>
          </a:xfrm>
          <a:prstGeom prst="rect">
            <a:avLst/>
          </a:prstGeom>
        </p:spPr>
      </p:pic>
      <p:sp>
        <p:nvSpPr>
          <p:cNvPr id="81" name="TextBox 80"/>
          <p:cNvSpPr txBox="1"/>
          <p:nvPr/>
        </p:nvSpPr>
        <p:spPr>
          <a:xfrm>
            <a:off x="829401" y="450151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433684"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757534" y="1257300"/>
            <a:ext cx="1459962"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3696" y="1257300"/>
            <a:ext cx="216621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Multicell Packaging Inc., Company, Great American Paper Inc.</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Interpack Inc., Caps Cases Ltd.</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 &amp; M Box &amp; Partitions Co., Martin Partitions, Buckeye Corrugated Inc., Cactus Corrugated Containers Inc., Jarrett Industries Inc.</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377043"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Flat Dividers &amp; Layer Pads</a:t>
            </a:r>
          </a:p>
        </p:txBody>
      </p:sp>
      <p:sp>
        <p:nvSpPr>
          <p:cNvPr id="30" name="TextBox 29"/>
          <p:cNvSpPr txBox="1"/>
          <p:nvPr/>
        </p:nvSpPr>
        <p:spPr>
          <a:xfrm>
            <a:off x="3529693" y="2114550"/>
            <a:ext cx="1377043"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Die-Cut &amp; Folded Partitions</a:t>
            </a:r>
          </a:p>
        </p:txBody>
      </p:sp>
      <p:sp>
        <p:nvSpPr>
          <p:cNvPr id="31" name="TextBox 30"/>
          <p:cNvSpPr txBox="1"/>
          <p:nvPr/>
        </p:nvSpPr>
        <p:spPr>
          <a:xfrm>
            <a:off x="4944836" y="2114550"/>
            <a:ext cx="1377043"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Slotted Partitions</a:t>
            </a:r>
          </a:p>
        </p:txBody>
      </p:sp>
      <p:sp>
        <p:nvSpPr>
          <p:cNvPr id="32" name="TextBox 31"/>
          <p:cNvSpPr txBox="1"/>
          <p:nvPr/>
        </p:nvSpPr>
        <p:spPr>
          <a:xfrm>
            <a:off x="6359979" y="2114550"/>
            <a:ext cx="1377043"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Others</a:t>
            </a:r>
          </a:p>
        </p:txBody>
      </p:sp>
      <p:sp>
        <p:nvSpPr>
          <p:cNvPr id="33" name="TextBox 32"/>
          <p:cNvSpPr txBox="1"/>
          <p:nvPr/>
        </p:nvSpPr>
        <p:spPr>
          <a:xfrm>
            <a:off x="7775121" y="2114550"/>
            <a:ext cx="1377043"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Glassware, Ceramics &amp; Home Goods</a:t>
            </a:r>
          </a:p>
        </p:txBody>
      </p:sp>
      <p:sp>
        <p:nvSpPr>
          <p:cNvPr id="34" name="TextBox 33"/>
          <p:cNvSpPr txBox="1"/>
          <p:nvPr/>
        </p:nvSpPr>
        <p:spPr>
          <a:xfrm>
            <a:off x="9190264" y="2114550"/>
            <a:ext cx="1377043"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Automotive &amp; Industrial Components</a:t>
            </a:r>
          </a:p>
        </p:txBody>
      </p:sp>
      <p:sp>
        <p:nvSpPr>
          <p:cNvPr id="35" name="TextBox 34"/>
          <p:cNvSpPr txBox="1"/>
          <p:nvPr/>
        </p:nvSpPr>
        <p:spPr>
          <a:xfrm>
            <a:off x="10605407" y="2114550"/>
            <a:ext cx="1377043"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Food &amp; Beverage</a:t>
            </a:r>
          </a:p>
        </p:txBody>
      </p:sp>
      <p:cxnSp>
        <p:nvCxnSpPr>
          <p:cNvPr id="36" name="Connector 35"/>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Multicell Packaging Inc.</a:t>
            </a:r>
          </a:p>
        </p:txBody>
      </p:sp>
      <p:sp>
        <p:nvSpPr>
          <p:cNvPr id="39" name="TextBox 38"/>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0" name="Oval 39"/>
          <p:cNvSpPr/>
          <p:nvPr/>
        </p:nvSpPr>
        <p:spPr>
          <a:xfrm>
            <a:off x="2726871"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800350" y="27051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4142014"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5557157"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69723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8387443"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8467725" y="2705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9802586"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11217729"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a:t>
            </a:r>
          </a:p>
        </p:txBody>
      </p:sp>
      <p:sp>
        <p:nvSpPr>
          <p:cNvPr id="52" name="TextBox 51"/>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3" name="Oval 52"/>
          <p:cNvSpPr/>
          <p:nvPr/>
        </p:nvSpPr>
        <p:spPr>
          <a:xfrm>
            <a:off x="2726871"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800350" y="3048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4142014"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42195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5557157"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69723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70485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8387443"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9802586"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11217729"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11296650" y="30480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Great American Paper Inc.</a:t>
            </a:r>
          </a:p>
        </p:txBody>
      </p:sp>
      <p:sp>
        <p:nvSpPr>
          <p:cNvPr id="67" name="TextBox 66"/>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8" name="Oval 67"/>
          <p:cNvSpPr/>
          <p:nvPr/>
        </p:nvSpPr>
        <p:spPr>
          <a:xfrm>
            <a:off x="2726871"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Oval 68"/>
          <p:cNvSpPr/>
          <p:nvPr/>
        </p:nvSpPr>
        <p:spPr>
          <a:xfrm>
            <a:off x="4142014"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Oval 69"/>
          <p:cNvSpPr/>
          <p:nvPr/>
        </p:nvSpPr>
        <p:spPr>
          <a:xfrm>
            <a:off x="5557157"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Freeform 70"/>
          <p:cNvSpPr/>
          <p:nvPr/>
        </p:nvSpPr>
        <p:spPr>
          <a:xfrm>
            <a:off x="5629275" y="33909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Oval 71"/>
          <p:cNvSpPr/>
          <p:nvPr/>
        </p:nvSpPr>
        <p:spPr>
          <a:xfrm>
            <a:off x="69723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Oval 72"/>
          <p:cNvSpPr/>
          <p:nvPr/>
        </p:nvSpPr>
        <p:spPr>
          <a:xfrm>
            <a:off x="8387443"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9802586"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9877425" y="3390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11217729"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11296650" y="3390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8" name="Connector 77"/>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9" name="Rectangle 78"/>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Interpack Inc.</a:t>
            </a:r>
          </a:p>
        </p:txBody>
      </p:sp>
      <p:sp>
        <p:nvSpPr>
          <p:cNvPr id="81" name="TextBox 80"/>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82" name="Oval 81"/>
          <p:cNvSpPr/>
          <p:nvPr/>
        </p:nvSpPr>
        <p:spPr>
          <a:xfrm>
            <a:off x="2726871"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4142014"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Freeform 83"/>
          <p:cNvSpPr/>
          <p:nvPr/>
        </p:nvSpPr>
        <p:spPr>
          <a:xfrm>
            <a:off x="42195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5557157"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5629275" y="37338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69723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0485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387443"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8467725" y="37338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9802586"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11217729"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3" name="Connector 9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4" name="Rectangle 9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Caps Cases Ltd.</a:t>
            </a:r>
          </a:p>
        </p:txBody>
      </p:sp>
      <p:sp>
        <p:nvSpPr>
          <p:cNvPr id="96" name="TextBox 95"/>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7" name="Oval 96"/>
          <p:cNvSpPr/>
          <p:nvPr/>
        </p:nvSpPr>
        <p:spPr>
          <a:xfrm>
            <a:off x="2726871"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2800350" y="4076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4142014"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Freeform 99"/>
          <p:cNvSpPr/>
          <p:nvPr/>
        </p:nvSpPr>
        <p:spPr>
          <a:xfrm>
            <a:off x="42195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5557157"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5629275" y="40767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69723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70485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8387443"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02586"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9877425" y="4076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11217729"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9" name="Connector 108"/>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0" name="Rectangle 109"/>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M &amp; M Box &amp; Partitions Co.</a:t>
            </a:r>
          </a:p>
        </p:txBody>
      </p:sp>
      <p:sp>
        <p:nvSpPr>
          <p:cNvPr id="112" name="TextBox 111"/>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13" name="Oval 112"/>
          <p:cNvSpPr/>
          <p:nvPr/>
        </p:nvSpPr>
        <p:spPr>
          <a:xfrm>
            <a:off x="2726871"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Freeform 113"/>
          <p:cNvSpPr/>
          <p:nvPr/>
        </p:nvSpPr>
        <p:spPr>
          <a:xfrm>
            <a:off x="2800350" y="4419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Oval 114"/>
          <p:cNvSpPr/>
          <p:nvPr/>
        </p:nvSpPr>
        <p:spPr>
          <a:xfrm>
            <a:off x="4142014"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42195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5557157"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Oval 117"/>
          <p:cNvSpPr/>
          <p:nvPr/>
        </p:nvSpPr>
        <p:spPr>
          <a:xfrm>
            <a:off x="69723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8387443"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8467725" y="44196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9802586"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9877425" y="4419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11217729"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4" name="Connector 123"/>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5" name="Rectangle 124"/>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Martin Partitions</a:t>
            </a:r>
          </a:p>
        </p:txBody>
      </p:sp>
      <p:sp>
        <p:nvSpPr>
          <p:cNvPr id="127" name="TextBox 126"/>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8" name="Oval 127"/>
          <p:cNvSpPr/>
          <p:nvPr/>
        </p:nvSpPr>
        <p:spPr>
          <a:xfrm>
            <a:off x="2726871"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2800350" y="4762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4142014"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5557157"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Freeform 131"/>
          <p:cNvSpPr/>
          <p:nvPr/>
        </p:nvSpPr>
        <p:spPr>
          <a:xfrm>
            <a:off x="5629275" y="47625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Oval 132"/>
          <p:cNvSpPr/>
          <p:nvPr/>
        </p:nvSpPr>
        <p:spPr>
          <a:xfrm>
            <a:off x="69723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70485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8387443"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8467725" y="4762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9802586"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11217729"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9" name="Connector 138"/>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0" name="Rectangle 139"/>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Buckeye Corrugated Inc.</a:t>
            </a:r>
          </a:p>
        </p:txBody>
      </p:sp>
      <p:sp>
        <p:nvSpPr>
          <p:cNvPr id="142" name="TextBox 141"/>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3" name="Oval 142"/>
          <p:cNvSpPr/>
          <p:nvPr/>
        </p:nvSpPr>
        <p:spPr>
          <a:xfrm>
            <a:off x="2726871"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Oval 143"/>
          <p:cNvSpPr/>
          <p:nvPr/>
        </p:nvSpPr>
        <p:spPr>
          <a:xfrm>
            <a:off x="4142014"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42195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5557157"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5629275" y="51054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69723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70485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8387443"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9802586"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Freeform 151"/>
          <p:cNvSpPr/>
          <p:nvPr/>
        </p:nvSpPr>
        <p:spPr>
          <a:xfrm>
            <a:off x="9877425" y="5105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Oval 152"/>
          <p:cNvSpPr/>
          <p:nvPr/>
        </p:nvSpPr>
        <p:spPr>
          <a:xfrm>
            <a:off x="11217729"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4" name="Connector 153"/>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5" name="Rectangle 154"/>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285750" y="53721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Cactus Corrugated Containers Inc.</a:t>
            </a:r>
          </a:p>
        </p:txBody>
      </p:sp>
      <p:sp>
        <p:nvSpPr>
          <p:cNvPr id="157" name="TextBox 156"/>
          <p:cNvSpPr txBox="1"/>
          <p:nvPr/>
        </p:nvSpPr>
        <p:spPr>
          <a:xfrm>
            <a:off x="285750" y="55340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8" name="Oval 157"/>
          <p:cNvSpPr/>
          <p:nvPr/>
        </p:nvSpPr>
        <p:spPr>
          <a:xfrm>
            <a:off x="2726871"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Freeform 158"/>
          <p:cNvSpPr/>
          <p:nvPr/>
        </p:nvSpPr>
        <p:spPr>
          <a:xfrm>
            <a:off x="2800350" y="54483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Oval 159"/>
          <p:cNvSpPr/>
          <p:nvPr/>
        </p:nvSpPr>
        <p:spPr>
          <a:xfrm>
            <a:off x="4142014"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421957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5557157"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5629275" y="54483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69723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Oval 164"/>
          <p:cNvSpPr/>
          <p:nvPr/>
        </p:nvSpPr>
        <p:spPr>
          <a:xfrm>
            <a:off x="8387443"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8467725" y="5448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9802586"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Freeform 167"/>
          <p:cNvSpPr/>
          <p:nvPr/>
        </p:nvSpPr>
        <p:spPr>
          <a:xfrm>
            <a:off x="9877425" y="54483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Oval 168"/>
          <p:cNvSpPr/>
          <p:nvPr/>
        </p:nvSpPr>
        <p:spPr>
          <a:xfrm>
            <a:off x="11217729"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0" name="Connector 169"/>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1" name="Rectangle 170"/>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285750" y="57150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Jarrett Industries Inc.</a:t>
            </a:r>
          </a:p>
        </p:txBody>
      </p:sp>
      <p:sp>
        <p:nvSpPr>
          <p:cNvPr id="173" name="TextBox 172"/>
          <p:cNvSpPr txBox="1"/>
          <p:nvPr/>
        </p:nvSpPr>
        <p:spPr>
          <a:xfrm>
            <a:off x="285750" y="58769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74" name="Oval 173"/>
          <p:cNvSpPr/>
          <p:nvPr/>
        </p:nvSpPr>
        <p:spPr>
          <a:xfrm>
            <a:off x="2726871"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Freeform 174"/>
          <p:cNvSpPr/>
          <p:nvPr/>
        </p:nvSpPr>
        <p:spPr>
          <a:xfrm>
            <a:off x="2800350" y="5791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Oval 175"/>
          <p:cNvSpPr/>
          <p:nvPr/>
        </p:nvSpPr>
        <p:spPr>
          <a:xfrm>
            <a:off x="4142014"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Freeform 176"/>
          <p:cNvSpPr/>
          <p:nvPr/>
        </p:nvSpPr>
        <p:spPr>
          <a:xfrm>
            <a:off x="421957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Oval 177"/>
          <p:cNvSpPr/>
          <p:nvPr/>
        </p:nvSpPr>
        <p:spPr>
          <a:xfrm>
            <a:off x="5557157"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Oval 178"/>
          <p:cNvSpPr/>
          <p:nvPr/>
        </p:nvSpPr>
        <p:spPr>
          <a:xfrm>
            <a:off x="69723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Freeform 179"/>
          <p:cNvSpPr/>
          <p:nvPr/>
        </p:nvSpPr>
        <p:spPr>
          <a:xfrm>
            <a:off x="70485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Oval 180"/>
          <p:cNvSpPr/>
          <p:nvPr/>
        </p:nvSpPr>
        <p:spPr>
          <a:xfrm>
            <a:off x="8387443"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Freeform 181"/>
          <p:cNvSpPr/>
          <p:nvPr/>
        </p:nvSpPr>
        <p:spPr>
          <a:xfrm>
            <a:off x="8467725" y="57912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Oval 182"/>
          <p:cNvSpPr/>
          <p:nvPr/>
        </p:nvSpPr>
        <p:spPr>
          <a:xfrm>
            <a:off x="9802586"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Oval 183"/>
          <p:cNvSpPr/>
          <p:nvPr/>
        </p:nvSpPr>
        <p:spPr>
          <a:xfrm>
            <a:off x="11217729"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85" name="Connector 184"/>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86" name="Rectangle 185"/>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31432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88" name="Rectangle 187"/>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TextBox 188"/>
          <p:cNvSpPr txBox="1"/>
          <p:nvPr/>
        </p:nvSpPr>
        <p:spPr>
          <a:xfrm>
            <a:off x="971550"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90" name="Rectangle 189"/>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TextBox 190"/>
          <p:cNvSpPr txBox="1"/>
          <p:nvPr/>
        </p:nvSpPr>
        <p:spPr>
          <a:xfrm>
            <a:off x="162877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92" name="TextBox 191"/>
          <p:cNvSpPr txBox="1"/>
          <p:nvPr/>
        </p:nvSpPr>
        <p:spPr>
          <a:xfrm>
            <a:off x="190500" y="6286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93" name="TextBox 192"/>
          <p:cNvSpPr txBox="1"/>
          <p:nvPr/>
        </p:nvSpPr>
        <p:spPr>
          <a:xfrm>
            <a:off x="190500" y="64008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'Flat Dividers &amp; Layer Pads' is the most contested column (8 players active); 'Food &amp; Beverage' is the most open (3).</a:t>
            </a:r>
          </a:p>
        </p:txBody>
      </p:sp>
      <p:sp>
        <p:nvSpPr>
          <p:cNvPr id="194" name="TextBox 1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95" name="TextBox 194"/>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196" name="Picture 195" descr="lock.png"/>
          <p:cNvPicPr>
            <a:picLocks noChangeAspect="1"/>
          </p:cNvPicPr>
          <p:nvPr/>
        </p:nvPicPr>
        <p:blipFill>
          <a:blip r:embed="rId4"/>
          <a:stretch>
            <a:fillRect/>
          </a:stretch>
        </p:blipFill>
        <p:spPr>
          <a:xfrm>
            <a:off x="622441" y="1297051"/>
            <a:ext cx="128699" cy="187198"/>
          </a:xfrm>
          <a:prstGeom prst="rect">
            <a:avLst/>
          </a:prstGeom>
        </p:spPr>
      </p:pic>
      <p:sp>
        <p:nvSpPr>
          <p:cNvPr id="197" name="TextBox 196"/>
          <p:cNvSpPr txBox="1"/>
          <p:nvPr/>
        </p:nvSpPr>
        <p:spPr>
          <a:xfrm>
            <a:off x="4786109"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198" name="Picture 197" descr="lock.png"/>
          <p:cNvPicPr>
            <a:picLocks noChangeAspect="1"/>
          </p:cNvPicPr>
          <p:nvPr/>
        </p:nvPicPr>
        <p:blipFill>
          <a:blip r:embed="rId4"/>
          <a:stretch>
            <a:fillRect/>
          </a:stretch>
        </p:blipFill>
        <p:spPr>
          <a:xfrm>
            <a:off x="5547332" y="1297051"/>
            <a:ext cx="128699" cy="187198"/>
          </a:xfrm>
          <a:prstGeom prst="rect">
            <a:avLst/>
          </a:prstGeom>
        </p:spPr>
      </p:pic>
      <p:sp>
        <p:nvSpPr>
          <p:cNvPr id="199" name="TextBox 198"/>
          <p:cNvSpPr txBox="1"/>
          <p:nvPr/>
        </p:nvSpPr>
        <p:spPr>
          <a:xfrm>
            <a:off x="632227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200" name="Picture 199" descr="lock.png"/>
          <p:cNvPicPr>
            <a:picLocks noChangeAspect="1"/>
          </p:cNvPicPr>
          <p:nvPr/>
        </p:nvPicPr>
        <p:blipFill>
          <a:blip r:embed="rId4"/>
          <a:stretch>
            <a:fillRect/>
          </a:stretch>
        </p:blipFill>
        <p:spPr>
          <a:xfrm>
            <a:off x="6890588" y="1297051"/>
            <a:ext cx="128699" cy="187198"/>
          </a:xfrm>
          <a:prstGeom prst="rect">
            <a:avLst/>
          </a:prstGeom>
        </p:spPr>
      </p:pic>
      <p:sp>
        <p:nvSpPr>
          <p:cNvPr id="201" name="TextBox 200"/>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202" name="Picture 201"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Flat Dividers &amp; Layer Pads, share</a:t>
            </a:r>
          </a:p>
        </p:txBody>
      </p:sp>
      <p:sp>
        <p:nvSpPr>
          <p:cNvPr id="17" name="TextBox 16"/>
          <p:cNvSpPr txBox="1"/>
          <p:nvPr/>
        </p:nvSpPr>
        <p:spPr>
          <a:xfrm>
            <a:off x="49720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Die-Cut &amp; Folded Partitions, share</a:t>
            </a:r>
          </a:p>
        </p:txBody>
      </p:sp>
      <p:sp>
        <p:nvSpPr>
          <p:cNvPr id="20" name="TextBox 19"/>
          <p:cNvSpPr txBox="1"/>
          <p:nvPr/>
        </p:nvSpPr>
        <p:spPr>
          <a:xfrm>
            <a:off x="73342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Slotted Partitions, share</a:t>
            </a:r>
          </a:p>
        </p:txBody>
      </p:sp>
      <p:sp>
        <p:nvSpPr>
          <p:cNvPr id="23" name="TextBox 22"/>
          <p:cNvSpPr txBox="1"/>
          <p:nvPr/>
        </p:nvSpPr>
        <p:spPr>
          <a:xfrm>
            <a:off x="96964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Flat Dividers &amp; Layer Pads</a:t>
            </a:r>
          </a:p>
        </p:txBody>
      </p:sp>
      <p:sp>
        <p:nvSpPr>
          <p:cNvPr id="28" name="TextBox 27"/>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9" name="TextBox 28"/>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31" name="TextBox 30"/>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Great American Paper Inc.</a:t>
            </a:r>
          </a:p>
        </p:txBody>
      </p:sp>
      <p:sp>
        <p:nvSpPr>
          <p:cNvPr id="35" name="TextBox 34"/>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Multicell Packaging Inc.</a:t>
            </a:r>
          </a:p>
        </p:txBody>
      </p:sp>
      <p:sp>
        <p:nvSpPr>
          <p:cNvPr id="37" name="TextBox 36"/>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a:t>
            </a:r>
          </a:p>
        </p:txBody>
      </p:sp>
      <p:sp>
        <p:nvSpPr>
          <p:cNvPr id="38" name="TextBox 37"/>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Caps Cases Ltd.</a:t>
            </a:r>
          </a:p>
        </p:txBody>
      </p:sp>
      <p:sp>
        <p:nvSpPr>
          <p:cNvPr id="39" name="TextBox 38"/>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 &amp; M Box &amp; Partitions Co.</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Die-Cut &amp; Folded Partitions</a:t>
            </a:r>
          </a:p>
        </p:txBody>
      </p:sp>
      <p:sp>
        <p:nvSpPr>
          <p:cNvPr id="48" name="TextBox 47"/>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9" name="TextBox 48"/>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51" name="TextBox 50"/>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Multicell Packaging Inc.</a:t>
            </a:r>
          </a:p>
        </p:txBody>
      </p:sp>
      <p:sp>
        <p:nvSpPr>
          <p:cNvPr id="55" name="TextBox 54"/>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a:t>
            </a:r>
          </a:p>
        </p:txBody>
      </p:sp>
      <p:sp>
        <p:nvSpPr>
          <p:cNvPr id="57" name="TextBox 56"/>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Interpack Inc.</a:t>
            </a:r>
          </a:p>
        </p:txBody>
      </p:sp>
      <p:sp>
        <p:nvSpPr>
          <p:cNvPr id="58" name="TextBox 57"/>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Caps Cases Ltd.</a:t>
            </a:r>
          </a:p>
        </p:txBody>
      </p:sp>
      <p:sp>
        <p:nvSpPr>
          <p:cNvPr id="59" name="TextBox 58"/>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 &amp; M Box &amp; Partitions Co.</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315075"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3. Slotted Partitions</a:t>
            </a:r>
          </a:p>
        </p:txBody>
      </p:sp>
      <p:sp>
        <p:nvSpPr>
          <p:cNvPr id="68" name="TextBox 67"/>
          <p:cNvSpPr txBox="1"/>
          <p:nvPr/>
        </p:nvSpPr>
        <p:spPr>
          <a:xfrm>
            <a:off x="6315075"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69" name="TextBox 68"/>
          <p:cNvSpPr txBox="1"/>
          <p:nvPr/>
        </p:nvSpPr>
        <p:spPr>
          <a:xfrm>
            <a:off x="7000875"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71" name="TextBox 70"/>
          <p:cNvSpPr txBox="1"/>
          <p:nvPr/>
        </p:nvSpPr>
        <p:spPr>
          <a:xfrm>
            <a:off x="7000875"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Multicell Packaging Inc.</a:t>
            </a:r>
          </a:p>
        </p:txBody>
      </p:sp>
      <p:sp>
        <p:nvSpPr>
          <p:cNvPr id="75" name="TextBox 74"/>
          <p:cNvSpPr txBox="1"/>
          <p:nvPr/>
        </p:nvSpPr>
        <p:spPr>
          <a:xfrm>
            <a:off x="6315075"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Great American Paper Inc.</a:t>
            </a:r>
          </a:p>
        </p:txBody>
      </p:sp>
      <p:sp>
        <p:nvSpPr>
          <p:cNvPr id="77" name="TextBox 76"/>
          <p:cNvSpPr txBox="1"/>
          <p:nvPr/>
        </p:nvSpPr>
        <p:spPr>
          <a:xfrm>
            <a:off x="6315075"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Interpack Inc.</a:t>
            </a:r>
          </a:p>
        </p:txBody>
      </p:sp>
      <p:sp>
        <p:nvSpPr>
          <p:cNvPr id="78" name="TextBox 77"/>
          <p:cNvSpPr txBox="1"/>
          <p:nvPr/>
        </p:nvSpPr>
        <p:spPr>
          <a:xfrm>
            <a:off x="6315075"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Caps Cases Ltd.</a:t>
            </a:r>
          </a:p>
        </p:txBody>
      </p:sp>
      <p:sp>
        <p:nvSpPr>
          <p:cNvPr id="79" name="TextBox 78"/>
          <p:cNvSpPr txBox="1"/>
          <p:nvPr/>
        </p:nvSpPr>
        <p:spPr>
          <a:xfrm>
            <a:off x="6315075"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Martin Partitions</a:t>
            </a:r>
          </a:p>
        </p:txBody>
      </p:sp>
      <p:cxnSp>
        <p:nvCxnSpPr>
          <p:cNvPr id="80" name="Connector 79"/>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315075"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2" name="TextBox 81"/>
          <p:cNvSpPr txBox="1"/>
          <p:nvPr/>
        </p:nvSpPr>
        <p:spPr>
          <a:xfrm>
            <a:off x="6315075"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83" name="Connector 82"/>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4" name="Freeform 83"/>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sp>
        <p:nvSpPr>
          <p:cNvPr id="88" name="TextBox 87"/>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89" name="TextBox 88"/>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90" name="Connector 89"/>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Others</a:t>
            </a:r>
          </a:p>
        </p:txBody>
      </p:sp>
      <p:sp>
        <p:nvSpPr>
          <p:cNvPr id="92" name="Rectangle 91"/>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4" name="TextBox 93"/>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Glassware, Ceramics &amp; Home Goods</a:t>
            </a:r>
          </a:p>
        </p:txBody>
      </p:sp>
      <p:sp>
        <p:nvSpPr>
          <p:cNvPr id="95" name="Rectangle 94"/>
          <p:cNvSpPr/>
          <p:nvPr/>
        </p:nvSpPr>
        <p:spPr>
          <a:xfrm>
            <a:off x="10682288" y="2847975"/>
            <a:ext cx="747501"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467889"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7" name="TextBox 96"/>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Automotive &amp; Industrial Components</a:t>
            </a:r>
          </a:p>
        </p:txBody>
      </p:sp>
      <p:sp>
        <p:nvSpPr>
          <p:cNvPr id="98" name="Rectangle 97"/>
          <p:cNvSpPr/>
          <p:nvPr/>
        </p:nvSpPr>
        <p:spPr>
          <a:xfrm>
            <a:off x="10682288" y="3171825"/>
            <a:ext cx="567906"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288293"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100" name="TextBox 99"/>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 &amp; Beverage</a:t>
            </a:r>
          </a:p>
        </p:txBody>
      </p:sp>
      <p:sp>
        <p:nvSpPr>
          <p:cNvPr id="101" name="Rectangle 100"/>
          <p:cNvSpPr/>
          <p:nvPr/>
        </p:nvSpPr>
        <p:spPr>
          <a:xfrm>
            <a:off x="10682288" y="3495675"/>
            <a:ext cx="550586"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11270973"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103" name="TextBox 102"/>
          <p:cNvSpPr txBox="1"/>
          <p:nvPr/>
        </p:nvSpPr>
        <p:spPr>
          <a:xfrm>
            <a:off x="9329738" y="37147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Pharmaceuticals &amp; Healthcare</a:t>
            </a:r>
          </a:p>
        </p:txBody>
      </p:sp>
      <p:sp>
        <p:nvSpPr>
          <p:cNvPr id="104" name="Rectangle 103"/>
          <p:cNvSpPr/>
          <p:nvPr/>
        </p:nvSpPr>
        <p:spPr>
          <a:xfrm>
            <a:off x="10682288" y="3819525"/>
            <a:ext cx="541483"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261871" y="37814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106" name="TextBox 105"/>
          <p:cNvSpPr txBox="1"/>
          <p:nvPr/>
        </p:nvSpPr>
        <p:spPr>
          <a:xfrm>
            <a:off x="9329738" y="40386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Electronics &amp; Electrical</a:t>
            </a:r>
          </a:p>
        </p:txBody>
      </p:sp>
      <p:sp>
        <p:nvSpPr>
          <p:cNvPr id="107" name="Rectangle 106"/>
          <p:cNvSpPr/>
          <p:nvPr/>
        </p:nvSpPr>
        <p:spPr>
          <a:xfrm>
            <a:off x="10682288" y="4143375"/>
            <a:ext cx="439484"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11159871" y="41052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9" name="Connector 108"/>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111" name="TextBox 110"/>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112" name="Rectangle 111"/>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115" name="TextBox 114"/>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Flat Dividers &amp; Layer Pads Compounds Fastest Across the Partition Type Mix  |  South Asia &amp; Pacific Emerges as the Growth Engine Among Regions  |  Premiumisation Lifts Average Realisation</a:t>
            </a:r>
          </a:p>
        </p:txBody>
      </p:sp>
      <p:sp>
        <p:nvSpPr>
          <p:cNvPr id="116" name="Rectangle 115"/>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119" name="TextBox 118"/>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Die-Cut &amp; Folded Partitions (H-dividers, tube/cell inserts) Lags the Category and Dilutes Blended Growth  |  Uneven Region Performance Caps the Blended Rate  |  Concentration Risk Limits Pricing and Sourcing Flexibility</a:t>
            </a:r>
          </a:p>
        </p:txBody>
      </p:sp>
      <p:sp>
        <p:nvSpPr>
          <p:cNvPr id="120" name="TextBox 1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1" name="Picture 120" descr="lock.png"/>
          <p:cNvPicPr>
            <a:picLocks noChangeAspect="1"/>
          </p:cNvPicPr>
          <p:nvPr/>
        </p:nvPicPr>
        <p:blipFill>
          <a:blip r:embed="rId4"/>
          <a:stretch>
            <a:fillRect/>
          </a:stretch>
        </p:blipFill>
        <p:spPr>
          <a:xfrm>
            <a:off x="1316775" y="1258951"/>
            <a:ext cx="128699" cy="187198"/>
          </a:xfrm>
          <a:prstGeom prst="rect">
            <a:avLst/>
          </a:prstGeom>
        </p:spPr>
      </p:pic>
      <p:pic>
        <p:nvPicPr>
          <p:cNvPr id="122" name="Picture 121" descr="lock.png"/>
          <p:cNvPicPr>
            <a:picLocks noChangeAspect="1"/>
          </p:cNvPicPr>
          <p:nvPr/>
        </p:nvPicPr>
        <p:blipFill>
          <a:blip r:embed="rId4"/>
          <a:stretch>
            <a:fillRect/>
          </a:stretch>
        </p:blipFill>
        <p:spPr>
          <a:xfrm>
            <a:off x="3678975" y="1258951"/>
            <a:ext cx="128699" cy="187198"/>
          </a:xfrm>
          <a:prstGeom prst="rect">
            <a:avLst/>
          </a:prstGeom>
        </p:spPr>
      </p:pic>
      <p:pic>
        <p:nvPicPr>
          <p:cNvPr id="123" name="Picture 122" descr="lock.png"/>
          <p:cNvPicPr>
            <a:picLocks noChangeAspect="1"/>
          </p:cNvPicPr>
          <p:nvPr/>
        </p:nvPicPr>
        <p:blipFill>
          <a:blip r:embed="rId4"/>
          <a:stretch>
            <a:fillRect/>
          </a:stretch>
        </p:blipFill>
        <p:spPr>
          <a:xfrm>
            <a:off x="6041175" y="1258951"/>
            <a:ext cx="128699" cy="187198"/>
          </a:xfrm>
          <a:prstGeom prst="rect">
            <a:avLst/>
          </a:prstGeom>
        </p:spPr>
      </p:pic>
      <p:pic>
        <p:nvPicPr>
          <p:cNvPr id="124" name="Picture 123" descr="lock.png"/>
          <p:cNvPicPr>
            <a:picLocks noChangeAspect="1"/>
          </p:cNvPicPr>
          <p:nvPr/>
        </p:nvPicPr>
        <p:blipFill>
          <a:blip r:embed="rId4"/>
          <a:stretch>
            <a:fillRect/>
          </a:stretch>
        </p:blipFill>
        <p:spPr>
          <a:xfrm>
            <a:off x="8403375" y="1258951"/>
            <a:ext cx="128699" cy="187198"/>
          </a:xfrm>
          <a:prstGeom prst="rect">
            <a:avLst/>
          </a:prstGeom>
        </p:spPr>
      </p:pic>
      <p:pic>
        <p:nvPicPr>
          <p:cNvPr id="125" name="Picture 124" descr="lock.png"/>
          <p:cNvPicPr>
            <a:picLocks noChangeAspect="1"/>
          </p:cNvPicPr>
          <p:nvPr/>
        </p:nvPicPr>
        <p:blipFill>
          <a:blip r:embed="rId4"/>
          <a:stretch>
            <a:fillRect/>
          </a:stretch>
        </p:blipFill>
        <p:spPr>
          <a:xfrm>
            <a:off x="10765575" y="1258951"/>
            <a:ext cx="128699" cy="187198"/>
          </a:xfrm>
          <a:prstGeom prst="rect">
            <a:avLst/>
          </a:prstGeom>
        </p:spPr>
      </p:pic>
      <p:pic>
        <p:nvPicPr>
          <p:cNvPr id="126" name="Picture 125" descr="lock.png"/>
          <p:cNvPicPr>
            <a:picLocks noChangeAspect="1"/>
          </p:cNvPicPr>
          <p:nvPr/>
        </p:nvPicPr>
        <p:blipFill>
          <a:blip r:embed="rId4"/>
          <a:stretch>
            <a:fillRect/>
          </a:stretch>
        </p:blipFill>
        <p:spPr>
          <a:xfrm>
            <a:off x="554775" y="1925701"/>
            <a:ext cx="128699" cy="187198"/>
          </a:xfrm>
          <a:prstGeom prst="rect">
            <a:avLst/>
          </a:prstGeom>
        </p:spPr>
      </p:pic>
      <p:pic>
        <p:nvPicPr>
          <p:cNvPr id="127" name="Picture 126" descr="lock.png"/>
          <p:cNvPicPr>
            <a:picLocks noChangeAspect="1"/>
          </p:cNvPicPr>
          <p:nvPr/>
        </p:nvPicPr>
        <p:blipFill>
          <a:blip r:embed="rId4"/>
          <a:stretch>
            <a:fillRect/>
          </a:stretch>
        </p:blipFill>
        <p:spPr>
          <a:xfrm>
            <a:off x="554775" y="2135251"/>
            <a:ext cx="128699" cy="187198"/>
          </a:xfrm>
          <a:prstGeom prst="rect">
            <a:avLst/>
          </a:prstGeom>
        </p:spPr>
      </p:pic>
      <p:pic>
        <p:nvPicPr>
          <p:cNvPr id="128" name="Picture 127" descr="lock.png"/>
          <p:cNvPicPr>
            <a:picLocks noChangeAspect="1"/>
          </p:cNvPicPr>
          <p:nvPr/>
        </p:nvPicPr>
        <p:blipFill>
          <a:blip r:embed="rId4"/>
          <a:stretch>
            <a:fillRect/>
          </a:stretch>
        </p:blipFill>
        <p:spPr>
          <a:xfrm>
            <a:off x="3569437" y="1925701"/>
            <a:ext cx="128699" cy="187198"/>
          </a:xfrm>
          <a:prstGeom prst="rect">
            <a:avLst/>
          </a:prstGeom>
        </p:spPr>
      </p:pic>
      <p:pic>
        <p:nvPicPr>
          <p:cNvPr id="129" name="Picture 128" descr="lock.png"/>
          <p:cNvPicPr>
            <a:picLocks noChangeAspect="1"/>
          </p:cNvPicPr>
          <p:nvPr/>
        </p:nvPicPr>
        <p:blipFill>
          <a:blip r:embed="rId4"/>
          <a:stretch>
            <a:fillRect/>
          </a:stretch>
        </p:blipFill>
        <p:spPr>
          <a:xfrm>
            <a:off x="3569437" y="2135251"/>
            <a:ext cx="128699" cy="187198"/>
          </a:xfrm>
          <a:prstGeom prst="rect">
            <a:avLst/>
          </a:prstGeom>
        </p:spPr>
      </p:pic>
      <p:pic>
        <p:nvPicPr>
          <p:cNvPr id="130" name="Picture 129" descr="lock.png"/>
          <p:cNvPicPr>
            <a:picLocks noChangeAspect="1"/>
          </p:cNvPicPr>
          <p:nvPr/>
        </p:nvPicPr>
        <p:blipFill>
          <a:blip r:embed="rId4"/>
          <a:stretch>
            <a:fillRect/>
          </a:stretch>
        </p:blipFill>
        <p:spPr>
          <a:xfrm>
            <a:off x="6584100" y="1925701"/>
            <a:ext cx="128699" cy="187198"/>
          </a:xfrm>
          <a:prstGeom prst="rect">
            <a:avLst/>
          </a:prstGeom>
        </p:spPr>
      </p:pic>
      <p:pic>
        <p:nvPicPr>
          <p:cNvPr id="131" name="Picture 130" descr="lock.png"/>
          <p:cNvPicPr>
            <a:picLocks noChangeAspect="1"/>
          </p:cNvPicPr>
          <p:nvPr/>
        </p:nvPicPr>
        <p:blipFill>
          <a:blip r:embed="rId4"/>
          <a:stretch>
            <a:fillRect/>
          </a:stretch>
        </p:blipFill>
        <p:spPr>
          <a:xfrm>
            <a:off x="6584100" y="2135251"/>
            <a:ext cx="128699" cy="187198"/>
          </a:xfrm>
          <a:prstGeom prst="rect">
            <a:avLst/>
          </a:prstGeom>
        </p:spPr>
      </p:pic>
      <p:pic>
        <p:nvPicPr>
          <p:cNvPr id="132" name="Picture 131" descr="lock.png"/>
          <p:cNvPicPr>
            <a:picLocks noChangeAspect="1"/>
          </p:cNvPicPr>
          <p:nvPr/>
        </p:nvPicPr>
        <p:blipFill>
          <a:blip r:embed="rId4"/>
          <a:stretch>
            <a:fillRect/>
          </a:stretch>
        </p:blipFill>
        <p:spPr>
          <a:xfrm>
            <a:off x="10553644" y="1725676"/>
            <a:ext cx="128699" cy="187198"/>
          </a:xfrm>
          <a:prstGeom prst="rect">
            <a:avLst/>
          </a:prstGeom>
        </p:spPr>
      </p:pic>
      <p:pic>
        <p:nvPicPr>
          <p:cNvPr id="133" name="Picture 132" descr="lock.png"/>
          <p:cNvPicPr>
            <a:picLocks noChangeAspect="1"/>
          </p:cNvPicPr>
          <p:nvPr/>
        </p:nvPicPr>
        <p:blipFill>
          <a:blip r:embed="rId4"/>
          <a:stretch>
            <a:fillRect/>
          </a:stretch>
        </p:blipFill>
        <p:spPr>
          <a:xfrm>
            <a:off x="11660925" y="2487676"/>
            <a:ext cx="128699" cy="187198"/>
          </a:xfrm>
          <a:prstGeom prst="rect">
            <a:avLst/>
          </a:prstGeom>
        </p:spPr>
      </p:pic>
      <p:pic>
        <p:nvPicPr>
          <p:cNvPr id="134" name="Picture 133" descr="lock.png"/>
          <p:cNvPicPr>
            <a:picLocks noChangeAspect="1"/>
          </p:cNvPicPr>
          <p:nvPr/>
        </p:nvPicPr>
        <p:blipFill>
          <a:blip r:embed="rId4"/>
          <a:stretch>
            <a:fillRect/>
          </a:stretch>
        </p:blipFill>
        <p:spPr>
          <a:xfrm>
            <a:off x="11641664" y="2811526"/>
            <a:ext cx="128699" cy="187198"/>
          </a:xfrm>
          <a:prstGeom prst="rect">
            <a:avLst/>
          </a:prstGeom>
        </p:spPr>
      </p:pic>
      <p:pic>
        <p:nvPicPr>
          <p:cNvPr id="135" name="Picture 134" descr="lock.png"/>
          <p:cNvPicPr>
            <a:picLocks noChangeAspect="1"/>
          </p:cNvPicPr>
          <p:nvPr/>
        </p:nvPicPr>
        <p:blipFill>
          <a:blip r:embed="rId4"/>
          <a:stretch>
            <a:fillRect/>
          </a:stretch>
        </p:blipFill>
        <p:spPr>
          <a:xfrm>
            <a:off x="11462068" y="3135376"/>
            <a:ext cx="128699" cy="187198"/>
          </a:xfrm>
          <a:prstGeom prst="rect">
            <a:avLst/>
          </a:prstGeom>
        </p:spPr>
      </p:pic>
      <p:pic>
        <p:nvPicPr>
          <p:cNvPr id="136" name="Picture 135" descr="lock.png"/>
          <p:cNvPicPr>
            <a:picLocks noChangeAspect="1"/>
          </p:cNvPicPr>
          <p:nvPr/>
        </p:nvPicPr>
        <p:blipFill>
          <a:blip r:embed="rId4"/>
          <a:stretch>
            <a:fillRect/>
          </a:stretch>
        </p:blipFill>
        <p:spPr>
          <a:xfrm>
            <a:off x="11444748" y="3459226"/>
            <a:ext cx="128699" cy="187198"/>
          </a:xfrm>
          <a:prstGeom prst="rect">
            <a:avLst/>
          </a:prstGeom>
        </p:spPr>
      </p:pic>
      <p:pic>
        <p:nvPicPr>
          <p:cNvPr id="137" name="Picture 136" descr="lock.png"/>
          <p:cNvPicPr>
            <a:picLocks noChangeAspect="1"/>
          </p:cNvPicPr>
          <p:nvPr/>
        </p:nvPicPr>
        <p:blipFill>
          <a:blip r:embed="rId4"/>
          <a:stretch>
            <a:fillRect/>
          </a:stretch>
        </p:blipFill>
        <p:spPr>
          <a:xfrm>
            <a:off x="11435646" y="3783076"/>
            <a:ext cx="128699" cy="187198"/>
          </a:xfrm>
          <a:prstGeom prst="rect">
            <a:avLst/>
          </a:prstGeom>
        </p:spPr>
      </p:pic>
      <p:pic>
        <p:nvPicPr>
          <p:cNvPr id="138" name="Picture 137" descr="lock.png"/>
          <p:cNvPicPr>
            <a:picLocks noChangeAspect="1"/>
          </p:cNvPicPr>
          <p:nvPr/>
        </p:nvPicPr>
        <p:blipFill>
          <a:blip r:embed="rId4"/>
          <a:stretch>
            <a:fillRect/>
          </a:stretch>
        </p:blipFill>
        <p:spPr>
          <a:xfrm>
            <a:off x="11333646" y="4106926"/>
            <a:ext cx="128699" cy="187198"/>
          </a:xfrm>
          <a:prstGeom prst="rect">
            <a:avLst/>
          </a:prstGeom>
        </p:spPr>
      </p:pic>
      <p:sp>
        <p:nvSpPr>
          <p:cNvPr id="139" name="TextBox 138"/>
          <p:cNvSpPr txBox="1"/>
          <p:nvPr/>
        </p:nvSpPr>
        <p:spPr>
          <a:xfrm>
            <a:off x="314325" y="4676775"/>
            <a:ext cx="2152600" cy="186689"/>
          </a:xfrm>
          <a:prstGeom prst="rect">
            <a:avLst/>
          </a:prstGeom>
          <a:noFill/>
        </p:spPr>
        <p:txBody>
          <a:bodyPr wrap="none" lIns="0" rIns="0" tIns="0" bIns="0">
            <a:spAutoFit/>
          </a:bodyPr>
          <a:lstStyle/>
          <a:p>
            <a:r>
              <a:rPr sz="1100" b="0">
                <a:solidFill>
                  <a:srgbClr val="1F2933"/>
                </a:solidFill>
                <a:latin typeface="Calibri"/>
              </a:rPr>
              <a:t>5 named players compete here; 'Flat</a:t>
            </a:r>
          </a:p>
        </p:txBody>
      </p:sp>
      <p:sp>
        <p:nvSpPr>
          <p:cNvPr id="140" name="TextBox 139"/>
          <p:cNvSpPr txBox="1"/>
          <p:nvPr/>
        </p:nvSpPr>
        <p:spPr>
          <a:xfrm>
            <a:off x="314325" y="4844415"/>
            <a:ext cx="1631181" cy="186689"/>
          </a:xfrm>
          <a:prstGeom prst="rect">
            <a:avLst/>
          </a:prstGeom>
          <a:noFill/>
        </p:spPr>
        <p:txBody>
          <a:bodyPr wrap="none" lIns="0" rIns="0" tIns="0" bIns="0">
            <a:spAutoFit/>
          </a:bodyPr>
          <a:lstStyle/>
          <a:p>
            <a:r>
              <a:rPr sz="1100" b="0">
                <a:solidFill>
                  <a:srgbClr val="1F2933"/>
                </a:solidFill>
                <a:latin typeface="Calibri"/>
              </a:rPr>
              <a:t>Dividers &amp; Layer Pads' adds</a:t>
            </a:r>
          </a:p>
        </p:txBody>
      </p:sp>
      <p:pic>
        <p:nvPicPr>
          <p:cNvPr id="141" name="Picture 140" descr="lock.png"/>
          <p:cNvPicPr>
            <a:picLocks noChangeAspect="1"/>
          </p:cNvPicPr>
          <p:nvPr/>
        </p:nvPicPr>
        <p:blipFill>
          <a:blip r:embed="rId4"/>
          <a:stretch>
            <a:fillRect/>
          </a:stretch>
        </p:blipFill>
        <p:spPr>
          <a:xfrm>
            <a:off x="1893557" y="4834636"/>
            <a:ext cx="128699" cy="187198"/>
          </a:xfrm>
          <a:prstGeom prst="rect">
            <a:avLst/>
          </a:prstGeom>
        </p:spPr>
      </p:pic>
      <p:sp>
        <p:nvSpPr>
          <p:cNvPr id="142" name="TextBox 141"/>
          <p:cNvSpPr txBox="1"/>
          <p:nvPr/>
        </p:nvSpPr>
        <p:spPr>
          <a:xfrm>
            <a:off x="2061053"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43" name="TextBox 142"/>
          <p:cNvSpPr txBox="1"/>
          <p:nvPr/>
        </p:nvSpPr>
        <p:spPr>
          <a:xfrm>
            <a:off x="314325"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44" name="TextBox 143"/>
          <p:cNvSpPr txBox="1"/>
          <p:nvPr/>
        </p:nvSpPr>
        <p:spPr>
          <a:xfrm>
            <a:off x="3328987" y="4676775"/>
            <a:ext cx="2494756" cy="186689"/>
          </a:xfrm>
          <a:prstGeom prst="rect">
            <a:avLst/>
          </a:prstGeom>
          <a:noFill/>
        </p:spPr>
        <p:txBody>
          <a:bodyPr wrap="none" lIns="0" rIns="0" tIns="0" bIns="0">
            <a:spAutoFit/>
          </a:bodyPr>
          <a:lstStyle/>
          <a:p>
            <a:r>
              <a:rPr sz="1100" b="0">
                <a:solidFill>
                  <a:srgbClr val="1F2933"/>
                </a:solidFill>
                <a:latin typeface="Calibri"/>
              </a:rPr>
              <a:t>5 named players compete here; 'Die-Cut &amp;</a:t>
            </a:r>
          </a:p>
        </p:txBody>
      </p:sp>
      <p:sp>
        <p:nvSpPr>
          <p:cNvPr id="145" name="TextBox 144"/>
          <p:cNvSpPr txBox="1"/>
          <p:nvPr/>
        </p:nvSpPr>
        <p:spPr>
          <a:xfrm>
            <a:off x="3328987" y="4844415"/>
            <a:ext cx="1372760" cy="186689"/>
          </a:xfrm>
          <a:prstGeom prst="rect">
            <a:avLst/>
          </a:prstGeom>
          <a:noFill/>
        </p:spPr>
        <p:txBody>
          <a:bodyPr wrap="none" lIns="0" rIns="0" tIns="0" bIns="0">
            <a:spAutoFit/>
          </a:bodyPr>
          <a:lstStyle/>
          <a:p>
            <a:r>
              <a:rPr sz="1100" b="0">
                <a:solidFill>
                  <a:srgbClr val="1F2933"/>
                </a:solidFill>
                <a:latin typeface="Calibri"/>
              </a:rPr>
              <a:t>Folded Partitions' adds</a:t>
            </a:r>
          </a:p>
        </p:txBody>
      </p:sp>
      <p:pic>
        <p:nvPicPr>
          <p:cNvPr id="146" name="Picture 145" descr="lock.png"/>
          <p:cNvPicPr>
            <a:picLocks noChangeAspect="1"/>
          </p:cNvPicPr>
          <p:nvPr/>
        </p:nvPicPr>
        <p:blipFill>
          <a:blip r:embed="rId4"/>
          <a:stretch>
            <a:fillRect/>
          </a:stretch>
        </p:blipFill>
        <p:spPr>
          <a:xfrm>
            <a:off x="4649799" y="4834636"/>
            <a:ext cx="128699" cy="187198"/>
          </a:xfrm>
          <a:prstGeom prst="rect">
            <a:avLst/>
          </a:prstGeom>
        </p:spPr>
      </p:pic>
      <p:sp>
        <p:nvSpPr>
          <p:cNvPr id="147" name="TextBox 146"/>
          <p:cNvSpPr txBox="1"/>
          <p:nvPr/>
        </p:nvSpPr>
        <p:spPr>
          <a:xfrm>
            <a:off x="4817295"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48" name="TextBox 147"/>
          <p:cNvSpPr txBox="1"/>
          <p:nvPr/>
        </p:nvSpPr>
        <p:spPr>
          <a:xfrm>
            <a:off x="3328987"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49" name="TextBox 148"/>
          <p:cNvSpPr txBox="1"/>
          <p:nvPr/>
        </p:nvSpPr>
        <p:spPr>
          <a:xfrm>
            <a:off x="6343650" y="4676775"/>
            <a:ext cx="2349326" cy="186689"/>
          </a:xfrm>
          <a:prstGeom prst="rect">
            <a:avLst/>
          </a:prstGeom>
          <a:noFill/>
        </p:spPr>
        <p:txBody>
          <a:bodyPr wrap="none" lIns="0" rIns="0" tIns="0" bIns="0">
            <a:spAutoFit/>
          </a:bodyPr>
          <a:lstStyle/>
          <a:p>
            <a:r>
              <a:rPr sz="1100" b="0">
                <a:solidFill>
                  <a:srgbClr val="1F2933"/>
                </a:solidFill>
                <a:latin typeface="Calibri"/>
              </a:rPr>
              <a:t>5 named players compete here; 'Slotted</a:t>
            </a:r>
          </a:p>
        </p:txBody>
      </p:sp>
      <p:sp>
        <p:nvSpPr>
          <p:cNvPr id="150" name="TextBox 149"/>
          <p:cNvSpPr txBox="1"/>
          <p:nvPr/>
        </p:nvSpPr>
        <p:spPr>
          <a:xfrm>
            <a:off x="6343650" y="4844415"/>
            <a:ext cx="954782" cy="186689"/>
          </a:xfrm>
          <a:prstGeom prst="rect">
            <a:avLst/>
          </a:prstGeom>
          <a:noFill/>
        </p:spPr>
        <p:txBody>
          <a:bodyPr wrap="none" lIns="0" rIns="0" tIns="0" bIns="0">
            <a:spAutoFit/>
          </a:bodyPr>
          <a:lstStyle/>
          <a:p>
            <a:r>
              <a:rPr sz="1100" b="0">
                <a:solidFill>
                  <a:srgbClr val="1F2933"/>
                </a:solidFill>
                <a:latin typeface="Calibri"/>
              </a:rPr>
              <a:t>Partitions' adds</a:t>
            </a:r>
          </a:p>
        </p:txBody>
      </p:sp>
      <p:pic>
        <p:nvPicPr>
          <p:cNvPr id="151" name="Picture 150" descr="lock.png"/>
          <p:cNvPicPr>
            <a:picLocks noChangeAspect="1"/>
          </p:cNvPicPr>
          <p:nvPr/>
        </p:nvPicPr>
        <p:blipFill>
          <a:blip r:embed="rId4"/>
          <a:stretch>
            <a:fillRect/>
          </a:stretch>
        </p:blipFill>
        <p:spPr>
          <a:xfrm>
            <a:off x="7246483" y="4834636"/>
            <a:ext cx="128699" cy="187198"/>
          </a:xfrm>
          <a:prstGeom prst="rect">
            <a:avLst/>
          </a:prstGeom>
        </p:spPr>
      </p:pic>
      <p:sp>
        <p:nvSpPr>
          <p:cNvPr id="152" name="TextBox 151"/>
          <p:cNvSpPr txBox="1"/>
          <p:nvPr/>
        </p:nvSpPr>
        <p:spPr>
          <a:xfrm>
            <a:off x="7413979"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53" name="TextBox 152"/>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54" name="Picture 153" descr="lock.png"/>
          <p:cNvPicPr>
            <a:picLocks noChangeAspect="1"/>
          </p:cNvPicPr>
          <p:nvPr/>
        </p:nvPicPr>
        <p:blipFill>
          <a:blip r:embed="rId4"/>
          <a:stretch>
            <a:fillRect/>
          </a:stretch>
        </p:blipFill>
        <p:spPr>
          <a:xfrm>
            <a:off x="11035226" y="4666996"/>
            <a:ext cx="128699" cy="187198"/>
          </a:xfrm>
          <a:prstGeom prst="rect">
            <a:avLst/>
          </a:prstGeom>
        </p:spPr>
      </p:pic>
      <p:sp>
        <p:nvSpPr>
          <p:cNvPr id="155" name="TextBox 154"/>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56" name="TextBox 155"/>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57" name="TextBox 156"/>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Multicell Packaging Inc.</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Great American Paper Inc.</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Interpack Inc.</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Caps Cases Ltd.</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M &amp; M Box &amp; Partitions Co.</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Martin Partitions</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Buckeye Corrugated Inc.</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655050" y="3876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Cactus Corrugated Containers Inc.</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655050" y="4067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Jarrett Industries Inc.</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94" name="TextBox 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99" name="Picture 98" descr="lock.png"/>
          <p:cNvPicPr>
            <a:picLocks noChangeAspect="1"/>
          </p:cNvPicPr>
          <p:nvPr/>
        </p:nvPicPr>
        <p:blipFill>
          <a:blip r:embed="rId4"/>
          <a:stretch>
            <a:fillRect/>
          </a:stretch>
        </p:blipFill>
        <p:spPr>
          <a:xfrm>
            <a:off x="1343736" y="5867145"/>
            <a:ext cx="128699" cy="187198"/>
          </a:xfrm>
          <a:prstGeom prst="rect">
            <a:avLst/>
          </a:prstGeom>
        </p:spPr>
      </p:pic>
      <p:sp>
        <p:nvSpPr>
          <p:cNvPr id="100" name="TextBox 99"/>
          <p:cNvSpPr txBox="1"/>
          <p:nvPr/>
        </p:nvSpPr>
        <p:spPr>
          <a:xfrm>
            <a:off x="151123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2" name="Picture 101" descr="lock.png"/>
          <p:cNvPicPr>
            <a:picLocks noChangeAspect="1"/>
          </p:cNvPicPr>
          <p:nvPr/>
        </p:nvPicPr>
        <p:blipFill>
          <a:blip r:embed="rId4"/>
          <a:stretch>
            <a:fillRect/>
          </a:stretch>
        </p:blipFill>
        <p:spPr>
          <a:xfrm>
            <a:off x="4344111" y="5867145"/>
            <a:ext cx="128699" cy="187198"/>
          </a:xfrm>
          <a:prstGeom prst="rect">
            <a:avLst/>
          </a:prstGeom>
        </p:spPr>
      </p:pic>
      <p:sp>
        <p:nvSpPr>
          <p:cNvPr id="103" name="TextBox 102"/>
          <p:cNvSpPr txBox="1"/>
          <p:nvPr/>
        </p:nvSpPr>
        <p:spPr>
          <a:xfrm>
            <a:off x="4511607"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5" name="Picture 104" descr="lock.png"/>
          <p:cNvPicPr>
            <a:picLocks noChangeAspect="1"/>
          </p:cNvPicPr>
          <p:nvPr/>
        </p:nvPicPr>
        <p:blipFill>
          <a:blip r:embed="rId4"/>
          <a:stretch>
            <a:fillRect/>
          </a:stretch>
        </p:blipFill>
        <p:spPr>
          <a:xfrm>
            <a:off x="7344486" y="5867145"/>
            <a:ext cx="128699" cy="187198"/>
          </a:xfrm>
          <a:prstGeom prst="rect">
            <a:avLst/>
          </a:prstGeom>
        </p:spPr>
      </p:pic>
      <p:sp>
        <p:nvSpPr>
          <p:cNvPr id="106" name="TextBox 105"/>
          <p:cNvSpPr txBox="1"/>
          <p:nvPr/>
        </p:nvSpPr>
        <p:spPr>
          <a:xfrm>
            <a:off x="751198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Multicell Packaging Inc.</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9" name="TextBox 38"/>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a:t>
            </a:r>
          </a:p>
        </p:txBody>
      </p:sp>
      <p:sp>
        <p:nvSpPr>
          <p:cNvPr id="43" name="TextBox 42"/>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4" name="TextBox 43"/>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104467"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6181725" y="2667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3" name="Connector 52"/>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Great American Paper Inc.</a:t>
            </a:r>
          </a:p>
        </p:txBody>
      </p:sp>
      <p:sp>
        <p:nvSpPr>
          <p:cNvPr id="56" name="TextBox 55"/>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7" name="TextBox 56"/>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8" name="TextBox 57"/>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59" name="Oval 58"/>
          <p:cNvSpPr/>
          <p:nvPr/>
        </p:nvSpPr>
        <p:spPr>
          <a:xfrm>
            <a:off x="6104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reeform 59"/>
          <p:cNvSpPr/>
          <p:nvPr/>
        </p:nvSpPr>
        <p:spPr>
          <a:xfrm>
            <a:off x="6181725" y="3009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6" name="TextBox 65"/>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7" name="Connector 66"/>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8" name="Rectangle 67"/>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Interpack Inc.</a:t>
            </a:r>
          </a:p>
        </p:txBody>
      </p:sp>
      <p:sp>
        <p:nvSpPr>
          <p:cNvPr id="70" name="TextBox 69"/>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1" name="TextBox 70"/>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3" name="Oval 72"/>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618172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0" name="TextBox 79"/>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1" name="Connector 80"/>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2" name="Rectangle 81"/>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Caps Cases Ltd.</a:t>
            </a:r>
          </a:p>
        </p:txBody>
      </p:sp>
      <p:sp>
        <p:nvSpPr>
          <p:cNvPr id="84" name="TextBox 83"/>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5" name="TextBox 84"/>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6" name="TextBox 85"/>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7" name="Oval 86"/>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6" name="TextBox 95"/>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7" name="Connector 96"/>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 &amp; M Box &amp; Partitions Co.</a:t>
            </a:r>
          </a:p>
        </p:txBody>
      </p:sp>
      <p:sp>
        <p:nvSpPr>
          <p:cNvPr id="100" name="TextBox 99"/>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1" name="TextBox 100"/>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3" name="Oval 102"/>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2" name="TextBox 111"/>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3" name="Connector 112"/>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4" name="Rectangle 113"/>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Martin Partitions</a:t>
            </a:r>
          </a:p>
        </p:txBody>
      </p:sp>
      <p:sp>
        <p:nvSpPr>
          <p:cNvPr id="116" name="TextBox 115"/>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7" name="TextBox 116"/>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8" name="TextBox 117"/>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19" name="Oval 118"/>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618172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Oval 124"/>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Freeform 125"/>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TextBox 127"/>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9" name="Connector 128"/>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0" name="Rectangle 129"/>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Buckeye Corrugated Inc.</a:t>
            </a:r>
          </a:p>
        </p:txBody>
      </p:sp>
      <p:sp>
        <p:nvSpPr>
          <p:cNvPr id="132" name="TextBox 131"/>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3" name="TextBox 132"/>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4" name="TextBox 133"/>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5" name="Oval 134"/>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618172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Freeform 141"/>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4" name="TextBox 143"/>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5" name="Connector 144"/>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6" name="Rectangle 145"/>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Cactus Corrugated Containers Inc.</a:t>
            </a:r>
          </a:p>
        </p:txBody>
      </p:sp>
      <p:sp>
        <p:nvSpPr>
          <p:cNvPr id="148" name="TextBox 147"/>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9" name="TextBox 148"/>
          <p:cNvSpPr txBox="1"/>
          <p:nvPr/>
        </p:nvSpPr>
        <p:spPr>
          <a:xfrm>
            <a:off x="2000250" y="49720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50" name="TextBox 149"/>
          <p:cNvSpPr txBox="1"/>
          <p:nvPr/>
        </p:nvSpPr>
        <p:spPr>
          <a:xfrm>
            <a:off x="4419600" y="49720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51" name="Oval 150"/>
          <p:cNvSpPr/>
          <p:nvPr/>
        </p:nvSpPr>
        <p:spPr>
          <a:xfrm>
            <a:off x="6104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Freeform 151"/>
          <p:cNvSpPr/>
          <p:nvPr/>
        </p:nvSpPr>
        <p:spPr>
          <a:xfrm>
            <a:off x="618172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Oval 152"/>
          <p:cNvSpPr/>
          <p:nvPr/>
        </p:nvSpPr>
        <p:spPr>
          <a:xfrm>
            <a:off x="716280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Freeform 153"/>
          <p:cNvSpPr/>
          <p:nvPr/>
        </p:nvSpPr>
        <p:spPr>
          <a:xfrm>
            <a:off x="7239000"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Oval 154"/>
          <p:cNvSpPr/>
          <p:nvPr/>
        </p:nvSpPr>
        <p:spPr>
          <a:xfrm>
            <a:off x="8221133"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Freeform 155"/>
          <p:cNvSpPr/>
          <p:nvPr/>
        </p:nvSpPr>
        <p:spPr>
          <a:xfrm>
            <a:off x="8296275"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Oval 156"/>
          <p:cNvSpPr/>
          <p:nvPr/>
        </p:nvSpPr>
        <p:spPr>
          <a:xfrm>
            <a:off x="9279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9353550"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9884833"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0" name="TextBox 159"/>
          <p:cNvSpPr txBox="1"/>
          <p:nvPr/>
        </p:nvSpPr>
        <p:spPr>
          <a:xfrm>
            <a:off x="10943167"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61" name="Connector 160"/>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2" name="Rectangle 161"/>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Jarrett Industries Inc.</a:t>
            </a:r>
          </a:p>
        </p:txBody>
      </p:sp>
      <p:sp>
        <p:nvSpPr>
          <p:cNvPr id="164" name="TextBox 163"/>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65" name="TextBox 164"/>
          <p:cNvSpPr txBox="1"/>
          <p:nvPr/>
        </p:nvSpPr>
        <p:spPr>
          <a:xfrm>
            <a:off x="2000250" y="53149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6" name="TextBox 165"/>
          <p:cNvSpPr txBox="1"/>
          <p:nvPr/>
        </p:nvSpPr>
        <p:spPr>
          <a:xfrm>
            <a:off x="4419600" y="53149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67" name="Oval 166"/>
          <p:cNvSpPr/>
          <p:nvPr/>
        </p:nvSpPr>
        <p:spPr>
          <a:xfrm>
            <a:off x="6104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Freeform 167"/>
          <p:cNvSpPr/>
          <p:nvPr/>
        </p:nvSpPr>
        <p:spPr>
          <a:xfrm>
            <a:off x="618172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Oval 168"/>
          <p:cNvSpPr/>
          <p:nvPr/>
        </p:nvSpPr>
        <p:spPr>
          <a:xfrm>
            <a:off x="716280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Freeform 169"/>
          <p:cNvSpPr/>
          <p:nvPr/>
        </p:nvSpPr>
        <p:spPr>
          <a:xfrm>
            <a:off x="7239000"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Oval 170"/>
          <p:cNvSpPr/>
          <p:nvPr/>
        </p:nvSpPr>
        <p:spPr>
          <a:xfrm>
            <a:off x="8221133"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Freeform 171"/>
          <p:cNvSpPr/>
          <p:nvPr/>
        </p:nvSpPr>
        <p:spPr>
          <a:xfrm>
            <a:off x="8296275"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Oval 172"/>
          <p:cNvSpPr/>
          <p:nvPr/>
        </p:nvSpPr>
        <p:spPr>
          <a:xfrm>
            <a:off x="9279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Freeform 173"/>
          <p:cNvSpPr/>
          <p:nvPr/>
        </p:nvSpPr>
        <p:spPr>
          <a:xfrm>
            <a:off x="9353550"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9884833"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76" name="TextBox 175"/>
          <p:cNvSpPr txBox="1"/>
          <p:nvPr/>
        </p:nvSpPr>
        <p:spPr>
          <a:xfrm>
            <a:off x="10943167"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77" name="Connector 176"/>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8" name="Oval 177"/>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TextBox 178"/>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80" name="Oval 179"/>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Freeform 180"/>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83" name="Oval 182"/>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Freeform 183"/>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86" name="Oval 185"/>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88" name="TextBox 187"/>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89" name="TextBox 188"/>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90" name="TextBox 18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91" name="TextBox 190"/>
          <p:cNvSpPr txBox="1"/>
          <p:nvPr/>
        </p:nvSpPr>
        <p:spPr>
          <a:xfrm>
            <a:off x="8893175" y="1666875"/>
            <a:ext cx="398983" cy="186689"/>
          </a:xfrm>
          <a:prstGeom prst="rect">
            <a:avLst/>
          </a:prstGeom>
          <a:noFill/>
        </p:spPr>
        <p:txBody>
          <a:bodyPr wrap="none" lIns="0" rIns="0" tIns="0" bIns="0">
            <a:spAutoFit/>
          </a:bodyPr>
          <a:lstStyle/>
          <a:p>
            <a:r>
              <a:rPr sz="1100" b="0">
                <a:solidFill>
                  <a:srgbClr val="5F6B7A"/>
                </a:solidFill>
                <a:latin typeface="Calibri"/>
              </a:rPr>
              <a:t>Share</a:t>
            </a:r>
          </a:p>
        </p:txBody>
      </p:sp>
      <p:pic>
        <p:nvPicPr>
          <p:cNvPr id="192" name="Picture 191" descr="lock.png"/>
          <p:cNvPicPr>
            <a:picLocks noChangeAspect="1"/>
          </p:cNvPicPr>
          <p:nvPr/>
        </p:nvPicPr>
        <p:blipFill>
          <a:blip r:embed="rId4"/>
          <a:stretch>
            <a:fillRect/>
          </a:stretch>
        </p:blipFill>
        <p:spPr>
          <a:xfrm>
            <a:off x="9240209" y="1657096"/>
            <a:ext cx="128699" cy="187198"/>
          </a:xfrm>
          <a:prstGeom prst="rect">
            <a:avLst/>
          </a:prstGeom>
        </p:spPr>
      </p:pic>
      <p:sp>
        <p:nvSpPr>
          <p:cNvPr id="193" name="TextBox 192"/>
          <p:cNvSpPr txBox="1"/>
          <p:nvPr/>
        </p:nvSpPr>
        <p:spPr>
          <a:xfrm>
            <a:off x="9407705" y="1666875"/>
            <a:ext cx="384522" cy="186689"/>
          </a:xfrm>
          <a:prstGeom prst="rect">
            <a:avLst/>
          </a:prstGeom>
          <a:noFill/>
        </p:spPr>
        <p:txBody>
          <a:bodyPr wrap="none" lIns="0" rIns="0" tIns="0" bIns="0">
            <a:spAutoFit/>
          </a:bodyPr>
          <a:lstStyle/>
          <a:p>
            <a:r>
              <a:rPr sz="1100" b="0">
                <a:solidFill>
                  <a:srgbClr val="5F6B7A"/>
                </a:solidFill>
                <a:latin typeface="Calibri"/>
              </a:rPr>
              <a:t>+ = 3,</a:t>
            </a:r>
          </a:p>
        </p:txBody>
      </p:sp>
      <p:pic>
        <p:nvPicPr>
          <p:cNvPr id="194" name="Picture 193" descr="lock.png"/>
          <p:cNvPicPr>
            <a:picLocks noChangeAspect="1"/>
          </p:cNvPicPr>
          <p:nvPr/>
        </p:nvPicPr>
        <p:blipFill>
          <a:blip r:embed="rId4"/>
          <a:stretch>
            <a:fillRect/>
          </a:stretch>
        </p:blipFill>
        <p:spPr>
          <a:xfrm>
            <a:off x="8879707" y="1824736"/>
            <a:ext cx="128699" cy="187198"/>
          </a:xfrm>
          <a:prstGeom prst="rect">
            <a:avLst/>
          </a:prstGeom>
        </p:spPr>
      </p:pic>
      <p:sp>
        <p:nvSpPr>
          <p:cNvPr id="195" name="TextBox 194"/>
          <p:cNvSpPr txBox="1"/>
          <p:nvPr/>
        </p:nvSpPr>
        <p:spPr>
          <a:xfrm>
            <a:off x="9047203" y="1834515"/>
            <a:ext cx="643458" cy="186689"/>
          </a:xfrm>
          <a:prstGeom prst="rect">
            <a:avLst/>
          </a:prstGeom>
          <a:noFill/>
        </p:spPr>
        <p:txBody>
          <a:bodyPr wrap="none" lIns="0" rIns="0" tIns="0" bIns="0">
            <a:spAutoFit/>
          </a:bodyPr>
          <a:lstStyle/>
          <a:p>
            <a:r>
              <a:rPr sz="1100" b="0">
                <a:solidFill>
                  <a:srgbClr val="5F6B7A"/>
                </a:solidFill>
                <a:latin typeface="Calibri"/>
              </a:rPr>
              <a:t>= 2, else 1</a:t>
            </a:r>
          </a:p>
        </p:txBody>
      </p:sp>
      <p:pic>
        <p:nvPicPr>
          <p:cNvPr id="196" name="Picture 195" descr="lock.png"/>
          <p:cNvPicPr>
            <a:picLocks noChangeAspect="1"/>
          </p:cNvPicPr>
          <p:nvPr/>
        </p:nvPicPr>
        <p:blipFill>
          <a:blip r:embed="rId4"/>
          <a:stretch>
            <a:fillRect/>
          </a:stretch>
        </p:blipFill>
        <p:spPr>
          <a:xfrm>
            <a:off x="3126525" y="2306701"/>
            <a:ext cx="128699" cy="187198"/>
          </a:xfrm>
          <a:prstGeom prst="rect">
            <a:avLst/>
          </a:prstGeom>
        </p:spPr>
      </p:pic>
      <p:pic>
        <p:nvPicPr>
          <p:cNvPr id="197" name="Picture 196" descr="lock.png"/>
          <p:cNvPicPr>
            <a:picLocks noChangeAspect="1"/>
          </p:cNvPicPr>
          <p:nvPr/>
        </p:nvPicPr>
        <p:blipFill>
          <a:blip r:embed="rId4"/>
          <a:stretch>
            <a:fillRect/>
          </a:stretch>
        </p:blipFill>
        <p:spPr>
          <a:xfrm>
            <a:off x="10349650" y="23067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1407984" y="2306701"/>
            <a:ext cx="128699" cy="187198"/>
          </a:xfrm>
          <a:prstGeom prst="rect">
            <a:avLst/>
          </a:prstGeom>
        </p:spPr>
      </p:pic>
      <p:pic>
        <p:nvPicPr>
          <p:cNvPr id="199" name="Picture 198" descr="lock.png"/>
          <p:cNvPicPr>
            <a:picLocks noChangeAspect="1"/>
          </p:cNvPicPr>
          <p:nvPr/>
        </p:nvPicPr>
        <p:blipFill>
          <a:blip r:embed="rId4"/>
          <a:stretch>
            <a:fillRect/>
          </a:stretch>
        </p:blipFill>
        <p:spPr>
          <a:xfrm>
            <a:off x="3126525" y="2649601"/>
            <a:ext cx="128699" cy="187198"/>
          </a:xfrm>
          <a:prstGeom prst="rect">
            <a:avLst/>
          </a:prstGeom>
        </p:spPr>
      </p:pic>
      <p:pic>
        <p:nvPicPr>
          <p:cNvPr id="200" name="Picture 199" descr="lock.png"/>
          <p:cNvPicPr>
            <a:picLocks noChangeAspect="1"/>
          </p:cNvPicPr>
          <p:nvPr/>
        </p:nvPicPr>
        <p:blipFill>
          <a:blip r:embed="rId4"/>
          <a:stretch>
            <a:fillRect/>
          </a:stretch>
        </p:blipFill>
        <p:spPr>
          <a:xfrm>
            <a:off x="10349650" y="26496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1407984" y="2649601"/>
            <a:ext cx="128699" cy="187198"/>
          </a:xfrm>
          <a:prstGeom prst="rect">
            <a:avLst/>
          </a:prstGeom>
        </p:spPr>
      </p:pic>
      <p:pic>
        <p:nvPicPr>
          <p:cNvPr id="202" name="Picture 201" descr="lock.png"/>
          <p:cNvPicPr>
            <a:picLocks noChangeAspect="1"/>
          </p:cNvPicPr>
          <p:nvPr/>
        </p:nvPicPr>
        <p:blipFill>
          <a:blip r:embed="rId4"/>
          <a:stretch>
            <a:fillRect/>
          </a:stretch>
        </p:blipFill>
        <p:spPr>
          <a:xfrm>
            <a:off x="3126525" y="2992501"/>
            <a:ext cx="128699" cy="187198"/>
          </a:xfrm>
          <a:prstGeom prst="rect">
            <a:avLst/>
          </a:prstGeom>
        </p:spPr>
      </p:pic>
      <p:pic>
        <p:nvPicPr>
          <p:cNvPr id="203" name="Picture 202" descr="lock.png"/>
          <p:cNvPicPr>
            <a:picLocks noChangeAspect="1"/>
          </p:cNvPicPr>
          <p:nvPr/>
        </p:nvPicPr>
        <p:blipFill>
          <a:blip r:embed="rId4"/>
          <a:stretch>
            <a:fillRect/>
          </a:stretch>
        </p:blipFill>
        <p:spPr>
          <a:xfrm>
            <a:off x="10349650" y="29925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1407984" y="2992501"/>
            <a:ext cx="128699" cy="187198"/>
          </a:xfrm>
          <a:prstGeom prst="rect">
            <a:avLst/>
          </a:prstGeom>
        </p:spPr>
      </p:pic>
      <p:pic>
        <p:nvPicPr>
          <p:cNvPr id="205" name="Picture 204" descr="lock.png"/>
          <p:cNvPicPr>
            <a:picLocks noChangeAspect="1"/>
          </p:cNvPicPr>
          <p:nvPr/>
        </p:nvPicPr>
        <p:blipFill>
          <a:blip r:embed="rId4"/>
          <a:stretch>
            <a:fillRect/>
          </a:stretch>
        </p:blipFill>
        <p:spPr>
          <a:xfrm>
            <a:off x="3126525" y="3335401"/>
            <a:ext cx="128699" cy="187198"/>
          </a:xfrm>
          <a:prstGeom prst="rect">
            <a:avLst/>
          </a:prstGeom>
        </p:spPr>
      </p:pic>
      <p:pic>
        <p:nvPicPr>
          <p:cNvPr id="206" name="Picture 205" descr="lock.png"/>
          <p:cNvPicPr>
            <a:picLocks noChangeAspect="1"/>
          </p:cNvPicPr>
          <p:nvPr/>
        </p:nvPicPr>
        <p:blipFill>
          <a:blip r:embed="rId4"/>
          <a:stretch>
            <a:fillRect/>
          </a:stretch>
        </p:blipFill>
        <p:spPr>
          <a:xfrm>
            <a:off x="10349650" y="33354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1407984" y="3335401"/>
            <a:ext cx="128699" cy="187198"/>
          </a:xfrm>
          <a:prstGeom prst="rect">
            <a:avLst/>
          </a:prstGeom>
        </p:spPr>
      </p:pic>
      <p:pic>
        <p:nvPicPr>
          <p:cNvPr id="208" name="Picture 207" descr="lock.png"/>
          <p:cNvPicPr>
            <a:picLocks noChangeAspect="1"/>
          </p:cNvPicPr>
          <p:nvPr/>
        </p:nvPicPr>
        <p:blipFill>
          <a:blip r:embed="rId4"/>
          <a:stretch>
            <a:fillRect/>
          </a:stretch>
        </p:blipFill>
        <p:spPr>
          <a:xfrm>
            <a:off x="3126525" y="3678301"/>
            <a:ext cx="128699" cy="187198"/>
          </a:xfrm>
          <a:prstGeom prst="rect">
            <a:avLst/>
          </a:prstGeom>
        </p:spPr>
      </p:pic>
      <p:pic>
        <p:nvPicPr>
          <p:cNvPr id="209" name="Picture 208" descr="lock.png"/>
          <p:cNvPicPr>
            <a:picLocks noChangeAspect="1"/>
          </p:cNvPicPr>
          <p:nvPr/>
        </p:nvPicPr>
        <p:blipFill>
          <a:blip r:embed="rId4"/>
          <a:stretch>
            <a:fillRect/>
          </a:stretch>
        </p:blipFill>
        <p:spPr>
          <a:xfrm>
            <a:off x="10349650" y="36783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1407984" y="3678301"/>
            <a:ext cx="128699" cy="187198"/>
          </a:xfrm>
          <a:prstGeom prst="rect">
            <a:avLst/>
          </a:prstGeom>
        </p:spPr>
      </p:pic>
      <p:pic>
        <p:nvPicPr>
          <p:cNvPr id="211" name="Picture 210" descr="lock.png"/>
          <p:cNvPicPr>
            <a:picLocks noChangeAspect="1"/>
          </p:cNvPicPr>
          <p:nvPr/>
        </p:nvPicPr>
        <p:blipFill>
          <a:blip r:embed="rId4"/>
          <a:stretch>
            <a:fillRect/>
          </a:stretch>
        </p:blipFill>
        <p:spPr>
          <a:xfrm>
            <a:off x="3126525" y="4021201"/>
            <a:ext cx="128699" cy="187198"/>
          </a:xfrm>
          <a:prstGeom prst="rect">
            <a:avLst/>
          </a:prstGeom>
        </p:spPr>
      </p:pic>
      <p:pic>
        <p:nvPicPr>
          <p:cNvPr id="212" name="Picture 211" descr="lock.png"/>
          <p:cNvPicPr>
            <a:picLocks noChangeAspect="1"/>
          </p:cNvPicPr>
          <p:nvPr/>
        </p:nvPicPr>
        <p:blipFill>
          <a:blip r:embed="rId4"/>
          <a:stretch>
            <a:fillRect/>
          </a:stretch>
        </p:blipFill>
        <p:spPr>
          <a:xfrm>
            <a:off x="10349650" y="40212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1407984" y="4021201"/>
            <a:ext cx="128699" cy="187198"/>
          </a:xfrm>
          <a:prstGeom prst="rect">
            <a:avLst/>
          </a:prstGeom>
        </p:spPr>
      </p:pic>
      <p:pic>
        <p:nvPicPr>
          <p:cNvPr id="214" name="Picture 213" descr="lock.png"/>
          <p:cNvPicPr>
            <a:picLocks noChangeAspect="1"/>
          </p:cNvPicPr>
          <p:nvPr/>
        </p:nvPicPr>
        <p:blipFill>
          <a:blip r:embed="rId4"/>
          <a:stretch>
            <a:fillRect/>
          </a:stretch>
        </p:blipFill>
        <p:spPr>
          <a:xfrm>
            <a:off x="3126525" y="4364101"/>
            <a:ext cx="128699" cy="187198"/>
          </a:xfrm>
          <a:prstGeom prst="rect">
            <a:avLst/>
          </a:prstGeom>
        </p:spPr>
      </p:pic>
      <p:pic>
        <p:nvPicPr>
          <p:cNvPr id="215" name="Picture 214" descr="lock.png"/>
          <p:cNvPicPr>
            <a:picLocks noChangeAspect="1"/>
          </p:cNvPicPr>
          <p:nvPr/>
        </p:nvPicPr>
        <p:blipFill>
          <a:blip r:embed="rId4"/>
          <a:stretch>
            <a:fillRect/>
          </a:stretch>
        </p:blipFill>
        <p:spPr>
          <a:xfrm>
            <a:off x="10349650" y="43641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1407984" y="4364101"/>
            <a:ext cx="128699" cy="187198"/>
          </a:xfrm>
          <a:prstGeom prst="rect">
            <a:avLst/>
          </a:prstGeom>
        </p:spPr>
      </p:pic>
      <p:pic>
        <p:nvPicPr>
          <p:cNvPr id="217" name="Picture 216" descr="lock.png"/>
          <p:cNvPicPr>
            <a:picLocks noChangeAspect="1"/>
          </p:cNvPicPr>
          <p:nvPr/>
        </p:nvPicPr>
        <p:blipFill>
          <a:blip r:embed="rId4"/>
          <a:stretch>
            <a:fillRect/>
          </a:stretch>
        </p:blipFill>
        <p:spPr>
          <a:xfrm>
            <a:off x="3126525" y="4707001"/>
            <a:ext cx="128699" cy="187198"/>
          </a:xfrm>
          <a:prstGeom prst="rect">
            <a:avLst/>
          </a:prstGeom>
        </p:spPr>
      </p:pic>
      <p:pic>
        <p:nvPicPr>
          <p:cNvPr id="218" name="Picture 217" descr="lock.png"/>
          <p:cNvPicPr>
            <a:picLocks noChangeAspect="1"/>
          </p:cNvPicPr>
          <p:nvPr/>
        </p:nvPicPr>
        <p:blipFill>
          <a:blip r:embed="rId4"/>
          <a:stretch>
            <a:fillRect/>
          </a:stretch>
        </p:blipFill>
        <p:spPr>
          <a:xfrm>
            <a:off x="10349650" y="47070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1407984" y="4707001"/>
            <a:ext cx="128699" cy="187198"/>
          </a:xfrm>
          <a:prstGeom prst="rect">
            <a:avLst/>
          </a:prstGeom>
        </p:spPr>
      </p:pic>
      <p:pic>
        <p:nvPicPr>
          <p:cNvPr id="220" name="Picture 219" descr="lock.png"/>
          <p:cNvPicPr>
            <a:picLocks noChangeAspect="1"/>
          </p:cNvPicPr>
          <p:nvPr/>
        </p:nvPicPr>
        <p:blipFill>
          <a:blip r:embed="rId4"/>
          <a:stretch>
            <a:fillRect/>
          </a:stretch>
        </p:blipFill>
        <p:spPr>
          <a:xfrm>
            <a:off x="3126525" y="5049901"/>
            <a:ext cx="128699" cy="187198"/>
          </a:xfrm>
          <a:prstGeom prst="rect">
            <a:avLst/>
          </a:prstGeom>
        </p:spPr>
      </p:pic>
      <p:pic>
        <p:nvPicPr>
          <p:cNvPr id="221" name="Picture 220" descr="lock.png"/>
          <p:cNvPicPr>
            <a:picLocks noChangeAspect="1"/>
          </p:cNvPicPr>
          <p:nvPr/>
        </p:nvPicPr>
        <p:blipFill>
          <a:blip r:embed="rId4"/>
          <a:stretch>
            <a:fillRect/>
          </a:stretch>
        </p:blipFill>
        <p:spPr>
          <a:xfrm>
            <a:off x="10349650" y="50499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1407984" y="5049901"/>
            <a:ext cx="128699" cy="187198"/>
          </a:xfrm>
          <a:prstGeom prst="rect">
            <a:avLst/>
          </a:prstGeom>
        </p:spPr>
      </p:pic>
      <p:pic>
        <p:nvPicPr>
          <p:cNvPr id="223" name="Picture 222" descr="lock.png"/>
          <p:cNvPicPr>
            <a:picLocks noChangeAspect="1"/>
          </p:cNvPicPr>
          <p:nvPr/>
        </p:nvPicPr>
        <p:blipFill>
          <a:blip r:embed="rId4"/>
          <a:stretch>
            <a:fillRect/>
          </a:stretch>
        </p:blipFill>
        <p:spPr>
          <a:xfrm>
            <a:off x="3126525" y="5392801"/>
            <a:ext cx="128699" cy="187198"/>
          </a:xfrm>
          <a:prstGeom prst="rect">
            <a:avLst/>
          </a:prstGeom>
        </p:spPr>
      </p:pic>
      <p:pic>
        <p:nvPicPr>
          <p:cNvPr id="224" name="Picture 223" descr="lock.png"/>
          <p:cNvPicPr>
            <a:picLocks noChangeAspect="1"/>
          </p:cNvPicPr>
          <p:nvPr/>
        </p:nvPicPr>
        <p:blipFill>
          <a:blip r:embed="rId4"/>
          <a:stretch>
            <a:fillRect/>
          </a:stretch>
        </p:blipFill>
        <p:spPr>
          <a:xfrm>
            <a:off x="10349650" y="5392801"/>
            <a:ext cx="128699" cy="187198"/>
          </a:xfrm>
          <a:prstGeom prst="rect">
            <a:avLst/>
          </a:prstGeom>
        </p:spPr>
      </p:pic>
      <p:pic>
        <p:nvPicPr>
          <p:cNvPr id="225" name="Picture 224" descr="lock.png"/>
          <p:cNvPicPr>
            <a:picLocks noChangeAspect="1"/>
          </p:cNvPicPr>
          <p:nvPr/>
        </p:nvPicPr>
        <p:blipFill>
          <a:blip r:embed="rId4"/>
          <a:stretch>
            <a:fillRect/>
          </a:stretch>
        </p:blipFill>
        <p:spPr>
          <a:xfrm>
            <a:off x="11407984" y="5392801"/>
            <a:ext cx="128699" cy="187198"/>
          </a:xfrm>
          <a:prstGeom prst="rect">
            <a:avLst/>
          </a:prstGeom>
        </p:spPr>
      </p:pic>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Multicell Packaging Inc.</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Others, Glassware, Ceramics &amp; Home Goods</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Others, Automotive &amp; Industrial Components</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Great American Paper Inc.</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Glassware, Ceramics &amp; Home Goods, Automotive &amp; Industrial Components</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Interpack Inc.</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Others, Glassware, Ceramics &amp; Home Goods</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Caps Cases Ltd.</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Others, Automotive &amp; Industrial Components</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 &amp; M Box &amp; Partitions Co.</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Glassware, Ceramics &amp; Home Goods, Automotive &amp; Industrial Components</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Martin Partitions</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Others, Glassware, Ceramics &amp; Home Goods</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Buckeye Corrugated Inc.</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Others, Automotive &amp; Industrial Components</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Cactus Corrugated Containers Inc.</a:t>
            </a:r>
          </a:p>
        </p:txBody>
      </p:sp>
      <p:sp>
        <p:nvSpPr>
          <p:cNvPr id="117" name="TextBox 116"/>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2659436"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413020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4210050"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4979894"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6744821"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Glassware, Ceramics &amp; Home Goods, Automotive &amp; Industrial Components</a:t>
            </a:r>
          </a:p>
        </p:txBody>
      </p:sp>
      <p:sp>
        <p:nvSpPr>
          <p:cNvPr id="123" name="TextBox 122"/>
          <p:cNvSpPr txBox="1"/>
          <p:nvPr/>
        </p:nvSpPr>
        <p:spPr>
          <a:xfrm>
            <a:off x="8471647"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4" name="TextBox 123"/>
          <p:cNvSpPr txBox="1"/>
          <p:nvPr/>
        </p:nvSpPr>
        <p:spPr>
          <a:xfrm>
            <a:off x="10236574"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Jarrett Industries Inc.</a:t>
            </a:r>
          </a:p>
        </p:txBody>
      </p:sp>
      <p:sp>
        <p:nvSpPr>
          <p:cNvPr id="128" name="TextBox 127"/>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9" name="Oval 128"/>
          <p:cNvSpPr/>
          <p:nvPr/>
        </p:nvSpPr>
        <p:spPr>
          <a:xfrm>
            <a:off x="2659436"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Freeform 129"/>
          <p:cNvSpPr/>
          <p:nvPr/>
        </p:nvSpPr>
        <p:spPr>
          <a:xfrm>
            <a:off x="2733675" y="5410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413020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4979894"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6744821"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Others, Glassware, Ceramics &amp; Home Goods</a:t>
            </a:r>
          </a:p>
        </p:txBody>
      </p:sp>
      <p:sp>
        <p:nvSpPr>
          <p:cNvPr id="134" name="TextBox 133"/>
          <p:cNvSpPr txBox="1"/>
          <p:nvPr/>
        </p:nvSpPr>
        <p:spPr>
          <a:xfrm>
            <a:off x="8471647"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10236574"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289760"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054687" y="23067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289760" y="264960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054687" y="26496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289760" y="2992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054687" y="29925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289760" y="3335401"/>
            <a:ext cx="128699" cy="187198"/>
          </a:xfrm>
          <a:prstGeom prst="rect">
            <a:avLst/>
          </a:prstGeom>
        </p:spPr>
      </p:pic>
      <p:pic>
        <p:nvPicPr>
          <p:cNvPr id="157" name="Picture 156" descr="lock.png"/>
          <p:cNvPicPr>
            <a:picLocks noChangeAspect="1"/>
          </p:cNvPicPr>
          <p:nvPr/>
        </p:nvPicPr>
        <p:blipFill>
          <a:blip r:embed="rId4"/>
          <a:stretch>
            <a:fillRect/>
          </a:stretch>
        </p:blipFill>
        <p:spPr>
          <a:xfrm>
            <a:off x="11054687" y="3335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289760" y="3678301"/>
            <a:ext cx="128699" cy="187198"/>
          </a:xfrm>
          <a:prstGeom prst="rect">
            <a:avLst/>
          </a:prstGeom>
        </p:spPr>
      </p:pic>
      <p:pic>
        <p:nvPicPr>
          <p:cNvPr id="159" name="Picture 158" descr="lock.png"/>
          <p:cNvPicPr>
            <a:picLocks noChangeAspect="1"/>
          </p:cNvPicPr>
          <p:nvPr/>
        </p:nvPicPr>
        <p:blipFill>
          <a:blip r:embed="rId4"/>
          <a:stretch>
            <a:fillRect/>
          </a:stretch>
        </p:blipFill>
        <p:spPr>
          <a:xfrm>
            <a:off x="11054687" y="3678301"/>
            <a:ext cx="128699" cy="187198"/>
          </a:xfrm>
          <a:prstGeom prst="rect">
            <a:avLst/>
          </a:prstGeom>
        </p:spPr>
      </p:pic>
      <p:pic>
        <p:nvPicPr>
          <p:cNvPr id="160" name="Picture 159" descr="lock.png"/>
          <p:cNvPicPr>
            <a:picLocks noChangeAspect="1"/>
          </p:cNvPicPr>
          <p:nvPr/>
        </p:nvPicPr>
        <p:blipFill>
          <a:blip r:embed="rId4"/>
          <a:stretch>
            <a:fillRect/>
          </a:stretch>
        </p:blipFill>
        <p:spPr>
          <a:xfrm>
            <a:off x="9289760" y="4021201"/>
            <a:ext cx="128699" cy="187198"/>
          </a:xfrm>
          <a:prstGeom prst="rect">
            <a:avLst/>
          </a:prstGeom>
        </p:spPr>
      </p:pic>
      <p:pic>
        <p:nvPicPr>
          <p:cNvPr id="161" name="Picture 160" descr="lock.png"/>
          <p:cNvPicPr>
            <a:picLocks noChangeAspect="1"/>
          </p:cNvPicPr>
          <p:nvPr/>
        </p:nvPicPr>
        <p:blipFill>
          <a:blip r:embed="rId4"/>
          <a:stretch>
            <a:fillRect/>
          </a:stretch>
        </p:blipFill>
        <p:spPr>
          <a:xfrm>
            <a:off x="11054687" y="4021201"/>
            <a:ext cx="128699" cy="187198"/>
          </a:xfrm>
          <a:prstGeom prst="rect">
            <a:avLst/>
          </a:prstGeom>
        </p:spPr>
      </p:pic>
      <p:pic>
        <p:nvPicPr>
          <p:cNvPr id="162" name="Picture 161" descr="lock.png"/>
          <p:cNvPicPr>
            <a:picLocks noChangeAspect="1"/>
          </p:cNvPicPr>
          <p:nvPr/>
        </p:nvPicPr>
        <p:blipFill>
          <a:blip r:embed="rId4"/>
          <a:stretch>
            <a:fillRect/>
          </a:stretch>
        </p:blipFill>
        <p:spPr>
          <a:xfrm>
            <a:off x="9289760" y="43641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1054687" y="4364101"/>
            <a:ext cx="128699" cy="187198"/>
          </a:xfrm>
          <a:prstGeom prst="rect">
            <a:avLst/>
          </a:prstGeom>
        </p:spPr>
      </p:pic>
      <p:pic>
        <p:nvPicPr>
          <p:cNvPr id="164" name="Picture 163" descr="lock.png"/>
          <p:cNvPicPr>
            <a:picLocks noChangeAspect="1"/>
          </p:cNvPicPr>
          <p:nvPr/>
        </p:nvPicPr>
        <p:blipFill>
          <a:blip r:embed="rId4"/>
          <a:stretch>
            <a:fillRect/>
          </a:stretch>
        </p:blipFill>
        <p:spPr>
          <a:xfrm>
            <a:off x="9289760" y="4707001"/>
            <a:ext cx="128699" cy="187198"/>
          </a:xfrm>
          <a:prstGeom prst="rect">
            <a:avLst/>
          </a:prstGeom>
        </p:spPr>
      </p:pic>
      <p:pic>
        <p:nvPicPr>
          <p:cNvPr id="165" name="Picture 164" descr="lock.png"/>
          <p:cNvPicPr>
            <a:picLocks noChangeAspect="1"/>
          </p:cNvPicPr>
          <p:nvPr/>
        </p:nvPicPr>
        <p:blipFill>
          <a:blip r:embed="rId4"/>
          <a:stretch>
            <a:fillRect/>
          </a:stretch>
        </p:blipFill>
        <p:spPr>
          <a:xfrm>
            <a:off x="11054687" y="47070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289760"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054687" y="50499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289760" y="53928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1054687" y="5392801"/>
            <a:ext cx="128699" cy="187198"/>
          </a:xfrm>
          <a:prstGeom prst="rect">
            <a:avLst/>
          </a:prstGeom>
        </p:spPr>
      </p:pic>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Multicell Packaging Inc.</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Great American Paper Inc.</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Interpack Inc.</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Caps Cases Ltd.</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 &amp; M Box &amp; Partitions Co.</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Martin Partitions</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Buckeye Corrugated Inc.</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Cactus Corrugated Containers Inc.</a:t>
            </a:r>
          </a:p>
        </p:txBody>
      </p:sp>
      <p:sp>
        <p:nvSpPr>
          <p:cNvPr id="111" name="TextBox 110"/>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2" name="TextBox 111"/>
          <p:cNvSpPr txBox="1"/>
          <p:nvPr/>
        </p:nvSpPr>
        <p:spPr>
          <a:xfrm>
            <a:off x="2038350"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3765176"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4" name="Oval 113"/>
          <p:cNvSpPr/>
          <p:nvPr/>
        </p:nvSpPr>
        <p:spPr>
          <a:xfrm>
            <a:off x="6189289"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7000875"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8765801"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7" name="Oval 116"/>
          <p:cNvSpPr/>
          <p:nvPr/>
        </p:nvSpPr>
        <p:spPr>
          <a:xfrm>
            <a:off x="11189914"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126807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Jarrett Industries Inc.</a:t>
            </a:r>
          </a:p>
        </p:txBody>
      </p:sp>
      <p:sp>
        <p:nvSpPr>
          <p:cNvPr id="122" name="TextBox 12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3" name="TextBox 122"/>
          <p:cNvSpPr txBox="1"/>
          <p:nvPr/>
        </p:nvSpPr>
        <p:spPr>
          <a:xfrm>
            <a:off x="2038350"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3765176"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5" name="Oval 124"/>
          <p:cNvSpPr/>
          <p:nvPr/>
        </p:nvSpPr>
        <p:spPr>
          <a:xfrm>
            <a:off x="6189289"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7038975"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8765801"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Oval 127"/>
          <p:cNvSpPr/>
          <p:nvPr/>
        </p:nvSpPr>
        <p:spPr>
          <a:xfrm>
            <a:off x="11189914"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112680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4583289"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7818988"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583914"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4583289"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583914"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4583289"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7818988"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83914"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583289"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83914"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583289"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7818988"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83914"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583289"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83914"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4583289"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7818988"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583914"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4583289"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583914"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4583289"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7818988"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583914"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4583289"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583914" y="5392801"/>
            <a:ext cx="128699" cy="187198"/>
          </a:xfrm>
          <a:prstGeom prst="rect">
            <a:avLst/>
          </a:prstGeom>
        </p:spPr>
      </p:pic>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Multicell Packaging Inc.</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7820025" y="1885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7896225" y="1885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10420350" y="18954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1154430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8" name="Connector 37"/>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a:t>
            </a:r>
          </a:p>
        </p:txBody>
      </p:sp>
      <p:sp>
        <p:nvSpPr>
          <p:cNvPr id="41" name="Oval 40"/>
          <p:cNvSpPr/>
          <p:nvPr/>
        </p:nvSpPr>
        <p:spPr>
          <a:xfrm>
            <a:off x="284797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92417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78200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420350" y="22002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1148715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49" name="Connector 48"/>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Interpack Inc.</a:t>
            </a:r>
          </a:p>
        </p:txBody>
      </p:sp>
      <p:sp>
        <p:nvSpPr>
          <p:cNvPr id="52" name="Oval 51"/>
          <p:cNvSpPr/>
          <p:nvPr/>
        </p:nvSpPr>
        <p:spPr>
          <a:xfrm>
            <a:off x="284797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292417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78200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420350" y="25050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148715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60" name="Connector 59"/>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Great American Paper Inc.</a:t>
            </a:r>
          </a:p>
        </p:txBody>
      </p:sp>
      <p:sp>
        <p:nvSpPr>
          <p:cNvPr id="63" name="Oval 62"/>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782002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reeform 67"/>
          <p:cNvSpPr/>
          <p:nvPr/>
        </p:nvSpPr>
        <p:spPr>
          <a:xfrm>
            <a:off x="789622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Oval 68"/>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0420350" y="2809875"/>
            <a:ext cx="9715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143000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2" name="Connector 71"/>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3" name="Rectangle 72"/>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M &amp; M Box &amp; Partitions Co.</a:t>
            </a:r>
          </a:p>
        </p:txBody>
      </p:sp>
      <p:sp>
        <p:nvSpPr>
          <p:cNvPr id="75" name="Oval 74"/>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Freeform 79"/>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Oval 81"/>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5" name="Connector 84"/>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6" name="Rectangle 85"/>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Caps Cases Ltd.</a:t>
            </a:r>
          </a:p>
        </p:txBody>
      </p:sp>
      <p:sp>
        <p:nvSpPr>
          <p:cNvPr id="88" name="Oval 87"/>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Freeform 94"/>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Oval 95"/>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99" name="Connector 98"/>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0" name="Rectangle 99"/>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Buckeye Corrugated Inc.</a:t>
            </a:r>
          </a:p>
        </p:txBody>
      </p:sp>
      <p:sp>
        <p:nvSpPr>
          <p:cNvPr id="102" name="Oval 101"/>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reeform 102"/>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Oval 103"/>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2" name="Connector 111"/>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3" name="Rectangle 112"/>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Jarrett Industries Inc.</a:t>
            </a:r>
          </a:p>
        </p:txBody>
      </p:sp>
      <p:sp>
        <p:nvSpPr>
          <p:cNvPr id="115" name="Oval 114"/>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782002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0420350" y="40290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118235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5" name="Connector 124"/>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4248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Martin Partitions</a:t>
            </a:r>
          </a:p>
        </p:txBody>
      </p:sp>
      <p:sp>
        <p:nvSpPr>
          <p:cNvPr id="128" name="Oval 127"/>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292417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78200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Freeform 134"/>
          <p:cNvSpPr/>
          <p:nvPr/>
        </p:nvSpPr>
        <p:spPr>
          <a:xfrm>
            <a:off x="789622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Oval 135"/>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420350" y="43338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11125200" y="4248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39" name="Connector 138"/>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0" name="Rectangle 139"/>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85750" y="4552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Cactus Corrugated Containers Inc.</a:t>
            </a:r>
          </a:p>
        </p:txBody>
      </p:sp>
      <p:sp>
        <p:nvSpPr>
          <p:cNvPr id="142" name="Oval 141"/>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292417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Oval 143"/>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0420350" y="46386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11125200" y="4552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53" name="Connector 152"/>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4" name="Oval 153"/>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38100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56" name="Oval 155"/>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Freeform 156"/>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2245995"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59" name="Oval 158"/>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Freeform 159"/>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385953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62" name="Oval 161"/>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528447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64" name="TextBox 163"/>
          <p:cNvSpPr txBox="1"/>
          <p:nvPr/>
        </p:nvSpPr>
        <p:spPr>
          <a:xfrm>
            <a:off x="190500" y="5143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65" name="Rectangle 164"/>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190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67" name="TextBox 166"/>
          <p:cNvSpPr txBox="1"/>
          <p:nvPr/>
        </p:nvSpPr>
        <p:spPr>
          <a:xfrm>
            <a:off x="190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Multicell Packaging Inc., Company, Interpack Inc., Great American Paper Inc.</a:t>
            </a:r>
          </a:p>
        </p:txBody>
      </p:sp>
      <p:sp>
        <p:nvSpPr>
          <p:cNvPr id="168" name="TextBox 167"/>
          <p:cNvSpPr txBox="1"/>
          <p:nvPr/>
        </p:nvSpPr>
        <p:spPr>
          <a:xfrm>
            <a:off x="190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segment breadth.</a:t>
            </a:r>
          </a:p>
        </p:txBody>
      </p:sp>
      <p:sp>
        <p:nvSpPr>
          <p:cNvPr id="169" name="Rectangle 168"/>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41910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71" name="TextBox 170"/>
          <p:cNvSpPr txBox="1"/>
          <p:nvPr/>
        </p:nvSpPr>
        <p:spPr>
          <a:xfrm>
            <a:off x="41910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M &amp; M Box &amp; Partitions Co., Caps Cases Ltd.</a:t>
            </a:r>
          </a:p>
        </p:txBody>
      </p:sp>
      <p:sp>
        <p:nvSpPr>
          <p:cNvPr id="172" name="TextBox 171"/>
          <p:cNvSpPr txBox="1"/>
          <p:nvPr/>
        </p:nvSpPr>
        <p:spPr>
          <a:xfrm>
            <a:off x="41910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3" name="Rectangle 172"/>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8191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75" name="TextBox 174"/>
          <p:cNvSpPr txBox="1"/>
          <p:nvPr/>
        </p:nvSpPr>
        <p:spPr>
          <a:xfrm>
            <a:off x="8191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Buckeye Corrugated Inc., Jarrett Industries Inc., Martin Partitions, Cactus Corrugated Containers Inc.</a:t>
            </a:r>
          </a:p>
        </p:txBody>
      </p:sp>
      <p:sp>
        <p:nvSpPr>
          <p:cNvPr id="176" name="TextBox 175"/>
          <p:cNvSpPr txBox="1"/>
          <p:nvPr/>
        </p:nvSpPr>
        <p:spPr>
          <a:xfrm>
            <a:off x="8191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7" name="TextBox 1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8" name="Picture 177" descr="lock.png"/>
          <p:cNvPicPr>
            <a:picLocks noChangeAspect="1"/>
          </p:cNvPicPr>
          <p:nvPr/>
        </p:nvPicPr>
        <p:blipFill>
          <a:blip r:embed="rId4"/>
          <a:stretch>
            <a:fillRect/>
          </a:stretch>
        </p:blipFill>
        <p:spPr>
          <a:xfrm>
            <a:off x="11689500" y="1868551"/>
            <a:ext cx="128699" cy="187198"/>
          </a:xfrm>
          <a:prstGeom prst="rect">
            <a:avLst/>
          </a:prstGeom>
        </p:spPr>
      </p:pic>
      <p:pic>
        <p:nvPicPr>
          <p:cNvPr id="179" name="Picture 178" descr="lock.png"/>
          <p:cNvPicPr>
            <a:picLocks noChangeAspect="1"/>
          </p:cNvPicPr>
          <p:nvPr/>
        </p:nvPicPr>
        <p:blipFill>
          <a:blip r:embed="rId4"/>
          <a:stretch>
            <a:fillRect/>
          </a:stretch>
        </p:blipFill>
        <p:spPr>
          <a:xfrm>
            <a:off x="11632350" y="21733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632350" y="24781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575200" y="27829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479950" y="30877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422800" y="33925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327550" y="36973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327550" y="4002151"/>
            <a:ext cx="128699" cy="187198"/>
          </a:xfrm>
          <a:prstGeom prst="rect">
            <a:avLst/>
          </a:prstGeom>
        </p:spPr>
      </p:pic>
      <p:pic>
        <p:nvPicPr>
          <p:cNvPr id="186" name="Picture 185" descr="lock.png"/>
          <p:cNvPicPr>
            <a:picLocks noChangeAspect="1"/>
          </p:cNvPicPr>
          <p:nvPr/>
        </p:nvPicPr>
        <p:blipFill>
          <a:blip r:embed="rId4"/>
          <a:stretch>
            <a:fillRect/>
          </a:stretch>
        </p:blipFill>
        <p:spPr>
          <a:xfrm>
            <a:off x="11270400" y="4306951"/>
            <a:ext cx="128699" cy="187198"/>
          </a:xfrm>
          <a:prstGeom prst="rect">
            <a:avLst/>
          </a:prstGeom>
        </p:spPr>
      </p:pic>
      <p:pic>
        <p:nvPicPr>
          <p:cNvPr id="187" name="Picture 186" descr="lock.png"/>
          <p:cNvPicPr>
            <a:picLocks noChangeAspect="1"/>
          </p:cNvPicPr>
          <p:nvPr/>
        </p:nvPicPr>
        <p:blipFill>
          <a:blip r:embed="rId4"/>
          <a:stretch>
            <a:fillRect/>
          </a:stretch>
        </p:blipFill>
        <p:spPr>
          <a:xfrm>
            <a:off x="11270400" y="4611751"/>
            <a:ext cx="128699" cy="187198"/>
          </a:xfrm>
          <a:prstGeom prst="rect">
            <a:avLst/>
          </a:prstGeom>
        </p:spPr>
      </p:pic>
      <p:sp>
        <p:nvSpPr>
          <p:cNvPr id="188" name="TextBox 187"/>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89" name="Picture 188" descr="lock.png"/>
          <p:cNvPicPr>
            <a:picLocks noChangeAspect="1"/>
          </p:cNvPicPr>
          <p:nvPr/>
        </p:nvPicPr>
        <p:blipFill>
          <a:blip r:embed="rId4"/>
          <a:stretch>
            <a:fillRect/>
          </a:stretch>
        </p:blipFill>
        <p:spPr>
          <a:xfrm>
            <a:off x="2482959" y="1212159"/>
            <a:ext cx="92663" cy="134782"/>
          </a:xfrm>
          <a:prstGeom prst="rect">
            <a:avLst/>
          </a:prstGeom>
        </p:spPr>
      </p:pic>
      <p:sp>
        <p:nvSpPr>
          <p:cNvPr id="190" name="TextBox 189"/>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1" name="Picture 190" descr="lock.png"/>
          <p:cNvPicPr>
            <a:picLocks noChangeAspect="1"/>
          </p:cNvPicPr>
          <p:nvPr/>
        </p:nvPicPr>
        <p:blipFill>
          <a:blip r:embed="rId4"/>
          <a:stretch>
            <a:fillRect/>
          </a:stretch>
        </p:blipFill>
        <p:spPr>
          <a:xfrm>
            <a:off x="4140309" y="1212159"/>
            <a:ext cx="92663" cy="134782"/>
          </a:xfrm>
          <a:prstGeom prst="rect">
            <a:avLst/>
          </a:prstGeom>
        </p:spPr>
      </p:pic>
      <p:sp>
        <p:nvSpPr>
          <p:cNvPr id="192" name="TextBox 191"/>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3" name="Picture 192" descr="lock.png"/>
          <p:cNvPicPr>
            <a:picLocks noChangeAspect="1"/>
          </p:cNvPicPr>
          <p:nvPr/>
        </p:nvPicPr>
        <p:blipFill>
          <a:blip r:embed="rId4"/>
          <a:stretch>
            <a:fillRect/>
          </a:stretch>
        </p:blipFill>
        <p:spPr>
          <a:xfrm>
            <a:off x="5797659" y="1212159"/>
            <a:ext cx="92663" cy="134782"/>
          </a:xfrm>
          <a:prstGeom prst="rect">
            <a:avLst/>
          </a:prstGeom>
        </p:spPr>
      </p:pic>
      <p:sp>
        <p:nvSpPr>
          <p:cNvPr id="194" name="TextBox 193"/>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5" name="Picture 194" descr="lock.png"/>
          <p:cNvPicPr>
            <a:picLocks noChangeAspect="1"/>
          </p:cNvPicPr>
          <p:nvPr/>
        </p:nvPicPr>
        <p:blipFill>
          <a:blip r:embed="rId4"/>
          <a:stretch>
            <a:fillRect/>
          </a:stretch>
        </p:blipFill>
        <p:spPr>
          <a:xfrm>
            <a:off x="7455009" y="1212159"/>
            <a:ext cx="92663" cy="134782"/>
          </a:xfrm>
          <a:prstGeom prst="rect">
            <a:avLst/>
          </a:prstGeom>
        </p:spPr>
      </p:pic>
      <p:sp>
        <p:nvSpPr>
          <p:cNvPr id="196" name="TextBox 195"/>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7" name="Picture 196"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Multicell Packaging Inc.</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Flat Dividers &amp; Layer Pads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Great American Paper Inc.</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Interpack Inc.</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Die-Cut &amp; Folded Partitions (H-dividers, tube/cell inserts)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Caps Cases Ltd.</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M &amp; M Box &amp; Partitions Co.</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Flat Dividers &amp; Layer Pads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Martin Partitions</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Buckeye Corrugated Inc.</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Die-Cut &amp; Folded Partitions (H-dividers, tube/cell inserts)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266700" y="52482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Cactus Corrugated Containers Inc.</a:t>
            </a:r>
          </a:p>
        </p:txBody>
      </p:sp>
      <p:sp>
        <p:nvSpPr>
          <p:cNvPr id="109" name="TextBox 108"/>
          <p:cNvSpPr txBox="1"/>
          <p:nvPr/>
        </p:nvSpPr>
        <p:spPr>
          <a:xfrm>
            <a:off x="1543050" y="52482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110" name="TextBox 109"/>
          <p:cNvSpPr txBox="1"/>
          <p:nvPr/>
        </p:nvSpPr>
        <p:spPr>
          <a:xfrm>
            <a:off x="3924300" y="52482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4514850" y="52768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66700" y="57435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Jarrett Industries Inc.</a:t>
            </a:r>
          </a:p>
        </p:txBody>
      </p:sp>
      <p:sp>
        <p:nvSpPr>
          <p:cNvPr id="120" name="TextBox 119"/>
          <p:cNvSpPr txBox="1"/>
          <p:nvPr/>
        </p:nvSpPr>
        <p:spPr>
          <a:xfrm>
            <a:off x="1543050" y="57435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Flat Dividers &amp; Layer Pads</a:t>
            </a:r>
          </a:p>
        </p:txBody>
      </p:sp>
      <p:sp>
        <p:nvSpPr>
          <p:cNvPr id="121" name="TextBox 120"/>
          <p:cNvSpPr txBox="1"/>
          <p:nvPr/>
        </p:nvSpPr>
        <p:spPr>
          <a:xfrm>
            <a:off x="3924300" y="57435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4514850" y="57721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9050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9239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7241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38576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54578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75247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Multicell Packaging Inc.</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Great American Paper Inc.</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Interpack Inc.</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Caps Cases Ltd.</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M &amp; M Box &amp; Partitions Co.</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Martin Partitions</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Buckeye Corrugated Inc.</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35814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Cactus Corrugated Containers Inc.</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38290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Jarrett Industries Inc.</a:t>
            </a:r>
          </a:p>
        </p:txBody>
      </p:sp>
      <p:sp>
        <p:nvSpPr>
          <p:cNvPr id="30" name="TextBox 29"/>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714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15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3365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3915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4466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2264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815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365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466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5207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6032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6858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7683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5207000" y="38385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6858000" y="38385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219" name="TextBox 218"/>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220" name="TextBox 219"/>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221" name="TextBox 220"/>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222" name="TextBox 221"/>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223" name="TextBox 222"/>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224" name="Rectangle 223"/>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TextBox 224"/>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6" name="Rectangle 225"/>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8" name="Rectangle 227"/>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6" name="Rectangle 235"/>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TextBox 236"/>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8" name="Rectangle 237"/>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TextBox 238"/>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0" name="Rectangle 239"/>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TextBox 244"/>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6" name="Rectangle 245"/>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TextBox 246"/>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8" name="Rectangle 247"/>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0" name="Rectangle 249"/>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TextBox 254"/>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6" name="Rectangle 255"/>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TextBox 256"/>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8" name="Rectangle 257"/>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0" name="Rectangle 259"/>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2" name="Rectangle 261"/>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67" name="Rectangle 266"/>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TextBox 267"/>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9" name="Rectangle 268"/>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1" name="Rectangle 270"/>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TextBox 271"/>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3" name="Rectangle 272"/>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TextBox 276"/>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78" name="Rectangle 277"/>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80" name="Rectangle 279"/>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TextBox 280"/>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2" name="Rectangle 281"/>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4" name="Rectangle 283"/>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TextBox 288"/>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90" name="Rectangle 289"/>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TextBox 290"/>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2" name="Rectangle 291"/>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4" name="Rectangle 293"/>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8709025"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9259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9809692" y="35909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9800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00" name="Rectangle 299"/>
          <p:cNvSpPr/>
          <p:nvPr/>
        </p:nvSpPr>
        <p:spPr>
          <a:xfrm>
            <a:off x="10360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TextBox 300"/>
          <p:cNvSpPr txBox="1"/>
          <p:nvPr/>
        </p:nvSpPr>
        <p:spPr>
          <a:xfrm>
            <a:off x="10350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2" name="Rectangle 301"/>
          <p:cNvSpPr/>
          <p:nvPr/>
        </p:nvSpPr>
        <p:spPr>
          <a:xfrm>
            <a:off x="10910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TextBox 302"/>
          <p:cNvSpPr txBox="1"/>
          <p:nvPr/>
        </p:nvSpPr>
        <p:spPr>
          <a:xfrm>
            <a:off x="10900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4" name="Rectangle 303"/>
          <p:cNvSpPr/>
          <p:nvPr/>
        </p:nvSpPr>
        <p:spPr>
          <a:xfrm>
            <a:off x="11460692"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8709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9259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9809692"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0360025"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TextBox 308"/>
          <p:cNvSpPr txBox="1"/>
          <p:nvPr/>
        </p:nvSpPr>
        <p:spPr>
          <a:xfrm>
            <a:off x="10350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10" name="Rectangle 309"/>
          <p:cNvSpPr/>
          <p:nvPr/>
        </p:nvSpPr>
        <p:spPr>
          <a:xfrm>
            <a:off x="10910358"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0900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2" name="Rectangle 311"/>
          <p:cNvSpPr/>
          <p:nvPr/>
        </p:nvSpPr>
        <p:spPr>
          <a:xfrm>
            <a:off x="11460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TextBox 312"/>
          <p:cNvSpPr txBox="1"/>
          <p:nvPr/>
        </p:nvSpPr>
        <p:spPr>
          <a:xfrm>
            <a:off x="11451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4" name="Rectangle 313"/>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4381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316" name="Rectangle 315"/>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TextBox 316"/>
          <p:cNvSpPr txBox="1"/>
          <p:nvPr/>
        </p:nvSpPr>
        <p:spPr>
          <a:xfrm>
            <a:off x="148590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318" name="Rectangle 317"/>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25336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320" name="TextBox 319"/>
          <p:cNvSpPr txBox="1"/>
          <p:nvPr/>
        </p:nvSpPr>
        <p:spPr>
          <a:xfrm>
            <a:off x="3524250" y="41338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321" name="Connector 320"/>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190500" y="44577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323" name="Rectangle 322"/>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2667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325" name="TextBox 324"/>
          <p:cNvSpPr txBox="1"/>
          <p:nvPr/>
        </p:nvSpPr>
        <p:spPr>
          <a:xfrm>
            <a:off x="1905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326" name="Rectangle 325"/>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22542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328" name="TextBox 327"/>
          <p:cNvSpPr txBox="1"/>
          <p:nvPr/>
        </p:nvSpPr>
        <p:spPr>
          <a:xfrm>
            <a:off x="21780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329" name="Rectangle 328"/>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TextBox 329"/>
          <p:cNvSpPr txBox="1"/>
          <p:nvPr/>
        </p:nvSpPr>
        <p:spPr>
          <a:xfrm>
            <a:off x="42418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331" name="TextBox 330"/>
          <p:cNvSpPr txBox="1"/>
          <p:nvPr/>
        </p:nvSpPr>
        <p:spPr>
          <a:xfrm>
            <a:off x="41656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332" name="Rectangle 331"/>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TextBox 332"/>
          <p:cNvSpPr txBox="1"/>
          <p:nvPr/>
        </p:nvSpPr>
        <p:spPr>
          <a:xfrm>
            <a:off x="62293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334" name="TextBox 333"/>
          <p:cNvSpPr txBox="1"/>
          <p:nvPr/>
        </p:nvSpPr>
        <p:spPr>
          <a:xfrm>
            <a:off x="61531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335" name="Rectangle 334"/>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82169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337" name="TextBox 336"/>
          <p:cNvSpPr txBox="1"/>
          <p:nvPr/>
        </p:nvSpPr>
        <p:spPr>
          <a:xfrm>
            <a:off x="81407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338" name="Rectangle 337"/>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TextBox 338"/>
          <p:cNvSpPr txBox="1"/>
          <p:nvPr/>
        </p:nvSpPr>
        <p:spPr>
          <a:xfrm>
            <a:off x="102044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340" name="TextBox 339"/>
          <p:cNvSpPr txBox="1"/>
          <p:nvPr/>
        </p:nvSpPr>
        <p:spPr>
          <a:xfrm>
            <a:off x="101282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341" name="TextBox 3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Corrugated Partition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Multicell Packaging Inc. · Company · Great American Paper Inc. · Interpack Inc.</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Caps Cases Ltd. · M &amp; M Box &amp; Partitions Co.</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Martin Partitions · Buckeye Corrugated Inc. · Cactus Corrugated Containers Inc. · Jarrett Industries Inc.</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11475188" y="20590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160488"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8989162"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9817838"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10646512" y="22876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160488"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8989162"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9817838"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10646512" y="25162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160487"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8989163"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9817837"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10646513" y="27448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160487"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8989163"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9817837"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0646513"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11475187" y="29734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160488"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8989163"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9817838" y="3202051"/>
            <a:ext cx="128699" cy="187198"/>
          </a:xfrm>
          <a:prstGeom prst="rect">
            <a:avLst/>
          </a:prstGeom>
        </p:spPr>
      </p:pic>
      <p:pic>
        <p:nvPicPr>
          <p:cNvPr id="266" name="Picture 265" descr="lock.png"/>
          <p:cNvPicPr>
            <a:picLocks noChangeAspect="1"/>
          </p:cNvPicPr>
          <p:nvPr/>
        </p:nvPicPr>
        <p:blipFill>
          <a:blip r:embed="rId4"/>
          <a:stretch>
            <a:fillRect/>
          </a:stretch>
        </p:blipFill>
        <p:spPr>
          <a:xfrm>
            <a:off x="8160488"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8989162"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9817838" y="3478276"/>
            <a:ext cx="128699" cy="187198"/>
          </a:xfrm>
          <a:prstGeom prst="rect">
            <a:avLst/>
          </a:prstGeom>
        </p:spPr>
      </p:pic>
      <p:pic>
        <p:nvPicPr>
          <p:cNvPr id="269" name="Picture 268" descr="lock.png"/>
          <p:cNvPicPr>
            <a:picLocks noChangeAspect="1"/>
          </p:cNvPicPr>
          <p:nvPr/>
        </p:nvPicPr>
        <p:blipFill>
          <a:blip r:embed="rId4"/>
          <a:stretch>
            <a:fillRect/>
          </a:stretch>
        </p:blipFill>
        <p:spPr>
          <a:xfrm>
            <a:off x="10646512" y="3478276"/>
            <a:ext cx="128699" cy="187198"/>
          </a:xfrm>
          <a:prstGeom prst="rect">
            <a:avLst/>
          </a:prstGeom>
        </p:spPr>
      </p:pic>
      <p:sp>
        <p:nvSpPr>
          <p:cNvPr id="270" name="TextBox 269"/>
          <p:cNvSpPr txBox="1"/>
          <p:nvPr/>
        </p:nvSpPr>
        <p:spPr>
          <a:xfrm>
            <a:off x="266700" y="1344930"/>
            <a:ext cx="491480" cy="186689"/>
          </a:xfrm>
          <a:prstGeom prst="rect">
            <a:avLst/>
          </a:prstGeom>
          <a:noFill/>
        </p:spPr>
        <p:txBody>
          <a:bodyPr wrap="none" lIns="0" rIns="0" tIns="0" bIns="0">
            <a:spAutoFit/>
          </a:bodyPr>
          <a:lstStyle/>
          <a:p>
            <a:r>
              <a:rPr sz="1100" b="0">
                <a:solidFill>
                  <a:srgbClr val="6B7280"/>
                </a:solidFill>
                <a:latin typeface="Calibri"/>
              </a:rPr>
              <a:t>Market</a:t>
            </a:r>
          </a:p>
        </p:txBody>
      </p:sp>
      <p:pic>
        <p:nvPicPr>
          <p:cNvPr id="271" name="Picture 270" descr="lock.png"/>
          <p:cNvPicPr>
            <a:picLocks noChangeAspect="1"/>
          </p:cNvPicPr>
          <p:nvPr/>
        </p:nvPicPr>
        <p:blipFill>
          <a:blip r:embed="rId4"/>
          <a:stretch>
            <a:fillRect/>
          </a:stretch>
        </p:blipFill>
        <p:spPr>
          <a:xfrm>
            <a:off x="706231" y="1335151"/>
            <a:ext cx="128699" cy="187198"/>
          </a:xfrm>
          <a:prstGeom prst="rect">
            <a:avLst/>
          </a:prstGeom>
        </p:spPr>
      </p:pic>
      <p:sp>
        <p:nvSpPr>
          <p:cNvPr id="272" name="TextBox 271"/>
          <p:cNvSpPr txBox="1"/>
          <p:nvPr/>
        </p:nvSpPr>
        <p:spPr>
          <a:xfrm>
            <a:off x="873727" y="1344930"/>
            <a:ext cx="1290389" cy="186689"/>
          </a:xfrm>
          <a:prstGeom prst="rect">
            <a:avLst/>
          </a:prstGeom>
          <a:noFill/>
        </p:spPr>
        <p:txBody>
          <a:bodyPr wrap="none" lIns="0" rIns="0" tIns="0" bIns="0">
            <a:spAutoFit/>
          </a:bodyPr>
          <a:lstStyle/>
          <a:p>
            <a:r>
              <a:rPr sz="1100" b="0">
                <a:solidFill>
                  <a:srgbClr val="6B7280"/>
                </a:solidFill>
                <a:latin typeface="Calibri"/>
              </a:rPr>
              <a:t>US$ Mn · Tier 1 share</a:t>
            </a:r>
          </a:p>
        </p:txBody>
      </p:sp>
      <p:pic>
        <p:nvPicPr>
          <p:cNvPr id="273" name="Picture 272" descr="lock.png"/>
          <p:cNvPicPr>
            <a:picLocks noChangeAspect="1"/>
          </p:cNvPicPr>
          <p:nvPr/>
        </p:nvPicPr>
        <p:blipFill>
          <a:blip r:embed="rId4"/>
          <a:stretch>
            <a:fillRect/>
          </a:stretch>
        </p:blipFill>
        <p:spPr>
          <a:xfrm>
            <a:off x="2112168" y="1335151"/>
            <a:ext cx="128699" cy="187198"/>
          </a:xfrm>
          <a:prstGeom prst="rect">
            <a:avLst/>
          </a:prstGeom>
        </p:spPr>
      </p:pic>
      <p:sp>
        <p:nvSpPr>
          <p:cNvPr id="274" name="TextBox 273"/>
          <p:cNvSpPr txBox="1"/>
          <p:nvPr/>
        </p:nvSpPr>
        <p:spPr>
          <a:xfrm>
            <a:off x="2279664"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5" name="Picture 274" descr="lock.png"/>
          <p:cNvPicPr>
            <a:picLocks noChangeAspect="1"/>
          </p:cNvPicPr>
          <p:nvPr/>
        </p:nvPicPr>
        <p:blipFill>
          <a:blip r:embed="rId4"/>
          <a:stretch>
            <a:fillRect/>
          </a:stretch>
        </p:blipFill>
        <p:spPr>
          <a:xfrm>
            <a:off x="2430519" y="1335151"/>
            <a:ext cx="128699" cy="187198"/>
          </a:xfrm>
          <a:prstGeom prst="rect">
            <a:avLst/>
          </a:prstGeom>
        </p:spPr>
      </p:pic>
      <p:sp>
        <p:nvSpPr>
          <p:cNvPr id="276" name="TextBox 275"/>
          <p:cNvSpPr txBox="1"/>
          <p:nvPr/>
        </p:nvSpPr>
        <p:spPr>
          <a:xfrm>
            <a:off x="2598014"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7" name="Picture 276" descr="lock.png"/>
          <p:cNvPicPr>
            <a:picLocks noChangeAspect="1"/>
          </p:cNvPicPr>
          <p:nvPr/>
        </p:nvPicPr>
        <p:blipFill>
          <a:blip r:embed="rId4"/>
          <a:stretch>
            <a:fillRect/>
          </a:stretch>
        </p:blipFill>
        <p:spPr>
          <a:xfrm>
            <a:off x="1377182" y="1839976"/>
            <a:ext cx="128699" cy="187198"/>
          </a:xfrm>
          <a:prstGeom prst="rect">
            <a:avLst/>
          </a:prstGeom>
        </p:spPr>
      </p:pic>
      <p:sp>
        <p:nvSpPr>
          <p:cNvPr id="278" name="TextBox 277"/>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9" name="Picture 278" descr="lock.png"/>
          <p:cNvPicPr>
            <a:picLocks noChangeAspect="1"/>
          </p:cNvPicPr>
          <p:nvPr/>
        </p:nvPicPr>
        <p:blipFill>
          <a:blip r:embed="rId4"/>
          <a:stretch>
            <a:fillRect/>
          </a:stretch>
        </p:blipFill>
        <p:spPr>
          <a:xfrm>
            <a:off x="2922273" y="1839976"/>
            <a:ext cx="128699" cy="187198"/>
          </a:xfrm>
          <a:prstGeom prst="rect">
            <a:avLst/>
          </a:prstGeom>
        </p:spPr>
      </p:pic>
      <p:sp>
        <p:nvSpPr>
          <p:cNvPr id="280" name="TextBox 279"/>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1" name="Picture 280" descr="lock.png"/>
          <p:cNvPicPr>
            <a:picLocks noChangeAspect="1"/>
          </p:cNvPicPr>
          <p:nvPr/>
        </p:nvPicPr>
        <p:blipFill>
          <a:blip r:embed="rId4"/>
          <a:stretch>
            <a:fillRect/>
          </a:stretch>
        </p:blipFill>
        <p:spPr>
          <a:xfrm>
            <a:off x="1377182" y="2697226"/>
            <a:ext cx="128699" cy="187198"/>
          </a:xfrm>
          <a:prstGeom prst="rect">
            <a:avLst/>
          </a:prstGeom>
        </p:spPr>
      </p:pic>
      <p:sp>
        <p:nvSpPr>
          <p:cNvPr id="282" name="TextBox 281"/>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3" name="Picture 282" descr="lock.png"/>
          <p:cNvPicPr>
            <a:picLocks noChangeAspect="1"/>
          </p:cNvPicPr>
          <p:nvPr/>
        </p:nvPicPr>
        <p:blipFill>
          <a:blip r:embed="rId4"/>
          <a:stretch>
            <a:fillRect/>
          </a:stretch>
        </p:blipFill>
        <p:spPr>
          <a:xfrm>
            <a:off x="2922273" y="2697226"/>
            <a:ext cx="128699" cy="187198"/>
          </a:xfrm>
          <a:prstGeom prst="rect">
            <a:avLst/>
          </a:prstGeom>
        </p:spPr>
      </p:pic>
      <p:sp>
        <p:nvSpPr>
          <p:cNvPr id="284" name="TextBox 283"/>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5" name="Picture 284" descr="lock.png"/>
          <p:cNvPicPr>
            <a:picLocks noChangeAspect="1"/>
          </p:cNvPicPr>
          <p:nvPr/>
        </p:nvPicPr>
        <p:blipFill>
          <a:blip r:embed="rId4"/>
          <a:stretch>
            <a:fillRect/>
          </a:stretch>
        </p:blipFill>
        <p:spPr>
          <a:xfrm>
            <a:off x="1377182" y="3554476"/>
            <a:ext cx="128699" cy="187198"/>
          </a:xfrm>
          <a:prstGeom prst="rect">
            <a:avLst/>
          </a:prstGeom>
        </p:spPr>
      </p:pic>
      <p:sp>
        <p:nvSpPr>
          <p:cNvPr id="286" name="TextBox 285"/>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87" name="Picture 286" descr="lock.png"/>
          <p:cNvPicPr>
            <a:picLocks noChangeAspect="1"/>
          </p:cNvPicPr>
          <p:nvPr/>
        </p:nvPicPr>
        <p:blipFill>
          <a:blip r:embed="rId4"/>
          <a:stretch>
            <a:fillRect/>
          </a:stretch>
        </p:blipFill>
        <p:spPr>
          <a:xfrm>
            <a:off x="2922273" y="3554476"/>
            <a:ext cx="128699" cy="187198"/>
          </a:xfrm>
          <a:prstGeom prst="rect">
            <a:avLst/>
          </a:prstGeom>
        </p:spPr>
      </p:pic>
      <p:sp>
        <p:nvSpPr>
          <p:cNvPr id="288" name="TextBox 287"/>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9" name="Picture 288" descr="lock.png"/>
          <p:cNvPicPr>
            <a:picLocks noChangeAspect="1"/>
          </p:cNvPicPr>
          <p:nvPr/>
        </p:nvPicPr>
        <p:blipFill>
          <a:blip r:embed="rId4"/>
          <a:stretch>
            <a:fillRect/>
          </a:stretch>
        </p:blipFill>
        <p:spPr>
          <a:xfrm>
            <a:off x="1377182" y="4411726"/>
            <a:ext cx="128699" cy="187198"/>
          </a:xfrm>
          <a:prstGeom prst="rect">
            <a:avLst/>
          </a:prstGeom>
        </p:spPr>
      </p:pic>
      <p:sp>
        <p:nvSpPr>
          <p:cNvPr id="290" name="TextBox 289"/>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91" name="TextBox 290"/>
          <p:cNvSpPr txBox="1"/>
          <p:nvPr/>
        </p:nvSpPr>
        <p:spPr>
          <a:xfrm>
            <a:off x="1241169"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92" name="Picture 291" descr="lock.png"/>
          <p:cNvPicPr>
            <a:picLocks noChangeAspect="1"/>
          </p:cNvPicPr>
          <p:nvPr/>
        </p:nvPicPr>
        <p:blipFill>
          <a:blip r:embed="rId4"/>
          <a:stretch>
            <a:fillRect/>
          </a:stretch>
        </p:blipFill>
        <p:spPr>
          <a:xfrm>
            <a:off x="1682883" y="5792851"/>
            <a:ext cx="128699" cy="187198"/>
          </a:xfrm>
          <a:prstGeom prst="rect">
            <a:avLst/>
          </a:prstGeom>
        </p:spPr>
      </p:pic>
      <p:sp>
        <p:nvSpPr>
          <p:cNvPr id="293" name="TextBox 292"/>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4" name="Picture 293" descr="lock.png"/>
          <p:cNvPicPr>
            <a:picLocks noChangeAspect="1"/>
          </p:cNvPicPr>
          <p:nvPr/>
        </p:nvPicPr>
        <p:blipFill>
          <a:blip r:embed="rId4"/>
          <a:stretch>
            <a:fillRect/>
          </a:stretch>
        </p:blipFill>
        <p:spPr>
          <a:xfrm>
            <a:off x="1225147" y="6097651"/>
            <a:ext cx="128699" cy="187198"/>
          </a:xfrm>
          <a:prstGeom prst="rect">
            <a:avLst/>
          </a:prstGeom>
        </p:spPr>
      </p:pic>
      <p:sp>
        <p:nvSpPr>
          <p:cNvPr id="295" name="TextBox 294"/>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6" name="Picture 295" descr="lock.png"/>
          <p:cNvPicPr>
            <a:picLocks noChangeAspect="1"/>
          </p:cNvPicPr>
          <p:nvPr/>
        </p:nvPicPr>
        <p:blipFill>
          <a:blip r:embed="rId4"/>
          <a:stretch>
            <a:fillRect/>
          </a:stretch>
        </p:blipFill>
        <p:spPr>
          <a:xfrm>
            <a:off x="2408983" y="6097651"/>
            <a:ext cx="128699" cy="187198"/>
          </a:xfrm>
          <a:prstGeom prst="rect">
            <a:avLst/>
          </a:prstGeom>
        </p:spPr>
      </p:pic>
      <p:sp>
        <p:nvSpPr>
          <p:cNvPr id="297" name="TextBox 296"/>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8" name="Picture 297" descr="lock.png"/>
          <p:cNvPicPr>
            <a:picLocks noChangeAspect="1"/>
          </p:cNvPicPr>
          <p:nvPr/>
        </p:nvPicPr>
        <p:blipFill>
          <a:blip r:embed="rId4"/>
          <a:stretch>
            <a:fillRect/>
          </a:stretch>
        </p:blipFill>
        <p:spPr>
          <a:xfrm>
            <a:off x="3922150" y="6097651"/>
            <a:ext cx="128699" cy="187198"/>
          </a:xfrm>
          <a:prstGeom prst="rect">
            <a:avLst/>
          </a:prstGeom>
        </p:spPr>
      </p:pic>
      <p:sp>
        <p:nvSpPr>
          <p:cNvPr id="299" name="TextBox 298"/>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300" name="TextBox 299"/>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301" name="Picture 300" descr="lock.png"/>
          <p:cNvPicPr>
            <a:picLocks noChangeAspect="1"/>
          </p:cNvPicPr>
          <p:nvPr/>
        </p:nvPicPr>
        <p:blipFill>
          <a:blip r:embed="rId4"/>
          <a:stretch>
            <a:fillRect/>
          </a:stretch>
        </p:blipFill>
        <p:spPr>
          <a:xfrm>
            <a:off x="6791838" y="5467095"/>
            <a:ext cx="128699" cy="187198"/>
          </a:xfrm>
          <a:prstGeom prst="rect">
            <a:avLst/>
          </a:prstGeom>
        </p:spPr>
      </p:pic>
      <p:sp>
        <p:nvSpPr>
          <p:cNvPr id="302" name="TextBox 301"/>
          <p:cNvSpPr txBox="1"/>
          <p:nvPr/>
        </p:nvSpPr>
        <p:spPr>
          <a:xfrm>
            <a:off x="6959334" y="5476875"/>
            <a:ext cx="2550145"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a:t>
            </a:r>
          </a:p>
        </p:txBody>
      </p:sp>
      <p:pic>
        <p:nvPicPr>
          <p:cNvPr id="303" name="Picture 302" descr="lock.png"/>
          <p:cNvPicPr>
            <a:picLocks noChangeAspect="1"/>
          </p:cNvPicPr>
          <p:nvPr/>
        </p:nvPicPr>
        <p:blipFill>
          <a:blip r:embed="rId4"/>
          <a:stretch>
            <a:fillRect/>
          </a:stretch>
        </p:blipFill>
        <p:spPr>
          <a:xfrm>
            <a:off x="9457531" y="5467095"/>
            <a:ext cx="128699" cy="187198"/>
          </a:xfrm>
          <a:prstGeom prst="rect">
            <a:avLst/>
          </a:prstGeom>
        </p:spPr>
      </p:pic>
      <p:sp>
        <p:nvSpPr>
          <p:cNvPr id="304" name="TextBox 303"/>
          <p:cNvSpPr txBox="1"/>
          <p:nvPr/>
        </p:nvSpPr>
        <p:spPr>
          <a:xfrm>
            <a:off x="9625026" y="5476875"/>
            <a:ext cx="1259830" cy="186689"/>
          </a:xfrm>
          <a:prstGeom prst="rect">
            <a:avLst/>
          </a:prstGeom>
          <a:noFill/>
        </p:spPr>
        <p:txBody>
          <a:bodyPr wrap="none" lIns="0" rIns="0" tIns="0" bIns="0">
            <a:spAutoFit/>
          </a:bodyPr>
          <a:lstStyle/>
          <a:p>
            <a:r>
              <a:rPr sz="1100" b="0">
                <a:solidFill>
                  <a:srgbClr val="14213D"/>
                </a:solidFill>
                <a:latin typeface="Calibri"/>
              </a:rPr>
              <a:t>US$ Mn base; CR4 of</a:t>
            </a:r>
          </a:p>
        </p:txBody>
      </p:sp>
      <p:pic>
        <p:nvPicPr>
          <p:cNvPr id="305" name="Picture 304" descr="lock.png"/>
          <p:cNvPicPr>
            <a:picLocks noChangeAspect="1"/>
          </p:cNvPicPr>
          <p:nvPr/>
        </p:nvPicPr>
        <p:blipFill>
          <a:blip r:embed="rId4"/>
          <a:stretch>
            <a:fillRect/>
          </a:stretch>
        </p:blipFill>
        <p:spPr>
          <a:xfrm>
            <a:off x="10832908" y="5467095"/>
            <a:ext cx="128699" cy="187198"/>
          </a:xfrm>
          <a:prstGeom prst="rect">
            <a:avLst/>
          </a:prstGeom>
        </p:spPr>
      </p:pic>
      <p:sp>
        <p:nvSpPr>
          <p:cNvPr id="306" name="TextBox 305"/>
          <p:cNvSpPr txBox="1"/>
          <p:nvPr/>
        </p:nvSpPr>
        <p:spPr>
          <a:xfrm>
            <a:off x="11000404" y="5476875"/>
            <a:ext cx="678656" cy="186689"/>
          </a:xfrm>
          <a:prstGeom prst="rect">
            <a:avLst/>
          </a:prstGeom>
          <a:noFill/>
        </p:spPr>
        <p:txBody>
          <a:bodyPr wrap="none" lIns="0" rIns="0" tIns="0" bIns="0">
            <a:spAutoFit/>
          </a:bodyPr>
          <a:lstStyle/>
          <a:p>
            <a:r>
              <a:rPr sz="1100" b="0">
                <a:solidFill>
                  <a:srgbClr val="14213D"/>
                </a:solidFill>
                <a:latin typeface="Calibri"/>
              </a:rPr>
              <a:t>and HHI of</a:t>
            </a:r>
          </a:p>
        </p:txBody>
      </p:sp>
      <p:pic>
        <p:nvPicPr>
          <p:cNvPr id="307" name="Picture 306" descr="lock.png"/>
          <p:cNvPicPr>
            <a:picLocks noChangeAspect="1"/>
          </p:cNvPicPr>
          <p:nvPr/>
        </p:nvPicPr>
        <p:blipFill>
          <a:blip r:embed="rId4"/>
          <a:stretch>
            <a:fillRect/>
          </a:stretch>
        </p:blipFill>
        <p:spPr>
          <a:xfrm>
            <a:off x="6358757" y="5634735"/>
            <a:ext cx="128699" cy="187198"/>
          </a:xfrm>
          <a:prstGeom prst="rect">
            <a:avLst/>
          </a:prstGeom>
        </p:spPr>
      </p:pic>
      <p:sp>
        <p:nvSpPr>
          <p:cNvPr id="308" name="TextBox 307"/>
          <p:cNvSpPr txBox="1"/>
          <p:nvPr/>
        </p:nvSpPr>
        <p:spPr>
          <a:xfrm>
            <a:off x="6526253"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9" name="TextBox 308"/>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10" name="Picture 309" descr="lock.png"/>
          <p:cNvPicPr>
            <a:picLocks noChangeAspect="1"/>
          </p:cNvPicPr>
          <p:nvPr/>
        </p:nvPicPr>
        <p:blipFill>
          <a:blip r:embed="rId4"/>
          <a:stretch>
            <a:fillRect/>
          </a:stretch>
        </p:blipFill>
        <p:spPr>
          <a:xfrm>
            <a:off x="7651320" y="5848095"/>
            <a:ext cx="128699" cy="187198"/>
          </a:xfrm>
          <a:prstGeom prst="rect">
            <a:avLst/>
          </a:prstGeom>
        </p:spPr>
      </p:pic>
      <p:sp>
        <p:nvSpPr>
          <p:cNvPr id="311" name="TextBox 310"/>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12" name="Picture 311" descr="lock.png"/>
          <p:cNvPicPr>
            <a:picLocks noChangeAspect="1"/>
          </p:cNvPicPr>
          <p:nvPr/>
        </p:nvPicPr>
        <p:blipFill>
          <a:blip r:embed="rId4"/>
          <a:stretch>
            <a:fillRect/>
          </a:stretch>
        </p:blipFill>
        <p:spPr>
          <a:xfrm>
            <a:off x="8749737" y="5848095"/>
            <a:ext cx="128699" cy="187198"/>
          </a:xfrm>
          <a:prstGeom prst="rect">
            <a:avLst/>
          </a:prstGeom>
        </p:spPr>
      </p:pic>
      <p:sp>
        <p:nvSpPr>
          <p:cNvPr id="313" name="TextBox 312"/>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4" name="TextBox 313"/>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5" name="Picture 314" descr="lock.png"/>
          <p:cNvPicPr>
            <a:picLocks noChangeAspect="1"/>
          </p:cNvPicPr>
          <p:nvPr/>
        </p:nvPicPr>
        <p:blipFill>
          <a:blip r:embed="rId4"/>
          <a:stretch>
            <a:fillRect/>
          </a:stretch>
        </p:blipFill>
        <p:spPr>
          <a:xfrm>
            <a:off x="8481881" y="6067170"/>
            <a:ext cx="128699" cy="187198"/>
          </a:xfrm>
          <a:prstGeom prst="rect">
            <a:avLst/>
          </a:prstGeom>
        </p:spPr>
      </p:pic>
      <p:sp>
        <p:nvSpPr>
          <p:cNvPr id="316" name="TextBox 315"/>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7" name="Picture 316" descr="lock.png"/>
          <p:cNvPicPr>
            <a:picLocks noChangeAspect="1"/>
          </p:cNvPicPr>
          <p:nvPr/>
        </p:nvPicPr>
        <p:blipFill>
          <a:blip r:embed="rId4"/>
          <a:stretch>
            <a:fillRect/>
          </a:stretch>
        </p:blipFill>
        <p:spPr>
          <a:xfrm>
            <a:off x="10724926" y="6067170"/>
            <a:ext cx="128699" cy="187198"/>
          </a:xfrm>
          <a:prstGeom prst="rect">
            <a:avLst/>
          </a:prstGeom>
        </p:spPr>
      </p:pic>
      <p:sp>
        <p:nvSpPr>
          <p:cNvPr id="318" name="TextBox 317"/>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9" name="TextBox 318"/>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Corrugated Partition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Consolidation towards Tier 1–2</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Buyer power (4 / 5) and technology substitution (4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pic>
        <p:nvPicPr>
          <p:cNvPr id="135" name="Picture 134" descr="lock.png"/>
          <p:cNvPicPr>
            <a:picLocks noChangeAspect="1"/>
          </p:cNvPicPr>
          <p:nvPr/>
        </p:nvPicPr>
        <p:blipFill>
          <a:blip r:embed="rId4"/>
          <a:stretch>
            <a:fillRect/>
          </a:stretch>
        </p:blipFill>
        <p:spPr>
          <a:xfrm>
            <a:off x="4279050" y="4225988"/>
            <a:ext cx="128699" cy="187198"/>
          </a:xfrm>
          <a:prstGeom prst="rect">
            <a:avLst/>
          </a:prstGeom>
        </p:spPr>
      </p:pic>
      <p:pic>
        <p:nvPicPr>
          <p:cNvPr id="136" name="Picture 135" descr="lock.png"/>
          <p:cNvPicPr>
            <a:picLocks noChangeAspect="1"/>
          </p:cNvPicPr>
          <p:nvPr/>
        </p:nvPicPr>
        <p:blipFill>
          <a:blip r:embed="rId4"/>
          <a:stretch>
            <a:fillRect/>
          </a:stretch>
        </p:blipFill>
        <p:spPr>
          <a:xfrm>
            <a:off x="4279050" y="4635563"/>
            <a:ext cx="128699" cy="187198"/>
          </a:xfrm>
          <a:prstGeom prst="rect">
            <a:avLst/>
          </a:prstGeom>
        </p:spPr>
      </p:pic>
      <p:pic>
        <p:nvPicPr>
          <p:cNvPr id="137" name="Picture 136" descr="lock.png"/>
          <p:cNvPicPr>
            <a:picLocks noChangeAspect="1"/>
          </p:cNvPicPr>
          <p:nvPr/>
        </p:nvPicPr>
        <p:blipFill>
          <a:blip r:embed="rId4"/>
          <a:stretch>
            <a:fillRect/>
          </a:stretch>
        </p:blipFill>
        <p:spPr>
          <a:xfrm>
            <a:off x="4279050" y="5045138"/>
            <a:ext cx="128699" cy="187198"/>
          </a:xfrm>
          <a:prstGeom prst="rect">
            <a:avLst/>
          </a:prstGeom>
        </p:spPr>
      </p:pic>
      <p:pic>
        <p:nvPicPr>
          <p:cNvPr id="138" name="Picture 137" descr="lock.png"/>
          <p:cNvPicPr>
            <a:picLocks noChangeAspect="1"/>
          </p:cNvPicPr>
          <p:nvPr/>
        </p:nvPicPr>
        <p:blipFill>
          <a:blip r:embed="rId4"/>
          <a:stretch>
            <a:fillRect/>
          </a:stretch>
        </p:blipFill>
        <p:spPr>
          <a:xfrm>
            <a:off x="4279050" y="5454713"/>
            <a:ext cx="128699" cy="187198"/>
          </a:xfrm>
          <a:prstGeom prst="rect">
            <a:avLst/>
          </a:prstGeom>
        </p:spPr>
      </p:pic>
      <p:pic>
        <p:nvPicPr>
          <p:cNvPr id="139" name="Picture 138" descr="lock.png"/>
          <p:cNvPicPr>
            <a:picLocks noChangeAspect="1"/>
          </p:cNvPicPr>
          <p:nvPr/>
        </p:nvPicPr>
        <p:blipFill>
          <a:blip r:embed="rId4"/>
          <a:stretch>
            <a:fillRect/>
          </a:stretch>
        </p:blipFill>
        <p:spPr>
          <a:xfrm>
            <a:off x="4279050" y="5864288"/>
            <a:ext cx="128699" cy="187198"/>
          </a:xfrm>
          <a:prstGeom prst="rect">
            <a:avLst/>
          </a:prstGeom>
        </p:spPr>
      </p:pic>
      <p:pic>
        <p:nvPicPr>
          <p:cNvPr id="140" name="Picture 139" descr="lock.png"/>
          <p:cNvPicPr>
            <a:picLocks noChangeAspect="1"/>
          </p:cNvPicPr>
          <p:nvPr/>
        </p:nvPicPr>
        <p:blipFill>
          <a:blip r:embed="rId4"/>
          <a:stretch>
            <a:fillRect/>
          </a:stretch>
        </p:blipFill>
        <p:spPr>
          <a:xfrm>
            <a:off x="4279050" y="6273863"/>
            <a:ext cx="128699" cy="187198"/>
          </a:xfrm>
          <a:prstGeom prst="rect">
            <a:avLst/>
          </a:prstGeom>
        </p:spPr>
      </p:pic>
      <p:sp>
        <p:nvSpPr>
          <p:cNvPr id="141" name="TextBox 140"/>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42" name="Picture 141" descr="lock.png"/>
          <p:cNvPicPr>
            <a:picLocks noChangeAspect="1"/>
          </p:cNvPicPr>
          <p:nvPr/>
        </p:nvPicPr>
        <p:blipFill>
          <a:blip r:embed="rId4"/>
          <a:stretch>
            <a:fillRect/>
          </a:stretch>
        </p:blipFill>
        <p:spPr>
          <a:xfrm>
            <a:off x="1424204" y="1860931"/>
            <a:ext cx="128699" cy="187198"/>
          </a:xfrm>
          <a:prstGeom prst="rect">
            <a:avLst/>
          </a:prstGeom>
        </p:spPr>
      </p:pic>
      <p:sp>
        <p:nvSpPr>
          <p:cNvPr id="143" name="TextBox 142"/>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4" name="Picture 143" descr="lock.png"/>
          <p:cNvPicPr>
            <a:picLocks noChangeAspect="1"/>
          </p:cNvPicPr>
          <p:nvPr/>
        </p:nvPicPr>
        <p:blipFill>
          <a:blip r:embed="rId4"/>
          <a:stretch>
            <a:fillRect/>
          </a:stretch>
        </p:blipFill>
        <p:spPr>
          <a:xfrm>
            <a:off x="1742554" y="1860931"/>
            <a:ext cx="128699" cy="187198"/>
          </a:xfrm>
          <a:prstGeom prst="rect">
            <a:avLst/>
          </a:prstGeom>
        </p:spPr>
      </p:pic>
      <p:sp>
        <p:nvSpPr>
          <p:cNvPr id="145" name="TextBox 144"/>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6" name="TextBox 145"/>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7" name="Picture 146" descr="lock.png"/>
          <p:cNvPicPr>
            <a:picLocks noChangeAspect="1"/>
          </p:cNvPicPr>
          <p:nvPr/>
        </p:nvPicPr>
        <p:blipFill>
          <a:blip r:embed="rId4"/>
          <a:stretch>
            <a:fillRect/>
          </a:stretch>
        </p:blipFill>
        <p:spPr>
          <a:xfrm>
            <a:off x="4681754" y="1860931"/>
            <a:ext cx="128699" cy="187198"/>
          </a:xfrm>
          <a:prstGeom prst="rect">
            <a:avLst/>
          </a:prstGeom>
        </p:spPr>
      </p:pic>
      <p:sp>
        <p:nvSpPr>
          <p:cNvPr id="148" name="TextBox 147"/>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9" name="Picture 148" descr="lock.png"/>
          <p:cNvPicPr>
            <a:picLocks noChangeAspect="1"/>
          </p:cNvPicPr>
          <p:nvPr/>
        </p:nvPicPr>
        <p:blipFill>
          <a:blip r:embed="rId4"/>
          <a:stretch>
            <a:fillRect/>
          </a:stretch>
        </p:blipFill>
        <p:spPr>
          <a:xfrm>
            <a:off x="5000104" y="1860931"/>
            <a:ext cx="128699" cy="187198"/>
          </a:xfrm>
          <a:prstGeom prst="rect">
            <a:avLst/>
          </a:prstGeom>
        </p:spPr>
      </p:pic>
      <p:sp>
        <p:nvSpPr>
          <p:cNvPr id="150" name="TextBox 149"/>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1" name="TextBox 150"/>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4 → 4 players ·</a:t>
            </a:r>
          </a:p>
        </p:txBody>
      </p:sp>
      <p:pic>
        <p:nvPicPr>
          <p:cNvPr id="152" name="Picture 151" descr="lock.png"/>
          <p:cNvPicPr>
            <a:picLocks noChangeAspect="1"/>
          </p:cNvPicPr>
          <p:nvPr/>
        </p:nvPicPr>
        <p:blipFill>
          <a:blip r:embed="rId4"/>
          <a:stretch>
            <a:fillRect/>
          </a:stretch>
        </p:blipFill>
        <p:spPr>
          <a:xfrm>
            <a:off x="7939304" y="1860931"/>
            <a:ext cx="128699" cy="187198"/>
          </a:xfrm>
          <a:prstGeom prst="rect">
            <a:avLst/>
          </a:prstGeom>
        </p:spPr>
      </p:pic>
      <p:sp>
        <p:nvSpPr>
          <p:cNvPr id="153" name="TextBox 152"/>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54" name="Picture 153" descr="lock.png"/>
          <p:cNvPicPr>
            <a:picLocks noChangeAspect="1"/>
          </p:cNvPicPr>
          <p:nvPr/>
        </p:nvPicPr>
        <p:blipFill>
          <a:blip r:embed="rId4"/>
          <a:stretch>
            <a:fillRect/>
          </a:stretch>
        </p:blipFill>
        <p:spPr>
          <a:xfrm>
            <a:off x="8257654" y="1860931"/>
            <a:ext cx="128699" cy="187198"/>
          </a:xfrm>
          <a:prstGeom prst="rect">
            <a:avLst/>
          </a:prstGeom>
        </p:spPr>
      </p:pic>
      <p:sp>
        <p:nvSpPr>
          <p:cNvPr id="155" name="TextBox 154"/>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6" name="TextBox 155"/>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7" name="Picture 156" descr="lock.png"/>
          <p:cNvPicPr>
            <a:picLocks noChangeAspect="1"/>
          </p:cNvPicPr>
          <p:nvPr/>
        </p:nvPicPr>
        <p:blipFill>
          <a:blip r:embed="rId4"/>
          <a:stretch>
            <a:fillRect/>
          </a:stretch>
        </p:blipFill>
        <p:spPr>
          <a:xfrm>
            <a:off x="10872946" y="1944751"/>
            <a:ext cx="128699" cy="187198"/>
          </a:xfrm>
          <a:prstGeom prst="rect">
            <a:avLst/>
          </a:prstGeom>
        </p:spPr>
      </p:pic>
      <p:sp>
        <p:nvSpPr>
          <p:cNvPr id="158" name="TextBox 157"/>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9" name="Picture 158" descr="lock.png"/>
          <p:cNvPicPr>
            <a:picLocks noChangeAspect="1"/>
          </p:cNvPicPr>
          <p:nvPr/>
        </p:nvPicPr>
        <p:blipFill>
          <a:blip r:embed="rId4"/>
          <a:stretch>
            <a:fillRect/>
          </a:stretch>
        </p:blipFill>
        <p:spPr>
          <a:xfrm>
            <a:off x="11191297" y="1944751"/>
            <a:ext cx="128699" cy="187198"/>
          </a:xfrm>
          <a:prstGeom prst="rect">
            <a:avLst/>
          </a:prstGeom>
        </p:spPr>
      </p:pic>
      <p:sp>
        <p:nvSpPr>
          <p:cNvPr id="160" name="TextBox 159"/>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61" name="TextBox 160"/>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62" name="Picture 161" descr="lock.png"/>
          <p:cNvPicPr>
            <a:picLocks noChangeAspect="1"/>
          </p:cNvPicPr>
          <p:nvPr/>
        </p:nvPicPr>
        <p:blipFill>
          <a:blip r:embed="rId4"/>
          <a:stretch>
            <a:fillRect/>
          </a:stretch>
        </p:blipFill>
        <p:spPr>
          <a:xfrm>
            <a:off x="9434331" y="3847846"/>
            <a:ext cx="128699" cy="187198"/>
          </a:xfrm>
          <a:prstGeom prst="rect">
            <a:avLst/>
          </a:prstGeom>
        </p:spPr>
      </p:pic>
      <p:sp>
        <p:nvSpPr>
          <p:cNvPr id="163" name="TextBox 162"/>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64" name="TextBox 163"/>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65" name="Picture 164" descr="lock.png"/>
          <p:cNvPicPr>
            <a:picLocks noChangeAspect="1"/>
          </p:cNvPicPr>
          <p:nvPr/>
        </p:nvPicPr>
        <p:blipFill>
          <a:blip r:embed="rId4"/>
          <a:stretch>
            <a:fillRect/>
          </a:stretch>
        </p:blipFill>
        <p:spPr>
          <a:xfrm>
            <a:off x="9730921" y="4015486"/>
            <a:ext cx="128699" cy="187198"/>
          </a:xfrm>
          <a:prstGeom prst="rect">
            <a:avLst/>
          </a:prstGeom>
        </p:spPr>
      </p:pic>
      <p:sp>
        <p:nvSpPr>
          <p:cNvPr id="166" name="TextBox 165"/>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7" name="TextBox 166"/>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8" name="Picture 167" descr="lock.png"/>
          <p:cNvPicPr>
            <a:picLocks noChangeAspect="1"/>
          </p:cNvPicPr>
          <p:nvPr/>
        </p:nvPicPr>
        <p:blipFill>
          <a:blip r:embed="rId4"/>
          <a:stretch>
            <a:fillRect/>
          </a:stretch>
        </p:blipFill>
        <p:spPr>
          <a:xfrm>
            <a:off x="11077170" y="5009895"/>
            <a:ext cx="128699" cy="187198"/>
          </a:xfrm>
          <a:prstGeom prst="rect">
            <a:avLst/>
          </a:prstGeom>
        </p:spPr>
      </p:pic>
      <p:sp>
        <p:nvSpPr>
          <p:cNvPr id="169" name="TextBox 168"/>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70" name="TextBox 169"/>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Multicell Packaging Inc.</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6" name="TextBox 45"/>
          <p:cNvSpPr txBox="1"/>
          <p:nvPr/>
        </p:nvSpPr>
        <p:spPr>
          <a:xfrm>
            <a:off x="13144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13239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585912"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4287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6383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8478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057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5335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17430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9526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4003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662238"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5050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7146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9241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133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6098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194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30289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Great American Paper Inc.</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4766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7385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581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7909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0005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210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36861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957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41052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Interpack Inc.</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3" name="TextBox 132"/>
          <p:cNvSpPr txBox="1"/>
          <p:nvPr/>
        </p:nvSpPr>
        <p:spPr>
          <a:xfrm>
            <a:off x="45434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45529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48148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4657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48672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50768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86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47625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49720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51816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Caps Cases Ltd.</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56292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58912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5734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9436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1531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362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58388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60483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62579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M &amp; M Box &amp; Partitions Co.</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TextBox 194"/>
          <p:cNvSpPr txBox="1"/>
          <p:nvPr/>
        </p:nvSpPr>
        <p:spPr>
          <a:xfrm>
            <a:off x="67056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69675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6810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70199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72294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7439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69151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71247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73342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Martin Partitions</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20" name="TextBox 219"/>
          <p:cNvSpPr txBox="1"/>
          <p:nvPr/>
        </p:nvSpPr>
        <p:spPr>
          <a:xfrm>
            <a:off x="777240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77819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0438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7886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80962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83058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8515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79914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82010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84105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Buckeye Corrugated Inc.</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8582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91201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963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91725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93821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9591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90678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92773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94869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Cactus Corrugated Containers Inc.</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99345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TextBox 286"/>
          <p:cNvSpPr txBox="1"/>
          <p:nvPr/>
        </p:nvSpPr>
        <p:spPr>
          <a:xfrm>
            <a:off x="101965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TextBox 289"/>
          <p:cNvSpPr txBox="1"/>
          <p:nvPr/>
        </p:nvSpPr>
        <p:spPr>
          <a:xfrm>
            <a:off x="10039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02489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TextBox 293"/>
          <p:cNvSpPr txBox="1"/>
          <p:nvPr/>
        </p:nvSpPr>
        <p:spPr>
          <a:xfrm>
            <a:off x="104584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06680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TextBox 297"/>
          <p:cNvSpPr txBox="1"/>
          <p:nvPr/>
        </p:nvSpPr>
        <p:spPr>
          <a:xfrm>
            <a:off x="101441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TextBox 299"/>
          <p:cNvSpPr txBox="1"/>
          <p:nvPr/>
        </p:nvSpPr>
        <p:spPr>
          <a:xfrm>
            <a:off x="103536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105632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Jarrett Industries Inc.</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307" name="TextBox 306"/>
          <p:cNvSpPr txBox="1"/>
          <p:nvPr/>
        </p:nvSpPr>
        <p:spPr>
          <a:xfrm>
            <a:off x="110013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10109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TextBox 315"/>
          <p:cNvSpPr txBox="1"/>
          <p:nvPr/>
        </p:nvSpPr>
        <p:spPr>
          <a:xfrm>
            <a:off x="112728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11115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TextBox 320"/>
          <p:cNvSpPr txBox="1"/>
          <p:nvPr/>
        </p:nvSpPr>
        <p:spPr>
          <a:xfrm>
            <a:off x="113252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TextBox 322"/>
          <p:cNvSpPr txBox="1"/>
          <p:nvPr/>
        </p:nvSpPr>
        <p:spPr>
          <a:xfrm>
            <a:off x="115347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TextBox 324"/>
          <p:cNvSpPr txBox="1"/>
          <p:nvPr/>
        </p:nvSpPr>
        <p:spPr>
          <a:xfrm>
            <a:off x="117443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112204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TextBox 328"/>
          <p:cNvSpPr txBox="1"/>
          <p:nvPr/>
        </p:nvSpPr>
        <p:spPr>
          <a:xfrm>
            <a:off x="114300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116395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TextBox 333"/>
          <p:cNvSpPr txBox="1"/>
          <p:nvPr/>
        </p:nvSpPr>
        <p:spPr>
          <a:xfrm>
            <a:off x="1535906" y="5716715"/>
            <a:ext cx="1547812" cy="164283"/>
          </a:xfrm>
          <a:prstGeom prst="rect">
            <a:avLst/>
          </a:prstGeom>
          <a:noFill/>
        </p:spPr>
        <p:txBody>
          <a:bodyPr wrap="square" lIns="0" rIns="0" tIns="0" bIns="0" anchor="ctr">
            <a:spAutoFit/>
          </a:bodyPr>
          <a:lstStyle/>
          <a:p>
            <a:pPr algn="l"/>
            <a:r>
              <a:rPr sz="1100" b="0">
                <a:solidFill>
                  <a:srgbClr val="2E2E2E"/>
                </a:solidFill>
                <a:latin typeface="Calibri"/>
              </a:rPr>
              <a:t>Flat Dividers &amp; Layer Pads</a:t>
            </a:r>
          </a:p>
        </p:txBody>
      </p:sp>
      <p:sp>
        <p:nvSpPr>
          <p:cNvPr id="335" name="Rectangle 334"/>
          <p:cNvSpPr/>
          <p:nvPr/>
        </p:nvSpPr>
        <p:spPr>
          <a:xfrm>
            <a:off x="3140869"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3293269" y="5716715"/>
            <a:ext cx="3326569" cy="164283"/>
          </a:xfrm>
          <a:prstGeom prst="rect">
            <a:avLst/>
          </a:prstGeom>
          <a:noFill/>
        </p:spPr>
        <p:txBody>
          <a:bodyPr wrap="square" lIns="0" rIns="0" tIns="0" bIns="0" anchor="ctr">
            <a:spAutoFit/>
          </a:bodyPr>
          <a:lstStyle/>
          <a:p>
            <a:pPr algn="l"/>
            <a:r>
              <a:rPr sz="1100" b="0">
                <a:solidFill>
                  <a:srgbClr val="2E2E2E"/>
                </a:solidFill>
                <a:latin typeface="Calibri"/>
              </a:rPr>
              <a:t>Die-Cut &amp; Folded Partitions (H-dividers, tube/cell inserts)</a:t>
            </a:r>
          </a:p>
        </p:txBody>
      </p:sp>
      <p:sp>
        <p:nvSpPr>
          <p:cNvPr id="337" name="Rectangle 336"/>
          <p:cNvSpPr/>
          <p:nvPr/>
        </p:nvSpPr>
        <p:spPr>
          <a:xfrm>
            <a:off x="6676988"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TextBox 337"/>
          <p:cNvSpPr txBox="1"/>
          <p:nvPr/>
        </p:nvSpPr>
        <p:spPr>
          <a:xfrm>
            <a:off x="6829388" y="5716715"/>
            <a:ext cx="2143125" cy="164283"/>
          </a:xfrm>
          <a:prstGeom prst="rect">
            <a:avLst/>
          </a:prstGeom>
          <a:noFill/>
        </p:spPr>
        <p:txBody>
          <a:bodyPr wrap="square" lIns="0" rIns="0" tIns="0" bIns="0" anchor="ctr">
            <a:spAutoFit/>
          </a:bodyPr>
          <a:lstStyle/>
          <a:p>
            <a:pPr algn="l"/>
            <a:r>
              <a:rPr sz="1100" b="0">
                <a:solidFill>
                  <a:srgbClr val="2E2E2E"/>
                </a:solidFill>
                <a:latin typeface="Calibri"/>
              </a:rPr>
              <a:t>Slotted (Interlocking Grid) Partitions</a:t>
            </a:r>
          </a:p>
        </p:txBody>
      </p:sp>
      <p:sp>
        <p:nvSpPr>
          <p:cNvPr id="339" name="Rectangle 338"/>
          <p:cNvSpPr/>
          <p:nvPr/>
        </p:nvSpPr>
        <p:spPr>
          <a:xfrm>
            <a:off x="9029663"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TextBox 339"/>
          <p:cNvSpPr txBox="1"/>
          <p:nvPr/>
        </p:nvSpPr>
        <p:spPr>
          <a:xfrm>
            <a:off x="9182063"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341" name="TextBox 340"/>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342" name="TextBox 341"/>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343" name="TextBox 342"/>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344" name="TextBox 343"/>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345" name="TextBox 344"/>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346" name="TextBox 345"/>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347" name="TextBox 346"/>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348" name="TextBox 347"/>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349" name="TextBox 348"/>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350" name="TextBox 349"/>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351" name="TextBox 350"/>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352" name="Oval 35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TextBox 352"/>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54" name="TextBox 353"/>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355" name="Oval 35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TextBox 355"/>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57" name="TextBox 356"/>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358" name="Oval 35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TextBox 358"/>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60" name="TextBox 359"/>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61" name="Oval 36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TextBox 361"/>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63" name="TextBox 362"/>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64" name="Oval 36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TextBox 364"/>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66" name="TextBox 365"/>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67" name="Oval 36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TextBox 367"/>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69" name="TextBox 368"/>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70" name="Oval 36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TextBox 370"/>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72" name="TextBox 371"/>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73" name="TextBox 372"/>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74" name="TextBox 373"/>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75" name="TextBox 37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6" name="Picture 375" descr="lock.png"/>
          <p:cNvPicPr>
            <a:picLocks noChangeAspect="1"/>
          </p:cNvPicPr>
          <p:nvPr/>
        </p:nvPicPr>
        <p:blipFill>
          <a:blip r:embed="rId4"/>
          <a:stretch>
            <a:fillRect/>
          </a:stretch>
        </p:blipFill>
        <p:spPr>
          <a:xfrm>
            <a:off x="1769213" y="2702524"/>
            <a:ext cx="128699" cy="187198"/>
          </a:xfrm>
          <a:prstGeom prst="rect">
            <a:avLst/>
          </a:prstGeom>
        </p:spPr>
      </p:pic>
      <p:pic>
        <p:nvPicPr>
          <p:cNvPr id="377" name="Picture 376" descr="lock.png"/>
          <p:cNvPicPr>
            <a:picLocks noChangeAspect="1"/>
          </p:cNvPicPr>
          <p:nvPr/>
        </p:nvPicPr>
        <p:blipFill>
          <a:blip r:embed="rId4"/>
          <a:stretch>
            <a:fillRect/>
          </a:stretch>
        </p:blipFill>
        <p:spPr>
          <a:xfrm>
            <a:off x="1769213" y="3031091"/>
            <a:ext cx="128699" cy="187198"/>
          </a:xfrm>
          <a:prstGeom prst="rect">
            <a:avLst/>
          </a:prstGeom>
        </p:spPr>
      </p:pic>
      <p:pic>
        <p:nvPicPr>
          <p:cNvPr id="378" name="Picture 377" descr="lock.png"/>
          <p:cNvPicPr>
            <a:picLocks noChangeAspect="1"/>
          </p:cNvPicPr>
          <p:nvPr/>
        </p:nvPicPr>
        <p:blipFill>
          <a:blip r:embed="rId4"/>
          <a:stretch>
            <a:fillRect/>
          </a:stretch>
        </p:blipFill>
        <p:spPr>
          <a:xfrm>
            <a:off x="1769212" y="3560448"/>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2702524"/>
            <a:ext cx="128699" cy="187198"/>
          </a:xfrm>
          <a:prstGeom prst="rect">
            <a:avLst/>
          </a:prstGeom>
        </p:spPr>
      </p:pic>
      <p:pic>
        <p:nvPicPr>
          <p:cNvPr id="380" name="Picture 379" descr="lock.png"/>
          <p:cNvPicPr>
            <a:picLocks noChangeAspect="1"/>
          </p:cNvPicPr>
          <p:nvPr/>
        </p:nvPicPr>
        <p:blipFill>
          <a:blip r:embed="rId4"/>
          <a:stretch>
            <a:fillRect/>
          </a:stretch>
        </p:blipFill>
        <p:spPr>
          <a:xfrm>
            <a:off x="2845538" y="3031091"/>
            <a:ext cx="128699" cy="187198"/>
          </a:xfrm>
          <a:prstGeom prst="rect">
            <a:avLst/>
          </a:prstGeom>
        </p:spPr>
      </p:pic>
      <p:pic>
        <p:nvPicPr>
          <p:cNvPr id="381" name="Picture 380" descr="lock.png"/>
          <p:cNvPicPr>
            <a:picLocks noChangeAspect="1"/>
          </p:cNvPicPr>
          <p:nvPr/>
        </p:nvPicPr>
        <p:blipFill>
          <a:blip r:embed="rId4"/>
          <a:stretch>
            <a:fillRect/>
          </a:stretch>
        </p:blipFill>
        <p:spPr>
          <a:xfrm>
            <a:off x="2845538" y="3560448"/>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3" y="2702524"/>
            <a:ext cx="128699" cy="187198"/>
          </a:xfrm>
          <a:prstGeom prst="rect">
            <a:avLst/>
          </a:prstGeom>
        </p:spPr>
      </p:pic>
      <p:pic>
        <p:nvPicPr>
          <p:cNvPr id="383" name="Picture 382" descr="lock.png"/>
          <p:cNvPicPr>
            <a:picLocks noChangeAspect="1"/>
          </p:cNvPicPr>
          <p:nvPr/>
        </p:nvPicPr>
        <p:blipFill>
          <a:blip r:embed="rId4"/>
          <a:stretch>
            <a:fillRect/>
          </a:stretch>
        </p:blipFill>
        <p:spPr>
          <a:xfrm>
            <a:off x="3921863" y="3031091"/>
            <a:ext cx="128699" cy="187198"/>
          </a:xfrm>
          <a:prstGeom prst="rect">
            <a:avLst/>
          </a:prstGeom>
        </p:spPr>
      </p:pic>
      <p:pic>
        <p:nvPicPr>
          <p:cNvPr id="384" name="Picture 383" descr="lock.png"/>
          <p:cNvPicPr>
            <a:picLocks noChangeAspect="1"/>
          </p:cNvPicPr>
          <p:nvPr/>
        </p:nvPicPr>
        <p:blipFill>
          <a:blip r:embed="rId4"/>
          <a:stretch>
            <a:fillRect/>
          </a:stretch>
        </p:blipFill>
        <p:spPr>
          <a:xfrm>
            <a:off x="3921862" y="3560448"/>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2702524"/>
            <a:ext cx="128699" cy="187198"/>
          </a:xfrm>
          <a:prstGeom prst="rect">
            <a:avLst/>
          </a:prstGeom>
        </p:spPr>
      </p:pic>
      <p:pic>
        <p:nvPicPr>
          <p:cNvPr id="386" name="Picture 385" descr="lock.png"/>
          <p:cNvPicPr>
            <a:picLocks noChangeAspect="1"/>
          </p:cNvPicPr>
          <p:nvPr/>
        </p:nvPicPr>
        <p:blipFill>
          <a:blip r:embed="rId4"/>
          <a:stretch>
            <a:fillRect/>
          </a:stretch>
        </p:blipFill>
        <p:spPr>
          <a:xfrm>
            <a:off x="4998188" y="3031091"/>
            <a:ext cx="128699" cy="187198"/>
          </a:xfrm>
          <a:prstGeom prst="rect">
            <a:avLst/>
          </a:prstGeom>
        </p:spPr>
      </p:pic>
      <p:pic>
        <p:nvPicPr>
          <p:cNvPr id="387" name="Picture 386" descr="lock.png"/>
          <p:cNvPicPr>
            <a:picLocks noChangeAspect="1"/>
          </p:cNvPicPr>
          <p:nvPr/>
        </p:nvPicPr>
        <p:blipFill>
          <a:blip r:embed="rId4"/>
          <a:stretch>
            <a:fillRect/>
          </a:stretch>
        </p:blipFill>
        <p:spPr>
          <a:xfrm>
            <a:off x="4998188" y="3560448"/>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3" y="2702524"/>
            <a:ext cx="128699" cy="187198"/>
          </a:xfrm>
          <a:prstGeom prst="rect">
            <a:avLst/>
          </a:prstGeom>
        </p:spPr>
      </p:pic>
      <p:pic>
        <p:nvPicPr>
          <p:cNvPr id="389" name="Picture 388" descr="lock.png"/>
          <p:cNvPicPr>
            <a:picLocks noChangeAspect="1"/>
          </p:cNvPicPr>
          <p:nvPr/>
        </p:nvPicPr>
        <p:blipFill>
          <a:blip r:embed="rId4"/>
          <a:stretch>
            <a:fillRect/>
          </a:stretch>
        </p:blipFill>
        <p:spPr>
          <a:xfrm>
            <a:off x="6074513" y="3031091"/>
            <a:ext cx="128699" cy="187198"/>
          </a:xfrm>
          <a:prstGeom prst="rect">
            <a:avLst/>
          </a:prstGeom>
        </p:spPr>
      </p:pic>
      <p:pic>
        <p:nvPicPr>
          <p:cNvPr id="390" name="Picture 389" descr="lock.png"/>
          <p:cNvPicPr>
            <a:picLocks noChangeAspect="1"/>
          </p:cNvPicPr>
          <p:nvPr/>
        </p:nvPicPr>
        <p:blipFill>
          <a:blip r:embed="rId4"/>
          <a:stretch>
            <a:fillRect/>
          </a:stretch>
        </p:blipFill>
        <p:spPr>
          <a:xfrm>
            <a:off x="6074512" y="3560448"/>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2702524"/>
            <a:ext cx="128699" cy="187198"/>
          </a:xfrm>
          <a:prstGeom prst="rect">
            <a:avLst/>
          </a:prstGeom>
        </p:spPr>
      </p:pic>
      <p:pic>
        <p:nvPicPr>
          <p:cNvPr id="392" name="Picture 391" descr="lock.png"/>
          <p:cNvPicPr>
            <a:picLocks noChangeAspect="1"/>
          </p:cNvPicPr>
          <p:nvPr/>
        </p:nvPicPr>
        <p:blipFill>
          <a:blip r:embed="rId4"/>
          <a:stretch>
            <a:fillRect/>
          </a:stretch>
        </p:blipFill>
        <p:spPr>
          <a:xfrm>
            <a:off x="7150838" y="3031091"/>
            <a:ext cx="128699" cy="187198"/>
          </a:xfrm>
          <a:prstGeom prst="rect">
            <a:avLst/>
          </a:prstGeom>
        </p:spPr>
      </p:pic>
      <p:pic>
        <p:nvPicPr>
          <p:cNvPr id="393" name="Picture 392" descr="lock.png"/>
          <p:cNvPicPr>
            <a:picLocks noChangeAspect="1"/>
          </p:cNvPicPr>
          <p:nvPr/>
        </p:nvPicPr>
        <p:blipFill>
          <a:blip r:embed="rId4"/>
          <a:stretch>
            <a:fillRect/>
          </a:stretch>
        </p:blipFill>
        <p:spPr>
          <a:xfrm>
            <a:off x="7150838" y="3560448"/>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3" y="2702524"/>
            <a:ext cx="128699" cy="187198"/>
          </a:xfrm>
          <a:prstGeom prst="rect">
            <a:avLst/>
          </a:prstGeom>
        </p:spPr>
      </p:pic>
      <p:pic>
        <p:nvPicPr>
          <p:cNvPr id="395" name="Picture 394" descr="lock.png"/>
          <p:cNvPicPr>
            <a:picLocks noChangeAspect="1"/>
          </p:cNvPicPr>
          <p:nvPr/>
        </p:nvPicPr>
        <p:blipFill>
          <a:blip r:embed="rId4"/>
          <a:stretch>
            <a:fillRect/>
          </a:stretch>
        </p:blipFill>
        <p:spPr>
          <a:xfrm>
            <a:off x="8227163" y="3031091"/>
            <a:ext cx="128699" cy="187198"/>
          </a:xfrm>
          <a:prstGeom prst="rect">
            <a:avLst/>
          </a:prstGeom>
        </p:spPr>
      </p:pic>
      <p:pic>
        <p:nvPicPr>
          <p:cNvPr id="396" name="Picture 395" descr="lock.png"/>
          <p:cNvPicPr>
            <a:picLocks noChangeAspect="1"/>
          </p:cNvPicPr>
          <p:nvPr/>
        </p:nvPicPr>
        <p:blipFill>
          <a:blip r:embed="rId4"/>
          <a:stretch>
            <a:fillRect/>
          </a:stretch>
        </p:blipFill>
        <p:spPr>
          <a:xfrm>
            <a:off x="8227162" y="3560448"/>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2702524"/>
            <a:ext cx="128699" cy="187198"/>
          </a:xfrm>
          <a:prstGeom prst="rect">
            <a:avLst/>
          </a:prstGeom>
        </p:spPr>
      </p:pic>
      <p:pic>
        <p:nvPicPr>
          <p:cNvPr id="398" name="Picture 397" descr="lock.png"/>
          <p:cNvPicPr>
            <a:picLocks noChangeAspect="1"/>
          </p:cNvPicPr>
          <p:nvPr/>
        </p:nvPicPr>
        <p:blipFill>
          <a:blip r:embed="rId4"/>
          <a:stretch>
            <a:fillRect/>
          </a:stretch>
        </p:blipFill>
        <p:spPr>
          <a:xfrm>
            <a:off x="9303488" y="3031091"/>
            <a:ext cx="128699" cy="187198"/>
          </a:xfrm>
          <a:prstGeom prst="rect">
            <a:avLst/>
          </a:prstGeom>
        </p:spPr>
      </p:pic>
      <p:pic>
        <p:nvPicPr>
          <p:cNvPr id="399" name="Picture 398" descr="lock.png"/>
          <p:cNvPicPr>
            <a:picLocks noChangeAspect="1"/>
          </p:cNvPicPr>
          <p:nvPr/>
        </p:nvPicPr>
        <p:blipFill>
          <a:blip r:embed="rId4"/>
          <a:stretch>
            <a:fillRect/>
          </a:stretch>
        </p:blipFill>
        <p:spPr>
          <a:xfrm>
            <a:off x="9303488" y="3560448"/>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3" y="2702524"/>
            <a:ext cx="128699" cy="187198"/>
          </a:xfrm>
          <a:prstGeom prst="rect">
            <a:avLst/>
          </a:prstGeom>
        </p:spPr>
      </p:pic>
      <p:pic>
        <p:nvPicPr>
          <p:cNvPr id="401" name="Picture 400" descr="lock.png"/>
          <p:cNvPicPr>
            <a:picLocks noChangeAspect="1"/>
          </p:cNvPicPr>
          <p:nvPr/>
        </p:nvPicPr>
        <p:blipFill>
          <a:blip r:embed="rId4"/>
          <a:stretch>
            <a:fillRect/>
          </a:stretch>
        </p:blipFill>
        <p:spPr>
          <a:xfrm>
            <a:off x="10379813" y="3031091"/>
            <a:ext cx="128699" cy="187198"/>
          </a:xfrm>
          <a:prstGeom prst="rect">
            <a:avLst/>
          </a:prstGeom>
        </p:spPr>
      </p:pic>
      <p:pic>
        <p:nvPicPr>
          <p:cNvPr id="402" name="Picture 401" descr="lock.png"/>
          <p:cNvPicPr>
            <a:picLocks noChangeAspect="1"/>
          </p:cNvPicPr>
          <p:nvPr/>
        </p:nvPicPr>
        <p:blipFill>
          <a:blip r:embed="rId4"/>
          <a:stretch>
            <a:fillRect/>
          </a:stretch>
        </p:blipFill>
        <p:spPr>
          <a:xfrm>
            <a:off x="10379812" y="3560448"/>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2702524"/>
            <a:ext cx="128699" cy="187198"/>
          </a:xfrm>
          <a:prstGeom prst="rect">
            <a:avLst/>
          </a:prstGeom>
        </p:spPr>
      </p:pic>
      <p:pic>
        <p:nvPicPr>
          <p:cNvPr id="404" name="Picture 403" descr="lock.png"/>
          <p:cNvPicPr>
            <a:picLocks noChangeAspect="1"/>
          </p:cNvPicPr>
          <p:nvPr/>
        </p:nvPicPr>
        <p:blipFill>
          <a:blip r:embed="rId4"/>
          <a:stretch>
            <a:fillRect/>
          </a:stretch>
        </p:blipFill>
        <p:spPr>
          <a:xfrm>
            <a:off x="11456138" y="3031091"/>
            <a:ext cx="128699" cy="187198"/>
          </a:xfrm>
          <a:prstGeom prst="rect">
            <a:avLst/>
          </a:prstGeom>
        </p:spPr>
      </p:pic>
      <p:pic>
        <p:nvPicPr>
          <p:cNvPr id="405" name="Picture 404"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Corrugated Partition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221324"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'Flat Dividers &amp; Layer Pads') to lift</a:t>
            </a:r>
          </a:p>
        </p:txBody>
      </p:sp>
      <p:sp>
        <p:nvSpPr>
          <p:cNvPr id="33" name="TextBox 32"/>
          <p:cNvSpPr txBox="1"/>
          <p:nvPr/>
        </p:nvSpPr>
        <p:spPr>
          <a:xfrm>
            <a:off x="276225" y="2351539"/>
            <a:ext cx="3225403" cy="194310"/>
          </a:xfrm>
          <a:prstGeom prst="rect">
            <a:avLst/>
          </a:prstGeom>
          <a:noFill/>
        </p:spPr>
        <p:txBody>
          <a:bodyPr wrap="none" lIns="0" rIns="0" tIns="0" bIns="0">
            <a:spAutoFit/>
          </a:bodyPr>
          <a:lstStyle/>
          <a:p>
            <a:r>
              <a:rPr sz="1150" b="0">
                <a:solidFill>
                  <a:srgbClr val="2E2E2E"/>
                </a:solidFill>
                <a:latin typeface="Calibri"/>
              </a:rPr>
              <a:t>blended ASP and defend 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3637880" cy="194310"/>
          </a:xfrm>
          <a:prstGeom prst="rect">
            <a:avLst/>
          </a:prstGeom>
          <a:noFill/>
        </p:spPr>
        <p:txBody>
          <a:bodyPr wrap="none" lIns="0" rIns="0" tIns="0" bIns="0">
            <a:spAutoFit/>
          </a:bodyPr>
          <a:lstStyle/>
          <a:p>
            <a:r>
              <a:rPr sz="1150" b="0">
                <a:solidFill>
                  <a:srgbClr val="2E2E2E"/>
                </a:solidFill>
                <a:latin typeface="Calibri"/>
              </a:rPr>
              <a:t>▪ Benchmark relentlessly against 'Multicell Packaging Inc.' (~</a:t>
            </a:r>
          </a:p>
        </p:txBody>
      </p:sp>
      <p:pic>
        <p:nvPicPr>
          <p:cNvPr id="43" name="Picture 42" descr="lock.png"/>
          <p:cNvPicPr>
            <a:picLocks noChangeAspect="1"/>
          </p:cNvPicPr>
          <p:nvPr/>
        </p:nvPicPr>
        <p:blipFill>
          <a:blip r:embed="rId4"/>
          <a:stretch>
            <a:fillRect/>
          </a:stretch>
        </p:blipFill>
        <p:spPr>
          <a:xfrm>
            <a:off x="9911634" y="4455378"/>
            <a:ext cx="134549" cy="195707"/>
          </a:xfrm>
          <a:prstGeom prst="rect">
            <a:avLst/>
          </a:prstGeom>
        </p:spPr>
      </p:pic>
      <p:sp>
        <p:nvSpPr>
          <p:cNvPr id="44" name="TextBox 43"/>
          <p:cNvSpPr txBox="1"/>
          <p:nvPr/>
        </p:nvSpPr>
        <p:spPr>
          <a:xfrm>
            <a:off x="10086743" y="4465602"/>
            <a:ext cx="1746646" cy="194310"/>
          </a:xfrm>
          <a:prstGeom prst="rect">
            <a:avLst/>
          </a:prstGeom>
          <a:noFill/>
        </p:spPr>
        <p:txBody>
          <a:bodyPr wrap="none" lIns="0" rIns="0" tIns="0" bIns="0">
            <a:spAutoFit/>
          </a:bodyPr>
          <a:lstStyle/>
          <a:p>
            <a:r>
              <a:rPr sz="1150" b="0">
                <a:solidFill>
                  <a:srgbClr val="2E2E2E"/>
                </a:solidFill>
                <a:latin typeface="Calibri"/>
              </a:rPr>
              <a:t>share) match on service and</a:t>
            </a:r>
          </a:p>
        </p:txBody>
      </p:sp>
      <p:sp>
        <p:nvSpPr>
          <p:cNvPr id="45" name="TextBox 44"/>
          <p:cNvSpPr txBox="1"/>
          <p:nvPr/>
        </p:nvSpPr>
        <p:spPr>
          <a:xfrm>
            <a:off x="6324600" y="4640861"/>
            <a:ext cx="2033327" cy="194310"/>
          </a:xfrm>
          <a:prstGeom prst="rect">
            <a:avLst/>
          </a:prstGeom>
          <a:noFill/>
        </p:spPr>
        <p:txBody>
          <a:bodyPr wrap="none" lIns="0" rIns="0" tIns="0" bIns="0">
            <a:spAutoFit/>
          </a:bodyPr>
          <a:lstStyle/>
          <a:p>
            <a:r>
              <a:rPr sz="1150" b="0">
                <a:solidFill>
                  <a:srgbClr val="2E2E2E"/>
                </a:solidFill>
                <a:latin typeface="Calibri"/>
              </a:rPr>
              <a:t>lead on 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
            </a:r>
          </a:p>
          <a:p>
            <a:pPr algn="ctr"/>
            <a:r>
              <a:rPr sz="1300" b="1">
                <a:solidFill>
                  <a:srgbClr val="2E2E2E"/>
                </a:solidFill>
                <a:latin typeface="Calibri"/>
              </a:rPr>
              <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rIns="0" t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rIns="0" tIns="0" bIns="0">
            <a:spAutoFit/>
          </a:bodyPr>
          <a:lstStyle/>
          <a:p>
            <a:r>
              <a:rPr sz="935" b="1">
                <a:solidFill>
                  <a:srgbClr val="2E2E2E"/>
                </a:solidFill>
                <a:latin typeface="Calibri"/>
              </a:rPr>
              <a:t>US$ Mn</a:t>
            </a:r>
          </a:p>
        </p:txBody>
      </p:sp>
      <p:sp>
        <p:nvSpPr>
          <p:cNvPr id="25" name="TextBox 24"/>
          <p:cNvSpPr txBox="1"/>
          <p:nvPr/>
        </p:nvSpPr>
        <p:spPr>
          <a:xfrm>
            <a:off x="7934325" y="1773181"/>
            <a:ext cx="3741427" cy="194310"/>
          </a:xfrm>
          <a:prstGeom prst="rect">
            <a:avLst/>
          </a:prstGeom>
          <a:noFill/>
        </p:spPr>
        <p:txBody>
          <a:bodyPr wrap="none" lIns="0" rIns="0" tIns="0" bIns="0">
            <a:spAutoFit/>
          </a:bodyPr>
          <a:lstStyle/>
          <a:p>
            <a:r>
              <a:rPr sz="1150" b="0">
                <a:solidFill>
                  <a:srgbClr val="2E2E2E"/>
                </a:solidFill>
                <a:latin typeface="Calibri"/>
              </a:rPr>
              <a:t>Multicell Packaging Inc. accounted for the largest share of the</a:t>
            </a:r>
          </a:p>
        </p:txBody>
      </p:sp>
      <p:sp>
        <p:nvSpPr>
          <p:cNvPr id="26" name="TextBox 25"/>
          <p:cNvSpPr txBox="1"/>
          <p:nvPr/>
        </p:nvSpPr>
        <p:spPr>
          <a:xfrm>
            <a:off x="7934325" y="1948441"/>
            <a:ext cx="3962400" cy="194310"/>
          </a:xfrm>
          <a:prstGeom prst="rect">
            <a:avLst/>
          </a:prstGeom>
          <a:noFill/>
        </p:spPr>
        <p:txBody>
          <a:bodyPr wrap="none" lIns="0" rIns="0" tIns="0" bIns="0">
            <a:spAutoFit/>
          </a:bodyPr>
          <a:lstStyle/>
          <a:p>
            <a:r>
              <a:rPr sz="1150" b="0">
                <a:solidFill>
                  <a:srgbClr val="2E2E2E"/>
                </a:solidFill>
                <a:latin typeface="Calibri"/>
              </a:rPr>
              <a:t>global corrugated partition market in 2026. The global corrugated</a:t>
            </a:r>
          </a:p>
        </p:txBody>
      </p:sp>
      <p:sp>
        <p:nvSpPr>
          <p:cNvPr id="27" name="TextBox 26"/>
          <p:cNvSpPr txBox="1"/>
          <p:nvPr/>
        </p:nvSpPr>
        <p:spPr>
          <a:xfrm>
            <a:off x="7934325" y="2123701"/>
            <a:ext cx="3524634" cy="194310"/>
          </a:xfrm>
          <a:prstGeom prst="rect">
            <a:avLst/>
          </a:prstGeom>
          <a:noFill/>
        </p:spPr>
        <p:txBody>
          <a:bodyPr wrap="none" lIns="0" rIns="0" tIns="0" bIns="0">
            <a:spAutoFit/>
          </a:bodyPr>
          <a:lstStyle/>
          <a:p>
            <a:r>
              <a:rPr sz="1150" b="0">
                <a:solidFill>
                  <a:srgbClr val="2E2E2E"/>
                </a:solidFill>
                <a:latin typeface="Calibri"/>
              </a:rPr>
              <a:t>partition market is fragmented, with the top three players</a:t>
            </a:r>
          </a:p>
        </p:txBody>
      </p:sp>
      <p:sp>
        <p:nvSpPr>
          <p:cNvPr id="28" name="TextBox 27"/>
          <p:cNvSpPr txBox="1"/>
          <p:nvPr/>
        </p:nvSpPr>
        <p:spPr>
          <a:xfrm>
            <a:off x="7934325" y="2298961"/>
            <a:ext cx="1744650" cy="194310"/>
          </a:xfrm>
          <a:prstGeom prst="rect">
            <a:avLst/>
          </a:prstGeom>
          <a:noFill/>
        </p:spPr>
        <p:txBody>
          <a:bodyPr wrap="none" lIns="0" rIns="0" tIns="0" bIns="0">
            <a:spAutoFit/>
          </a:bodyPr>
          <a:lstStyle/>
          <a:p>
            <a:r>
              <a:rPr sz="1150" b="0">
                <a:solidFill>
                  <a:srgbClr val="2E2E2E"/>
                </a:solidFill>
                <a:latin typeface="Calibri"/>
              </a:rPr>
              <a:t>accounting for an estimated</a:t>
            </a:r>
          </a:p>
        </p:txBody>
      </p:sp>
      <p:pic>
        <p:nvPicPr>
          <p:cNvPr id="29" name="Picture 28" descr="lock.png"/>
          <p:cNvPicPr>
            <a:picLocks noChangeAspect="1"/>
          </p:cNvPicPr>
          <p:nvPr/>
        </p:nvPicPr>
        <p:blipFill>
          <a:blip r:embed="rId5"/>
          <a:stretch>
            <a:fillRect/>
          </a:stretch>
        </p:blipFill>
        <p:spPr>
          <a:xfrm>
            <a:off x="9628129" y="2288737"/>
            <a:ext cx="134549" cy="195707"/>
          </a:xfrm>
          <a:prstGeom prst="rect">
            <a:avLst/>
          </a:prstGeom>
        </p:spPr>
      </p:pic>
      <p:sp>
        <p:nvSpPr>
          <p:cNvPr id="30" name="TextBox 29"/>
          <p:cNvSpPr txBox="1"/>
          <p:nvPr/>
        </p:nvSpPr>
        <p:spPr>
          <a:xfrm>
            <a:off x="9803238" y="2298961"/>
            <a:ext cx="1758912" cy="194310"/>
          </a:xfrm>
          <a:prstGeom prst="rect">
            <a:avLst/>
          </a:prstGeom>
          <a:noFill/>
        </p:spPr>
        <p:txBody>
          <a:bodyPr wrap="none" lIns="0" rIns="0" tIns="0" bIns="0">
            <a:spAutoFit/>
          </a:bodyPr>
          <a:lstStyle/>
          <a:p>
            <a:r>
              <a:rPr sz="1150" b="0">
                <a:solidFill>
                  <a:srgbClr val="2E2E2E"/>
                </a:solidFill>
                <a:latin typeface="Calibri"/>
              </a:rPr>
              <a:t>share of the market in 2026.</a:t>
            </a:r>
          </a:p>
        </p:txBody>
      </p:sp>
      <p:sp>
        <p:nvSpPr>
          <p:cNvPr id="31" name="TextBox 30"/>
          <p:cNvSpPr txBox="1"/>
          <p:nvPr/>
        </p:nvSpPr>
        <p:spPr>
          <a:xfrm>
            <a:off x="7934325" y="2526799"/>
            <a:ext cx="3138115" cy="194310"/>
          </a:xfrm>
          <a:prstGeom prst="rect">
            <a:avLst/>
          </a:prstGeom>
          <a:noFill/>
        </p:spPr>
        <p:txBody>
          <a:bodyPr wrap="none" lIns="0" rIns="0" tIns="0" bIns="0">
            <a:spAutoFit/>
          </a:bodyPr>
          <a:lstStyle/>
          <a:p>
            <a:r>
              <a:rPr sz="1150" b="0">
                <a:solidFill>
                  <a:srgbClr val="2E2E2E"/>
                </a:solidFill>
                <a:latin typeface="Calibri"/>
              </a:rPr>
              <a:t>Multicell Packaging Inc. accounted for an estimated</a:t>
            </a:r>
          </a:p>
        </p:txBody>
      </p:sp>
      <p:pic>
        <p:nvPicPr>
          <p:cNvPr id="32" name="Picture 31" descr="lock.png"/>
          <p:cNvPicPr>
            <a:picLocks noChangeAspect="1"/>
          </p:cNvPicPr>
          <p:nvPr/>
        </p:nvPicPr>
        <p:blipFill>
          <a:blip r:embed="rId5"/>
          <a:stretch>
            <a:fillRect/>
          </a:stretch>
        </p:blipFill>
        <p:spPr>
          <a:xfrm>
            <a:off x="11021594" y="2516575"/>
            <a:ext cx="134549" cy="195707"/>
          </a:xfrm>
          <a:prstGeom prst="rect">
            <a:avLst/>
          </a:prstGeom>
        </p:spPr>
      </p:pic>
      <p:sp>
        <p:nvSpPr>
          <p:cNvPr id="33" name="TextBox 32"/>
          <p:cNvSpPr txBox="1"/>
          <p:nvPr/>
        </p:nvSpPr>
        <p:spPr>
          <a:xfrm>
            <a:off x="11196703" y="2526799"/>
            <a:ext cx="558279" cy="194310"/>
          </a:xfrm>
          <a:prstGeom prst="rect">
            <a:avLst/>
          </a:prstGeom>
          <a:noFill/>
        </p:spPr>
        <p:txBody>
          <a:bodyPr wrap="none" lIns="0" rIns="0" tIns="0" bIns="0">
            <a:spAutoFit/>
          </a:bodyPr>
          <a:lstStyle/>
          <a:p>
            <a:r>
              <a:rPr sz="1150" b="0">
                <a:solidFill>
                  <a:srgbClr val="2E2E2E"/>
                </a:solidFill>
                <a:latin typeface="Calibri"/>
              </a:rPr>
              <a:t>share of</a:t>
            </a:r>
          </a:p>
        </p:txBody>
      </p:sp>
      <p:sp>
        <p:nvSpPr>
          <p:cNvPr id="34" name="TextBox 33"/>
          <p:cNvSpPr txBox="1"/>
          <p:nvPr/>
        </p:nvSpPr>
        <p:spPr>
          <a:xfrm>
            <a:off x="7934325" y="2702058"/>
            <a:ext cx="2390179" cy="194310"/>
          </a:xfrm>
          <a:prstGeom prst="rect">
            <a:avLst/>
          </a:prstGeom>
          <a:noFill/>
        </p:spPr>
        <p:txBody>
          <a:bodyPr wrap="none" lIns="0" rIns="0" tIns="0" bIns="0">
            <a:spAutoFit/>
          </a:bodyPr>
          <a:lstStyle/>
          <a:p>
            <a:r>
              <a:rPr sz="1150" b="0">
                <a:solidFill>
                  <a:srgbClr val="2E2E2E"/>
                </a:solidFill>
                <a:latin typeface="Calibri"/>
              </a:rPr>
              <a:t>the market, followed by Company with</a:t>
            </a:r>
          </a:p>
        </p:txBody>
      </p:sp>
      <p:pic>
        <p:nvPicPr>
          <p:cNvPr id="35" name="Picture 34" descr="lock.png"/>
          <p:cNvPicPr>
            <a:picLocks noChangeAspect="1"/>
          </p:cNvPicPr>
          <p:nvPr/>
        </p:nvPicPr>
        <p:blipFill>
          <a:blip r:embed="rId5"/>
          <a:stretch>
            <a:fillRect/>
          </a:stretch>
        </p:blipFill>
        <p:spPr>
          <a:xfrm>
            <a:off x="10273658" y="2691835"/>
            <a:ext cx="134549" cy="195707"/>
          </a:xfrm>
          <a:prstGeom prst="rect">
            <a:avLst/>
          </a:prstGeom>
        </p:spPr>
      </p:pic>
      <p:sp>
        <p:nvSpPr>
          <p:cNvPr id="36" name="TextBox 35"/>
          <p:cNvSpPr txBox="1"/>
          <p:nvPr/>
        </p:nvSpPr>
        <p:spPr>
          <a:xfrm>
            <a:off x="10448767" y="2702058"/>
            <a:ext cx="1048019" cy="194310"/>
          </a:xfrm>
          <a:prstGeom prst="rect">
            <a:avLst/>
          </a:prstGeom>
          <a:noFill/>
        </p:spPr>
        <p:txBody>
          <a:bodyPr wrap="none" lIns="0" rIns="0" tIns="0" bIns="0">
            <a:spAutoFit/>
          </a:bodyPr>
          <a:lstStyle/>
          <a:p>
            <a:r>
              <a:rPr sz="1150" b="0">
                <a:solidFill>
                  <a:srgbClr val="2E2E2E"/>
                </a:solidFill>
                <a:latin typeface="Calibri"/>
              </a:rPr>
              <a:t>. Key players are</a:t>
            </a:r>
          </a:p>
        </p:txBody>
      </p:sp>
      <p:sp>
        <p:nvSpPr>
          <p:cNvPr id="37" name="TextBox 36"/>
          <p:cNvSpPr txBox="1"/>
          <p:nvPr/>
        </p:nvSpPr>
        <p:spPr>
          <a:xfrm>
            <a:off x="7934325" y="2877318"/>
            <a:ext cx="3551448" cy="194310"/>
          </a:xfrm>
          <a:prstGeom prst="rect">
            <a:avLst/>
          </a:prstGeom>
          <a:noFill/>
        </p:spPr>
        <p:txBody>
          <a:bodyPr wrap="none" lIns="0" rIns="0" tIns="0" bIns="0">
            <a:spAutoFit/>
          </a:bodyPr>
          <a:lstStyle/>
          <a:p>
            <a:r>
              <a:rPr sz="1150" b="0">
                <a:solidFill>
                  <a:srgbClr val="2E2E2E"/>
                </a:solidFill>
                <a:latin typeface="Calibri"/>
              </a:rPr>
              <a:t>focusing on product innovation, geographic expansion and</a:t>
            </a:r>
          </a:p>
        </p:txBody>
      </p:sp>
      <p:sp>
        <p:nvSpPr>
          <p:cNvPr id="38" name="TextBox 37"/>
          <p:cNvSpPr txBox="1"/>
          <p:nvPr/>
        </p:nvSpPr>
        <p:spPr>
          <a:xfrm>
            <a:off x="7934325" y="3052578"/>
            <a:ext cx="3540038" cy="194310"/>
          </a:xfrm>
          <a:prstGeom prst="rect">
            <a:avLst/>
          </a:prstGeom>
          <a:noFill/>
        </p:spPr>
        <p:txBody>
          <a:bodyPr wrap="none" lIns="0" rIns="0" tIns="0" bIns="0">
            <a:spAutoFit/>
          </a:bodyPr>
          <a:lstStyle/>
          <a:p>
            <a:r>
              <a:rPr sz="1150" b="0">
                <a:solidFill>
                  <a:srgbClr val="2E2E2E"/>
                </a:solidFill>
                <a:latin typeface="Calibri"/>
              </a:rPr>
              <a:t>strategic partnerships to strengthen their market position.</a:t>
            </a:r>
          </a:p>
        </p:txBody>
      </p:sp>
      <p:sp>
        <p:nvSpPr>
          <p:cNvPr id="39" name="TextBox 38"/>
          <p:cNvSpPr txBox="1"/>
          <p:nvPr/>
        </p:nvSpPr>
        <p:spPr>
          <a:xfrm>
            <a:off x="7934325" y="3280416"/>
            <a:ext cx="3647864" cy="194310"/>
          </a:xfrm>
          <a:prstGeom prst="rect">
            <a:avLst/>
          </a:prstGeom>
          <a:noFill/>
        </p:spPr>
        <p:txBody>
          <a:bodyPr wrap="none" lIns="0" rIns="0" tIns="0" bIns="0">
            <a:spAutoFit/>
          </a:bodyPr>
          <a:lstStyle/>
          <a:p>
            <a:r>
              <a:rPr sz="1150" b="0">
                <a:solidFill>
                  <a:srgbClr val="2E2E2E"/>
                </a:solidFill>
                <a:latin typeface="Calibri"/>
              </a:rPr>
              <a:t>Regional share differs from the global picture use the region</a:t>
            </a:r>
          </a:p>
        </p:txBody>
      </p:sp>
      <p:sp>
        <p:nvSpPr>
          <p:cNvPr id="40" name="TextBox 39"/>
          <p:cNvSpPr txBox="1"/>
          <p:nvPr/>
        </p:nvSpPr>
        <p:spPr>
          <a:xfrm>
            <a:off x="7934325" y="3455676"/>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41"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partition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Flat Dividers &amp; Layer Pads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Die-Cut &amp; Folded Partitions (H-dividers, tube/cell inserts)</a:t>
            </a:r>
          </a:p>
        </p:txBody>
      </p:sp>
      <p:graphicFrame>
        <p:nvGraphicFramePr>
          <p:cNvPr id="16" name="Chart 15"/>
          <p:cNvGraphicFramePr>
            <a:graphicFrameLocks noGrp="1"/>
          </p:cNvGraphicFramePr>
          <p:nvPr/>
        </p:nvGraphicFramePr>
        <p:xfrm>
          <a:off x="4219575" y="1756520"/>
          <a:ext cx="3638550" cy="269830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Slotted (Interlocking Grid) Partitions</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705620"/>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3658468" cy="186689"/>
          </a:xfrm>
          <a:prstGeom prst="rect">
            <a:avLst/>
          </a:prstGeom>
          <a:noFill/>
        </p:spPr>
        <p:txBody>
          <a:bodyPr wrap="none" lIns="0" rIns="0" tIns="0" bIns="0">
            <a:spAutoFit/>
          </a:bodyPr>
          <a:lstStyle/>
          <a:p>
            <a:r>
              <a:rPr sz="1100" b="0">
                <a:solidFill>
                  <a:srgbClr val="2E2E2E"/>
                </a:solidFill>
                <a:latin typeface="Calibri"/>
              </a:rPr>
              <a:t>▪ Flat Dividers &amp; Layer Pads: 'Multicell Packaging Inc.' leads at ~</a:t>
            </a:r>
          </a:p>
        </p:txBody>
      </p:sp>
      <p:pic>
        <p:nvPicPr>
          <p:cNvPr id="29" name="Picture 28" descr="lock.png"/>
          <p:cNvPicPr>
            <a:picLocks noChangeAspect="1"/>
          </p:cNvPicPr>
          <p:nvPr/>
        </p:nvPicPr>
        <p:blipFill>
          <a:blip r:embed="rId7"/>
          <a:stretch>
            <a:fillRect/>
          </a:stretch>
        </p:blipFill>
        <p:spPr>
          <a:xfrm>
            <a:off x="3882744" y="5012560"/>
            <a:ext cx="128699" cy="187198"/>
          </a:xfrm>
          <a:prstGeom prst="rect">
            <a:avLst/>
          </a:prstGeom>
        </p:spPr>
      </p:pic>
      <p:sp>
        <p:nvSpPr>
          <p:cNvPr id="30" name="TextBox 29"/>
          <p:cNvSpPr txBox="1"/>
          <p:nvPr/>
        </p:nvSpPr>
        <p:spPr>
          <a:xfrm>
            <a:off x="4050240" y="5022340"/>
            <a:ext cx="1649189" cy="186689"/>
          </a:xfrm>
          <a:prstGeom prst="rect">
            <a:avLst/>
          </a:prstGeom>
          <a:noFill/>
        </p:spPr>
        <p:txBody>
          <a:bodyPr wrap="none" lIns="0" rIns="0" tIns="0" bIns="0">
            <a:spAutoFit/>
          </a:bodyPr>
          <a:lstStyle/>
          <a:p>
            <a:r>
              <a:rPr sz="1100" b="0">
                <a:solidFill>
                  <a:srgbClr val="2E2E2E"/>
                </a:solidFill>
                <a:latin typeface="Calibri"/>
              </a:rPr>
              <a:t>, ahead of 'Interpack Inc.' (~</a:t>
            </a:r>
          </a:p>
        </p:txBody>
      </p:sp>
      <p:pic>
        <p:nvPicPr>
          <p:cNvPr id="31" name="Picture 30" descr="lock.png"/>
          <p:cNvPicPr>
            <a:picLocks noChangeAspect="1"/>
          </p:cNvPicPr>
          <p:nvPr/>
        </p:nvPicPr>
        <p:blipFill>
          <a:blip r:embed="rId7"/>
          <a:stretch>
            <a:fillRect/>
          </a:stretch>
        </p:blipFill>
        <p:spPr>
          <a:xfrm>
            <a:off x="5647481" y="5012560"/>
            <a:ext cx="128699" cy="187198"/>
          </a:xfrm>
          <a:prstGeom prst="rect">
            <a:avLst/>
          </a:prstGeom>
        </p:spPr>
      </p:pic>
      <p:sp>
        <p:nvSpPr>
          <p:cNvPr id="32" name="TextBox 31"/>
          <p:cNvSpPr txBox="1"/>
          <p:nvPr/>
        </p:nvSpPr>
        <p:spPr>
          <a:xfrm>
            <a:off x="5814977" y="5022340"/>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7091617" y="5012560"/>
            <a:ext cx="128699" cy="187198"/>
          </a:xfrm>
          <a:prstGeom prst="rect">
            <a:avLst/>
          </a:prstGeom>
        </p:spPr>
      </p:pic>
      <p:sp>
        <p:nvSpPr>
          <p:cNvPr id="34" name="TextBox 33"/>
          <p:cNvSpPr txBox="1"/>
          <p:nvPr/>
        </p:nvSpPr>
        <p:spPr>
          <a:xfrm>
            <a:off x="7259113" y="5022340"/>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746940" y="5012560"/>
            <a:ext cx="128699" cy="187198"/>
          </a:xfrm>
          <a:prstGeom prst="rect">
            <a:avLst/>
          </a:prstGeom>
        </p:spPr>
      </p:pic>
      <p:sp>
        <p:nvSpPr>
          <p:cNvPr id="36" name="TextBox 35"/>
          <p:cNvSpPr txBox="1"/>
          <p:nvPr/>
        </p:nvSpPr>
        <p:spPr>
          <a:xfrm>
            <a:off x="8914436" y="502234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7" name="TextBox 36"/>
          <p:cNvSpPr txBox="1"/>
          <p:nvPr/>
        </p:nvSpPr>
        <p:spPr>
          <a:xfrm>
            <a:off x="276225" y="5240272"/>
            <a:ext cx="5586407" cy="186689"/>
          </a:xfrm>
          <a:prstGeom prst="rect">
            <a:avLst/>
          </a:prstGeom>
          <a:noFill/>
        </p:spPr>
        <p:txBody>
          <a:bodyPr wrap="none" lIns="0" rIns="0" tIns="0" bIns="0">
            <a:spAutoFit/>
          </a:bodyPr>
          <a:lstStyle/>
          <a:p>
            <a:r>
              <a:rPr sz="1100" b="0">
                <a:solidFill>
                  <a:srgbClr val="2E2E2E"/>
                </a:solidFill>
                <a:latin typeface="Calibri"/>
              </a:rPr>
              <a:t>▪ Die-Cut &amp; Folded Partitions (H-dividers, tube/cell inserts): 'Great American Paper Inc.' leads at ~</a:t>
            </a:r>
          </a:p>
        </p:txBody>
      </p:sp>
      <p:pic>
        <p:nvPicPr>
          <p:cNvPr id="38" name="Picture 37" descr="lock.png"/>
          <p:cNvPicPr>
            <a:picLocks noChangeAspect="1"/>
          </p:cNvPicPr>
          <p:nvPr/>
        </p:nvPicPr>
        <p:blipFill>
          <a:blip r:embed="rId7"/>
          <a:stretch>
            <a:fillRect/>
          </a:stretch>
        </p:blipFill>
        <p:spPr>
          <a:xfrm>
            <a:off x="5810684" y="5230492"/>
            <a:ext cx="128699" cy="187198"/>
          </a:xfrm>
          <a:prstGeom prst="rect">
            <a:avLst/>
          </a:prstGeom>
        </p:spPr>
      </p:pic>
      <p:sp>
        <p:nvSpPr>
          <p:cNvPr id="39" name="TextBox 38"/>
          <p:cNvSpPr txBox="1"/>
          <p:nvPr/>
        </p:nvSpPr>
        <p:spPr>
          <a:xfrm>
            <a:off x="5978179" y="5240272"/>
            <a:ext cx="1414264" cy="186689"/>
          </a:xfrm>
          <a:prstGeom prst="rect">
            <a:avLst/>
          </a:prstGeom>
          <a:noFill/>
        </p:spPr>
        <p:txBody>
          <a:bodyPr wrap="none" lIns="0" rIns="0" tIns="0" bIns="0">
            <a:spAutoFit/>
          </a:bodyPr>
          <a:lstStyle/>
          <a:p>
            <a:r>
              <a:rPr sz="1100" b="0">
                <a:solidFill>
                  <a:srgbClr val="2E2E2E"/>
                </a:solidFill>
                <a:latin typeface="Calibri"/>
              </a:rPr>
              <a:t>, ahead of 'Company' (~</a:t>
            </a:r>
          </a:p>
        </p:txBody>
      </p:sp>
      <p:pic>
        <p:nvPicPr>
          <p:cNvPr id="40" name="Picture 39" descr="lock.png"/>
          <p:cNvPicPr>
            <a:picLocks noChangeAspect="1"/>
          </p:cNvPicPr>
          <p:nvPr/>
        </p:nvPicPr>
        <p:blipFill>
          <a:blip r:embed="rId7"/>
          <a:stretch>
            <a:fillRect/>
          </a:stretch>
        </p:blipFill>
        <p:spPr>
          <a:xfrm>
            <a:off x="7340495" y="5230492"/>
            <a:ext cx="128699" cy="187198"/>
          </a:xfrm>
          <a:prstGeom prst="rect">
            <a:avLst/>
          </a:prstGeom>
        </p:spPr>
      </p:pic>
      <p:sp>
        <p:nvSpPr>
          <p:cNvPr id="41" name="TextBox 40"/>
          <p:cNvSpPr txBox="1"/>
          <p:nvPr/>
        </p:nvSpPr>
        <p:spPr>
          <a:xfrm>
            <a:off x="7507991" y="5240272"/>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8784631" y="5230492"/>
            <a:ext cx="128699" cy="187198"/>
          </a:xfrm>
          <a:prstGeom prst="rect">
            <a:avLst/>
          </a:prstGeom>
        </p:spPr>
      </p:pic>
      <p:sp>
        <p:nvSpPr>
          <p:cNvPr id="43" name="TextBox 42"/>
          <p:cNvSpPr txBox="1"/>
          <p:nvPr/>
        </p:nvSpPr>
        <p:spPr>
          <a:xfrm>
            <a:off x="8952127" y="5240272"/>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10439954" y="5230492"/>
            <a:ext cx="128699" cy="187198"/>
          </a:xfrm>
          <a:prstGeom prst="rect">
            <a:avLst/>
          </a:prstGeom>
        </p:spPr>
      </p:pic>
      <p:sp>
        <p:nvSpPr>
          <p:cNvPr id="45" name="TextBox 44"/>
          <p:cNvSpPr txBox="1"/>
          <p:nvPr/>
        </p:nvSpPr>
        <p:spPr>
          <a:xfrm>
            <a:off x="10607450" y="524027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276225" y="5458204"/>
            <a:ext cx="4243189" cy="186689"/>
          </a:xfrm>
          <a:prstGeom prst="rect">
            <a:avLst/>
          </a:prstGeom>
          <a:noFill/>
        </p:spPr>
        <p:txBody>
          <a:bodyPr wrap="none" lIns="0" rIns="0" tIns="0" bIns="0">
            <a:spAutoFit/>
          </a:bodyPr>
          <a:lstStyle/>
          <a:p>
            <a:r>
              <a:rPr sz="1100" b="0">
                <a:solidFill>
                  <a:srgbClr val="2E2E2E"/>
                </a:solidFill>
                <a:latin typeface="Calibri"/>
              </a:rPr>
              <a:t>▪ Slotted (Interlocking Grid) Partitions: 'Multicell Packaging Inc.' leads at ~</a:t>
            </a:r>
          </a:p>
        </p:txBody>
      </p:sp>
      <p:pic>
        <p:nvPicPr>
          <p:cNvPr id="47" name="Picture 46" descr="lock.png"/>
          <p:cNvPicPr>
            <a:picLocks noChangeAspect="1"/>
          </p:cNvPicPr>
          <p:nvPr/>
        </p:nvPicPr>
        <p:blipFill>
          <a:blip r:embed="rId7"/>
          <a:stretch>
            <a:fillRect/>
          </a:stretch>
        </p:blipFill>
        <p:spPr>
          <a:xfrm>
            <a:off x="4467465" y="5448424"/>
            <a:ext cx="128699" cy="187198"/>
          </a:xfrm>
          <a:prstGeom prst="rect">
            <a:avLst/>
          </a:prstGeom>
        </p:spPr>
      </p:pic>
      <p:sp>
        <p:nvSpPr>
          <p:cNvPr id="48" name="TextBox 47"/>
          <p:cNvSpPr txBox="1"/>
          <p:nvPr/>
        </p:nvSpPr>
        <p:spPr>
          <a:xfrm>
            <a:off x="4634961" y="5458204"/>
            <a:ext cx="1414264" cy="186689"/>
          </a:xfrm>
          <a:prstGeom prst="rect">
            <a:avLst/>
          </a:prstGeom>
          <a:noFill/>
        </p:spPr>
        <p:txBody>
          <a:bodyPr wrap="none" lIns="0" rIns="0" tIns="0" bIns="0">
            <a:spAutoFit/>
          </a:bodyPr>
          <a:lstStyle/>
          <a:p>
            <a:r>
              <a:rPr sz="1100" b="0">
                <a:solidFill>
                  <a:srgbClr val="2E2E2E"/>
                </a:solidFill>
                <a:latin typeface="Calibri"/>
              </a:rPr>
              <a:t>, ahead of 'Company' (~</a:t>
            </a:r>
          </a:p>
        </p:txBody>
      </p:sp>
      <p:pic>
        <p:nvPicPr>
          <p:cNvPr id="49" name="Picture 48" descr="lock.png"/>
          <p:cNvPicPr>
            <a:picLocks noChangeAspect="1"/>
          </p:cNvPicPr>
          <p:nvPr/>
        </p:nvPicPr>
        <p:blipFill>
          <a:blip r:embed="rId7"/>
          <a:stretch>
            <a:fillRect/>
          </a:stretch>
        </p:blipFill>
        <p:spPr>
          <a:xfrm>
            <a:off x="5997277" y="5448424"/>
            <a:ext cx="128699" cy="187198"/>
          </a:xfrm>
          <a:prstGeom prst="rect">
            <a:avLst/>
          </a:prstGeom>
        </p:spPr>
      </p:pic>
      <p:sp>
        <p:nvSpPr>
          <p:cNvPr id="50" name="TextBox 49"/>
          <p:cNvSpPr txBox="1"/>
          <p:nvPr/>
        </p:nvSpPr>
        <p:spPr>
          <a:xfrm>
            <a:off x="6164772" y="5458204"/>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7441413" y="5448424"/>
            <a:ext cx="128699" cy="187198"/>
          </a:xfrm>
          <a:prstGeom prst="rect">
            <a:avLst/>
          </a:prstGeom>
        </p:spPr>
      </p:pic>
      <p:sp>
        <p:nvSpPr>
          <p:cNvPr id="52" name="TextBox 51"/>
          <p:cNvSpPr txBox="1"/>
          <p:nvPr/>
        </p:nvSpPr>
        <p:spPr>
          <a:xfrm>
            <a:off x="7608909" y="5458204"/>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9096736" y="5448424"/>
            <a:ext cx="128699" cy="187198"/>
          </a:xfrm>
          <a:prstGeom prst="rect">
            <a:avLst/>
          </a:prstGeom>
        </p:spPr>
      </p:pic>
      <p:sp>
        <p:nvSpPr>
          <p:cNvPr id="54" name="TextBox 53"/>
          <p:cNvSpPr txBox="1"/>
          <p:nvPr/>
        </p:nvSpPr>
        <p:spPr>
          <a:xfrm>
            <a:off x="9264232" y="545820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55" name="TextBox 54"/>
          <p:cNvSpPr txBox="1"/>
          <p:nvPr/>
        </p:nvSpPr>
        <p:spPr>
          <a:xfrm>
            <a:off x="276225" y="5676136"/>
            <a:ext cx="8524502" cy="186689"/>
          </a:xfrm>
          <a:prstGeom prst="rect">
            <a:avLst/>
          </a:prstGeom>
          <a:noFill/>
        </p:spPr>
        <p:txBody>
          <a:bodyPr wrap="none" lIns="0" rIns="0" tIns="0" bIns="0">
            <a:spAutoFit/>
          </a:bodyPr>
          <a:lstStyle/>
          <a:p>
            <a:r>
              <a:rPr sz="1100" b="0">
                <a:solidFill>
                  <a:srgbClr val="2E2E2E"/>
                </a:solidFill>
                <a:latin typeface="Calibri"/>
              </a:rPr>
              <a:t>▪ Leadership shifts across formulations a strong position in one product type does not carry over to the others, so product-level targeting is essential.</a:t>
            </a:r>
          </a:p>
        </p:txBody>
      </p:sp>
      <p:sp>
        <p:nvSpPr>
          <p:cNvPr id="56" name="TextBox 55"/>
          <p:cNvSpPr txBox="1"/>
          <p:nvPr/>
        </p:nvSpPr>
        <p:spPr>
          <a:xfrm>
            <a:off x="276225" y="5894068"/>
            <a:ext cx="6908403" cy="186689"/>
          </a:xfrm>
          <a:prstGeom prst="rect">
            <a:avLst/>
          </a:prstGeom>
          <a:noFill/>
        </p:spPr>
        <p:txBody>
          <a:bodyPr wrap="none" lIns="0" rIns="0" tIns="0" bIns="0">
            <a:spAutoFit/>
          </a:bodyPr>
          <a:lstStyle/>
          <a:p>
            <a:r>
              <a:rPr sz="110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756520"/>
            <a:ext cx="3638550" cy="269830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3160365" cy="194310"/>
          </a:xfrm>
          <a:prstGeom prst="rect">
            <a:avLst/>
          </a:prstGeom>
          <a:noFill/>
        </p:spPr>
        <p:txBody>
          <a:bodyPr wrap="none" lIns="0" rIns="0" tIns="0" bIns="0">
            <a:spAutoFit/>
          </a:bodyPr>
          <a:lstStyle/>
          <a:p>
            <a:r>
              <a:rPr sz="1150" b="0">
                <a:solidFill>
                  <a:srgbClr val="2E2E2E"/>
                </a:solidFill>
                <a:latin typeface="Calibri"/>
              </a:rPr>
              <a:t>▪ North America: 'Multicell Packaging Inc.' leads at ~</a:t>
            </a:r>
          </a:p>
        </p:txBody>
      </p:sp>
      <p:pic>
        <p:nvPicPr>
          <p:cNvPr id="29" name="Picture 28" descr="lock.png"/>
          <p:cNvPicPr>
            <a:picLocks noChangeAspect="1"/>
          </p:cNvPicPr>
          <p:nvPr/>
        </p:nvPicPr>
        <p:blipFill>
          <a:blip r:embed="rId7"/>
          <a:stretch>
            <a:fillRect/>
          </a:stretch>
        </p:blipFill>
        <p:spPr>
          <a:xfrm>
            <a:off x="3385744" y="5012116"/>
            <a:ext cx="134549" cy="195707"/>
          </a:xfrm>
          <a:prstGeom prst="rect">
            <a:avLst/>
          </a:prstGeom>
        </p:spPr>
      </p:pic>
      <p:sp>
        <p:nvSpPr>
          <p:cNvPr id="30" name="TextBox 29"/>
          <p:cNvSpPr txBox="1"/>
          <p:nvPr/>
        </p:nvSpPr>
        <p:spPr>
          <a:xfrm>
            <a:off x="3560853" y="5022340"/>
            <a:ext cx="1475085" cy="194310"/>
          </a:xfrm>
          <a:prstGeom prst="rect">
            <a:avLst/>
          </a:prstGeom>
          <a:noFill/>
        </p:spPr>
        <p:txBody>
          <a:bodyPr wrap="none" lIns="0" rIns="0" tIns="0" bIns="0">
            <a:spAutoFit/>
          </a:bodyPr>
          <a:lstStyle/>
          <a:p>
            <a:r>
              <a:rPr sz="1150" b="0">
                <a:solidFill>
                  <a:srgbClr val="2E2E2E"/>
                </a:solidFill>
                <a:latin typeface="Calibri"/>
              </a:rPr>
              <a:t>, ahead of 'Company' (~</a:t>
            </a:r>
          </a:p>
        </p:txBody>
      </p:sp>
      <p:pic>
        <p:nvPicPr>
          <p:cNvPr id="31" name="Picture 30" descr="lock.png"/>
          <p:cNvPicPr>
            <a:picLocks noChangeAspect="1"/>
          </p:cNvPicPr>
          <p:nvPr/>
        </p:nvPicPr>
        <p:blipFill>
          <a:blip r:embed="rId7"/>
          <a:stretch>
            <a:fillRect/>
          </a:stretch>
        </p:blipFill>
        <p:spPr>
          <a:xfrm>
            <a:off x="4985092" y="5012116"/>
            <a:ext cx="134549" cy="195707"/>
          </a:xfrm>
          <a:prstGeom prst="rect">
            <a:avLst/>
          </a:prstGeom>
        </p:spPr>
      </p:pic>
      <p:sp>
        <p:nvSpPr>
          <p:cNvPr id="32" name="TextBox 31"/>
          <p:cNvSpPr txBox="1"/>
          <p:nvPr/>
        </p:nvSpPr>
        <p:spPr>
          <a:xfrm>
            <a:off x="5160201"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494871" y="5012116"/>
            <a:ext cx="134549" cy="195707"/>
          </a:xfrm>
          <a:prstGeom prst="rect">
            <a:avLst/>
          </a:prstGeom>
        </p:spPr>
      </p:pic>
      <p:sp>
        <p:nvSpPr>
          <p:cNvPr id="34" name="TextBox 33"/>
          <p:cNvSpPr txBox="1"/>
          <p:nvPr/>
        </p:nvSpPr>
        <p:spPr>
          <a:xfrm>
            <a:off x="6669980"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225436" y="5012116"/>
            <a:ext cx="134549" cy="195707"/>
          </a:xfrm>
          <a:prstGeom prst="rect">
            <a:avLst/>
          </a:prstGeom>
        </p:spPr>
      </p:pic>
      <p:sp>
        <p:nvSpPr>
          <p:cNvPr id="36" name="TextBox 35"/>
          <p:cNvSpPr txBox="1"/>
          <p:nvPr/>
        </p:nvSpPr>
        <p:spPr>
          <a:xfrm>
            <a:off x="8400545"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7" name="TextBox 36"/>
          <p:cNvSpPr txBox="1"/>
          <p:nvPr/>
        </p:nvSpPr>
        <p:spPr>
          <a:xfrm>
            <a:off x="276225" y="5250177"/>
            <a:ext cx="2714228" cy="194310"/>
          </a:xfrm>
          <a:prstGeom prst="rect">
            <a:avLst/>
          </a:prstGeom>
          <a:noFill/>
        </p:spPr>
        <p:txBody>
          <a:bodyPr wrap="none" lIns="0" rIns="0" tIns="0" bIns="0">
            <a:spAutoFit/>
          </a:bodyPr>
          <a:lstStyle/>
          <a:p>
            <a:r>
              <a:rPr sz="1150" b="0">
                <a:solidFill>
                  <a:srgbClr val="2E2E2E"/>
                </a:solidFill>
                <a:latin typeface="Calibri"/>
              </a:rPr>
              <a:t>▪ Europe: 'Multicell Packaging Inc.' leads at ~</a:t>
            </a:r>
          </a:p>
        </p:txBody>
      </p:sp>
      <p:pic>
        <p:nvPicPr>
          <p:cNvPr id="38" name="Picture 37" descr="lock.png"/>
          <p:cNvPicPr>
            <a:picLocks noChangeAspect="1"/>
          </p:cNvPicPr>
          <p:nvPr/>
        </p:nvPicPr>
        <p:blipFill>
          <a:blip r:embed="rId7"/>
          <a:stretch>
            <a:fillRect/>
          </a:stretch>
        </p:blipFill>
        <p:spPr>
          <a:xfrm>
            <a:off x="2939607" y="5239954"/>
            <a:ext cx="134549" cy="195707"/>
          </a:xfrm>
          <a:prstGeom prst="rect">
            <a:avLst/>
          </a:prstGeom>
        </p:spPr>
      </p:pic>
      <p:sp>
        <p:nvSpPr>
          <p:cNvPr id="39" name="TextBox 38"/>
          <p:cNvSpPr txBox="1"/>
          <p:nvPr/>
        </p:nvSpPr>
        <p:spPr>
          <a:xfrm>
            <a:off x="3114716" y="5250177"/>
            <a:ext cx="1720688" cy="194310"/>
          </a:xfrm>
          <a:prstGeom prst="rect">
            <a:avLst/>
          </a:prstGeom>
          <a:noFill/>
        </p:spPr>
        <p:txBody>
          <a:bodyPr wrap="none" lIns="0" rIns="0" tIns="0" bIns="0">
            <a:spAutoFit/>
          </a:bodyPr>
          <a:lstStyle/>
          <a:p>
            <a:r>
              <a:rPr sz="1150" b="0">
                <a:solidFill>
                  <a:srgbClr val="2E2E2E"/>
                </a:solidFill>
                <a:latin typeface="Calibri"/>
              </a:rPr>
              <a:t>, ahead of 'Interpack Inc.' (~</a:t>
            </a:r>
          </a:p>
        </p:txBody>
      </p:sp>
      <p:pic>
        <p:nvPicPr>
          <p:cNvPr id="40" name="Picture 39" descr="lock.png"/>
          <p:cNvPicPr>
            <a:picLocks noChangeAspect="1"/>
          </p:cNvPicPr>
          <p:nvPr/>
        </p:nvPicPr>
        <p:blipFill>
          <a:blip r:embed="rId7"/>
          <a:stretch>
            <a:fillRect/>
          </a:stretch>
        </p:blipFill>
        <p:spPr>
          <a:xfrm>
            <a:off x="4784559" y="5239954"/>
            <a:ext cx="134549" cy="195707"/>
          </a:xfrm>
          <a:prstGeom prst="rect">
            <a:avLst/>
          </a:prstGeom>
        </p:spPr>
      </p:pic>
      <p:sp>
        <p:nvSpPr>
          <p:cNvPr id="41" name="TextBox 40"/>
          <p:cNvSpPr txBox="1"/>
          <p:nvPr/>
        </p:nvSpPr>
        <p:spPr>
          <a:xfrm>
            <a:off x="4959668"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6294337" y="5239954"/>
            <a:ext cx="134549" cy="195707"/>
          </a:xfrm>
          <a:prstGeom prst="rect">
            <a:avLst/>
          </a:prstGeom>
        </p:spPr>
      </p:pic>
      <p:sp>
        <p:nvSpPr>
          <p:cNvPr id="43" name="TextBox 42"/>
          <p:cNvSpPr txBox="1"/>
          <p:nvPr/>
        </p:nvSpPr>
        <p:spPr>
          <a:xfrm>
            <a:off x="6469446"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8024902" y="5239954"/>
            <a:ext cx="134549" cy="195707"/>
          </a:xfrm>
          <a:prstGeom prst="rect">
            <a:avLst/>
          </a:prstGeom>
        </p:spPr>
      </p:pic>
      <p:sp>
        <p:nvSpPr>
          <p:cNvPr id="45" name="TextBox 44"/>
          <p:cNvSpPr txBox="1"/>
          <p:nvPr/>
        </p:nvSpPr>
        <p:spPr>
          <a:xfrm>
            <a:off x="8200012"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478015"/>
            <a:ext cx="3629607" cy="194310"/>
          </a:xfrm>
          <a:prstGeom prst="rect">
            <a:avLst/>
          </a:prstGeom>
          <a:noFill/>
        </p:spPr>
        <p:txBody>
          <a:bodyPr wrap="none" lIns="0" rIns="0" tIns="0" bIns="0">
            <a:spAutoFit/>
          </a:bodyPr>
          <a:lstStyle/>
          <a:p>
            <a:r>
              <a:rPr sz="1150" b="0">
                <a:solidFill>
                  <a:srgbClr val="2E2E2E"/>
                </a:solidFill>
                <a:latin typeface="Calibri"/>
              </a:rPr>
              <a:t>▪ South Asia &amp; Pacific: 'Great American Paper Inc.' leads at ~</a:t>
            </a:r>
          </a:p>
        </p:txBody>
      </p:sp>
      <p:pic>
        <p:nvPicPr>
          <p:cNvPr id="47" name="Picture 46" descr="lock.png"/>
          <p:cNvPicPr>
            <a:picLocks noChangeAspect="1"/>
          </p:cNvPicPr>
          <p:nvPr/>
        </p:nvPicPr>
        <p:blipFill>
          <a:blip r:embed="rId7"/>
          <a:stretch>
            <a:fillRect/>
          </a:stretch>
        </p:blipFill>
        <p:spPr>
          <a:xfrm>
            <a:off x="3854986" y="5467792"/>
            <a:ext cx="134549" cy="195707"/>
          </a:xfrm>
          <a:prstGeom prst="rect">
            <a:avLst/>
          </a:prstGeom>
        </p:spPr>
      </p:pic>
      <p:sp>
        <p:nvSpPr>
          <p:cNvPr id="48" name="TextBox 47"/>
          <p:cNvSpPr txBox="1"/>
          <p:nvPr/>
        </p:nvSpPr>
        <p:spPr>
          <a:xfrm>
            <a:off x="4030096" y="5478015"/>
            <a:ext cx="1475085" cy="194310"/>
          </a:xfrm>
          <a:prstGeom prst="rect">
            <a:avLst/>
          </a:prstGeom>
          <a:noFill/>
        </p:spPr>
        <p:txBody>
          <a:bodyPr wrap="none" lIns="0" rIns="0" tIns="0" bIns="0">
            <a:spAutoFit/>
          </a:bodyPr>
          <a:lstStyle/>
          <a:p>
            <a:r>
              <a:rPr sz="1150" b="0">
                <a:solidFill>
                  <a:srgbClr val="2E2E2E"/>
                </a:solidFill>
                <a:latin typeface="Calibri"/>
              </a:rPr>
              <a:t>, ahead of 'Company' (~</a:t>
            </a:r>
          </a:p>
        </p:txBody>
      </p:sp>
      <p:pic>
        <p:nvPicPr>
          <p:cNvPr id="49" name="Picture 48" descr="lock.png"/>
          <p:cNvPicPr>
            <a:picLocks noChangeAspect="1"/>
          </p:cNvPicPr>
          <p:nvPr/>
        </p:nvPicPr>
        <p:blipFill>
          <a:blip r:embed="rId7"/>
          <a:stretch>
            <a:fillRect/>
          </a:stretch>
        </p:blipFill>
        <p:spPr>
          <a:xfrm>
            <a:off x="5454335" y="5467792"/>
            <a:ext cx="134549" cy="195707"/>
          </a:xfrm>
          <a:prstGeom prst="rect">
            <a:avLst/>
          </a:prstGeom>
        </p:spPr>
      </p:pic>
      <p:sp>
        <p:nvSpPr>
          <p:cNvPr id="50" name="TextBox 49"/>
          <p:cNvSpPr txBox="1"/>
          <p:nvPr/>
        </p:nvSpPr>
        <p:spPr>
          <a:xfrm>
            <a:off x="5629444" y="5478015"/>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6964113" y="5467792"/>
            <a:ext cx="134549" cy="195707"/>
          </a:xfrm>
          <a:prstGeom prst="rect">
            <a:avLst/>
          </a:prstGeom>
        </p:spPr>
      </p:pic>
      <p:sp>
        <p:nvSpPr>
          <p:cNvPr id="52" name="TextBox 51"/>
          <p:cNvSpPr txBox="1"/>
          <p:nvPr/>
        </p:nvSpPr>
        <p:spPr>
          <a:xfrm>
            <a:off x="7139223" y="5478015"/>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8694679" y="5467792"/>
            <a:ext cx="134549" cy="195707"/>
          </a:xfrm>
          <a:prstGeom prst="rect">
            <a:avLst/>
          </a:prstGeom>
        </p:spPr>
      </p:pic>
      <p:sp>
        <p:nvSpPr>
          <p:cNvPr id="54" name="TextBox 53"/>
          <p:cNvSpPr txBox="1"/>
          <p:nvPr/>
        </p:nvSpPr>
        <p:spPr>
          <a:xfrm>
            <a:off x="8869788" y="547801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276225" y="5705853"/>
            <a:ext cx="9705801" cy="194310"/>
          </a:xfrm>
          <a:prstGeom prst="rect">
            <a:avLst/>
          </a:prstGeom>
          <a:noFill/>
        </p:spPr>
        <p:txBody>
          <a:bodyPr wrap="none" lIns="0" rIns="0" tIns="0" bIns="0">
            <a:spAutoFit/>
          </a:bodyPr>
          <a:lstStyle/>
          <a:p>
            <a:r>
              <a:rPr sz="1150" b="0">
                <a:solidFill>
                  <a:srgbClr val="2E2E2E"/>
                </a:solidFill>
                <a:latin typeface="Calibri"/>
              </a:rPr>
              <a:t>▪ Leadership is not uniform across geographies a strong position in one region does not carry over to the others, so region-level go-to-market planning is essential.</a:t>
            </a:r>
          </a:p>
        </p:txBody>
      </p:sp>
      <p:sp>
        <p:nvSpPr>
          <p:cNvPr id="56" name="TextBox 55"/>
          <p:cNvSpPr txBox="1"/>
          <p:nvPr/>
        </p:nvSpPr>
        <p:spPr>
          <a:xfrm>
            <a:off x="276225" y="5933691"/>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Corrugated Partition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Corrugated Partition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Multicell Packaging Inc.</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Great American Paper Inc.</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Interpack Inc.</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Caps Cases Ltd.</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Multicell Packaging Inc.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Multicell Packaging Inc.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Multicell Packaging Inc.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Multicell Packaging Inc.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Multicell Packaging Inc.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Multicell Packaging Inc.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Multicell Packaging Inc.: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210462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6086073" y="3299104"/>
            <a:ext cx="197242" cy="286897"/>
          </a:xfrm>
          <a:prstGeom prst="rect">
            <a:avLst/>
          </a:prstGeom>
        </p:spPr>
      </p:pic>
      <p:pic>
        <p:nvPicPr>
          <p:cNvPr id="36" name="Picture 35" descr="lock.png"/>
          <p:cNvPicPr>
            <a:picLocks noChangeAspect="1"/>
          </p:cNvPicPr>
          <p:nvPr/>
        </p:nvPicPr>
        <p:blipFill>
          <a:blip r:embed="rId7"/>
          <a:stretch>
            <a:fillRect/>
          </a:stretch>
        </p:blipFill>
        <p:spPr>
          <a:xfrm>
            <a:off x="9278088" y="3145920"/>
            <a:ext cx="444576" cy="646656"/>
          </a:xfrm>
          <a:prstGeom prst="rect">
            <a:avLst/>
          </a:prstGeom>
        </p:spPr>
      </p:pic>
      <p:sp>
        <p:nvSpPr>
          <p:cNvPr id="37" name="TextBox 36"/>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8" name="Picture 37" descr="lock.png"/>
          <p:cNvPicPr>
            <a:picLocks noChangeAspect="1"/>
          </p:cNvPicPr>
          <p:nvPr/>
        </p:nvPicPr>
        <p:blipFill>
          <a:blip r:embed="rId7"/>
          <a:stretch>
            <a:fillRect/>
          </a:stretch>
        </p:blipFill>
        <p:spPr>
          <a:xfrm>
            <a:off x="6017010" y="1533061"/>
            <a:ext cx="133378" cy="194005"/>
          </a:xfrm>
          <a:prstGeom prst="rect">
            <a:avLst/>
          </a:prstGeom>
        </p:spPr>
      </p:pic>
      <p:pic>
        <p:nvPicPr>
          <p:cNvPr id="39" name="Picture 38" descr="lock.png"/>
          <p:cNvPicPr>
            <a:picLocks noChangeAspect="1"/>
          </p:cNvPicPr>
          <p:nvPr/>
        </p:nvPicPr>
        <p:blipFill>
          <a:blip r:embed="rId7"/>
          <a:stretch>
            <a:fillRect/>
          </a:stretch>
        </p:blipFill>
        <p:spPr>
          <a:xfrm>
            <a:off x="5865805" y="1761621"/>
            <a:ext cx="97811" cy="142270"/>
          </a:xfrm>
          <a:prstGeom prst="rect">
            <a:avLst/>
          </a:prstGeom>
        </p:spPr>
      </p:pic>
      <p:sp>
        <p:nvSpPr>
          <p:cNvPr id="40" name="TextBox 39"/>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1" name="TextBox 40"/>
          <p:cNvSpPr txBox="1"/>
          <p:nvPr/>
        </p:nvSpPr>
        <p:spPr>
          <a:xfrm>
            <a:off x="276225" y="5204877"/>
            <a:ext cx="3224262" cy="194310"/>
          </a:xfrm>
          <a:prstGeom prst="rect">
            <a:avLst/>
          </a:prstGeom>
          <a:noFill/>
        </p:spPr>
        <p:txBody>
          <a:bodyPr wrap="none" lIns="0" rIns="0" tIns="0" bIns="0">
            <a:spAutoFit/>
          </a:bodyPr>
          <a:lstStyle/>
          <a:p>
            <a:r>
              <a:rPr sz="1150" b="0">
                <a:solidFill>
                  <a:srgbClr val="2E2E2E"/>
                </a:solidFill>
                <a:latin typeface="Calibri"/>
              </a:rPr>
              <a:t>▪ Market Position: Multicell Packaging Inc. captures ~</a:t>
            </a:r>
          </a:p>
        </p:txBody>
      </p:sp>
      <p:pic>
        <p:nvPicPr>
          <p:cNvPr id="42" name="Picture 41" descr="lock.png"/>
          <p:cNvPicPr>
            <a:picLocks noChangeAspect="1"/>
          </p:cNvPicPr>
          <p:nvPr/>
        </p:nvPicPr>
        <p:blipFill>
          <a:blip r:embed="rId7"/>
          <a:stretch>
            <a:fillRect/>
          </a:stretch>
        </p:blipFill>
        <p:spPr>
          <a:xfrm>
            <a:off x="3449641" y="5194653"/>
            <a:ext cx="134549" cy="195707"/>
          </a:xfrm>
          <a:prstGeom prst="rect">
            <a:avLst/>
          </a:prstGeom>
        </p:spPr>
      </p:pic>
      <p:sp>
        <p:nvSpPr>
          <p:cNvPr id="43" name="TextBox 42"/>
          <p:cNvSpPr txBox="1"/>
          <p:nvPr/>
        </p:nvSpPr>
        <p:spPr>
          <a:xfrm>
            <a:off x="3624750" y="5204877"/>
            <a:ext cx="4569519"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'Electronics &amp; Electrical'.</a:t>
            </a:r>
          </a:p>
        </p:txBody>
      </p:sp>
      <p:sp>
        <p:nvSpPr>
          <p:cNvPr id="44" name="TextBox 43"/>
          <p:cNvSpPr txBox="1"/>
          <p:nvPr/>
        </p:nvSpPr>
        <p:spPr>
          <a:xfrm>
            <a:off x="276225" y="5432715"/>
            <a:ext cx="7358446" cy="194310"/>
          </a:xfrm>
          <a:prstGeom prst="rect">
            <a:avLst/>
          </a:prstGeom>
          <a:noFill/>
        </p:spPr>
        <p:txBody>
          <a:bodyPr wrap="none" lIns="0" rIns="0" tIns="0" bIns="0">
            <a:spAutoFit/>
          </a:bodyPr>
          <a:lstStyle/>
          <a:p>
            <a:r>
              <a:rPr sz="1150" b="0">
                <a:solidFill>
                  <a:srgbClr val="2E2E2E"/>
                </a:solidFill>
                <a:latin typeface="Calibri"/>
              </a:rPr>
              <a:t>▪ Geographic Balance: 'North America' is the largest SOM region; 'Rest of the World' shows the highest SAM penetration (~</a:t>
            </a:r>
          </a:p>
        </p:txBody>
      </p:sp>
      <p:pic>
        <p:nvPicPr>
          <p:cNvPr id="45" name="Picture 44" descr="lock.png"/>
          <p:cNvPicPr>
            <a:picLocks noChangeAspect="1"/>
          </p:cNvPicPr>
          <p:nvPr/>
        </p:nvPicPr>
        <p:blipFill>
          <a:blip r:embed="rId7"/>
          <a:stretch>
            <a:fillRect/>
          </a:stretch>
        </p:blipFill>
        <p:spPr>
          <a:xfrm>
            <a:off x="7583825" y="5422491"/>
            <a:ext cx="134549" cy="195707"/>
          </a:xfrm>
          <a:prstGeom prst="rect">
            <a:avLst/>
          </a:prstGeom>
        </p:spPr>
      </p:pic>
      <p:sp>
        <p:nvSpPr>
          <p:cNvPr id="46" name="TextBox 45"/>
          <p:cNvSpPr txBox="1"/>
          <p:nvPr/>
        </p:nvSpPr>
        <p:spPr>
          <a:xfrm>
            <a:off x="775893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7" name="TextBox 46"/>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8" name="Picture 47" descr="lock.png"/>
          <p:cNvPicPr>
            <a:picLocks noChangeAspect="1"/>
          </p:cNvPicPr>
          <p:nvPr/>
        </p:nvPicPr>
        <p:blipFill>
          <a:blip r:embed="rId7"/>
          <a:stretch>
            <a:fillRect/>
          </a:stretch>
        </p:blipFill>
        <p:spPr>
          <a:xfrm>
            <a:off x="1617169" y="5650329"/>
            <a:ext cx="134549" cy="195707"/>
          </a:xfrm>
          <a:prstGeom prst="rect">
            <a:avLst/>
          </a:prstGeom>
        </p:spPr>
      </p:pic>
      <p:sp>
        <p:nvSpPr>
          <p:cNvPr id="49" name="TextBox 48"/>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50" name="Picture 49" descr="lock.png"/>
          <p:cNvPicPr>
            <a:picLocks noChangeAspect="1"/>
          </p:cNvPicPr>
          <p:nvPr/>
        </p:nvPicPr>
        <p:blipFill>
          <a:blip r:embed="rId7"/>
          <a:stretch>
            <a:fillRect/>
          </a:stretch>
        </p:blipFill>
        <p:spPr>
          <a:xfrm>
            <a:off x="2870505" y="5650329"/>
            <a:ext cx="134549" cy="195707"/>
          </a:xfrm>
          <a:prstGeom prst="rect">
            <a:avLst/>
          </a:prstGeom>
        </p:spPr>
      </p:pic>
      <p:sp>
        <p:nvSpPr>
          <p:cNvPr id="51" name="TextBox 50"/>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2" name="TextBox 51"/>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3" name="Picture 52" descr="lock.png"/>
          <p:cNvPicPr>
            <a:picLocks noChangeAspect="1"/>
          </p:cNvPicPr>
          <p:nvPr/>
        </p:nvPicPr>
        <p:blipFill>
          <a:blip r:embed="rId7"/>
          <a:stretch>
            <a:fillRect/>
          </a:stretch>
        </p:blipFill>
        <p:spPr>
          <a:xfrm>
            <a:off x="1578914" y="5878167"/>
            <a:ext cx="134549" cy="195707"/>
          </a:xfrm>
          <a:prstGeom prst="rect">
            <a:avLst/>
          </a:prstGeom>
        </p:spPr>
      </p:pic>
      <p:sp>
        <p:nvSpPr>
          <p:cNvPr id="54" name="TextBox 53"/>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5" name="Picture 54" descr="lock.png"/>
          <p:cNvPicPr>
            <a:picLocks noChangeAspect="1"/>
          </p:cNvPicPr>
          <p:nvPr/>
        </p:nvPicPr>
        <p:blipFill>
          <a:blip r:embed="rId7"/>
          <a:stretch>
            <a:fillRect/>
          </a:stretch>
        </p:blipFill>
        <p:spPr>
          <a:xfrm>
            <a:off x="2775769" y="5878167"/>
            <a:ext cx="134549" cy="195707"/>
          </a:xfrm>
          <a:prstGeom prst="rect">
            <a:avLst/>
          </a:prstGeom>
        </p:spPr>
      </p:pic>
      <p:sp>
        <p:nvSpPr>
          <p:cNvPr id="56" name="TextBox 55"/>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7" name="Picture 56" descr="lock.png"/>
          <p:cNvPicPr>
            <a:picLocks noChangeAspect="1"/>
          </p:cNvPicPr>
          <p:nvPr/>
        </p:nvPicPr>
        <p:blipFill>
          <a:blip r:embed="rId7"/>
          <a:stretch>
            <a:fillRect/>
          </a:stretch>
        </p:blipFill>
        <p:spPr>
          <a:xfrm>
            <a:off x="4037092" y="5878167"/>
            <a:ext cx="134549" cy="195707"/>
          </a:xfrm>
          <a:prstGeom prst="rect">
            <a:avLst/>
          </a:prstGeom>
        </p:spPr>
      </p:pic>
      <p:sp>
        <p:nvSpPr>
          <p:cNvPr id="58" name="TextBox 57"/>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9"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Multicell Packaging Inc.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Multicell Packaging Inc.: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Multicell Packaging Inc.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Multicell Packaging Inc.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Multicell Packaging Inc.: strengths, weaknesses, opportunities and threats shaping its competitive…</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Multicell Packaging Inc.: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'Flat Dividers &amp; Layer Pads'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Multicell Packaging Inc.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Multicell Packaging Inc.'s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Multicell Packaging Inc.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Multicell Packaging Inc.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Multicell Packaging Inc.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Multicell Packaging Inc. Pricing Analysis (US$/MT)</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080993"/>
                <a:gridCol w="874154"/>
                <a:gridCol w="874154"/>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508653">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508653">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508653">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978757" y="3853661"/>
            <a:ext cx="366712" cy="533399"/>
          </a:xfrm>
          <a:prstGeom prst="rect">
            <a:avLst/>
          </a:prstGeom>
        </p:spPr>
      </p:pic>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Multicell Packaging Inc.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Multicell Packaging Inc.'s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Multicell Packaging Inc.: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619750" cy="194310"/>
          </a:xfrm>
          <a:prstGeom prst="rect">
            <a:avLst/>
          </a:prstGeom>
          <a:noFill/>
        </p:spPr>
        <p:txBody>
          <a:bodyPr wrap="none" lIns="0" rIns="0" tIns="0" bIns="0">
            <a:spAutoFit/>
          </a:bodyPr>
          <a:lstStyle/>
          <a:p>
            <a:r>
              <a:rPr sz="1150" b="0">
                <a:solidFill>
                  <a:srgbClr val="2E2E2E"/>
                </a:solidFill>
                <a:latin typeface="Calibri"/>
              </a:rPr>
              <a:t>▪ Defend and extend leadership in 'Electronics &amp; Electrical' Multicell Packaging Inc.'s strongest</a:t>
            </a:r>
          </a:p>
        </p:txBody>
      </p:sp>
      <p:sp>
        <p:nvSpPr>
          <p:cNvPr id="31" name="TextBox 30"/>
          <p:cNvSpPr txBox="1"/>
          <p:nvPr/>
        </p:nvSpPr>
        <p:spPr>
          <a:xfrm>
            <a:off x="276225" y="2678589"/>
            <a:ext cx="3174913" cy="194310"/>
          </a:xfrm>
          <a:prstGeom prst="rect">
            <a:avLst/>
          </a:prstGeom>
          <a:noFill/>
        </p:spPr>
        <p:txBody>
          <a:bodyPr wrap="none" lIns="0" rIns="0" tIns="0" bIns="0">
            <a:spAutoFit/>
          </a:bodyPr>
          <a:lstStyle/>
          <a:p>
            <a:r>
              <a:rPr sz="1150" b="0">
                <a:solidFill>
                  <a:srgbClr val="2E2E2E"/>
                </a:solidFill>
                <a:latin typeface="Calibri"/>
              </a:rPr>
              <a:t>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04581" cy="194310"/>
          </a:xfrm>
          <a:prstGeom prst="rect">
            <a:avLst/>
          </a:prstGeom>
          <a:noFill/>
        </p:spPr>
        <p:txBody>
          <a:bodyPr wrap="none" lIns="0" rIns="0" tIns="0" bIns="0">
            <a:spAutoFit/>
          </a:bodyPr>
          <a:lstStyle/>
          <a:p>
            <a:r>
              <a:rPr sz="1150" b="0">
                <a:solidFill>
                  <a:srgbClr val="2E2E2E"/>
                </a:solidFill>
                <a:latin typeface="Calibri"/>
              </a:rPr>
              <a:t>▪ Premiumise the portfolio around 'Flat Dividers &amp; Layer Pads' and adjacent high-value lines</a:t>
            </a:r>
          </a:p>
        </p:txBody>
      </p:sp>
      <p:sp>
        <p:nvSpPr>
          <p:cNvPr id="46" name="TextBox 45"/>
          <p:cNvSpPr txBox="1"/>
          <p:nvPr/>
        </p:nvSpPr>
        <p:spPr>
          <a:xfrm>
            <a:off x="6334125" y="2678589"/>
            <a:ext cx="1387797" cy="194310"/>
          </a:xfrm>
          <a:prstGeom prst="rect">
            <a:avLst/>
          </a:prstGeom>
          <a:noFill/>
        </p:spPr>
        <p:txBody>
          <a:bodyPr wrap="none" lIns="0" rIns="0" tIns="0" bIns="0">
            <a:spAutoFit/>
          </a:bodyPr>
          <a:lstStyle/>
          <a:p>
            <a:r>
              <a:rPr sz="1150" b="0">
                <a:solidFill>
                  <a:srgbClr val="2E2E2E"/>
                </a:solidFill>
                <a:latin typeface="Calibri"/>
              </a:rPr>
              <a:t>to lift blended pricing.</a:t>
            </a:r>
          </a:p>
        </p:txBody>
      </p:sp>
      <p:sp>
        <p:nvSpPr>
          <p:cNvPr id="47" name="TextBox 46"/>
          <p:cNvSpPr txBox="1"/>
          <p:nvPr/>
        </p:nvSpPr>
        <p:spPr>
          <a:xfrm>
            <a:off x="6334125" y="2906426"/>
            <a:ext cx="5219613" cy="194310"/>
          </a:xfrm>
          <a:prstGeom prst="rect">
            <a:avLst/>
          </a:prstGeom>
          <a:noFill/>
        </p:spPr>
        <p:txBody>
          <a:bodyPr wrap="none" lIns="0" rIns="0" t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210462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6086073" y="3299104"/>
            <a:ext cx="197242" cy="286897"/>
          </a:xfrm>
          <a:prstGeom prst="rect">
            <a:avLst/>
          </a:prstGeom>
        </p:spPr>
      </p:pic>
      <p:pic>
        <p:nvPicPr>
          <p:cNvPr id="36" name="Picture 35" descr="lock.png"/>
          <p:cNvPicPr>
            <a:picLocks noChangeAspect="1"/>
          </p:cNvPicPr>
          <p:nvPr/>
        </p:nvPicPr>
        <p:blipFill>
          <a:blip r:embed="rId7"/>
          <a:stretch>
            <a:fillRect/>
          </a:stretch>
        </p:blipFill>
        <p:spPr>
          <a:xfrm>
            <a:off x="9278088" y="3145920"/>
            <a:ext cx="444576" cy="646656"/>
          </a:xfrm>
          <a:prstGeom prst="rect">
            <a:avLst/>
          </a:prstGeom>
        </p:spPr>
      </p:pic>
      <p:sp>
        <p:nvSpPr>
          <p:cNvPr id="37" name="TextBox 36"/>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8" name="Picture 37" descr="lock.png"/>
          <p:cNvPicPr>
            <a:picLocks noChangeAspect="1"/>
          </p:cNvPicPr>
          <p:nvPr/>
        </p:nvPicPr>
        <p:blipFill>
          <a:blip r:embed="rId7"/>
          <a:stretch>
            <a:fillRect/>
          </a:stretch>
        </p:blipFill>
        <p:spPr>
          <a:xfrm>
            <a:off x="6017010" y="1533061"/>
            <a:ext cx="133378" cy="194005"/>
          </a:xfrm>
          <a:prstGeom prst="rect">
            <a:avLst/>
          </a:prstGeom>
        </p:spPr>
      </p:pic>
      <p:pic>
        <p:nvPicPr>
          <p:cNvPr id="39" name="Picture 38" descr="lock.png"/>
          <p:cNvPicPr>
            <a:picLocks noChangeAspect="1"/>
          </p:cNvPicPr>
          <p:nvPr/>
        </p:nvPicPr>
        <p:blipFill>
          <a:blip r:embed="rId7"/>
          <a:stretch>
            <a:fillRect/>
          </a:stretch>
        </p:blipFill>
        <p:spPr>
          <a:xfrm>
            <a:off x="5865805" y="1761621"/>
            <a:ext cx="97811" cy="142270"/>
          </a:xfrm>
          <a:prstGeom prst="rect">
            <a:avLst/>
          </a:prstGeom>
        </p:spPr>
      </p:pic>
      <p:sp>
        <p:nvSpPr>
          <p:cNvPr id="40" name="TextBox 39"/>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1" name="TextBox 40"/>
          <p:cNvSpPr txBox="1"/>
          <p:nvPr/>
        </p:nvSpPr>
        <p:spPr>
          <a:xfrm>
            <a:off x="276225" y="5204877"/>
            <a:ext cx="2395314" cy="194310"/>
          </a:xfrm>
          <a:prstGeom prst="rect">
            <a:avLst/>
          </a:prstGeom>
          <a:noFill/>
        </p:spPr>
        <p:txBody>
          <a:bodyPr wrap="none" lIns="0" rIns="0" tIns="0" bIns="0">
            <a:spAutoFit/>
          </a:bodyPr>
          <a:lstStyle/>
          <a:p>
            <a:r>
              <a:rPr sz="1150" b="0">
                <a:solidFill>
                  <a:srgbClr val="2E2E2E"/>
                </a:solidFill>
                <a:latin typeface="Calibri"/>
              </a:rPr>
              <a:t>▪ Market Position: Company captures ~</a:t>
            </a:r>
          </a:p>
        </p:txBody>
      </p:sp>
      <p:pic>
        <p:nvPicPr>
          <p:cNvPr id="42" name="Picture 41" descr="lock.png"/>
          <p:cNvPicPr>
            <a:picLocks noChangeAspect="1"/>
          </p:cNvPicPr>
          <p:nvPr/>
        </p:nvPicPr>
        <p:blipFill>
          <a:blip r:embed="rId7"/>
          <a:stretch>
            <a:fillRect/>
          </a:stretch>
        </p:blipFill>
        <p:spPr>
          <a:xfrm>
            <a:off x="2620693" y="5194653"/>
            <a:ext cx="134549" cy="195707"/>
          </a:xfrm>
          <a:prstGeom prst="rect">
            <a:avLst/>
          </a:prstGeom>
        </p:spPr>
      </p:pic>
      <p:sp>
        <p:nvSpPr>
          <p:cNvPr id="43" name="TextBox 42"/>
          <p:cNvSpPr txBox="1"/>
          <p:nvPr/>
        </p:nvSpPr>
        <p:spPr>
          <a:xfrm>
            <a:off x="2795802" y="5204877"/>
            <a:ext cx="4569519"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'Electronics &amp; Electrical'.</a:t>
            </a:r>
          </a:p>
        </p:txBody>
      </p:sp>
      <p:sp>
        <p:nvSpPr>
          <p:cNvPr id="44" name="TextBox 43"/>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5" name="Picture 44" descr="lock.png"/>
          <p:cNvPicPr>
            <a:picLocks noChangeAspect="1"/>
          </p:cNvPicPr>
          <p:nvPr/>
        </p:nvPicPr>
        <p:blipFill>
          <a:blip r:embed="rId7"/>
          <a:stretch>
            <a:fillRect/>
          </a:stretch>
        </p:blipFill>
        <p:spPr>
          <a:xfrm>
            <a:off x="7758116" y="5422491"/>
            <a:ext cx="134549" cy="195707"/>
          </a:xfrm>
          <a:prstGeom prst="rect">
            <a:avLst/>
          </a:prstGeom>
        </p:spPr>
      </p:pic>
      <p:sp>
        <p:nvSpPr>
          <p:cNvPr id="46" name="TextBox 45"/>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7" name="TextBox 46"/>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8" name="Picture 47" descr="lock.png"/>
          <p:cNvPicPr>
            <a:picLocks noChangeAspect="1"/>
          </p:cNvPicPr>
          <p:nvPr/>
        </p:nvPicPr>
        <p:blipFill>
          <a:blip r:embed="rId7"/>
          <a:stretch>
            <a:fillRect/>
          </a:stretch>
        </p:blipFill>
        <p:spPr>
          <a:xfrm>
            <a:off x="1617169" y="5650329"/>
            <a:ext cx="134549" cy="195707"/>
          </a:xfrm>
          <a:prstGeom prst="rect">
            <a:avLst/>
          </a:prstGeom>
        </p:spPr>
      </p:pic>
      <p:sp>
        <p:nvSpPr>
          <p:cNvPr id="49" name="TextBox 48"/>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50" name="Picture 49" descr="lock.png"/>
          <p:cNvPicPr>
            <a:picLocks noChangeAspect="1"/>
          </p:cNvPicPr>
          <p:nvPr/>
        </p:nvPicPr>
        <p:blipFill>
          <a:blip r:embed="rId7"/>
          <a:stretch>
            <a:fillRect/>
          </a:stretch>
        </p:blipFill>
        <p:spPr>
          <a:xfrm>
            <a:off x="2870505" y="5650329"/>
            <a:ext cx="134549" cy="195707"/>
          </a:xfrm>
          <a:prstGeom prst="rect">
            <a:avLst/>
          </a:prstGeom>
        </p:spPr>
      </p:pic>
      <p:sp>
        <p:nvSpPr>
          <p:cNvPr id="51" name="TextBox 50"/>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2" name="TextBox 51"/>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3" name="Picture 52" descr="lock.png"/>
          <p:cNvPicPr>
            <a:picLocks noChangeAspect="1"/>
          </p:cNvPicPr>
          <p:nvPr/>
        </p:nvPicPr>
        <p:blipFill>
          <a:blip r:embed="rId7"/>
          <a:stretch>
            <a:fillRect/>
          </a:stretch>
        </p:blipFill>
        <p:spPr>
          <a:xfrm>
            <a:off x="1578914" y="5878167"/>
            <a:ext cx="134549" cy="195707"/>
          </a:xfrm>
          <a:prstGeom prst="rect">
            <a:avLst/>
          </a:prstGeom>
        </p:spPr>
      </p:pic>
      <p:sp>
        <p:nvSpPr>
          <p:cNvPr id="54" name="TextBox 53"/>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5" name="Picture 54" descr="lock.png"/>
          <p:cNvPicPr>
            <a:picLocks noChangeAspect="1"/>
          </p:cNvPicPr>
          <p:nvPr/>
        </p:nvPicPr>
        <p:blipFill>
          <a:blip r:embed="rId7"/>
          <a:stretch>
            <a:fillRect/>
          </a:stretch>
        </p:blipFill>
        <p:spPr>
          <a:xfrm>
            <a:off x="2775769" y="5878167"/>
            <a:ext cx="134549" cy="195707"/>
          </a:xfrm>
          <a:prstGeom prst="rect">
            <a:avLst/>
          </a:prstGeom>
        </p:spPr>
      </p:pic>
      <p:sp>
        <p:nvSpPr>
          <p:cNvPr id="56" name="TextBox 55"/>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7" name="Picture 56" descr="lock.png"/>
          <p:cNvPicPr>
            <a:picLocks noChangeAspect="1"/>
          </p:cNvPicPr>
          <p:nvPr/>
        </p:nvPicPr>
        <p:blipFill>
          <a:blip r:embed="rId7"/>
          <a:stretch>
            <a:fillRect/>
          </a:stretch>
        </p:blipFill>
        <p:spPr>
          <a:xfrm>
            <a:off x="4037092" y="5878167"/>
            <a:ext cx="134549" cy="195707"/>
          </a:xfrm>
          <a:prstGeom prst="rect">
            <a:avLst/>
          </a:prstGeom>
        </p:spPr>
      </p:pic>
      <p:sp>
        <p:nvSpPr>
          <p:cNvPr id="58" name="TextBox 57"/>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9"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'Flat Dividers &amp; Layer Pads'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Pricing Analysis (US$/MT)</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080993"/>
                <a:gridCol w="874154"/>
                <a:gridCol w="874154"/>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508653">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508653">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508653">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978757" y="3853661"/>
            <a:ext cx="366712" cy="533399"/>
          </a:xfrm>
          <a:prstGeom prst="rect">
            <a:avLst/>
          </a:prstGeom>
        </p:spPr>
      </p:pic>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545943" cy="194310"/>
          </a:xfrm>
          <a:prstGeom prst="rect">
            <a:avLst/>
          </a:prstGeom>
          <a:noFill/>
        </p:spPr>
        <p:txBody>
          <a:bodyPr wrap="none" lIns="0" rIns="0" tIns="0" bIns="0">
            <a:spAutoFit/>
          </a:bodyPr>
          <a:lstStyle/>
          <a:p>
            <a:r>
              <a:rPr sz="1150" b="0">
                <a:solidFill>
                  <a:srgbClr val="2E2E2E"/>
                </a:solidFill>
                <a:latin typeface="Calibri"/>
              </a:rPr>
              <a:t>▪ Defend and extend leadership in 'Electronics &amp; Electrical' Company's strongest end-market</a:t>
            </a:r>
          </a:p>
        </p:txBody>
      </p:sp>
      <p:sp>
        <p:nvSpPr>
          <p:cNvPr id="31" name="TextBox 30"/>
          <p:cNvSpPr txBox="1"/>
          <p:nvPr/>
        </p:nvSpPr>
        <p:spPr>
          <a:xfrm>
            <a:off x="276225" y="2678589"/>
            <a:ext cx="2444948" cy="194310"/>
          </a:xfrm>
          <a:prstGeom prst="rect">
            <a:avLst/>
          </a:prstGeom>
          <a:noFill/>
        </p:spPr>
        <p:txBody>
          <a:bodyPr wrap="none" lIns="0" rIns="0" tIns="0" bIns="0">
            <a:spAutoFit/>
          </a:bodyPr>
          <a:lstStyle/>
          <a:p>
            <a:r>
              <a:rPr sz="1150" b="0">
                <a:solidFill>
                  <a:srgbClr val="2E2E2E"/>
                </a:solidFill>
                <a:latin typeface="Calibri"/>
              </a:rPr>
              <a:t>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04581" cy="194310"/>
          </a:xfrm>
          <a:prstGeom prst="rect">
            <a:avLst/>
          </a:prstGeom>
          <a:noFill/>
        </p:spPr>
        <p:txBody>
          <a:bodyPr wrap="none" lIns="0" rIns="0" tIns="0" bIns="0">
            <a:spAutoFit/>
          </a:bodyPr>
          <a:lstStyle/>
          <a:p>
            <a:r>
              <a:rPr sz="1150" b="0">
                <a:solidFill>
                  <a:srgbClr val="2E2E2E"/>
                </a:solidFill>
                <a:latin typeface="Calibri"/>
              </a:rPr>
              <a:t>▪ Premiumise the portfolio around 'Flat Dividers &amp; Layer Pads' and adjacent high-value lines</a:t>
            </a:r>
          </a:p>
        </p:txBody>
      </p:sp>
      <p:sp>
        <p:nvSpPr>
          <p:cNvPr id="46" name="TextBox 45"/>
          <p:cNvSpPr txBox="1"/>
          <p:nvPr/>
        </p:nvSpPr>
        <p:spPr>
          <a:xfrm>
            <a:off x="6334125" y="2678589"/>
            <a:ext cx="1387797" cy="194310"/>
          </a:xfrm>
          <a:prstGeom prst="rect">
            <a:avLst/>
          </a:prstGeom>
          <a:noFill/>
        </p:spPr>
        <p:txBody>
          <a:bodyPr wrap="none" lIns="0" rIns="0" tIns="0" bIns="0">
            <a:spAutoFit/>
          </a:bodyPr>
          <a:lstStyle/>
          <a:p>
            <a:r>
              <a:rPr sz="1150" b="0">
                <a:solidFill>
                  <a:srgbClr val="2E2E2E"/>
                </a:solidFill>
                <a:latin typeface="Calibri"/>
              </a:rPr>
              <a:t>to 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~90-day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Great American Paper Inc.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Great American Paper Inc.: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210462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6086073" y="3299104"/>
            <a:ext cx="197242" cy="286897"/>
          </a:xfrm>
          <a:prstGeom prst="rect">
            <a:avLst/>
          </a:prstGeom>
        </p:spPr>
      </p:pic>
      <p:pic>
        <p:nvPicPr>
          <p:cNvPr id="36" name="Picture 35" descr="lock.png"/>
          <p:cNvPicPr>
            <a:picLocks noChangeAspect="1"/>
          </p:cNvPicPr>
          <p:nvPr/>
        </p:nvPicPr>
        <p:blipFill>
          <a:blip r:embed="rId7"/>
          <a:stretch>
            <a:fillRect/>
          </a:stretch>
        </p:blipFill>
        <p:spPr>
          <a:xfrm>
            <a:off x="9278088" y="3145920"/>
            <a:ext cx="444576" cy="646656"/>
          </a:xfrm>
          <a:prstGeom prst="rect">
            <a:avLst/>
          </a:prstGeom>
        </p:spPr>
      </p:pic>
      <p:sp>
        <p:nvSpPr>
          <p:cNvPr id="37" name="TextBox 36"/>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8" name="Picture 37" descr="lock.png"/>
          <p:cNvPicPr>
            <a:picLocks noChangeAspect="1"/>
          </p:cNvPicPr>
          <p:nvPr/>
        </p:nvPicPr>
        <p:blipFill>
          <a:blip r:embed="rId7"/>
          <a:stretch>
            <a:fillRect/>
          </a:stretch>
        </p:blipFill>
        <p:spPr>
          <a:xfrm>
            <a:off x="6017010" y="1533061"/>
            <a:ext cx="133378" cy="194005"/>
          </a:xfrm>
          <a:prstGeom prst="rect">
            <a:avLst/>
          </a:prstGeom>
        </p:spPr>
      </p:pic>
      <p:pic>
        <p:nvPicPr>
          <p:cNvPr id="39" name="Picture 38" descr="lock.png"/>
          <p:cNvPicPr>
            <a:picLocks noChangeAspect="1"/>
          </p:cNvPicPr>
          <p:nvPr/>
        </p:nvPicPr>
        <p:blipFill>
          <a:blip r:embed="rId7"/>
          <a:stretch>
            <a:fillRect/>
          </a:stretch>
        </p:blipFill>
        <p:spPr>
          <a:xfrm>
            <a:off x="5865805" y="1761621"/>
            <a:ext cx="97811" cy="142270"/>
          </a:xfrm>
          <a:prstGeom prst="rect">
            <a:avLst/>
          </a:prstGeom>
        </p:spPr>
      </p:pic>
      <p:sp>
        <p:nvSpPr>
          <p:cNvPr id="40" name="TextBox 39"/>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1" name="TextBox 40"/>
          <p:cNvSpPr txBox="1"/>
          <p:nvPr/>
        </p:nvSpPr>
        <p:spPr>
          <a:xfrm>
            <a:off x="276225" y="5204877"/>
            <a:ext cx="3393702" cy="194310"/>
          </a:xfrm>
          <a:prstGeom prst="rect">
            <a:avLst/>
          </a:prstGeom>
          <a:noFill/>
        </p:spPr>
        <p:txBody>
          <a:bodyPr wrap="none" lIns="0" rIns="0" tIns="0" bIns="0">
            <a:spAutoFit/>
          </a:bodyPr>
          <a:lstStyle/>
          <a:p>
            <a:r>
              <a:rPr sz="1150" b="0">
                <a:solidFill>
                  <a:srgbClr val="2E2E2E"/>
                </a:solidFill>
                <a:latin typeface="Calibri"/>
              </a:rPr>
              <a:t>▪ Market Position: Great American Paper Inc. captures ~</a:t>
            </a:r>
          </a:p>
        </p:txBody>
      </p:sp>
      <p:pic>
        <p:nvPicPr>
          <p:cNvPr id="42" name="Picture 41" descr="lock.png"/>
          <p:cNvPicPr>
            <a:picLocks noChangeAspect="1"/>
          </p:cNvPicPr>
          <p:nvPr/>
        </p:nvPicPr>
        <p:blipFill>
          <a:blip r:embed="rId7"/>
          <a:stretch>
            <a:fillRect/>
          </a:stretch>
        </p:blipFill>
        <p:spPr>
          <a:xfrm>
            <a:off x="3619081" y="5194653"/>
            <a:ext cx="134549" cy="195707"/>
          </a:xfrm>
          <a:prstGeom prst="rect">
            <a:avLst/>
          </a:prstGeom>
        </p:spPr>
      </p:pic>
      <p:sp>
        <p:nvSpPr>
          <p:cNvPr id="43" name="TextBox 42"/>
          <p:cNvSpPr txBox="1"/>
          <p:nvPr/>
        </p:nvSpPr>
        <p:spPr>
          <a:xfrm>
            <a:off x="3794191" y="5204877"/>
            <a:ext cx="4569519"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'Electronics &amp; Electrical'.</a:t>
            </a:r>
          </a:p>
        </p:txBody>
      </p:sp>
      <p:sp>
        <p:nvSpPr>
          <p:cNvPr id="44" name="TextBox 43"/>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5" name="Picture 44" descr="lock.png"/>
          <p:cNvPicPr>
            <a:picLocks noChangeAspect="1"/>
          </p:cNvPicPr>
          <p:nvPr/>
        </p:nvPicPr>
        <p:blipFill>
          <a:blip r:embed="rId7"/>
          <a:stretch>
            <a:fillRect/>
          </a:stretch>
        </p:blipFill>
        <p:spPr>
          <a:xfrm>
            <a:off x="7758116" y="5422491"/>
            <a:ext cx="134549" cy="195707"/>
          </a:xfrm>
          <a:prstGeom prst="rect">
            <a:avLst/>
          </a:prstGeom>
        </p:spPr>
      </p:pic>
      <p:sp>
        <p:nvSpPr>
          <p:cNvPr id="46" name="TextBox 45"/>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7" name="TextBox 46"/>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8" name="Picture 47" descr="lock.png"/>
          <p:cNvPicPr>
            <a:picLocks noChangeAspect="1"/>
          </p:cNvPicPr>
          <p:nvPr/>
        </p:nvPicPr>
        <p:blipFill>
          <a:blip r:embed="rId7"/>
          <a:stretch>
            <a:fillRect/>
          </a:stretch>
        </p:blipFill>
        <p:spPr>
          <a:xfrm>
            <a:off x="1617169" y="5650329"/>
            <a:ext cx="134549" cy="195707"/>
          </a:xfrm>
          <a:prstGeom prst="rect">
            <a:avLst/>
          </a:prstGeom>
        </p:spPr>
      </p:pic>
      <p:sp>
        <p:nvSpPr>
          <p:cNvPr id="49" name="TextBox 48"/>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50" name="Picture 49" descr="lock.png"/>
          <p:cNvPicPr>
            <a:picLocks noChangeAspect="1"/>
          </p:cNvPicPr>
          <p:nvPr/>
        </p:nvPicPr>
        <p:blipFill>
          <a:blip r:embed="rId7"/>
          <a:stretch>
            <a:fillRect/>
          </a:stretch>
        </p:blipFill>
        <p:spPr>
          <a:xfrm>
            <a:off x="2870505" y="5650329"/>
            <a:ext cx="134549" cy="195707"/>
          </a:xfrm>
          <a:prstGeom prst="rect">
            <a:avLst/>
          </a:prstGeom>
        </p:spPr>
      </p:pic>
      <p:sp>
        <p:nvSpPr>
          <p:cNvPr id="51" name="TextBox 50"/>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2" name="TextBox 51"/>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3" name="Picture 52" descr="lock.png"/>
          <p:cNvPicPr>
            <a:picLocks noChangeAspect="1"/>
          </p:cNvPicPr>
          <p:nvPr/>
        </p:nvPicPr>
        <p:blipFill>
          <a:blip r:embed="rId7"/>
          <a:stretch>
            <a:fillRect/>
          </a:stretch>
        </p:blipFill>
        <p:spPr>
          <a:xfrm>
            <a:off x="1578914" y="5878167"/>
            <a:ext cx="134549" cy="195707"/>
          </a:xfrm>
          <a:prstGeom prst="rect">
            <a:avLst/>
          </a:prstGeom>
        </p:spPr>
      </p:pic>
      <p:sp>
        <p:nvSpPr>
          <p:cNvPr id="54" name="TextBox 53"/>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5" name="Picture 54" descr="lock.png"/>
          <p:cNvPicPr>
            <a:picLocks noChangeAspect="1"/>
          </p:cNvPicPr>
          <p:nvPr/>
        </p:nvPicPr>
        <p:blipFill>
          <a:blip r:embed="rId7"/>
          <a:stretch>
            <a:fillRect/>
          </a:stretch>
        </p:blipFill>
        <p:spPr>
          <a:xfrm>
            <a:off x="2775769" y="5878167"/>
            <a:ext cx="134549" cy="195707"/>
          </a:xfrm>
          <a:prstGeom prst="rect">
            <a:avLst/>
          </a:prstGeom>
        </p:spPr>
      </p:pic>
      <p:sp>
        <p:nvSpPr>
          <p:cNvPr id="56" name="TextBox 55"/>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7" name="Picture 56" descr="lock.png"/>
          <p:cNvPicPr>
            <a:picLocks noChangeAspect="1"/>
          </p:cNvPicPr>
          <p:nvPr/>
        </p:nvPicPr>
        <p:blipFill>
          <a:blip r:embed="rId7"/>
          <a:stretch>
            <a:fillRect/>
          </a:stretch>
        </p:blipFill>
        <p:spPr>
          <a:xfrm>
            <a:off x="4037092" y="5878167"/>
            <a:ext cx="134549" cy="195707"/>
          </a:xfrm>
          <a:prstGeom prst="rect">
            <a:avLst/>
          </a:prstGeom>
        </p:spPr>
      </p:pic>
      <p:sp>
        <p:nvSpPr>
          <p:cNvPr id="58" name="TextBox 57"/>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9"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Great American Paper Inc.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Great American Paper Inc.: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Great American Paper Inc.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Great American Paper Inc.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Great American Paper Inc.: strengths, weaknesses, opportunities and threats shaping its competitive…</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Great American Paper Inc.: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'Flat Dividers &amp; Layer Pads'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Great American Paper Inc.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Great American Paper Inc.'s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Great American Paper Inc.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Great American Paper Inc.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Great American Paper Inc.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Great American Paper Inc. Pricing Analysis (US$/MT)</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080993"/>
                <a:gridCol w="874154"/>
                <a:gridCol w="874154"/>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508653">
                <a:tc>
                  <a:txBody>
                    <a:bodyPr wrap="none"/>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508653">
                <a:tc>
                  <a:txBody>
                    <a:bodyPr wrap="none"/>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508653">
                <a:tc>
                  <a:txBody>
                    <a:bodyPr wrap="none"/>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978757" y="3853661"/>
            <a:ext cx="366712" cy="533399"/>
          </a:xfrm>
          <a:prstGeom prst="rect">
            <a:avLst/>
          </a:prstGeom>
        </p:spPr>
      </p:pic>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Great American Paper Inc.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Great American Paper Inc.'s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Great American Paper Inc.: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222750" cy="194310"/>
          </a:xfrm>
          <a:prstGeom prst="rect">
            <a:avLst/>
          </a:prstGeom>
          <a:noFill/>
        </p:spPr>
        <p:txBody>
          <a:bodyPr wrap="none" lIns="0" rIns="0" tIns="0" bIns="0">
            <a:spAutoFit/>
          </a:bodyPr>
          <a:lstStyle/>
          <a:p>
            <a:r>
              <a:rPr sz="1150" b="0">
                <a:solidFill>
                  <a:srgbClr val="2E2E2E"/>
                </a:solidFill>
                <a:latin typeface="Calibri"/>
              </a:rPr>
              <a:t>▪ Defend and extend leadership in 'Electronics &amp; Electrical' Great American Paper Inc.'s</a:t>
            </a:r>
          </a:p>
        </p:txBody>
      </p:sp>
      <p:sp>
        <p:nvSpPr>
          <p:cNvPr id="31" name="TextBox 30"/>
          <p:cNvSpPr txBox="1"/>
          <p:nvPr/>
        </p:nvSpPr>
        <p:spPr>
          <a:xfrm>
            <a:off x="276225" y="2678589"/>
            <a:ext cx="3766529" cy="194310"/>
          </a:xfrm>
          <a:prstGeom prst="rect">
            <a:avLst/>
          </a:prstGeom>
          <a:noFill/>
        </p:spPr>
        <p:txBody>
          <a:bodyPr wrap="none" lIns="0" rIns="0" tIns="0" bIns="0">
            <a:spAutoFit/>
          </a:bodyPr>
          <a:lstStyle/>
          <a:p>
            <a:r>
              <a:rPr sz="1150" b="0">
                <a:solidFill>
                  <a:srgbClr val="2E2E2E"/>
                </a:solidFill>
                <a:latin typeface="Calibri"/>
              </a:rPr>
              <a:t>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04581" cy="194310"/>
          </a:xfrm>
          <a:prstGeom prst="rect">
            <a:avLst/>
          </a:prstGeom>
          <a:noFill/>
        </p:spPr>
        <p:txBody>
          <a:bodyPr wrap="none" lIns="0" rIns="0" tIns="0" bIns="0">
            <a:spAutoFit/>
          </a:bodyPr>
          <a:lstStyle/>
          <a:p>
            <a:r>
              <a:rPr sz="1150" b="0">
                <a:solidFill>
                  <a:srgbClr val="2E2E2E"/>
                </a:solidFill>
                <a:latin typeface="Calibri"/>
              </a:rPr>
              <a:t>▪ Premiumise the portfolio around 'Flat Dividers &amp; Layer Pads' and adjacent high-value lines</a:t>
            </a:r>
          </a:p>
        </p:txBody>
      </p:sp>
      <p:sp>
        <p:nvSpPr>
          <p:cNvPr id="46" name="TextBox 45"/>
          <p:cNvSpPr txBox="1"/>
          <p:nvPr/>
        </p:nvSpPr>
        <p:spPr>
          <a:xfrm>
            <a:off x="6334125" y="2678589"/>
            <a:ext cx="1387797" cy="194310"/>
          </a:xfrm>
          <a:prstGeom prst="rect">
            <a:avLst/>
          </a:prstGeom>
          <a:noFill/>
        </p:spPr>
        <p:txBody>
          <a:bodyPr wrap="none" lIns="0" rIns="0" tIns="0" bIns="0">
            <a:spAutoFit/>
          </a:bodyPr>
          <a:lstStyle/>
          <a:p>
            <a:r>
              <a:rPr sz="1150" b="0">
                <a:solidFill>
                  <a:srgbClr val="2E2E2E"/>
                </a:solidFill>
                <a:latin typeface="Calibri"/>
              </a:rPr>
              <a:t>to 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~85-day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